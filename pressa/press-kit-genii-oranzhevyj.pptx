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2978E"/>
                </a:solidFill>
                <a:latin typeface="Inter"/>
              </a:rPr>
              <a:t>1 / 8</a:t>
            </a:r>
          </a:p>
        </p:txBody>
      </p:sp>
      <p:pic>
        <p:nvPicPr>
          <p:cNvPr id="5" name="Picture 4" descr="press-muzh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375" y="0"/>
            <a:ext cx="4846320" cy="6858000"/>
          </a:xfrm>
          <a:prstGeom prst="rect">
            <a:avLst/>
          </a:prstGeom>
        </p:spPr>
      </p:pic>
      <p:pic>
        <p:nvPicPr>
          <p:cNvPr id="6" name="Picture 5" descr="press-fon-oranz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168335" cy="6858000"/>
          </a:xfrm>
          <a:prstGeom prst="rect">
            <a:avLst/>
          </a:prstGeom>
        </p:spPr>
      </p:pic>
      <p:pic>
        <p:nvPicPr>
          <p:cNvPr id="7" name="Picture 6" descr="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1480"/>
            <a:ext cx="63398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6088" y="429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Unbounded"/>
              </a:rPr>
              <a:t>ГенИИ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6088" y="77724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F8A3D"/>
                </a:solidFill>
                <a:latin typeface="Inter"/>
              </a:rPr>
              <a:t>genii-ai.ru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47527" y="228600"/>
            <a:ext cx="932688" cy="1133856"/>
          </a:xfrm>
          <a:prstGeom prst="roundRect">
            <a:avLst>
              <a:gd name="adj" fmla="val 13725"/>
            </a:avLst>
          </a:prstGeom>
          <a:solidFill>
            <a:srgbClr val="0A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1847" y="41148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62695" y="8503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Промптер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28800"/>
            <a:ext cx="6751015" cy="2073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00" b="1">
                <a:solidFill>
                  <a:srgbClr val="FFFFFF"/>
                </a:solidFill>
                <a:latin typeface="Unbounded"/>
              </a:rPr>
              <a:t>ИНТЕЛЛЕКТУАЛЬНЫЙ СЕРВИС
ДЛЯ АВТОМАТИЗАЦИИ SMM
И УСИЛЕНИЯ ЦИФРОВОГО
ПРИСУТСТВИЯ КОМПАНИЙ
В ИНТЕРНЕТЕ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304538"/>
            <a:ext cx="1828800" cy="3200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06290"/>
            <a:ext cx="665957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Руслан Анатольевич Дёмин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35473"/>
            <a:ext cx="6659575" cy="313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A2978E"/>
                </a:solidFill>
                <a:latin typeface="Inter"/>
              </a:rPr>
              <a:t>управляющий партнёр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6842455" cy="478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A2978E"/>
                </a:solidFill>
                <a:latin typeface="Inter"/>
              </a:rPr>
              <a:t>Москва и область
genii-ai.ru  ·  официальный партнёр «Промптера»</a:t>
            </a:r>
          </a:p>
        </p:txBody>
      </p:sp>
      <p:sp>
        <p:nvSpPr>
          <p:cNvPr id="3" name="Рамка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амка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"/>
            <a:ext cx="633984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6088" y="429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Unbounded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088" y="77724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F8A3D"/>
                </a:solidFill>
                <a:latin typeface="Inter"/>
              </a:rPr>
              <a:t>genii-ai.ru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847" y="411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2695" y="8503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Промптер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2978E"/>
                </a:solidFill>
                <a:latin typeface="Inter"/>
              </a:rPr>
              <a:t>2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10454335" cy="5654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400" b="1">
                <a:solidFill>
                  <a:srgbClr val="FFFFFF"/>
                </a:solidFill>
                <a:latin typeface="Unbounded"/>
              </a:rPr>
              <a:t>Пять ИИ-агентов вместо агентства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2003084" cy="2606040"/>
          </a:xfrm>
          <a:prstGeom prst="roundRect">
            <a:avLst>
              <a:gd name="adj" fmla="val 8216"/>
            </a:avLst>
          </a:prstGeom>
          <a:solidFill>
            <a:srgbClr val="160E0A"/>
          </a:solidFill>
          <a:ln w="12700">
            <a:solidFill>
              <a:srgbClr val="4A2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" y="2706624"/>
            <a:ext cx="749808" cy="749808"/>
          </a:xfrm>
          <a:prstGeom prst="roundRect">
            <a:avLst>
              <a:gd name="adj" fmla="val 50000"/>
            </a:avLst>
          </a:prstGeom>
          <a:solidFill>
            <a:srgbClr val="201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arget-FF8A3D-192-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992" y="2909072"/>
            <a:ext cx="344911" cy="3449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3544" y="3602736"/>
            <a:ext cx="1527596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Unbounded"/>
              </a:rPr>
              <a:t>AI-маркетолог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279392"/>
            <a:ext cx="1527596" cy="4820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DED6CF"/>
                </a:solidFill>
                <a:latin typeface="Inter"/>
              </a:rPr>
              <a:t>Ниша, конкуренты, запросы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0052" y="2468880"/>
            <a:ext cx="2003084" cy="2606040"/>
          </a:xfrm>
          <a:prstGeom prst="roundRect">
            <a:avLst>
              <a:gd name="adj" fmla="val 8216"/>
            </a:avLst>
          </a:prstGeom>
          <a:solidFill>
            <a:srgbClr val="160E0A"/>
          </a:solidFill>
          <a:ln w="12700">
            <a:solidFill>
              <a:srgbClr val="4A2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27796" y="2706624"/>
            <a:ext cx="749808" cy="749808"/>
          </a:xfrm>
          <a:prstGeom prst="roundRect">
            <a:avLst>
              <a:gd name="adj" fmla="val 50000"/>
            </a:avLst>
          </a:prstGeom>
          <a:solidFill>
            <a:srgbClr val="201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encil-FF8A3D-192-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0244" y="2909072"/>
            <a:ext cx="344911" cy="3449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27796" y="3602736"/>
            <a:ext cx="1527596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Unbounded"/>
              </a:rPr>
              <a:t>AI-копирайтер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796" y="4279392"/>
            <a:ext cx="1527596" cy="553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DED6CF"/>
                </a:solidFill>
                <a:latin typeface="Inter"/>
              </a:rPr>
              <a:t>Тексты в стиле бренда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94305" y="2468880"/>
            <a:ext cx="2003084" cy="2606040"/>
          </a:xfrm>
          <a:prstGeom prst="roundRect">
            <a:avLst>
              <a:gd name="adj" fmla="val 8216"/>
            </a:avLst>
          </a:prstGeom>
          <a:solidFill>
            <a:srgbClr val="160E0A"/>
          </a:solidFill>
          <a:ln w="12700">
            <a:solidFill>
              <a:srgbClr val="4A2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32049" y="2706624"/>
            <a:ext cx="749808" cy="749808"/>
          </a:xfrm>
          <a:prstGeom prst="roundRect">
            <a:avLst>
              <a:gd name="adj" fmla="val 50000"/>
            </a:avLst>
          </a:prstGeom>
          <a:solidFill>
            <a:srgbClr val="201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alette-FF8A3D-192-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4497" y="2909072"/>
            <a:ext cx="344911" cy="3449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32049" y="3602736"/>
            <a:ext cx="1527596" cy="305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FFFFF"/>
                </a:solidFill>
                <a:latin typeface="Unbounded"/>
              </a:rPr>
              <a:t>AI-дизайнер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2049" y="4279392"/>
            <a:ext cx="1527596" cy="553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DED6CF"/>
                </a:solidFill>
                <a:latin typeface="Inter"/>
              </a:rPr>
              <a:t>Визуал под площадки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8557" y="2468880"/>
            <a:ext cx="2003084" cy="2606040"/>
          </a:xfrm>
          <a:prstGeom prst="roundRect">
            <a:avLst>
              <a:gd name="adj" fmla="val 8216"/>
            </a:avLst>
          </a:prstGeom>
          <a:solidFill>
            <a:srgbClr val="160E0A"/>
          </a:solidFill>
          <a:ln w="12700">
            <a:solidFill>
              <a:srgbClr val="4A2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36301" y="2706624"/>
            <a:ext cx="749808" cy="749808"/>
          </a:xfrm>
          <a:prstGeom prst="roundRect">
            <a:avLst>
              <a:gd name="adj" fmla="val 50000"/>
            </a:avLst>
          </a:prstGeom>
          <a:solidFill>
            <a:srgbClr val="201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video-FF8A3D-192-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8750" y="2909072"/>
            <a:ext cx="344911" cy="34491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536301" y="3602736"/>
            <a:ext cx="1527596" cy="506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FFFFFF"/>
                </a:solidFill>
                <a:latin typeface="Unbounded"/>
              </a:rPr>
              <a:t>AI-сценарист
и оператор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279392"/>
            <a:ext cx="1527596" cy="553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DED6CF"/>
                </a:solidFill>
                <a:latin typeface="Inter"/>
              </a:rPr>
              <a:t>Сценарий и готовый ролик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2810" y="2468880"/>
            <a:ext cx="2003084" cy="2606040"/>
          </a:xfrm>
          <a:prstGeom prst="roundRect">
            <a:avLst>
              <a:gd name="adj" fmla="val 8216"/>
            </a:avLst>
          </a:prstGeom>
          <a:solidFill>
            <a:srgbClr val="160E0A"/>
          </a:solidFill>
          <a:ln w="12700">
            <a:solidFill>
              <a:srgbClr val="4A2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40554" y="2706624"/>
            <a:ext cx="749808" cy="749808"/>
          </a:xfrm>
          <a:prstGeom prst="roundRect">
            <a:avLst>
              <a:gd name="adj" fmla="val 50000"/>
            </a:avLst>
          </a:prstGeom>
          <a:solidFill>
            <a:srgbClr val="201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end-FF8A3D-192-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3002" y="2909072"/>
            <a:ext cx="344911" cy="34491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40554" y="3602736"/>
            <a:ext cx="1527596" cy="475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Unbounded"/>
              </a:rPr>
              <a:t>AI СММ-менеджер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0554" y="4279392"/>
            <a:ext cx="1527596" cy="553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DED6CF"/>
                </a:solidFill>
                <a:latin typeface="Inter"/>
              </a:rPr>
              <a:t>Проверка и публикация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349240"/>
            <a:ext cx="10820095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FFFFFF"/>
                </a:solidFill>
                <a:latin typeface="Inter"/>
              </a:rPr>
              <a:t>Автопубликация: </a:t>
            </a:r>
            <a:r>
              <a:rPr sz="1700" b="0">
                <a:solidFill>
                  <a:srgbClr val="DED6CF"/>
                </a:solidFill>
                <a:latin typeface="Inter"/>
              </a:rPr>
              <a:t>Telegram · VK · Дзен · Одноклассники · Max · Instagram*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852668"/>
            <a:ext cx="10820095" cy="35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Сверх цикла: </a:t>
            </a:r>
            <a:r>
              <a:rPr sz="1600" b="0">
                <a:solidFill>
                  <a:srgbClr val="A2978E"/>
                </a:solidFill>
                <a:latin typeface="Inter"/>
              </a:rPr>
              <a:t>Цифровой двойник · Видео по сценарию · Сайт под заявки · Брендбук и мерч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356604"/>
            <a:ext cx="10820095" cy="236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* Instagram принадлежит компании Meta, признанной экстремистской организацией и запрещённой на территории Российской Федерации.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амка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"/>
            <a:ext cx="633984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6088" y="429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Unbounded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088" y="77724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F8A3D"/>
                </a:solidFill>
                <a:latin typeface="Inter"/>
              </a:rPr>
              <a:t>genii-ai.ru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847" y="411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2695" y="8503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Промптер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2978E"/>
                </a:solidFill>
                <a:latin typeface="Inter"/>
              </a:rPr>
              <a:t>3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00200"/>
            <a:ext cx="10271455" cy="2473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 b="0">
                <a:solidFill>
                  <a:srgbClr val="FFFFFF"/>
                </a:solidFill>
                <a:latin typeface="Unbounded"/>
              </a:rPr>
              <a:t>«Контент-фабрики есть у всех, это не новость. Новость в том, что управление циклом можно отдать самому ИИ: он знает правила своих собратьев лучше человека»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673352"/>
            <a:ext cx="82296" cy="236372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366260"/>
            <a:ext cx="10271455" cy="32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8A3D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A2978E"/>
                </a:solidFill>
                <a:latin typeface="Inter"/>
              </a:rPr>
              <a:t>управляющий партнёр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166360"/>
            <a:ext cx="10820095" cy="10972"/>
          </a:xfrm>
          <a:prstGeom prst="rect">
            <a:avLst/>
          </a:prstGeom>
          <a:solidFill>
            <a:srgbClr val="7A3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413248"/>
            <a:ext cx="10820095" cy="381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2978E"/>
                </a:solidFill>
                <a:latin typeface="Inter"/>
              </a:rPr>
              <a:t>Исследование · Стратегия · Генерация</a:t>
            </a:r>
            <a:r>
              <a:rPr sz="1800" b="1">
                <a:solidFill>
                  <a:srgbClr val="FFFFFF"/>
                </a:solidFill>
                <a:latin typeface="Inter"/>
              </a:rPr>
              <a:t>      Проверка · Публикация · Анализ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43600"/>
            <a:ext cx="10820095" cy="313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A2978E"/>
                </a:solidFill>
                <a:latin typeface="Inter"/>
              </a:rPr>
              <a:t>Светлым — то, что почти везде до сих пор делает человек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амка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"/>
            <a:ext cx="633984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6088" y="429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Unbounded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088" y="77724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F8A3D"/>
                </a:solidFill>
                <a:latin typeface="Inter"/>
              </a:rPr>
              <a:t>genii-ai.ru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847" y="411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2695" y="8503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Промптер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2978E"/>
                </a:solidFill>
                <a:latin typeface="Inter"/>
              </a:rPr>
              <a:t>4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20240"/>
            <a:ext cx="1027145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3600" b="0">
                <a:solidFill>
                  <a:srgbClr val="FFFFFF"/>
                </a:solidFill>
                <a:latin typeface="Unbounded"/>
              </a:rPr>
              <a:t>«Предприниматель тратит на соцсети не деньги, а своё время — самый дорогой ресурс в компании»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93392"/>
            <a:ext cx="82296" cy="226771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590288"/>
            <a:ext cx="10271455" cy="32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8A3D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A2978E"/>
                </a:solidFill>
                <a:latin typeface="Inter"/>
              </a:rPr>
              <a:t>управляющий партнёр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394960"/>
            <a:ext cx="10820095" cy="10972"/>
          </a:xfrm>
          <a:prstGeom prst="rect">
            <a:avLst/>
          </a:prstGeom>
          <a:solidFill>
            <a:srgbClr val="7A3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32704"/>
            <a:ext cx="10820095" cy="3646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A2978E"/>
                </a:solidFill>
                <a:latin typeface="Inter"/>
              </a:rPr>
              <a:t>Согласование тем · Правки текстов · Раскладка по площадкам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амка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"/>
            <a:ext cx="633984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6088" y="429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Unbounded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088" y="77724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F8A3D"/>
                </a:solidFill>
                <a:latin typeface="Inter"/>
              </a:rPr>
              <a:t>genii-ai.ru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847" y="411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2695" y="8503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Промптер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2978E"/>
                </a:solidFill>
                <a:latin typeface="Inter"/>
              </a:rPr>
              <a:t>5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10820095" cy="1083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800" b="1">
                <a:solidFill>
                  <a:srgbClr val="FF9A4D"/>
                </a:solidFill>
                <a:latin typeface="Unbounded"/>
              </a:rPr>
              <a:t>120–150 000 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1468"/>
            <a:ext cx="1082009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DED6CF"/>
                </a:solidFill>
                <a:latin typeface="Inter"/>
              </a:rPr>
              <a:t>в месяц — столько стоит digital-агентство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94760"/>
            <a:ext cx="1027145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600" b="0">
                <a:solidFill>
                  <a:srgbClr val="FFFFFF"/>
                </a:solidFill>
                <a:latin typeface="Unbounded"/>
              </a:rPr>
              <a:t>«Чтобы работать с нейросетями самому, нужно покупать токены, держать зарубежные аккаунты и воевать с блокировками. Готовый сервис снимает это целиком»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67912"/>
            <a:ext cx="82296" cy="162763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824728"/>
            <a:ext cx="10271455" cy="32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8A3D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A2978E"/>
                </a:solidFill>
                <a:latin typeface="Inter"/>
              </a:rPr>
              <a:t>управляющий партнёр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амка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"/>
            <a:ext cx="633984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6088" y="429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Unbounded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088" y="77724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F8A3D"/>
                </a:solidFill>
                <a:latin typeface="Inter"/>
              </a:rPr>
              <a:t>genii-ai.ru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847" y="411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2695" y="8503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Промптер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2978E"/>
                </a:solidFill>
                <a:latin typeface="Inter"/>
              </a:rPr>
              <a:t>6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4937760" cy="1264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200" b="1">
                <a:solidFill>
                  <a:srgbClr val="FF9A4D"/>
                </a:solidFill>
                <a:latin typeface="Unbounded"/>
              </a:rPr>
              <a:t>3–6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2824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DED6CF"/>
                </a:solidFill>
                <a:latin typeface="Inter"/>
              </a:rPr>
              <a:t>месяцев занимает выход в нейровыдачу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45720" cy="1371600"/>
          </a:xfrm>
          <a:prstGeom prst="rect">
            <a:avLst/>
          </a:prstGeom>
          <a:solidFill>
            <a:srgbClr val="FF9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554480"/>
            <a:ext cx="4922215" cy="9018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DED6CF"/>
                </a:solidFill>
                <a:latin typeface="Inter"/>
              </a:rPr>
              <a:t>Маркировать фото и видео как созданные ИИ закон сегодня не требует. </a:t>
            </a:r>
            <a:r>
              <a:rPr sz="1500" b="0">
                <a:solidFill>
                  <a:srgbClr val="A2978E"/>
                </a:solidFill>
                <a:latin typeface="Inter"/>
              </a:rPr>
              <a:t>Этим грех не пользоваться.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886200"/>
            <a:ext cx="10271455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800" b="0">
                <a:solidFill>
                  <a:srgbClr val="FFFFFF"/>
                </a:solidFill>
                <a:latin typeface="Unbounded"/>
              </a:rPr>
              <a:t>«Клиент больше не листает десять ссылок — он спрашивает нейросеть и получает два-три названия. Попасть в этот ответ можно целенаправленно»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959352"/>
            <a:ext cx="82296" cy="1755648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6044184"/>
            <a:ext cx="10271455" cy="32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8A3D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A2978E"/>
                </a:solidFill>
                <a:latin typeface="Inter"/>
              </a:rPr>
              <a:t>управляющий партнёр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амка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"/>
            <a:ext cx="633984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6088" y="429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Unbounded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088" y="77724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F8A3D"/>
                </a:solidFill>
                <a:latin typeface="Inter"/>
              </a:rPr>
              <a:t>genii-ai.ru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847" y="411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2695" y="8503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Промптер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2978E"/>
                </a:solidFill>
                <a:latin typeface="Inter"/>
              </a:rPr>
              <a:t>7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10454335" cy="6233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>
                <a:solidFill>
                  <a:srgbClr val="FFFFFF"/>
                </a:solidFill>
                <a:latin typeface="Unbounded"/>
              </a:rPr>
              <a:t>Кейсы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1006493" cy="2743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52344"/>
            <a:ext cx="23964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Unbounded"/>
              </a:rPr>
              <a:t>55 РозДари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36391"/>
            <a:ext cx="2396413" cy="501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A2978E"/>
                </a:solidFill>
                <a:latin typeface="Inter"/>
              </a:rPr>
              <a:t>доставка цветов · Нижний Новгород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04487"/>
            <a:ext cx="2396413" cy="271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8A3D"/>
                </a:solidFill>
                <a:latin typeface="Inter"/>
              </a:rPr>
              <a:t>6 месяцев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61688"/>
            <a:ext cx="2396413" cy="553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9A4D"/>
                </a:solidFill>
                <a:latin typeface="Unbounded"/>
              </a:rPr>
              <a:t>745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78324"/>
            <a:ext cx="2396413" cy="271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DED6CF"/>
                </a:solidFill>
                <a:latin typeface="Inter"/>
              </a:rPr>
              <a:t>заявок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9324"/>
            <a:ext cx="2396413" cy="553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9A4D"/>
                </a:solidFill>
                <a:latin typeface="Unbounded"/>
              </a:rPr>
              <a:t>317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75960"/>
            <a:ext cx="2396413" cy="271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DED6CF"/>
                </a:solidFill>
                <a:latin typeface="Inter"/>
              </a:rPr>
              <a:t>клиентов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693" y="2514600"/>
            <a:ext cx="1006493" cy="2743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693" y="2752344"/>
            <a:ext cx="23964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Unbounded"/>
              </a:rPr>
              <a:t>Сахара.Нет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693" y="3136391"/>
            <a:ext cx="2396413" cy="287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A2978E"/>
                </a:solidFill>
                <a:latin typeface="Inter"/>
              </a:rPr>
              <a:t>ПП-конфеты без сахара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693" y="3904487"/>
            <a:ext cx="2396413" cy="271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8A3D"/>
                </a:solidFill>
                <a:latin typeface="Inter"/>
              </a:rPr>
              <a:t>3,5 месяца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693" y="4361688"/>
            <a:ext cx="2396413" cy="553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9A4D"/>
                </a:solidFill>
                <a:latin typeface="Unbounded"/>
              </a:rPr>
              <a:t>376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693" y="4878324"/>
            <a:ext cx="2396413" cy="271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DED6CF"/>
                </a:solidFill>
                <a:latin typeface="Inter"/>
              </a:rPr>
              <a:t>кликов на WB и Ozon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693" y="5259324"/>
            <a:ext cx="2396413" cy="553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9A4D"/>
                </a:solidFill>
                <a:latin typeface="Unbounded"/>
              </a:rPr>
              <a:t>226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693" y="5775960"/>
            <a:ext cx="2396413" cy="271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DED6CF"/>
                </a:solidFill>
                <a:latin typeface="Inter"/>
              </a:rPr>
              <a:t>оформлений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1587" y="2514600"/>
            <a:ext cx="1006493" cy="2743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1587" y="2752344"/>
            <a:ext cx="2396413" cy="499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Unbounded"/>
              </a:rPr>
              <a:t>Эмиграционно-визовый центр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1587" y="3288792"/>
            <a:ext cx="2396413" cy="287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A2978E"/>
                </a:solidFill>
                <a:latin typeface="Inter"/>
              </a:rPr>
              <a:t>Калининград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1587" y="3904487"/>
            <a:ext cx="2396413" cy="271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8A3D"/>
                </a:solidFill>
                <a:latin typeface="Inter"/>
              </a:rPr>
              <a:t>3 месяца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1587" y="4361688"/>
            <a:ext cx="2396413" cy="553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9A4D"/>
                </a:solidFill>
                <a:latin typeface="Unbounded"/>
              </a:rPr>
              <a:t>149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4878324"/>
            <a:ext cx="2396413" cy="271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DED6CF"/>
                </a:solidFill>
                <a:latin typeface="Inter"/>
              </a:rPr>
              <a:t>заявок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1587" y="5259324"/>
            <a:ext cx="2396413" cy="553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9A4D"/>
                </a:solidFill>
                <a:latin typeface="Unbounded"/>
              </a:rPr>
              <a:t>46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1587" y="5775960"/>
            <a:ext cx="2396413" cy="271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DED6CF"/>
                </a:solidFill>
                <a:latin typeface="Inter"/>
              </a:rPr>
              <a:t>клиентов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09481" y="2514600"/>
            <a:ext cx="1006493" cy="2743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9481" y="2752344"/>
            <a:ext cx="23964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Unbounded"/>
              </a:rPr>
              <a:t>МЁД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9481" y="3136391"/>
            <a:ext cx="2396413" cy="287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A2978E"/>
                </a:solidFill>
                <a:latin typeface="Inter"/>
              </a:rPr>
              <a:t>кафе-караоке · Домодедово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9481" y="3904487"/>
            <a:ext cx="2396413" cy="271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8A3D"/>
                </a:solidFill>
                <a:latin typeface="Inter"/>
              </a:rPr>
              <a:t>5 месяцев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9481" y="4361688"/>
            <a:ext cx="2396413" cy="553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9A4D"/>
                </a:solidFill>
                <a:latin typeface="Unbounded"/>
              </a:rPr>
              <a:t>181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9481" y="4878324"/>
            <a:ext cx="2396413" cy="271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DED6CF"/>
                </a:solidFill>
                <a:latin typeface="Inter"/>
              </a:rPr>
              <a:t>заявка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09481" y="5259324"/>
            <a:ext cx="2396413" cy="553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9A4D"/>
                </a:solidFill>
                <a:latin typeface="Unbounded"/>
              </a:rPr>
              <a:t>109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09481" y="5775960"/>
            <a:ext cx="2396413" cy="271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DED6CF"/>
                </a:solidFill>
                <a:latin typeface="Inter"/>
              </a:rPr>
              <a:t>клиентов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6108192"/>
            <a:ext cx="10820095" cy="10972"/>
          </a:xfrm>
          <a:prstGeom prst="rect">
            <a:avLst/>
          </a:prstGeom>
          <a:solidFill>
            <a:srgbClr val="7A3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6309360"/>
            <a:ext cx="10820095" cy="330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A2978E"/>
                </a:solidFill>
                <a:latin typeface="Inter"/>
              </a:rPr>
              <a:t>4 проекта за 2026 год: </a:t>
            </a:r>
            <a:r>
              <a:rPr sz="1500" b="1">
                <a:solidFill>
                  <a:srgbClr val="FFFFFF"/>
                </a:solidFill>
                <a:latin typeface="Inter"/>
              </a:rPr>
              <a:t>1 451 обращение и 698 клиентов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амка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"/>
            <a:ext cx="633984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6088" y="429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Unbounded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088" y="77724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F8A3D"/>
                </a:solidFill>
                <a:latin typeface="Inter"/>
              </a:rPr>
              <a:t>genii-ai.ru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847" y="411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2695" y="8503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Промптер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2978E"/>
                </a:solidFill>
                <a:latin typeface="Inter"/>
              </a:rPr>
              <a:t>8 / 8</a:t>
            </a:r>
          </a:p>
        </p:txBody>
      </p:sp>
      <p:pic>
        <p:nvPicPr>
          <p:cNvPr id="10" name="Picture 9" descr="press-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2775" y="1600200"/>
            <a:ext cx="2103120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54135" y="3904487"/>
            <a:ext cx="2651760" cy="3538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Inter"/>
              </a:rPr>
              <a:t>prompter-ai.moscow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4135" y="4258310"/>
            <a:ext cx="2651760" cy="304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FF8A3D"/>
                </a:solidFill>
                <a:latin typeface="Inter"/>
              </a:rPr>
              <a:t>SEO и GEO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54480"/>
            <a:ext cx="7985455" cy="727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>
                <a:solidFill>
                  <a:srgbClr val="FFFFFF"/>
                </a:solidFill>
                <a:latin typeface="Unbounded"/>
              </a:rPr>
              <a:t>Полный AI цикл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92832"/>
            <a:ext cx="7985455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DED6CF"/>
                </a:solidFill>
                <a:latin typeface="Inter"/>
              </a:rPr>
              <a:t>Исследование, генерация контента, автоматическая публикация на площадках, аналитика нейровыдачи.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52952"/>
            <a:ext cx="7985455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DED6CF"/>
                </a:solidFill>
                <a:latin typeface="Inter"/>
              </a:rPr>
              <a:t>Интеллектуальный сервис для автоматизации SMM и усиления цифрового присутствия компании в интернете.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257800"/>
            <a:ext cx="10820095" cy="10972"/>
          </a:xfrm>
          <a:prstGeom prst="rect">
            <a:avLst/>
          </a:prstGeom>
          <a:solidFill>
            <a:srgbClr val="7A3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86400"/>
            <a:ext cx="10820095" cy="398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FFFFF"/>
                </a:solidFill>
                <a:latin typeface="Inter"/>
              </a:rPr>
              <a:t>+7 906 758-77-77     @geniimoscow     prompter.moscow@mail.ru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76747"/>
            <a:ext cx="10820095" cy="295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A2978E"/>
                </a:solidFill>
                <a:latin typeface="Inter"/>
              </a:rPr>
              <a:t>Руслан Анатольевич Дёмин, управляющий партнёр</a:t>
            </a:r>
            <a:r>
              <a:rPr sz="1250" b="0">
                <a:solidFill>
                  <a:srgbClr val="A2978E"/>
                </a:solidFill>
                <a:latin typeface="Inter"/>
              </a:rPr>
              <a:t>     ГенИИ — официальный партнёр «Промптера» по Москве и области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