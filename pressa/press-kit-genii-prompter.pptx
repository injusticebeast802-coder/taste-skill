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ess-f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9692640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000" b="1">
                <a:solidFill>
                  <a:srgbClr val="FFFFFF"/>
                </a:solidFill>
                <a:latin typeface="Unbounded"/>
              </a:rPr>
              <a:t>Полный ИИ-цикл для бизнеса: от исследования до публикации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15383"/>
            <a:ext cx="8595360" cy="720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D6E4FF"/>
                </a:solidFill>
                <a:latin typeface="Inter"/>
              </a:rPr>
              <a:t>Исследование, стратегия, генерация текстов, картинок и видео, автопубликация на 6+ площадках. Продвижение в SEO и GEO.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366003"/>
            <a:ext cx="1371600" cy="2377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640323"/>
            <a:ext cx="8229600" cy="337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Руслан Анатольевич Дёмин</a:t>
            </a:r>
            <a:r>
              <a:rPr sz="1600" b="0">
                <a:solidFill>
                  <a:srgbClr val="9FB6DC"/>
                </a:solidFill>
                <a:latin typeface="Inter"/>
              </a:rPr>
              <a:t>    управляющий партнёр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172200"/>
            <a:ext cx="10789920" cy="2776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9FB6DC"/>
                </a:solidFill>
                <a:latin typeface="Inter"/>
              </a:rPr>
              <a:t>Пресс-конференция «Эффективные инструменты привлечения клиентов»   ·   20 октября 2026   ·   Москва, Кузнецкий мост,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2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9905695" cy="986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>
                <a:solidFill>
                  <a:srgbClr val="FFFFFF"/>
                </a:solidFill>
                <a:latin typeface="Unbounded"/>
              </a:rPr>
              <a:t>Контент-фабрики есть у всех. Управляет ими всё равно человек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97480"/>
            <a:ext cx="1681429" cy="1234440"/>
          </a:xfrm>
          <a:prstGeom prst="roundRect">
            <a:avLst>
              <a:gd name="adj" fmla="val 10370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2880360"/>
            <a:ext cx="138882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Inter"/>
              </a:rPr>
              <a:t>Исследование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529584"/>
            <a:ext cx="13888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машина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3533" y="2697480"/>
            <a:ext cx="1681429" cy="1234440"/>
          </a:xfrm>
          <a:prstGeom prst="roundRect">
            <a:avLst>
              <a:gd name="adj" fmla="val 10370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9837" y="2880360"/>
            <a:ext cx="138882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Inter"/>
              </a:rPr>
              <a:t>Стратегия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9837" y="3529584"/>
            <a:ext cx="13888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машина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1266" y="2697480"/>
            <a:ext cx="1681429" cy="1234440"/>
          </a:xfrm>
          <a:prstGeom prst="roundRect">
            <a:avLst>
              <a:gd name="adj" fmla="val 10370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7570" y="2880360"/>
            <a:ext cx="138882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Inter"/>
              </a:rPr>
              <a:t>Тексты и визуал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7570" y="3529584"/>
            <a:ext cx="13888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машина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8999" y="2697480"/>
            <a:ext cx="1681429" cy="1234440"/>
          </a:xfrm>
          <a:prstGeom prst="roundRect">
            <a:avLst>
              <a:gd name="adj" fmla="val 10370"/>
            </a:avLst>
          </a:prstGeom>
          <a:solidFill>
            <a:srgbClr val="1B2D55"/>
          </a:solidFill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2880360"/>
            <a:ext cx="138882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Inter"/>
              </a:rPr>
              <a:t>Проверка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3529584"/>
            <a:ext cx="13888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FC4FF"/>
                </a:solidFill>
                <a:latin typeface="Inter"/>
              </a:rPr>
              <a:t>человек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96732" y="2697480"/>
            <a:ext cx="1681429" cy="1234440"/>
          </a:xfrm>
          <a:prstGeom prst="roundRect">
            <a:avLst>
              <a:gd name="adj" fmla="val 10370"/>
            </a:avLst>
          </a:prstGeom>
          <a:solidFill>
            <a:srgbClr val="1B2D55"/>
          </a:solidFill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3036" y="2880360"/>
            <a:ext cx="138882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Inter"/>
              </a:rPr>
              <a:t>Публикация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3036" y="3529584"/>
            <a:ext cx="13888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FC4FF"/>
                </a:solidFill>
                <a:latin typeface="Inter"/>
              </a:rPr>
              <a:t>человек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4466" y="2697480"/>
            <a:ext cx="1681429" cy="1234440"/>
          </a:xfrm>
          <a:prstGeom prst="roundRect">
            <a:avLst>
              <a:gd name="adj" fmla="val 10370"/>
            </a:avLst>
          </a:prstGeom>
          <a:solidFill>
            <a:srgbClr val="1B2D55"/>
          </a:solidFill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0770" y="2880360"/>
            <a:ext cx="138882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Inter"/>
              </a:rPr>
              <a:t>Анализ выдачи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70770" y="3529584"/>
            <a:ext cx="13888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FC4FF"/>
                </a:solidFill>
                <a:latin typeface="Inter"/>
              </a:rPr>
              <a:t>человек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69664"/>
            <a:ext cx="10820095" cy="3309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Три шага справа почти везде делает человек: правит, раскладывает, проверяет, что вышло.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800600"/>
            <a:ext cx="64008" cy="1508760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9848" y="4800600"/>
            <a:ext cx="10362895" cy="964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Unbounded"/>
              </a:rPr>
              <a:t>«Контент-фабрики есть у всех, это не новость. Новость в том, что управление циклом можно отдать самому ИИ: он лучше человека знает, по каким правилам его собратья отбирают контент»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929883"/>
            <a:ext cx="10362895" cy="287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3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3 / 6</a:t>
            </a:r>
          </a:p>
        </p:txBody>
      </p:sp>
      <p:pic>
        <p:nvPicPr>
          <p:cNvPr id="8" name="Picture 7" descr="press-nejron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9655" y="1417320"/>
            <a:ext cx="4206240" cy="4800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463040"/>
            <a:ext cx="5973775" cy="986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>
                <a:solidFill>
                  <a:srgbClr val="FFFFFF"/>
                </a:solidFill>
                <a:latin typeface="Unbounded"/>
              </a:rPr>
              <a:t>Дороже денег — время собственника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145536"/>
            <a:ext cx="201168" cy="20116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3017520"/>
            <a:ext cx="5589727" cy="3309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b="0">
                <a:solidFill>
                  <a:srgbClr val="D6E4FF"/>
                </a:solidFill>
                <a:latin typeface="Inter"/>
              </a:rPr>
              <a:t>Согласование тем и планов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677666"/>
            <a:ext cx="201168" cy="20116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3549650"/>
            <a:ext cx="5589727" cy="3309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b="0">
                <a:solidFill>
                  <a:srgbClr val="D6E4FF"/>
                </a:solidFill>
                <a:latin typeface="Inter"/>
              </a:rPr>
              <a:t>Правки текстов и картинок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209795"/>
            <a:ext cx="201168" cy="20116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4081779"/>
            <a:ext cx="5589727" cy="3309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b="0">
                <a:solidFill>
                  <a:srgbClr val="D6E4FF"/>
                </a:solidFill>
                <a:latin typeface="Inter"/>
              </a:rPr>
              <a:t>Раскладка по шести площадкам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892040"/>
            <a:ext cx="64008" cy="1463040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4892040"/>
            <a:ext cx="6248095" cy="1063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Unbounded"/>
              </a:rPr>
              <a:t>«Предприниматель тратит на соцсети не деньги, а своё время — самый дорогой ресурс в компании. Цикл забирает рутину, человеку остаётся решение и смысл»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6120383"/>
            <a:ext cx="6248095" cy="287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3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4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9905695" cy="1074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>
                <a:solidFill>
                  <a:srgbClr val="FFFFFF"/>
                </a:solidFill>
                <a:latin typeface="Unbounded"/>
              </a:rPr>
              <a:t>Без агентства, токенов и борьбы с блокировками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51760"/>
            <a:ext cx="3423818" cy="1783080"/>
          </a:xfrm>
          <a:prstGeom prst="roundRect">
            <a:avLst>
              <a:gd name="adj" fmla="val 8205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889504"/>
            <a:ext cx="29483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Диджитал-агентство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438144"/>
            <a:ext cx="2948330" cy="533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Счёт каждый месяц, правки через менеджера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938" y="2651760"/>
            <a:ext cx="3423818" cy="1783080"/>
          </a:xfrm>
          <a:prstGeom prst="roundRect">
            <a:avLst>
              <a:gd name="adj" fmla="val 8205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1682" y="2889504"/>
            <a:ext cx="29483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Своими силами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1682" y="3438144"/>
            <a:ext cx="2948330" cy="533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Токены, зарубежные аккаунты, оплата из-за рубежа, блокировки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2076" y="2651760"/>
            <a:ext cx="3423818" cy="1783080"/>
          </a:xfrm>
          <a:prstGeom prst="roundRect">
            <a:avLst>
              <a:gd name="adj" fmla="val 8205"/>
            </a:avLst>
          </a:prstGeom>
          <a:solidFill>
            <a:srgbClr val="1B2D55"/>
          </a:solidFill>
          <a:ln w="2032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9820" y="2889504"/>
            <a:ext cx="29483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4ADE80"/>
                </a:solidFill>
                <a:latin typeface="Unbounded"/>
              </a:rPr>
              <a:t>Готовый сервис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9820" y="3438144"/>
            <a:ext cx="2948330" cy="533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D6E4FF"/>
                </a:solidFill>
                <a:latin typeface="Inter"/>
              </a:rPr>
              <a:t>Фиксированная плата, те же площадки, сравнимый эффект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09159"/>
            <a:ext cx="10820095" cy="3217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1">
                <a:solidFill>
                  <a:srgbClr val="4ADE80"/>
                </a:solidFill>
                <a:latin typeface="Inter"/>
              </a:rPr>
              <a:t>Разница — от 70–80 тысяч рублей в месяц. </a:t>
            </a:r>
            <a:r>
              <a:rPr sz="1350" b="0">
                <a:solidFill>
                  <a:srgbClr val="9FB6DC"/>
                </a:solidFill>
                <a:latin typeface="Inter"/>
              </a:rPr>
              <a:t>Столько стоят те же роли своими силами.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120640"/>
            <a:ext cx="64008" cy="1417320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120640"/>
            <a:ext cx="10362895" cy="964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Unbounded"/>
              </a:rPr>
              <a:t>«Чтобы работать с нейросетями самому, нужно покупать токены, держать зарубежные аккаунты и воевать с блокировками. Готовый сервис снимает это целиком»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6249923"/>
            <a:ext cx="10362895" cy="287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3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5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9905695" cy="1074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>
                <a:solidFill>
                  <a:srgbClr val="FFFFFF"/>
                </a:solidFill>
                <a:latin typeface="Unbounded"/>
              </a:rPr>
              <a:t>Клиент спрашивает нейросеть, а не поисковик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51760"/>
            <a:ext cx="3718407" cy="1874519"/>
          </a:xfrm>
          <a:prstGeom prst="roundRect">
            <a:avLst>
              <a:gd name="adj" fmla="val 7804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889504"/>
            <a:ext cx="31697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Поиск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56432"/>
            <a:ext cx="3169767" cy="3217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9FB6DC"/>
                </a:solidFill>
                <a:latin typeface="Inter"/>
              </a:rPr>
              <a:t>Десять ссылок. Выбирает человек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050791"/>
            <a:ext cx="3169767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Борьба за </a:t>
            </a:r>
            <a:r>
              <a:rPr sz="1200" b="1">
                <a:solidFill>
                  <a:srgbClr val="FFFFFF"/>
                </a:solidFill>
                <a:latin typeface="Inter"/>
              </a:rPr>
              <a:t>позицию в списке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9967" y="2651760"/>
            <a:ext cx="3718407" cy="1874519"/>
          </a:xfrm>
          <a:prstGeom prst="roundRect">
            <a:avLst>
              <a:gd name="adj" fmla="val 7804"/>
            </a:avLst>
          </a:prstGeom>
          <a:solidFill>
            <a:srgbClr val="1B2D55"/>
          </a:solidFill>
          <a:ln w="20320">
            <a:solidFill>
              <a:srgbClr val="7F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2889504"/>
            <a:ext cx="31697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7FC4FF"/>
                </a:solidFill>
                <a:latin typeface="Unbounded"/>
              </a:rPr>
              <a:t>Нейроответ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4287" y="3456432"/>
            <a:ext cx="3169767" cy="570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Два-три названия. Выбор уже сделан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4287" y="4050791"/>
            <a:ext cx="3169767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Борьба за </a:t>
            </a:r>
            <a:r>
              <a:rPr sz="1200" b="1">
                <a:solidFill>
                  <a:srgbClr val="FFFFFF"/>
                </a:solidFill>
                <a:latin typeface="Inter"/>
              </a:rPr>
              <a:t>упоминание в ответе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54135" y="2651760"/>
            <a:ext cx="2651760" cy="1874519"/>
          </a:xfrm>
          <a:prstGeom prst="roundRect">
            <a:avLst>
              <a:gd name="adj" fmla="val 7804"/>
            </a:avLst>
          </a:prstGeom>
          <a:solidFill>
            <a:srgbClr val="152343"/>
          </a:solidFill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8455" y="2926079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4ADE80"/>
                </a:solidFill>
                <a:latin typeface="Unbounded"/>
              </a:rPr>
              <a:t>3–6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8455" y="3566160"/>
            <a:ext cx="2103120" cy="517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D6E4FF"/>
                </a:solidFill>
                <a:latin typeface="Inter"/>
              </a:rPr>
              <a:t>месяцев занимает выход в нейровыдачу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700016"/>
            <a:ext cx="201168" cy="20116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572000"/>
            <a:ext cx="10436047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D6E4FF"/>
                </a:solidFill>
                <a:latin typeface="Inter"/>
              </a:rPr>
              <a:t>Маркировать фото и видео как созданные ИИ закон сегодня не требует. </a:t>
            </a:r>
            <a:r>
              <a:rPr sz="1250" b="0">
                <a:solidFill>
                  <a:srgbClr val="9FB6DC"/>
                </a:solidFill>
                <a:latin typeface="Inter"/>
              </a:rPr>
              <a:t>Этим грех не пользоваться.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138928"/>
            <a:ext cx="64008" cy="1371600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5138928"/>
            <a:ext cx="10362895" cy="964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Unbounded"/>
              </a:rPr>
              <a:t>«Попасть в нейроответ можно целенаправленно, но это не кнопка: от трёх до шести месяцев работы. Зато эту работу машина делает лучше человека — и без агентского счёта каждый месяц»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6268212"/>
            <a:ext cx="10362895" cy="287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3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7863840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>
                <a:solidFill>
                  <a:srgbClr val="FFFFFF"/>
                </a:solidFill>
                <a:latin typeface="Unbounded"/>
              </a:rPr>
              <a:t>Справка и контакты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68880"/>
            <a:ext cx="6675120" cy="1234440"/>
          </a:xfrm>
          <a:prstGeom prst="roundRect">
            <a:avLst>
              <a:gd name="adj" fmla="val 1185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670048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7FC4FF"/>
                </a:solidFill>
                <a:latin typeface="Unbounded"/>
              </a:rPr>
              <a:t>Промптер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090672"/>
            <a:ext cx="6163056" cy="499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Российский сервис автоматизации SMM: исследование ниши, стратегия, генерация текстов, изображений и видео, публикация на 6+ площадках.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31920"/>
            <a:ext cx="6675120" cy="1234440"/>
          </a:xfrm>
          <a:prstGeom prst="roundRect">
            <a:avLst>
              <a:gd name="adj" fmla="val 1185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133088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7FC4FF"/>
                </a:solidFill>
                <a:latin typeface="Unbounded"/>
              </a:rPr>
              <a:t>ГенИИ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4553712"/>
            <a:ext cx="6163056" cy="499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Официальный партнёр «Промптера» по Москве и области. Продвижение компаний в ответах нейросетей — SEO и GEO.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2468880"/>
            <a:ext cx="3687775" cy="2697480"/>
          </a:xfrm>
          <a:prstGeom prst="roundRect">
            <a:avLst>
              <a:gd name="adj" fmla="val 5423"/>
            </a:avLst>
          </a:prstGeom>
          <a:solidFill>
            <a:srgbClr val="1B2D55"/>
          </a:solidFill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2697480"/>
            <a:ext cx="3139135" cy="568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Руслан Анатольевич Дёмин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310128"/>
            <a:ext cx="3139135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pic>
        <p:nvPicPr>
          <p:cNvPr id="18" name="Picture 17" descr="press-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3749039"/>
            <a:ext cx="1143000" cy="1143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418320" y="3822191"/>
            <a:ext cx="1813255" cy="840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+7 906 758-77-77
</a:t>
            </a:r>
            <a:r>
              <a:rPr sz="1300" b="0">
                <a:solidFill>
                  <a:srgbClr val="D6E4FF"/>
                </a:solidFill>
                <a:latin typeface="Inter"/>
              </a:rPr>
              <a:t>ubeto@mail.ru
</a:t>
            </a:r>
            <a:r>
              <a:rPr sz="1300" b="1">
                <a:solidFill>
                  <a:srgbClr val="7FC4FF"/>
                </a:solidFill>
                <a:latin typeface="Inter"/>
              </a:rPr>
              <a:t>genii-ai.ru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943600"/>
            <a:ext cx="10789920" cy="2776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9FB6DC"/>
                </a:solidFill>
                <a:latin typeface="Inter"/>
              </a:rPr>
              <a:t>Пресс-конференция «Эффективные инструменты привлечения клиентов»   ·   20 октября 2026   ·   Москва, Кузнецкий мост,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