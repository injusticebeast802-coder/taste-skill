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ess-muzh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0"/>
            <a:ext cx="4846320" cy="6858000"/>
          </a:xfrm>
          <a:prstGeom prst="rect">
            <a:avLst/>
          </a:prstGeom>
        </p:spPr>
      </p:pic>
      <p:pic>
        <p:nvPicPr>
          <p:cNvPr id="4" name="Picture 3" descr="press-f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8168335" cy="6858000"/>
          </a:xfrm>
          <a:prstGeom prst="rect">
            <a:avLst/>
          </a:prstGeom>
        </p:spPr>
      </p:pic>
      <p:pic>
        <p:nvPicPr>
          <p:cNvPr id="5" name="Picture 4" descr="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774375" y="219456"/>
            <a:ext cx="1005840" cy="1316736"/>
          </a:xfrm>
          <a:prstGeom prst="roundRect">
            <a:avLst>
              <a:gd name="adj" fmla="val 12727"/>
            </a:avLst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6751015" cy="2073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500" b="1">
                <a:solidFill>
                  <a:srgbClr val="FFFFFF"/>
                </a:solidFill>
                <a:latin typeface="Unbounded"/>
              </a:rPr>
              <a:t>ИНТЕЛЛЕКТУАЛЬНЫЙ СЕРВИС
ДЛЯ АВТОМАТИЗАЦИИ SMM
И УСИЛЕНИЯ ЦИФРОВОГО
ПРИСУТСТВИЯ КОМПАНИЙ
В ИНТЕРНЕТЕ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304538"/>
            <a:ext cx="1828800" cy="3200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6290"/>
            <a:ext cx="665957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Руслан Анатольевич Дёмин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5473"/>
            <a:ext cx="665957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97880"/>
            <a:ext cx="6842455" cy="478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9FB6DC"/>
                </a:solidFill>
                <a:latin typeface="Inter"/>
              </a:rPr>
              <a:t>Пресс-конференция «Эффективные инструменты привлечения клиентов»
20 октября 2026 · Москва, Кузнецкий мост,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2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454335" cy="5654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>
                <a:solidFill>
                  <a:srgbClr val="FFFFFF"/>
                </a:solidFill>
                <a:latin typeface="Unbounded"/>
              </a:rPr>
              <a:t>Пять ИИ-агентов вместо агентства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68880"/>
            <a:ext cx="2003084" cy="2606040"/>
          </a:xfrm>
          <a:prstGeom prst="roundRect">
            <a:avLst>
              <a:gd name="adj" fmla="val 8216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23544" y="2706624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rget-7FC4FF-192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992" y="2909072"/>
            <a:ext cx="344911" cy="3449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3544" y="3602736"/>
            <a:ext cx="152759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Unbounded"/>
              </a:rPr>
              <a:t>AI-маркетолог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4279392"/>
            <a:ext cx="1527596" cy="4820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D6E4FF"/>
                </a:solidFill>
                <a:latin typeface="Inter"/>
              </a:rPr>
              <a:t>Ниша, конкуренты, запросы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0052" y="2468880"/>
            <a:ext cx="2003084" cy="2606040"/>
          </a:xfrm>
          <a:prstGeom prst="roundRect">
            <a:avLst>
              <a:gd name="adj" fmla="val 8216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27796" y="2706624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encil-7FC4FF-192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0244" y="2909072"/>
            <a:ext cx="344911" cy="3449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27796" y="3602736"/>
            <a:ext cx="152759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Unbounded"/>
              </a:rPr>
              <a:t>AI-копирайтер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27796" y="4279392"/>
            <a:ext cx="1527596" cy="553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Тексты в стиле бренда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94305" y="2468880"/>
            <a:ext cx="2003084" cy="2606040"/>
          </a:xfrm>
          <a:prstGeom prst="roundRect">
            <a:avLst>
              <a:gd name="adj" fmla="val 8216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332049" y="2706624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alette-7FC4FF-192-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4497" y="2909072"/>
            <a:ext cx="344911" cy="34491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332049" y="3602736"/>
            <a:ext cx="1527596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AI-дизайнер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2049" y="4279392"/>
            <a:ext cx="1527596" cy="553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Визуал под площадки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8557" y="2468880"/>
            <a:ext cx="2003084" cy="2606040"/>
          </a:xfrm>
          <a:prstGeom prst="roundRect">
            <a:avLst>
              <a:gd name="adj" fmla="val 8216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36301" y="2706624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video-7FC4FF-192-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8750" y="2909072"/>
            <a:ext cx="344911" cy="34491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36301" y="3602736"/>
            <a:ext cx="1527596" cy="506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FFFFFF"/>
                </a:solidFill>
                <a:latin typeface="Unbounded"/>
              </a:rPr>
              <a:t>AI-сценарист
и оператор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36301" y="4279392"/>
            <a:ext cx="1527596" cy="553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Сценарий и готовый ролик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2810" y="2468880"/>
            <a:ext cx="2003084" cy="2606040"/>
          </a:xfrm>
          <a:prstGeom prst="roundRect">
            <a:avLst>
              <a:gd name="adj" fmla="val 8216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740554" y="2706624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end-7FC4FF-192-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3002" y="2909072"/>
            <a:ext cx="344911" cy="34491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740554" y="3602736"/>
            <a:ext cx="1527596" cy="475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Unbounded"/>
              </a:rPr>
              <a:t>AI СММ-менеджер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0554" y="4279392"/>
            <a:ext cx="1527596" cy="553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Проверка и публикация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349240"/>
            <a:ext cx="10820095" cy="375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FFFFFF"/>
                </a:solidFill>
                <a:latin typeface="Inter"/>
              </a:rPr>
              <a:t>Автопубликация: </a:t>
            </a:r>
            <a:r>
              <a:rPr sz="1700" b="0">
                <a:solidFill>
                  <a:srgbClr val="D6E4FF"/>
                </a:solidFill>
                <a:latin typeface="Inter"/>
              </a:rPr>
              <a:t>Telegram · VK · Дзен · Одноклассники · Max · Instagram*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852668"/>
            <a:ext cx="10820095" cy="357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Сверх цикла: </a:t>
            </a:r>
            <a:r>
              <a:rPr sz="1600" b="0">
                <a:solidFill>
                  <a:srgbClr val="9FB6DC"/>
                </a:solidFill>
                <a:latin typeface="Inter"/>
              </a:rPr>
              <a:t>Цифровой двойник · Видео по сценарию · Сайт под заявки · Брендбук и мерч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56604"/>
            <a:ext cx="10820095" cy="236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* Instagram принадлежит компании Meta, признанной экстремистской организацией и запрещённой на территории Российской Федерации.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3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00200"/>
            <a:ext cx="10271455" cy="2473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000" b="0">
                <a:solidFill>
                  <a:srgbClr val="FFFFFF"/>
                </a:solidFill>
                <a:latin typeface="Unbounded"/>
              </a:rPr>
              <a:t>«Контент-фабрики есть у всех, это не новость. Новость в том, что управление циклом можно отдать самому ИИ: он знает правила своих собратьев лучше человека»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73352"/>
            <a:ext cx="82296" cy="236372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366260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166360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413248"/>
            <a:ext cx="10820095" cy="381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FB6DC"/>
                </a:solidFill>
                <a:latin typeface="Inter"/>
              </a:rPr>
              <a:t>Исследование · Стратегия · Генерация</a:t>
            </a:r>
            <a:r>
              <a:rPr sz="1800" b="1">
                <a:solidFill>
                  <a:srgbClr val="FFFFFF"/>
                </a:solidFill>
                <a:latin typeface="Inter"/>
              </a:rPr>
              <a:t>      Проверка · Публикация · Анализ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943600"/>
            <a:ext cx="1082009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Светлым — то, что почти везде до сих пор делает человек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4 / 8</a:t>
            </a:r>
          </a:p>
        </p:txBody>
      </p:sp>
      <p:pic>
        <p:nvPicPr>
          <p:cNvPr id="4" name="Picture 3" descr="press-nejr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9775" y="0"/>
            <a:ext cx="3931920" cy="6858000"/>
          </a:xfrm>
          <a:prstGeom prst="rect">
            <a:avLst/>
          </a:prstGeom>
        </p:spPr>
      </p:pic>
      <p:pic>
        <p:nvPicPr>
          <p:cNvPr id="5" name="Picture 4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37360"/>
            <a:ext cx="6568135" cy="2633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200" b="0">
                <a:solidFill>
                  <a:srgbClr val="FFFFFF"/>
                </a:solidFill>
                <a:latin typeface="Unbounded"/>
              </a:rPr>
              <a:t>«Предприниматель тратит на соцсети не деньги, а своё время — самый дорогой ресурс в компании»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10512"/>
            <a:ext cx="82296" cy="252374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663440"/>
            <a:ext cx="656813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94960"/>
            <a:ext cx="702533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632704"/>
            <a:ext cx="70253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FB6DC"/>
                </a:solidFill>
                <a:latin typeface="Inter"/>
              </a:rPr>
              <a:t>Согласование тем · Правки текстов · Раскладка по площадкам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5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820095" cy="1083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7800" b="1">
                <a:solidFill>
                  <a:srgbClr val="4ADE80"/>
                </a:solidFill>
                <a:latin typeface="Unbounded"/>
              </a:rPr>
              <a:t>120–150 000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1468"/>
            <a:ext cx="1082009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в месяц — столько стоит digital-агентство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794760"/>
            <a:ext cx="1027145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600" b="0">
                <a:solidFill>
                  <a:srgbClr val="FFFFFF"/>
                </a:solidFill>
                <a:latin typeface="Unbounded"/>
              </a:rPr>
              <a:t>«Чтобы работать с нейросетями самому, нужно покупать токены, держать зарубежные аккаунты и воевать с блокировками. Готовый сервис снимает это целиком»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7912"/>
            <a:ext cx="82296" cy="16276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824728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6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4937760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200" b="1">
                <a:solidFill>
                  <a:srgbClr val="4ADE80"/>
                </a:solidFill>
                <a:latin typeface="Unbounded"/>
              </a:rPr>
              <a:t>3–6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месяцев занимает выход в нейровыдачу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00200"/>
            <a:ext cx="45720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554480"/>
            <a:ext cx="4922215" cy="901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D6E4FF"/>
                </a:solidFill>
                <a:latin typeface="Inter"/>
              </a:rPr>
              <a:t>Маркировать фото и видео как созданные ИИ закон сегодня не требует. </a:t>
            </a:r>
            <a:r>
              <a:rPr sz="1500" b="0">
                <a:solidFill>
                  <a:srgbClr val="9FB6DC"/>
                </a:solidFill>
                <a:latin typeface="Inter"/>
              </a:rPr>
              <a:t>Этим грех не пользоваться.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886200"/>
            <a:ext cx="10271455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800" b="0">
                <a:solidFill>
                  <a:srgbClr val="FFFFFF"/>
                </a:solidFill>
                <a:latin typeface="Unbounded"/>
              </a:rPr>
              <a:t>«Клиент больше не листает десять ссылок — он спрашивает нейросеть и получает два-три названия. Попасть в этот ответ можно целенаправленно»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959352"/>
            <a:ext cx="82296" cy="1755648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6044184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7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454335" cy="6233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>
                <a:solidFill>
                  <a:srgbClr val="FFFFFF"/>
                </a:solidFill>
                <a:latin typeface="Unbounded"/>
              </a:rPr>
              <a:t>Кейсы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55 РозДари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36391"/>
            <a:ext cx="2396413" cy="501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доставка цветов · Нижний Новгород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6 месяцев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745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317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3693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3693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Сахара.Нет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693" y="3136391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ПП-конфеты без сахара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3693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3,5 месяца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693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376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693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кликов на WB и Ozon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693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226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оформлений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1587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1587" y="2752344"/>
            <a:ext cx="2396413" cy="499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Unbounded"/>
              </a:rPr>
              <a:t>Эмиграционно-визовый центр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1587" y="3288792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Калининград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1587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3 месяца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1587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1587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1587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46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1587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09481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9481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МЁД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9481" y="3136391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кафе-караоке · Домодедово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09481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5 месяцев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09481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9481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9481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09481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6108192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6309360"/>
            <a:ext cx="10820095" cy="330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FB6DC"/>
                </a:solidFill>
                <a:latin typeface="Inter"/>
              </a:rPr>
              <a:t>4 проекта за 2026 год: </a:t>
            </a:r>
            <a:r>
              <a:rPr sz="1500" b="1">
                <a:solidFill>
                  <a:srgbClr val="FFFFFF"/>
                </a:solidFill>
                <a:latin typeface="Inter"/>
              </a:rPr>
              <a:t>1 451 обращение и 698 клиентов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8 / 8</a:t>
            </a:r>
          </a:p>
        </p:txBody>
      </p:sp>
      <p:pic>
        <p:nvPicPr>
          <p:cNvPr id="8" name="Picture 7" descr="press-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2775" y="1600200"/>
            <a:ext cx="2103120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54135" y="3904487"/>
            <a:ext cx="2651760" cy="3538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>
                <a:solidFill>
                  <a:srgbClr val="FFFFFF"/>
                </a:solidFill>
                <a:latin typeface="Inter"/>
              </a:rPr>
              <a:t>prompter-ai.moscow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4135" y="4258310"/>
            <a:ext cx="2651760" cy="304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7FC4FF"/>
                </a:solidFill>
                <a:latin typeface="Inter"/>
              </a:rPr>
              <a:t>SEO и GEO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54480"/>
            <a:ext cx="7985455" cy="727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FFFFFF"/>
                </a:solidFill>
                <a:latin typeface="Unbounded"/>
              </a:rPr>
              <a:t>Полный AI цикл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92832"/>
            <a:ext cx="7985455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D6E4FF"/>
                </a:solidFill>
                <a:latin typeface="Inter"/>
              </a:rPr>
              <a:t>Исследование, генерация контента, автоматическая публикация на площадках, аналитика нейровыдачи.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552952"/>
            <a:ext cx="7985455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D6E4FF"/>
                </a:solidFill>
                <a:latin typeface="Inter"/>
              </a:rPr>
              <a:t>Интеллектуальный сервис для автоматизации SMM и усиления цифрового присутствия компании в интернете.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257800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20095" cy="398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FFFFFF"/>
                </a:solidFill>
                <a:latin typeface="Inter"/>
              </a:rPr>
              <a:t>+7 906 758-77-77     @geniimoscow     prompter.moscow@mail.ru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76747"/>
            <a:ext cx="10820095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Руслан Анатольевич Дёмин, управляющий партнёр</a:t>
            </a:r>
            <a:r>
              <a:rPr sz="1250" b="0">
                <a:solidFill>
                  <a:srgbClr val="9FB6DC"/>
                </a:solidFill>
                <a:latin typeface="Inter"/>
              </a:rPr>
              <a:t>     ГенИИ — официальный партнёр «Промптера» по Москве и области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