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ss-muzh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0"/>
            <a:ext cx="4846320" cy="6858000"/>
          </a:xfrm>
          <a:prstGeom prst="rect">
            <a:avLst/>
          </a:prstGeom>
        </p:spPr>
      </p:pic>
      <p:pic>
        <p:nvPicPr>
          <p:cNvPr id="4" name="Picture 3" descr="press-f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68335" cy="6858000"/>
          </a:xfrm>
          <a:prstGeom prst="rect">
            <a:avLst/>
          </a:prstGeom>
        </p:spPr>
      </p:pic>
      <p:pic>
        <p:nvPicPr>
          <p:cNvPr id="5" name="Picture 4" descr="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74375" y="219456"/>
            <a:ext cx="1005840" cy="1316736"/>
          </a:xfrm>
          <a:prstGeom prst="roundRect">
            <a:avLst>
              <a:gd name="adj" fmla="val 12727"/>
            </a:avLst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6751015" cy="2073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00" b="1">
                <a:solidFill>
                  <a:srgbClr val="FFFFFF"/>
                </a:solidFill>
                <a:latin typeface="Unbounded"/>
              </a:rPr>
              <a:t>ИНТЕЛЛЕКТУАЛЬНЫЙ СЕРВИС
ДЛЯ АВТОМАТИЗАЦИИ SMM
И УСИЛЕНИЯ ЦИФРОВОГО
ПРИСУТСТВИЯ КОМПАНИЙ
В ИНТЕРНЕТЕ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304538"/>
            <a:ext cx="1828800" cy="32004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06290"/>
            <a:ext cx="66595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Руслан Анатольевич Дёмин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5473"/>
            <a:ext cx="6659575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97880"/>
            <a:ext cx="6842455" cy="478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FB6DC"/>
                </a:solidFill>
                <a:latin typeface="Inter"/>
              </a:rPr>
              <a:t>Пресс-конференция «Эффективные инструменты привлечения клиентов»
20 октября 2026 · Москва, Кузнецкий мост,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2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454335" cy="623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>
                <a:solidFill>
                  <a:srgbClr val="FFFFFF"/>
                </a:solidFill>
                <a:latin typeface="Unbounded"/>
              </a:rPr>
              <a:t>Пять ИИ-агентов вместо отдела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23744"/>
            <a:ext cx="256032" cy="2560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77440"/>
            <a:ext cx="4587087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AI-маркетолог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58440"/>
            <a:ext cx="4587087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ниша, конкуренты и запросы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607" y="2523744"/>
            <a:ext cx="256032" cy="2560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8807" y="2377440"/>
            <a:ext cx="4587087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AI-копирайтер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8807" y="2758440"/>
            <a:ext cx="4587087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тексты в стиле бренда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56432"/>
            <a:ext cx="256032" cy="2560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4587087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AI-дизайнер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91127"/>
            <a:ext cx="4587087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визуал под каждую площадку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607" y="3456432"/>
            <a:ext cx="256032" cy="2560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8807" y="3310128"/>
            <a:ext cx="4587087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AI-сценарист и оператор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8807" y="3691127"/>
            <a:ext cx="4587087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сценарий и готовый ролик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389120"/>
            <a:ext cx="256032" cy="2560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242816"/>
            <a:ext cx="4587087" cy="362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Unbounded"/>
              </a:rPr>
              <a:t>AI СММ-менеджер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23816"/>
            <a:ext cx="4587087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проверка, публикация, контроль выдачи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221224"/>
            <a:ext cx="1082009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10820095" cy="35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Автопубликация: </a:t>
            </a:r>
            <a:r>
              <a:rPr sz="1600" b="0">
                <a:solidFill>
                  <a:srgbClr val="D6E4FF"/>
                </a:solidFill>
                <a:latin typeface="Inter"/>
              </a:rPr>
              <a:t>Telegram · VK · Дзен · Одноклассники · Max · Instagram*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08040"/>
            <a:ext cx="10820095" cy="339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Сверх цикла: </a:t>
            </a:r>
            <a:r>
              <a:rPr sz="1500" b="0">
                <a:solidFill>
                  <a:srgbClr val="9FB6DC"/>
                </a:solidFill>
                <a:latin typeface="Inter"/>
              </a:rPr>
              <a:t>Цифровой двойник · Видео по сценарию · Сайт под заявки · Брендбук и мерч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2484"/>
            <a:ext cx="10820095" cy="236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* Instagram принадлежит компании Meta, признанной экстремистской организацией и запрещённой на территории Российской Федерации.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3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10271455" cy="2473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 b="0">
                <a:solidFill>
                  <a:srgbClr val="FFFFFF"/>
                </a:solidFill>
                <a:latin typeface="Unbounded"/>
              </a:rPr>
              <a:t>«Контент-фабрики есть у всех, это не новость. Новость в том, что управление циклом можно отдать самому ИИ: он знает правила своих собратьев лучше человека»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73352"/>
            <a:ext cx="82296" cy="2363724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66260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66360"/>
            <a:ext cx="1082009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13248"/>
            <a:ext cx="10820095" cy="381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FB6DC"/>
                </a:solidFill>
                <a:latin typeface="Inter"/>
              </a:rPr>
              <a:t>Исследование · Стратегия · Генерация</a:t>
            </a:r>
            <a:r>
              <a:rPr sz="1800" b="1">
                <a:solidFill>
                  <a:srgbClr val="FFFFFF"/>
                </a:solidFill>
                <a:latin typeface="Inter"/>
              </a:rPr>
              <a:t>      Проверка · Публикация · 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20095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9FB6DC"/>
                </a:solidFill>
                <a:latin typeface="Inter"/>
              </a:rPr>
              <a:t>Светлым — то, что почти везде до сих пор делает человек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4 / 7</a:t>
            </a:r>
          </a:p>
        </p:txBody>
      </p:sp>
      <p:pic>
        <p:nvPicPr>
          <p:cNvPr id="4" name="Picture 3" descr="press-nejro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775" y="0"/>
            <a:ext cx="3931920" cy="6858000"/>
          </a:xfrm>
          <a:prstGeom prst="rect">
            <a:avLst/>
          </a:prstGeom>
        </p:spPr>
      </p:pic>
      <p:pic>
        <p:nvPicPr>
          <p:cNvPr id="5" name="Picture 4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6568135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200" b="0">
                <a:solidFill>
                  <a:srgbClr val="FFFFFF"/>
                </a:solidFill>
                <a:latin typeface="Unbounded"/>
              </a:rPr>
              <a:t>«Предприниматель тратит на соцсети не деньги, а своё время — самый дорогой ресурс в компании»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82296" cy="2523743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656813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94960"/>
            <a:ext cx="702533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632704"/>
            <a:ext cx="70253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FB6DC"/>
                </a:solidFill>
                <a:latin typeface="Inter"/>
              </a:rPr>
              <a:t>Согласование тем · Правки текстов · Раскладка по площадкам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5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486400" cy="126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200" b="1">
                <a:solidFill>
                  <a:srgbClr val="4ADE80"/>
                </a:solidFill>
                <a:latin typeface="Unbounded"/>
              </a:rPr>
              <a:t>70–80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54864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6E4FF"/>
                </a:solidFill>
                <a:latin typeface="Inter"/>
              </a:rPr>
              <a:t>тысяч рублей в месяц — столько стоят те же роли своими силами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1027145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600" b="0">
                <a:solidFill>
                  <a:srgbClr val="FFFFFF"/>
                </a:solidFill>
                <a:latin typeface="Unbounded"/>
              </a:rPr>
              <a:t>«Чтобы работать с нейросетями самому, нужно покупать токены, держать зарубежные аккаунты и воевать с блокировками. Готовый сервис снимает это целиком»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67912"/>
            <a:ext cx="82296" cy="1627632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824728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6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4937760" cy="126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200" b="1">
                <a:solidFill>
                  <a:srgbClr val="4ADE80"/>
                </a:solidFill>
                <a:latin typeface="Unbounded"/>
              </a:rPr>
              <a:t>3–6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6E4FF"/>
                </a:solidFill>
                <a:latin typeface="Inter"/>
              </a:rPr>
              <a:t>месяцев занимает выход в нейровыдачу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45720" cy="13716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554480"/>
            <a:ext cx="4922215" cy="901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D6E4FF"/>
                </a:solidFill>
                <a:latin typeface="Inter"/>
              </a:rPr>
              <a:t>Маркировать фото и видео как созданные ИИ закон сегодня не требует. </a:t>
            </a:r>
            <a:r>
              <a:rPr sz="1500" b="0">
                <a:solidFill>
                  <a:srgbClr val="9FB6DC"/>
                </a:solidFill>
                <a:latin typeface="Inter"/>
              </a:rPr>
              <a:t>Этим грех не пользоваться.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10271455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800" b="0">
                <a:solidFill>
                  <a:srgbClr val="FFFFFF"/>
                </a:solidFill>
                <a:latin typeface="Unbounded"/>
              </a:rPr>
              <a:t>«Клиент больше не листает десять ссылок — он спрашивает нейросеть и получает два-три названия. Попасть в этот ответ можно целенаправленно»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59352"/>
            <a:ext cx="82296" cy="1755648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6044184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7FC4FF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ГенИИ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9FB6DC"/>
                </a:solidFill>
                <a:latin typeface="Inter"/>
              </a:rPr>
              <a:t>Промптер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FB6DC"/>
                </a:solidFill>
                <a:latin typeface="Inter"/>
              </a:rPr>
              <a:t>7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Unbounded"/>
              </a:rPr>
              <a:t>Руслан Анатольевич Дёмин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32888"/>
            <a:ext cx="7315200" cy="386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9FB6DC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30626"/>
            <a:ext cx="2011680" cy="32004"/>
          </a:xfrm>
          <a:prstGeom prst="rect">
            <a:avLst/>
          </a:prstGeom>
          <a:solidFill>
            <a:srgbClr val="7F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04946"/>
            <a:ext cx="7315200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Inter"/>
              </a:rPr>
              <a:t>+7 906 758-77-77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44874"/>
            <a:ext cx="7315200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Inter"/>
              </a:rPr>
              <a:t>ubeto@mail.ru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4802"/>
            <a:ext cx="7315200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7FC4FF"/>
                </a:solidFill>
                <a:latin typeface="Inter"/>
              </a:rPr>
              <a:t>genii-ai.ru</a:t>
            </a:r>
          </a:p>
        </p:txBody>
      </p:sp>
      <p:pic>
        <p:nvPicPr>
          <p:cNvPr id="14" name="Picture 13" descr="press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1554480"/>
            <a:ext cx="1645920" cy="16459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5800" y="5257800"/>
            <a:ext cx="10820095" cy="10972"/>
          </a:xfrm>
          <a:prstGeom prst="rect">
            <a:avLst/>
          </a:prstGeom>
          <a:solidFill>
            <a:srgbClr val="3E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820095" cy="517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7FC4FF"/>
                </a:solidFill>
                <a:latin typeface="Inter"/>
              </a:rPr>
              <a:t>Промптер — </a:t>
            </a:r>
            <a:r>
              <a:rPr sz="1250" b="0">
                <a:solidFill>
                  <a:srgbClr val="9FB6DC"/>
                </a:solidFill>
                <a:latin typeface="Inter"/>
              </a:rPr>
              <a:t>российский сервис автоматизации SMM: исследование ниши, стратегия, генерация текстов, изображений и видео, публикация на 6+ площадках.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8915"/>
            <a:ext cx="10820095" cy="295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7FC4FF"/>
                </a:solidFill>
                <a:latin typeface="Inter"/>
              </a:rPr>
              <a:t>ГенИИ — </a:t>
            </a:r>
            <a:r>
              <a:rPr sz="1250" b="0">
                <a:solidFill>
                  <a:srgbClr val="9FB6DC"/>
                </a:solidFill>
                <a:latin typeface="Inter"/>
              </a:rPr>
              <a:t>официальный партнёр «Промптера» по Москве и области. Продвижение компаний в ответах нейросетей: SEO и GEO.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