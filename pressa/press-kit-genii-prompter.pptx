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ess-muzh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5375" y="0"/>
            <a:ext cx="4846320" cy="6858000"/>
          </a:xfrm>
          <a:prstGeom prst="rect">
            <a:avLst/>
          </a:prstGeom>
        </p:spPr>
      </p:pic>
      <p:pic>
        <p:nvPicPr>
          <p:cNvPr id="4" name="Picture 3" descr="press-f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8168335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774375" y="219456"/>
            <a:ext cx="1005840" cy="1316736"/>
          </a:xfrm>
          <a:prstGeom prst="roundRect">
            <a:avLst>
              <a:gd name="adj" fmla="val 12727"/>
            </a:avLst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28800"/>
            <a:ext cx="6751015" cy="2073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500" b="1">
                <a:solidFill>
                  <a:srgbClr val="FFFFFF"/>
                </a:solidFill>
                <a:latin typeface="Unbounded"/>
              </a:rPr>
              <a:t>ИНТЕЛЛЕКТУАЛЬНЫЙ СЕРВИС
ДЛЯ АВТОМАТИЗАЦИИ SMM
И УСИЛЕНИЯ ЦИФРОВОГО
ПРИСУТСТВИЯ КОМПАНИЙ
В ИНТЕРНЕТЕ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4304538"/>
            <a:ext cx="182880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606290"/>
            <a:ext cx="665957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Руслан Анатольевич Дёмин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5473"/>
            <a:ext cx="665957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897880"/>
            <a:ext cx="6842455" cy="478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FB6DC"/>
                </a:solidFill>
                <a:latin typeface="Inter"/>
              </a:rPr>
              <a:t>Пресс-конференция «Эффективные инструменты привлечения клиентов»
20 октября 2026 · Москва, Кузнецкий мост, 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2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5654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>
                <a:solidFill>
                  <a:srgbClr val="FFFFFF"/>
                </a:solidFill>
                <a:latin typeface="Unbounded"/>
              </a:rPr>
              <a:t>Пять ИИ-агентов вместо агентства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23544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arget-7FC4FF-192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992" y="2909072"/>
            <a:ext cx="344911" cy="34491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3544" y="3602736"/>
            <a:ext cx="152759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AI-маркетолог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4279392"/>
            <a:ext cx="1527596" cy="4820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>
                <a:solidFill>
                  <a:srgbClr val="D6E4FF"/>
                </a:solidFill>
                <a:latin typeface="Inter"/>
              </a:rPr>
              <a:t>Ниша, конкуренты, запросы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90052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27796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encil-7FC4FF-192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0244" y="2909072"/>
            <a:ext cx="344911" cy="34491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127796" y="3602736"/>
            <a:ext cx="152759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AI-копирайтер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7796" y="4279392"/>
            <a:ext cx="1527596" cy="553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Тексты в стиле бренда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94305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332049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palette-7FC4FF-192-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34497" y="2909072"/>
            <a:ext cx="344911" cy="34491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32049" y="3602736"/>
            <a:ext cx="1527596" cy="3055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500" b="1">
                <a:solidFill>
                  <a:srgbClr val="FFFFFF"/>
                </a:solidFill>
                <a:latin typeface="Unbounded"/>
              </a:rPr>
              <a:t>AI-дизайнер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2049" y="4279392"/>
            <a:ext cx="1527596" cy="553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Визуал под площадки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8557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36301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video-7FC4FF-192-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8750" y="2909072"/>
            <a:ext cx="344911" cy="34491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536301" y="3602736"/>
            <a:ext cx="1527596" cy="5069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AI-сценарист
и оператор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36301" y="4279392"/>
            <a:ext cx="1527596" cy="553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Сценарий и готовый ролик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502810" y="2468880"/>
            <a:ext cx="2003084" cy="2606040"/>
          </a:xfrm>
          <a:prstGeom prst="roundRect">
            <a:avLst>
              <a:gd name="adj" fmla="val 8216"/>
            </a:avLst>
          </a:prstGeom>
          <a:solidFill>
            <a:srgbClr val="152343"/>
          </a:solidFill>
          <a:ln w="12700">
            <a:solidFill>
              <a:srgbClr val="2C44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740554" y="2706624"/>
            <a:ext cx="749808" cy="749808"/>
          </a:xfrm>
          <a:prstGeom prst="roundRect">
            <a:avLst>
              <a:gd name="adj" fmla="val 50000"/>
            </a:avLst>
          </a:prstGeom>
          <a:solidFill>
            <a:srgbClr val="1B2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end-7FC4FF-192-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943002" y="2909072"/>
            <a:ext cx="344911" cy="34491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9740554" y="3602736"/>
            <a:ext cx="1527596" cy="475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300" b="1">
                <a:solidFill>
                  <a:srgbClr val="FFFFFF"/>
                </a:solidFill>
                <a:latin typeface="Unbounded"/>
              </a:rPr>
              <a:t>AI СММ-менеджер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40554" y="4279392"/>
            <a:ext cx="1527596" cy="553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D6E4FF"/>
                </a:solidFill>
                <a:latin typeface="Inter"/>
              </a:rPr>
              <a:t>Проверка и публикация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349240"/>
            <a:ext cx="10820095" cy="375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FFFFFF"/>
                </a:solidFill>
                <a:latin typeface="Inter"/>
              </a:rPr>
              <a:t>Автопубликация: </a:t>
            </a:r>
            <a:r>
              <a:rPr sz="1700" b="0">
                <a:solidFill>
                  <a:srgbClr val="D6E4FF"/>
                </a:solidFill>
                <a:latin typeface="Inter"/>
              </a:rPr>
              <a:t>Telegram · VK · Дзен · Одноклассники · Max · Instagram*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5852668"/>
            <a:ext cx="10820095" cy="357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FFFFFF"/>
                </a:solidFill>
                <a:latin typeface="Inter"/>
              </a:rPr>
              <a:t>Сверх цикла: </a:t>
            </a:r>
            <a:r>
              <a:rPr sz="1600" b="0">
                <a:solidFill>
                  <a:srgbClr val="9FB6DC"/>
                </a:solidFill>
                <a:latin typeface="Inter"/>
              </a:rPr>
              <a:t>Цифровой двойник · Видео по сценарию · Сайт под заявки · Брендбук и мерч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356604"/>
            <a:ext cx="10820095" cy="236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* Instagram принадлежит компании Meta, признанной экстремистской организацией и запрещённой на территории Российской Федерации.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3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00200"/>
            <a:ext cx="10271455" cy="24734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000" b="0">
                <a:solidFill>
                  <a:srgbClr val="FFFFFF"/>
                </a:solidFill>
                <a:latin typeface="Unbounded"/>
              </a:rPr>
              <a:t>«Контент-фабрики есть у всех, это не новость. Новость в том, что управление циклом можно отдать самому ИИ: он знает правила своих собратьев лучше человека»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673352"/>
            <a:ext cx="82296" cy="236372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66260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16636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13248"/>
            <a:ext cx="10820095" cy="3817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9FB6DC"/>
                </a:solidFill>
                <a:latin typeface="Inter"/>
              </a:rPr>
              <a:t>Исследование · Стратегия · Генерация</a:t>
            </a:r>
            <a:r>
              <a:rPr sz="1800" b="1">
                <a:solidFill>
                  <a:srgbClr val="FFFFFF"/>
                </a:solidFill>
                <a:latin typeface="Inter"/>
              </a:rPr>
              <a:t>      Проверка · Публикация · Анализ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43600"/>
            <a:ext cx="10820095" cy="313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FB6DC"/>
                </a:solidFill>
                <a:latin typeface="Inter"/>
              </a:rPr>
              <a:t>Светлым — то, что почти везде до сих пор делает человек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4 / 8</a:t>
            </a:r>
          </a:p>
        </p:txBody>
      </p:sp>
      <p:pic>
        <p:nvPicPr>
          <p:cNvPr id="4" name="Picture 3" descr="press-nejro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9775" y="0"/>
            <a:ext cx="3931920" cy="6858000"/>
          </a:xfrm>
          <a:prstGeom prst="rect">
            <a:avLst/>
          </a:prstGeom>
        </p:spPr>
      </p:pic>
      <p:pic>
        <p:nvPicPr>
          <p:cNvPr id="5" name="Picture 4" descr="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37360"/>
            <a:ext cx="6568135" cy="2633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3200" b="0">
                <a:solidFill>
                  <a:srgbClr val="FFFFFF"/>
                </a:solidFill>
                <a:latin typeface="Unbounded"/>
              </a:rPr>
              <a:t>«Предприниматель тратит на соцсети не деньги, а своё время — самый дорогой ресурс в компании»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10512"/>
            <a:ext cx="82296" cy="2523743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63440"/>
            <a:ext cx="656813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394960"/>
            <a:ext cx="702533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5632704"/>
            <a:ext cx="702533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FB6DC"/>
                </a:solidFill>
                <a:latin typeface="Inter"/>
              </a:rPr>
              <a:t>Согласование тем · Правки текстов · Раскладка по площадкам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5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820095" cy="1083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7800" b="1">
                <a:solidFill>
                  <a:srgbClr val="4ADE80"/>
                </a:solidFill>
                <a:latin typeface="Unbounded"/>
              </a:rPr>
              <a:t>120–150 000 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601468"/>
            <a:ext cx="10820095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в месяц — столько стоит digital-агентство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794760"/>
            <a:ext cx="10271455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600" b="0">
                <a:solidFill>
                  <a:srgbClr val="FFFFFF"/>
                </a:solidFill>
                <a:latin typeface="Unbounded"/>
              </a:rPr>
              <a:t>«Чтобы работать с нейросетями самому, нужно покупать токены, держать зарубежные аккаунты и воевать с блокировками. Готовый сервис снимает это целиком»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7912"/>
            <a:ext cx="82296" cy="16276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5824728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6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4937760" cy="1264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200" b="1">
                <a:solidFill>
                  <a:srgbClr val="4ADE80"/>
                </a:solidFill>
                <a:latin typeface="Unbounded"/>
              </a:rPr>
              <a:t>3–6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2824"/>
            <a:ext cx="49377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D6E4FF"/>
                </a:solidFill>
                <a:latin typeface="Inter"/>
              </a:rPr>
              <a:t>месяцев занимает выход в нейровыдачу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600200"/>
            <a:ext cx="45720" cy="1371600"/>
          </a:xfrm>
          <a:prstGeom prst="rect">
            <a:avLst/>
          </a:prstGeom>
          <a:solidFill>
            <a:srgbClr val="4ADE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554480"/>
            <a:ext cx="4922215" cy="9018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D6E4FF"/>
                </a:solidFill>
                <a:latin typeface="Inter"/>
              </a:rPr>
              <a:t>Маркировать фото и видео как созданные ИИ закон сегодня не требует. </a:t>
            </a:r>
            <a:r>
              <a:rPr sz="1500" b="0">
                <a:solidFill>
                  <a:srgbClr val="9FB6DC"/>
                </a:solidFill>
                <a:latin typeface="Inter"/>
              </a:rPr>
              <a:t>Этим грех не пользоваться.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886200"/>
            <a:ext cx="10271455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0">
                <a:solidFill>
                  <a:srgbClr val="FFFFFF"/>
                </a:solidFill>
                <a:latin typeface="Unbounded"/>
              </a:rPr>
              <a:t>«Клиент больше не листает десять ссылок — он спрашивает нейросеть и получает два-три названия. Попасть в этот ответ можно целенаправленно»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3959352"/>
            <a:ext cx="82296" cy="1755648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6044184"/>
            <a:ext cx="10271455" cy="3208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7FC4FF"/>
                </a:solidFill>
                <a:latin typeface="Inter"/>
              </a:rPr>
              <a:t>Руслан Анатольевич Дёмин, </a:t>
            </a:r>
            <a:r>
              <a:rPr sz="15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7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63040"/>
            <a:ext cx="10454335" cy="6233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800" b="1">
                <a:solidFill>
                  <a:srgbClr val="FFFFFF"/>
                </a:solidFill>
                <a:latin typeface="Unbounded"/>
              </a:rPr>
              <a:t>Кейсы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55 РозДари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136391"/>
            <a:ext cx="2396413" cy="501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доставка цветов · Нижний Новгород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6 месяцев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745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693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93693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Сахара.Нет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693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ПП-конфеты без сахара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93693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3,5 месяца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93693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376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93693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кликов на WB и Ozon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93693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оформлений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1587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1587" y="2752344"/>
            <a:ext cx="2396413" cy="499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Unbounded"/>
              </a:rPr>
              <a:t>Эмиграционно-визовый центр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1587" y="3288792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Калининград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1587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3 месяца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1587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1587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заявок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1587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46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1587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09481" y="2514600"/>
            <a:ext cx="1006493" cy="27432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09481" y="2752344"/>
            <a:ext cx="2396413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Unbounded"/>
              </a:rPr>
              <a:t>МЁД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9481" y="3136391"/>
            <a:ext cx="2396413" cy="287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>
                <a:solidFill>
                  <a:srgbClr val="9FB6DC"/>
                </a:solidFill>
                <a:latin typeface="Inter"/>
              </a:rPr>
              <a:t>кафе-караоке · Домодедово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09481" y="3904487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7FC4FF"/>
                </a:solidFill>
                <a:latin typeface="Inter"/>
              </a:rPr>
              <a:t>5 месяцев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09481" y="4361688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181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09481" y="4878324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заявка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9481" y="5259324"/>
            <a:ext cx="2396413" cy="5532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4ADE80"/>
                </a:solidFill>
                <a:latin typeface="Unbounded"/>
              </a:rPr>
              <a:t>109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9481" y="5775960"/>
            <a:ext cx="2396413" cy="2712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D6E4FF"/>
                </a:solidFill>
                <a:latin typeface="Inter"/>
              </a:rPr>
              <a:t>клиентов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85800" y="6108192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6309360"/>
            <a:ext cx="10820095" cy="330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9FB6DC"/>
                </a:solidFill>
                <a:latin typeface="Inter"/>
              </a:rPr>
              <a:t>4 проекта за 2026 год: </a:t>
            </a:r>
            <a:r>
              <a:rPr sz="1500" b="1">
                <a:solidFill>
                  <a:srgbClr val="FFFFFF"/>
                </a:solidFill>
                <a:latin typeface="Inter"/>
              </a:rPr>
              <a:t>1 451 обращение и 698 клиентов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457200"/>
            <a:ext cx="480290" cy="457200"/>
          </a:xfrm>
          <a:prstGeom prst="rect">
            <a:avLst/>
          </a:prstGeom>
        </p:spPr>
      </p:pic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8695" y="45720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ГенИИ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62695" y="987552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50" b="0">
                <a:solidFill>
                  <a:srgbClr val="9FB6DC"/>
                </a:solidFill>
                <a:latin typeface="Inter"/>
              </a:rPr>
              <a:t>Промптер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08615" y="62910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00" b="0">
                <a:solidFill>
                  <a:srgbClr val="9FB6DC"/>
                </a:solidFill>
                <a:latin typeface="Inter"/>
              </a:rPr>
              <a:t>8 /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325880"/>
            <a:ext cx="7680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>
                <a:solidFill>
                  <a:srgbClr val="FFFFFF"/>
                </a:solidFill>
                <a:latin typeface="Unbounded"/>
              </a:rPr>
              <a:t>Руслан Анатольевич Дёмин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32888"/>
            <a:ext cx="7315200" cy="3868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9FB6DC"/>
                </a:solidFill>
                <a:latin typeface="Inter"/>
              </a:rPr>
              <a:t>управляющий партнёр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230626"/>
            <a:ext cx="2011680" cy="32004"/>
          </a:xfrm>
          <a:prstGeom prst="rect">
            <a:avLst/>
          </a:prstGeom>
          <a:solidFill>
            <a:srgbClr val="7F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504946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+7 906 758-77-77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944874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Inter"/>
              </a:rPr>
              <a:t>prompter.moscow@mail.ru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384802"/>
            <a:ext cx="7315200" cy="403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7FC4FF"/>
                </a:solidFill>
                <a:latin typeface="Inter"/>
              </a:rPr>
              <a:t>prompter-ai.moscow   ·   genii-ai.ru</a:t>
            </a:r>
          </a:p>
        </p:txBody>
      </p:sp>
      <p:pic>
        <p:nvPicPr>
          <p:cNvPr id="14" name="Picture 13" descr="press-q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59975" y="1554480"/>
            <a:ext cx="1645920" cy="164592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5257800"/>
            <a:ext cx="10820095" cy="10972"/>
          </a:xfrm>
          <a:prstGeom prst="rect">
            <a:avLst/>
          </a:prstGeom>
          <a:solidFill>
            <a:srgbClr val="3E5C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10820095" cy="5176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Промптер — </a:t>
            </a:r>
            <a:r>
              <a:rPr sz="1250" b="0">
                <a:solidFill>
                  <a:srgbClr val="9FB6DC"/>
                </a:solidFill>
                <a:latin typeface="Inter"/>
              </a:rPr>
              <a:t>российский сервис автоматизации SMM: исследование ниши, стратегия, генерация текстов, изображений и видео, публикация на 6+ площадках.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058915"/>
            <a:ext cx="10820095" cy="2954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7FC4FF"/>
                </a:solidFill>
                <a:latin typeface="Inter"/>
              </a:rPr>
              <a:t>ГенИИ — </a:t>
            </a:r>
            <a:r>
              <a:rPr sz="1250" b="0">
                <a:solidFill>
                  <a:srgbClr val="9FB6DC"/>
                </a:solidFill>
                <a:latin typeface="Inter"/>
              </a:rPr>
              <a:t>официальный партнёр «Промптера» по Москве и области. Продвижение компаний в ответах нейросетей: SEO и GEO.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