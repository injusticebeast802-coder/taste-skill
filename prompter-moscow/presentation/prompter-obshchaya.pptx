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embeddedFontLst>
    <p:embeddedFont>
      <p:font typeface="Inter" pitchFamily="34" charset="0"/>
      <p:regular r:id="rIdFont1"/>
      <p:bold r:id="rIdFont2"/>
    </p:embeddedFont>
    <p:embeddedFont>
      <p:font typeface="Unbounded" pitchFamily="34" charset="0"/>
      <p:regular r:id="rIdFont3"/>
      <p:bold r:id="rId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hyperlink" Target="https://prompter-ai.moscow/zayavka.html?from=presentation-analiz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prompter-ai.moscow/zayavka.html?from=presentation-obshchaya" TargetMode="External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hyperlink" Target="tel:+79067587777" TargetMode="External"/><Relationship Id="rId7" Type="http://schemas.openxmlformats.org/officeDocument/2006/relationships/image" Target="../media/image38.png"/><Relationship Id="rId8" Type="http://schemas.openxmlformats.org/officeDocument/2006/relationships/hyperlink" Target="mailto:prompter.moscow@mail.ru" TargetMode="External"/><Relationship Id="rId9" Type="http://schemas.openxmlformats.org/officeDocument/2006/relationships/image" Target="../media/image39.png"/><Relationship Id="rId10" Type="http://schemas.openxmlformats.org/officeDocument/2006/relationships/hyperlink" Target="https://t.me/Prompter_mos" TargetMode="External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7548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" y="548640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5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9784080" cy="898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800" b="1">
                <a:solidFill>
                  <a:srgbClr val="FFFFFF"/>
                </a:solidFill>
                <a:latin typeface="Unbounded"/>
              </a:rPr>
              <a:t>Комплексное GEO- и SEO-продвижение бизнеса с помощью 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025392"/>
            <a:ext cx="7680960" cy="677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D6E4FF"/>
                </a:solidFill>
                <a:latin typeface="Inter"/>
              </a:rPr>
              <a:t>Делаем ваш бизнес заметным в нейровыдаче и поисковых системах.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050535"/>
            <a:ext cx="7223760" cy="859536"/>
          </a:xfrm>
          <a:prstGeom prst="roundRect">
            <a:avLst>
              <a:gd name="adj" fmla="val 17021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ertificate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5297423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08176" y="5050535"/>
            <a:ext cx="621792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D6E4FF"/>
                </a:solidFill>
                <a:latin typeface="Inter"/>
              </a:rPr>
              <a:t>Официальный партнёр разработчика платформы — IT-компании «Промптер» — по Москве и МО.</a:t>
            </a:r>
          </a:p>
          <a:p>
            <a:pPr algn="l">
              <a:lnSpc>
                <a:spcPct val="135000"/>
              </a:lnSpc>
              <a:spcBef>
                <a:spcPts val="300"/>
              </a:spcBef>
            </a:pPr>
            <a:r>
              <a:rPr sz="1150" b="1">
                <a:solidFill>
                  <a:srgbClr val="7FC4FF"/>
                </a:solidFill>
                <a:latin typeface="Inter"/>
              </a:rPr>
              <a:t>Лицензионный договор № 54-ПРТ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FFFFFF"/>
                </a:solidFill>
                <a:latin typeface="Inter"/>
              </a:rPr>
              <a:t>prompter-ai.moscow</a:t>
            </a:r>
            <a:r>
              <a:rPr sz="1150" b="0">
                <a:solidFill>
                  <a:srgbClr val="9FB6DC"/>
                </a:solidFill>
                <a:latin typeface="Inter"/>
              </a:rPr>
              <a:t>     +7 906 758-77-77     prompter.moscow@mail.ru     @Prompter_mos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Рынок изменился: клиентов ищут нейросети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9509760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Пользователь больше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62709"/>
            <a:ext cx="6492240" cy="941832"/>
          </a:xfrm>
          <a:prstGeom prst="roundRect">
            <a:avLst>
              <a:gd name="adj" fmla="val 1747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62709"/>
            <a:ext cx="100584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9FB6DC"/>
                </a:solidFill>
                <a:latin typeface="Unbounded"/>
              </a:rPr>
              <a:t>Было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1862709"/>
            <a:ext cx="466344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Десять синих ссылок. Человек листает выдачу и выбирает сам.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50845"/>
            <a:ext cx="6492240" cy="941832"/>
          </a:xfrm>
          <a:prstGeom prst="roundRect">
            <a:avLst>
              <a:gd name="adj" fmla="val 1747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50845"/>
            <a:ext cx="100584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7FC4FF"/>
                </a:solidFill>
                <a:latin typeface="Unbounded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2950845"/>
            <a:ext cx="466344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Один ответ нейросети и два-три названия. Кого назвали — к тому и пошли.</a:t>
            </a:r>
          </a:p>
        </p:txBody>
      </p:sp>
      <p:pic>
        <p:nvPicPr>
          <p:cNvPr id="14" name="Picture 13" descr="nejro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1862709"/>
            <a:ext cx="4291279" cy="188366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66928" y="4075557"/>
            <a:ext cx="11057839" cy="1977770"/>
          </a:xfrm>
          <a:prstGeom prst="roundRect">
            <a:avLst>
              <a:gd name="adj" fmla="val 10171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96181"/>
            <a:ext cx="6858000" cy="206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ADE80"/>
                </a:solidFill>
                <a:latin typeface="Inter"/>
              </a:rPr>
              <a:t>БЕСПЛАТНО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812411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Проверьте ваш бизнес в нейровыдаче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5269611"/>
            <a:ext cx="6858000" cy="488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>
                <a:solidFill>
                  <a:srgbClr val="D6E4FF"/>
                </a:solidFill>
                <a:latin typeface="Inter"/>
              </a:rPr>
              <a:t>Посмотрим, называют ли нейросети вашу компанию по запросам вашей ниши — и кого называют вместо вас. Пришлём разбор с наглядной картинкой. Без обязательств.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7912303" y="4753546"/>
            <a:ext cx="3200400" cy="621792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>
            <a:hlinkClick r:id="rId4"/>
          </p:cNvPr>
          <p:cNvSpPr txBox="1"/>
          <p:nvPr/>
        </p:nvSpPr>
        <p:spPr>
          <a:xfrm>
            <a:off x="7912303" y="4753546"/>
            <a:ext cx="32004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Получить бесплатный анализ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792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Полный цикл продвижения внутри одной платформы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8864"/>
            <a:ext cx="4846320" cy="4474464"/>
          </a:xfrm>
          <a:prstGeom prst="roundRect">
            <a:avLst>
              <a:gd name="adj" fmla="val 408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996" y="2036064"/>
            <a:ext cx="1472184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7552" y="4376928"/>
            <a:ext cx="4005072" cy="12936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1240" b="0">
                <a:solidFill>
                  <a:srgbClr val="D6E4FF"/>
                </a:solidFill>
                <a:latin typeface="Inter"/>
              </a:rPr>
              <a:t>Платформа ведёт полный цикл продвижения: от идеи и сбора данных до проверки текста, фото, видео и автономной публикации на площадках. Вам не нужно ставить задачи, согласовывать материалы и следить за сроками.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8" y="1578864"/>
            <a:ext cx="5937199" cy="2100072"/>
          </a:xfrm>
          <a:prstGeom prst="roundRect">
            <a:avLst>
              <a:gd name="adj" fmla="val 870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1926335"/>
            <a:ext cx="2377440" cy="526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7FC4FF"/>
                </a:solidFill>
                <a:latin typeface="Unbounded"/>
              </a:rPr>
              <a:t>217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2548128"/>
            <a:ext cx="5022799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ИИ-модулей внутри платформы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993136"/>
            <a:ext cx="5022799" cy="450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90" b="0">
                <a:solidFill>
                  <a:srgbClr val="9FB6DC"/>
                </a:solidFill>
                <a:latin typeface="Inter"/>
              </a:rPr>
              <a:t>Каждый отвечает за свой участок работы: темы, тексты, фото, видео, проверка фактов, оформление, публикация, отчётность.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7568" y="3953256"/>
            <a:ext cx="5937199" cy="2100072"/>
          </a:xfrm>
          <a:prstGeom prst="roundRect">
            <a:avLst>
              <a:gd name="adj" fmla="val 870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00728"/>
            <a:ext cx="2377440" cy="526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7FC4FF"/>
                </a:solidFill>
                <a:latin typeface="Unbounded"/>
              </a:rPr>
              <a:t>GEO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922520"/>
            <a:ext cx="5022799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Фокус на нейровыдаче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5367527"/>
            <a:ext cx="5022799" cy="450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90" b="0">
                <a:solidFill>
                  <a:srgbClr val="9FB6DC"/>
                </a:solidFill>
                <a:latin typeface="Inter"/>
              </a:rPr>
              <a:t>Мы работаем на то, чтобы вашу компанию называли нейросети, и параллельно усиливаем классические позиции в поиске.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Как работает платформа «Промптер»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9509760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Платформа объединяет </a:t>
            </a:r>
            <a:r>
              <a:rPr sz="1350" b="1">
                <a:solidFill>
                  <a:srgbClr val="FFFFFF"/>
                </a:solidFill>
                <a:latin typeface="Inter"/>
              </a:rPr>
              <a:t>исследование</a:t>
            </a:r>
            <a:r>
              <a:rPr sz="1350" b="0">
                <a:solidFill>
                  <a:srgbClr val="D6E4FF"/>
                </a:solidFill>
                <a:latin typeface="Inter"/>
              </a:rPr>
              <a:t>, </a:t>
            </a:r>
            <a:r>
              <a:rPr sz="1350" b="1">
                <a:solidFill>
                  <a:srgbClr val="FFFFFF"/>
                </a:solidFill>
                <a:latin typeface="Inter"/>
              </a:rPr>
              <a:t>стратегию</a:t>
            </a:r>
            <a:r>
              <a:rPr sz="1350" b="0">
                <a:solidFill>
                  <a:srgbClr val="D6E4FF"/>
                </a:solidFill>
                <a:latin typeface="Inter"/>
              </a:rPr>
              <a:t>, </a:t>
            </a:r>
            <a:r>
              <a:rPr sz="1350" b="1">
                <a:solidFill>
                  <a:srgbClr val="FFFFFF"/>
                </a:solidFill>
                <a:latin typeface="Inter"/>
              </a:rPr>
              <a:t>создание</a:t>
            </a:r>
            <a:r>
              <a:rPr sz="1350" b="0">
                <a:solidFill>
                  <a:srgbClr val="D6E4FF"/>
                </a:solidFill>
                <a:latin typeface="Inter"/>
              </a:rPr>
              <a:t>, </a:t>
            </a:r>
            <a:r>
              <a:rPr sz="1350" b="1">
                <a:solidFill>
                  <a:srgbClr val="FFFFFF"/>
                </a:solidFill>
                <a:latin typeface="Inter"/>
              </a:rPr>
              <a:t>проверку</a:t>
            </a:r>
            <a:r>
              <a:rPr sz="1350" b="0">
                <a:solidFill>
                  <a:srgbClr val="D6E4FF"/>
                </a:solidFill>
                <a:latin typeface="Inter"/>
              </a:rPr>
              <a:t>, </a:t>
            </a:r>
            <a:r>
              <a:rPr sz="1350" b="1">
                <a:solidFill>
                  <a:srgbClr val="FFFFFF"/>
                </a:solidFill>
                <a:latin typeface="Inter"/>
              </a:rPr>
              <a:t>публикацию</a:t>
            </a:r>
            <a:r>
              <a:rPr sz="1350" b="0">
                <a:solidFill>
                  <a:srgbClr val="D6E4FF"/>
                </a:solidFill>
                <a:latin typeface="Inter"/>
              </a:rPr>
              <a:t> и </a:t>
            </a:r>
            <a:r>
              <a:rPr sz="1350" b="1">
                <a:solidFill>
                  <a:srgbClr val="FFFFFF"/>
                </a:solidFill>
                <a:latin typeface="Inter"/>
              </a:rPr>
              <a:t>анализ</a:t>
            </a:r>
            <a:r>
              <a:rPr sz="1350" b="0">
                <a:solidFill>
                  <a:srgbClr val="D6E4FF"/>
                </a:solidFill>
                <a:latin typeface="Inter"/>
              </a:rPr>
              <a:t> контента. Цикл повторяется неделя за неделей, а результат обычно виден на третьем месяце работы.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5861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3605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39365"/>
            <a:ext cx="1589775" cy="423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Информация о компании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54477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Бизнес, продукты, аудитория, 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3903" y="1935861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5071" y="1935861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2815" y="2173605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2815" y="2539365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Исследование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2815" y="2879217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Компания, рынок и аудитория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2047" y="1935861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3215" y="1935861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0959" y="2173605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0959" y="2539365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Стратегия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0959" y="2879217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Направления, каналы и тактики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0191" y="1935861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359" y="1935861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9103" y="2173605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9103" y="2539365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Контент-план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9103" y="2879217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Темы, рубрики и последовательность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8335" y="1935861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59503" y="1935861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7247" y="2173605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7247" y="2539365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7247" y="2879217"/>
            <a:ext cx="1589775" cy="253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Посты, сценарии и CTA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15071" y="4223194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2815" y="4460938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2815" y="4826698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Статистика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52815" y="5166550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Охваты, переходы, реакции, обращения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5615" y="4223194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63215" y="4223194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0959" y="4460938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0959" y="4826698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Публикация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0959" y="5166550"/>
            <a:ext cx="1589775" cy="253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Размещение в соцсетях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3759" y="4223194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1359" y="4223194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49103" y="4460938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9103" y="4826698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Проверка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9103" y="5166550"/>
            <a:ext cx="1589775" cy="433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Логика, ошибки и соответствие бренду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1903" y="4223194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559503" y="4223194"/>
            <a:ext cx="2065263" cy="1830133"/>
          </a:xfrm>
          <a:prstGeom prst="roundRect">
            <a:avLst>
              <a:gd name="adj" fmla="val 79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97247" y="4460938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97247" y="4826698"/>
            <a:ext cx="1589775" cy="24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FFFFF"/>
                </a:solidFill>
                <a:latin typeface="Unbounded"/>
              </a:rPr>
              <a:t>Визуал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97247" y="5166550"/>
            <a:ext cx="1589775" cy="253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Изображения, видео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0047" y="4223194"/>
            <a:ext cx="274320" cy="1830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223194"/>
            <a:ext cx="2065263" cy="1830133"/>
          </a:xfrm>
          <a:prstGeom prst="roundRect">
            <a:avLst>
              <a:gd name="adj" fmla="val 7994"/>
            </a:avLst>
          </a:prstGeom>
          <a:noFill/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efresh-7FC4FF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671" y="4607242"/>
            <a:ext cx="493776" cy="49377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49808" y="5302186"/>
            <a:ext cx="1699503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7FC4FF"/>
                </a:solidFill>
                <a:latin typeface="Unbounded"/>
              </a:rPr>
              <a:t>Новый цикл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8" y="5620702"/>
            <a:ext cx="1699503" cy="23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и так неделя за неделей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0719" y="3765994"/>
            <a:ext cx="3840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3E5C9C"/>
                </a:solidFill>
                <a:latin typeface="Inter"/>
              </a:rPr>
              <a:t>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Цикл обучения на основе настроек и обратной связи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8595360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Платформа не просто повторяет цикл — она запоминает ваши правки. Каждое замечание меняет не одну публикацию, а все следующие.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72437"/>
            <a:ext cx="2531287" cy="3020187"/>
          </a:xfrm>
          <a:prstGeom prst="roundRect">
            <a:avLst>
              <a:gd name="adj" fmla="val 722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56485"/>
            <a:ext cx="822960" cy="212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FB6DC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95397"/>
            <a:ext cx="1909495" cy="506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Корректировка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66973"/>
            <a:ext cx="1909495" cy="7303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Что изменить в тексте, визуале, стиле или призыве к действию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6503" y="1972437"/>
            <a:ext cx="274320" cy="3020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9111" y="1972437"/>
            <a:ext cx="2531287" cy="3020187"/>
          </a:xfrm>
          <a:prstGeom prst="roundRect">
            <a:avLst>
              <a:gd name="adj" fmla="val 722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0007" y="2356485"/>
            <a:ext cx="822960" cy="212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FB6DC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0007" y="2795397"/>
            <a:ext cx="1909495" cy="506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Настройка контекста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0007" y="3466973"/>
            <a:ext cx="1909495" cy="7303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Правила бренда, медиатека, tone of voice, референсы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8687" y="1972437"/>
            <a:ext cx="274320" cy="3020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1295" y="1972437"/>
            <a:ext cx="2531287" cy="3020187"/>
          </a:xfrm>
          <a:prstGeom prst="roundRect">
            <a:avLst>
              <a:gd name="adj" fmla="val 722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2191" y="2356485"/>
            <a:ext cx="822960" cy="212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FB6DC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2191" y="2795397"/>
            <a:ext cx="1909495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ИИ-сотрудники учитывают настройки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2191" y="3683888"/>
            <a:ext cx="1909495" cy="7303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Следующий контент создаётся с учётом накопленного контекста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0871" y="1972437"/>
            <a:ext cx="274320" cy="3020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3479" y="1972437"/>
            <a:ext cx="2531287" cy="3020187"/>
          </a:xfrm>
          <a:prstGeom prst="roundRect">
            <a:avLst>
              <a:gd name="adj" fmla="val 722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4375" y="2356485"/>
            <a:ext cx="822960" cy="212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4375" y="2795397"/>
            <a:ext cx="1909495" cy="506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4ADE80"/>
                </a:solidFill>
                <a:latin typeface="Unbounded"/>
              </a:rPr>
              <a:t>Меньше правок руками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4375" y="3466973"/>
            <a:ext cx="1909495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Система становится точнее и автономнее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19512"/>
            </a:avLst>
          </a:prstGeom>
          <a:solidFill>
            <a:srgbClr val="1B2D55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5303520"/>
            <a:ext cx="1025316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Корректировка не исчезает после одной публикации — </a:t>
            </a:r>
            <a:r>
              <a:rPr sz="1300" b="1">
                <a:solidFill>
                  <a:srgbClr val="7FC4FF"/>
                </a:solidFill>
                <a:latin typeface="Inter"/>
              </a:rPr>
              <a:t>она работает на следующие циклы.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4 ваших ИИ-агента вместо digital-агентства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7863840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Каждый ИИ-агент закрывает роль, которую в агентстве занимает отдельный человек с отдельной зарплатой.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5861"/>
            <a:ext cx="5382615" cy="1921573"/>
          </a:xfrm>
          <a:prstGeom prst="roundRect">
            <a:avLst>
              <a:gd name="adj" fmla="val 951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" y="2301621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ncil-7FC4FF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457069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19072" y="2301621"/>
            <a:ext cx="38281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033141"/>
            <a:ext cx="4577943" cy="502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90" b="0">
                <a:solidFill>
                  <a:srgbClr val="D6E4FF"/>
                </a:solidFill>
                <a:latin typeface="Inter"/>
              </a:rPr>
              <a:t>Создаёт публикации о компании: тексты, карточки, экспертные посты в едином стиле бренда для всех площадок.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935861"/>
            <a:ext cx="5382615" cy="1921573"/>
          </a:xfrm>
          <a:prstGeom prst="roundRect">
            <a:avLst>
              <a:gd name="adj" fmla="val 951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44487" y="2301621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rget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935" y="2457069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94295" y="2301621"/>
            <a:ext cx="38281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3033141"/>
            <a:ext cx="4577943" cy="62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40" b="0">
                <a:solidFill>
                  <a:srgbClr val="D6E4FF"/>
                </a:solidFill>
                <a:latin typeface="Inter"/>
              </a:rPr>
              <a:t>Изучает нишу, конкурентов и запросы пользователей в нейросетях, строит контент-стратегию и определяет ключевые запросы для присутствия бренда в нейровыдаче.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131754"/>
            <a:ext cx="5382615" cy="1921573"/>
          </a:xfrm>
          <a:prstGeom prst="roundRect">
            <a:avLst>
              <a:gd name="adj" fmla="val 951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" y="4497514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" y="4652962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19072" y="4497514"/>
            <a:ext cx="38281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5229034"/>
            <a:ext cx="4577943" cy="62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940" b="0">
                <a:solidFill>
                  <a:srgbClr val="D6E4FF"/>
                </a:solidFill>
                <a:latin typeface="Inter"/>
              </a:rPr>
              <a:t>Проверяет контент на соответствие бренду и требованиям GEO-индексации, следит за присутствием бренда в нейро- и поисковой выдаче и правит план в реальном времени.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2151" y="4131754"/>
            <a:ext cx="5382615" cy="1921573"/>
          </a:xfrm>
          <a:prstGeom prst="roundRect">
            <a:avLst>
              <a:gd name="adj" fmla="val 951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44487" y="4497514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lette-7FC4FF-1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935" y="4652962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94295" y="4497514"/>
            <a:ext cx="38281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5229034"/>
            <a:ext cx="4577943" cy="584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Создаёт визуальные материалы, адаптированные к стилистике бренда и требованиям каждой площадки.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200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КЛЮЧЕВАЯ ТЕХНОЛОГИЯ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804672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Не просто генерирует — </a:t>
            </a:r>
            <a:r>
              <a:rPr sz="2400" b="1">
                <a:solidFill>
                  <a:srgbClr val="7FC4FF"/>
                </a:solidFill>
                <a:latin typeface="Unbounded"/>
              </a:rPr>
              <a:t>сама публикует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47216"/>
            <a:ext cx="9326880" cy="818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Большинство AI-сервисов отдают вам текст и на этом заканчивают. Дальше кто-то в компании должен всё разместить руками. Мы закрываем этот шаг платформой: от идеи до опубликованного материала не нужен ни один человек с вашей стороны.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95359"/>
            <a:ext cx="2572435" cy="2478976"/>
          </a:xfrm>
          <a:prstGeom prst="roundRect">
            <a:avLst>
              <a:gd name="adj" fmla="val 737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824543"/>
            <a:ext cx="822960" cy="23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6DC"/>
                </a:solidFill>
                <a:latin typeface="Unbounded"/>
              </a:rPr>
              <a:t>01</a:t>
            </a:r>
          </a:p>
        </p:txBody>
      </p:sp>
      <p:pic>
        <p:nvPicPr>
          <p:cNvPr id="11" name="Picture 10" descr="sparkles-7FC4FF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555" y="2861119"/>
            <a:ext cx="365759" cy="365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3354895"/>
            <a:ext cx="195064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Unbounded"/>
              </a:rPr>
              <a:t>Генерация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77043"/>
            <a:ext cx="1950643" cy="911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Платформа собирает данные по нише и готовит материал под конкретный запрос клиента.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5395" y="2495359"/>
            <a:ext cx="2572435" cy="2478976"/>
          </a:xfrm>
          <a:prstGeom prst="roundRect">
            <a:avLst>
              <a:gd name="adj" fmla="val 737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6291" y="2824543"/>
            <a:ext cx="822960" cy="23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6DC"/>
                </a:solidFill>
                <a:latin typeface="Unbounded"/>
              </a:rPr>
              <a:t>02</a:t>
            </a:r>
          </a:p>
        </p:txBody>
      </p:sp>
      <p:pic>
        <p:nvPicPr>
          <p:cNvPr id="16" name="Picture 15" descr="shield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23" y="2861119"/>
            <a:ext cx="365759" cy="3657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6291" y="3354895"/>
            <a:ext cx="195064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Unbounded"/>
              </a:rPr>
              <a:t>Модерация 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6291" y="3777043"/>
            <a:ext cx="1950643" cy="774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19" b="0">
                <a:solidFill>
                  <a:srgbClr val="9FB6DC"/>
                </a:solidFill>
                <a:latin typeface="Inter"/>
              </a:rPr>
              <a:t>Отдельный модуль проверяет факты, цифры и формулировки. Слабый материал не проходит дальше.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2495359"/>
            <a:ext cx="2572435" cy="2478976"/>
          </a:xfrm>
          <a:prstGeom prst="roundRect">
            <a:avLst>
              <a:gd name="adj" fmla="val 7377"/>
            </a:avLst>
          </a:prstGeom>
          <a:solidFill>
            <a:srgbClr val="1B2D55"/>
          </a:solidFill>
          <a:ln w="20320">
            <a:solidFill>
              <a:srgbClr val="3D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824543"/>
            <a:ext cx="822960" cy="23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FC4FF"/>
                </a:solidFill>
                <a:latin typeface="Unbounded"/>
              </a:rPr>
              <a:t>03</a:t>
            </a:r>
          </a:p>
        </p:txBody>
      </p:sp>
      <p:pic>
        <p:nvPicPr>
          <p:cNvPr id="21" name="Picture 20" descr="send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491" y="2861119"/>
            <a:ext cx="365759" cy="3657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34759" y="3354895"/>
            <a:ext cx="1950643" cy="275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0" b="1">
                <a:solidFill>
                  <a:srgbClr val="FFFFFF"/>
                </a:solidFill>
                <a:latin typeface="Unbounded"/>
              </a:rPr>
              <a:t>Автопубликация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4759" y="3758755"/>
            <a:ext cx="1950643" cy="547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30" b="0">
                <a:solidFill>
                  <a:srgbClr val="9FB6DC"/>
                </a:solidFill>
                <a:latin typeface="Inter"/>
              </a:rPr>
              <a:t>Готовый материал сам уходит на площадки по расписанию. Ваше участие не требуется.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4759" y="4370832"/>
            <a:ext cx="1591056" cy="329184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4759" y="4370832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Этого нет у других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331" y="2495359"/>
            <a:ext cx="2572435" cy="2478976"/>
          </a:xfrm>
          <a:prstGeom prst="roundRect">
            <a:avLst>
              <a:gd name="adj" fmla="val 7377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227" y="2824543"/>
            <a:ext cx="822960" cy="238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FB6DC"/>
                </a:solidFill>
                <a:latin typeface="Unbounded"/>
              </a:rPr>
              <a:t>04</a:t>
            </a:r>
          </a:p>
        </p:txBody>
      </p:sp>
      <p:pic>
        <p:nvPicPr>
          <p:cNvPr id="28" name="Picture 27" descr="trend-7FC4FF-1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4959" y="2861119"/>
            <a:ext cx="365759" cy="3657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63227" y="3354895"/>
            <a:ext cx="195064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Unbounded"/>
              </a:rPr>
              <a:t>Рост в нейровыдаче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63227" y="3998023"/>
            <a:ext cx="1950643" cy="736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69" b="0">
                <a:solidFill>
                  <a:srgbClr val="9FB6DC"/>
                </a:solidFill>
                <a:latin typeface="Inter"/>
              </a:rPr>
              <a:t>Материалы индексируются, и нейросети начинают опираться на них, отвечая на запросы клиентов.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85232"/>
            <a:ext cx="11057839" cy="768096"/>
          </a:xfrm>
          <a:prstGeom prst="roundRect">
            <a:avLst>
              <a:gd name="adj" fmla="val 19047"/>
            </a:avLst>
          </a:prstGeom>
          <a:noFill/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" y="5285232"/>
            <a:ext cx="1025316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Вам не нужно писать, согласовывать и публиковать. </a:t>
            </a:r>
            <a:r>
              <a:rPr sz="1350" b="1">
                <a:solidFill>
                  <a:srgbClr val="7FC4FF"/>
                </a:solidFill>
                <a:latin typeface="Inter"/>
              </a:rPr>
              <a:t>Минимум вашего времени в цикле.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Новые функции платформы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9509760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Всё перечисленное входит в подписку и не оплачивается отдельно. Отдельный подрядчик на видео, сайт и фирменный стиль не нужен.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99285"/>
            <a:ext cx="7223760" cy="2453258"/>
          </a:xfrm>
          <a:prstGeom prst="roundRect">
            <a:avLst>
              <a:gd name="adj" fmla="val 745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1" y="2459875"/>
            <a:ext cx="2926080" cy="13320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9264" y="2301621"/>
            <a:ext cx="3182112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Видео по сценарию и фотографии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931033"/>
            <a:ext cx="3182112" cy="7303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Опишите сцену, и ролик соберётся сам. Без камеры, съёмочной группы и монтажа.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752850"/>
            <a:ext cx="3182112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760" b="0">
                <a:solidFill>
                  <a:srgbClr val="7FC4FF"/>
                </a:solidFill>
                <a:latin typeface="Inter"/>
              </a:rPr>
              <a:t>6, 10 или 15 секунд   ·   9:16, 16:9 и 1:1
Стандарт и Про   ·   первый кадр — ваше фото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99285"/>
            <a:ext cx="3559759" cy="2453258"/>
          </a:xfrm>
          <a:prstGeom prst="roundRect">
            <a:avLst>
              <a:gd name="adj" fmla="val 745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301621"/>
            <a:ext cx="2755087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676525"/>
            <a:ext cx="2755087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Видеореклама с вашим лицом и голосом. Двойник говорит как живой.</a:t>
            </a:r>
          </a:p>
        </p:txBody>
      </p:sp>
      <p:pic>
        <p:nvPicPr>
          <p:cNvPr id="16" name="Picture 15" descr="f-dvojni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3301111"/>
            <a:ext cx="2755087" cy="64909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4572000"/>
            <a:ext cx="5486400" cy="1481328"/>
          </a:xfrm>
          <a:prstGeom prst="roundRect">
            <a:avLst>
              <a:gd name="adj" fmla="val 1234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4864608"/>
            <a:ext cx="1737360" cy="896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89503" y="4882896"/>
            <a:ext cx="2834640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Создание сайта под заявки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3" y="5440680"/>
            <a:ext cx="2834640" cy="411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19" b="0">
                <a:solidFill>
                  <a:srgbClr val="9FB6DC"/>
                </a:solidFill>
                <a:latin typeface="Inter"/>
              </a:rPr>
              <a:t>Отдельный лендинг, который собирает заявки. Семь готовых стилей страницы.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572000"/>
            <a:ext cx="5297119" cy="1481328"/>
          </a:xfrm>
          <a:prstGeom prst="roundRect">
            <a:avLst>
              <a:gd name="adj" fmla="val 1234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256" y="4864608"/>
            <a:ext cx="1737360" cy="8961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50224" y="4882896"/>
            <a:ext cx="2645359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0224" y="5234940"/>
            <a:ext cx="2645359" cy="445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>
                <a:solidFill>
                  <a:srgbClr val="9FB6DC"/>
                </a:solidFill>
                <a:latin typeface="Inter"/>
              </a:rPr>
              <a:t>Фирменный стиль и макеты сувенирки: айдентика, мерч, брендбук.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09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Ключевые выгоды для вашего бизнеса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54608"/>
            <a:ext cx="8961120" cy="321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Три вещи, ради которых бизнес переходит на платформу.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3834"/>
            <a:ext cx="3490874" cy="4329493"/>
          </a:xfrm>
          <a:prstGeom prst="roundRect">
            <a:avLst>
              <a:gd name="adj" fmla="val 5762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144458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ck-7FC4FF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230905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3402" y="2144458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9FB6DC"/>
                </a:solidFill>
                <a:latin typeface="Unbounde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95434"/>
            <a:ext cx="2649626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770566"/>
            <a:ext cx="2649626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Экономия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259008"/>
            <a:ext cx="2649626" cy="130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Не нужно писать техзадания и согласовывать публикации. Платформа ведёт весь цикл сама, а вы возвращаетесь к своей основной работе.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0410" y="1723834"/>
            <a:ext cx="3490874" cy="4329493"/>
          </a:xfrm>
          <a:prstGeom prst="roundRect">
            <a:avLst>
              <a:gd name="adj" fmla="val 5762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71034" y="2144458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allet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626" y="2309050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6884" y="2144458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9FB6DC"/>
                </a:solidFill>
                <a:latin typeface="Unbounde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1034" y="3095434"/>
            <a:ext cx="2649626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1034" y="3770566"/>
            <a:ext cx="2649626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Оптимизация расходов на СММ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1034" y="4491418"/>
            <a:ext cx="2649626" cy="1205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Стоимость известна заранее и не растёт от количества правок и задач. Бюджет уходит на результат, а не на переписку с подрядчиками.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3892" y="1723834"/>
            <a:ext cx="3490874" cy="4329493"/>
          </a:xfrm>
          <a:prstGeom prst="roundRect">
            <a:avLst>
              <a:gd name="adj" fmla="val 5762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54516" y="2144458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users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9108" y="2309050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710367" y="2144458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>
                <a:solidFill>
                  <a:srgbClr val="9FB6DC"/>
                </a:solidFill>
                <a:latin typeface="Unbounde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4516" y="3095434"/>
            <a:ext cx="2649626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4516" y="3770566"/>
            <a:ext cx="2649626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Без найма штата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4516" y="4259008"/>
            <a:ext cx="2649626" cy="1057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Не нужно искать копирайтера, SEO-специалиста и дизайнера и платить им каждый месяц. Их роли закрывают ИИ-агенты.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Комплексное решение по фиксированной цене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37488"/>
            <a:ext cx="4480560" cy="4578096"/>
          </a:xfrm>
          <a:prstGeom prst="roundRect">
            <a:avLst>
              <a:gd name="adj" fmla="val 4489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31264"/>
            <a:ext cx="3566160" cy="206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FB6DC"/>
                </a:solidFill>
                <a:latin typeface="Inter"/>
              </a:rPr>
              <a:t>ЭКОНОМИЯ КАЖДЫЙ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33600"/>
            <a:ext cx="35661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4ADE80"/>
                </a:solidFill>
                <a:latin typeface="Unbounded"/>
              </a:rPr>
              <a:t>70 000 ₽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249168"/>
            <a:ext cx="3566160" cy="10972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69792"/>
            <a:ext cx="3566160" cy="3430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Промптер</a:t>
            </a:r>
            <a:r>
              <a:rPr sz="1700" b="0">
                <a:solidFill>
                  <a:srgbClr val="FFFFFF"/>
                </a:solidFill>
                <a:latin typeface="Inter"/>
              </a:rPr>
              <a:t>   </a:t>
            </a:r>
            <a:r>
              <a:rPr sz="1700" b="1">
                <a:solidFill>
                  <a:srgbClr val="7FC4FF"/>
                </a:solidFill>
                <a:latin typeface="Inter"/>
              </a:rPr>
              <a:t>29 500 ₽</a:t>
            </a:r>
            <a:r>
              <a:rPr sz="1700" b="0">
                <a:solidFill>
                  <a:srgbClr val="7FC4FF"/>
                </a:solidFill>
                <a:latin typeface="Inter"/>
              </a:rPr>
              <a:t> / 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195699"/>
            <a:ext cx="3566160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SEO-агентство</a:t>
            </a:r>
            <a:r>
              <a:rPr sz="1400" b="0">
                <a:solidFill>
                  <a:srgbClr val="9FB6DC"/>
                </a:solidFill>
                <a:latin typeface="Inter"/>
              </a:rPr>
              <a:t>   100 000 ₽ / мес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765421"/>
            <a:ext cx="3566160" cy="511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Цена фиксированная: она не растёт от количества правок, задач и площадок.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21808" y="1237488"/>
            <a:ext cx="6302959" cy="4578096"/>
          </a:xfrm>
          <a:prstGeom prst="roundRect">
            <a:avLst>
              <a:gd name="adj" fmla="val 439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9008" y="1694688"/>
            <a:ext cx="53885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Что входит в подписку</a:t>
            </a:r>
          </a:p>
        </p:txBody>
      </p:sp>
      <p:pic>
        <p:nvPicPr>
          <p:cNvPr id="16" name="Picture 15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40334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08192" y="237134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Полный AI-цикл</a:t>
            </a:r>
            <a:r>
              <a:rPr sz="1000" b="0">
                <a:solidFill>
                  <a:srgbClr val="D6E4FF"/>
                </a:solidFill>
                <a:latin typeface="Inter"/>
              </a:rPr>
              <a:t>: от идеи и текста до модерации и публикации</a:t>
            </a:r>
          </a:p>
        </p:txBody>
      </p:sp>
      <p:pic>
        <p:nvPicPr>
          <p:cNvPr id="18" name="Picture 17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678938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08192" y="264693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D6E4FF"/>
                </a:solidFill>
                <a:latin typeface="Inter"/>
              </a:rPr>
              <a:t>Публикации </a:t>
            </a:r>
            <a:r>
              <a:rPr sz="1000" b="1">
                <a:solidFill>
                  <a:srgbClr val="7FC4FF"/>
                </a:solidFill>
                <a:latin typeface="Inter"/>
              </a:rPr>
              <a:t>5</a:t>
            </a:r>
            <a:r>
              <a:rPr sz="1000" b="0">
                <a:solidFill>
                  <a:srgbClr val="D6E4FF"/>
                </a:solidFill>
                <a:latin typeface="Inter"/>
              </a:rPr>
              <a:t> дней в неделю</a:t>
            </a:r>
          </a:p>
        </p:txBody>
      </p:sp>
      <p:pic>
        <p:nvPicPr>
          <p:cNvPr id="20" name="Picture 19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954528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08192" y="292252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2</a:t>
            </a:r>
            <a:r>
              <a:rPr sz="1000" b="0">
                <a:solidFill>
                  <a:srgbClr val="D6E4FF"/>
                </a:solidFill>
                <a:latin typeface="Inter"/>
              </a:rPr>
              <a:t> экспертные статьи в неделю</a:t>
            </a:r>
          </a:p>
        </p:txBody>
      </p:sp>
      <p:pic>
        <p:nvPicPr>
          <p:cNvPr id="22" name="Picture 21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3230118"/>
            <a:ext cx="182880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08192" y="3198114"/>
            <a:ext cx="5059375" cy="441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Автопубликация</a:t>
            </a:r>
            <a:r>
              <a:rPr sz="1000" b="0">
                <a:solidFill>
                  <a:srgbClr val="D6E4FF"/>
                </a:solidFill>
                <a:latin typeface="Inter"/>
              </a:rPr>
              <a:t> на </a:t>
            </a:r>
            <a:r>
              <a:rPr sz="1000" b="1">
                <a:solidFill>
                  <a:srgbClr val="7FC4FF"/>
                </a:solidFill>
                <a:latin typeface="Inter"/>
              </a:rPr>
              <a:t>6</a:t>
            </a:r>
            <a:r>
              <a:rPr sz="1000" b="0">
                <a:solidFill>
                  <a:srgbClr val="D6E4FF"/>
                </a:solidFill>
                <a:latin typeface="Inter"/>
              </a:rPr>
              <a:t> площадках: Telegram, Instagram*, VK, Яндекс Дзен, Одноклассники, Max</a:t>
            </a:r>
          </a:p>
        </p:txBody>
      </p:sp>
      <p:pic>
        <p:nvPicPr>
          <p:cNvPr id="24" name="Picture 23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3689858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108192" y="365785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D6E4FF"/>
                </a:solidFill>
                <a:latin typeface="Inter"/>
              </a:rPr>
              <a:t>Для других площадок — готовый контент для самостоятельной публикации</a:t>
            </a:r>
          </a:p>
        </p:txBody>
      </p:sp>
      <p:pic>
        <p:nvPicPr>
          <p:cNvPr id="26" name="Picture 25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3965448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08192" y="393344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Видео по сценарию</a:t>
            </a:r>
            <a:r>
              <a:rPr sz="1000" b="0">
                <a:solidFill>
                  <a:srgbClr val="D6E4FF"/>
                </a:solidFill>
                <a:latin typeface="Inter"/>
              </a:rPr>
              <a:t> и фотографии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73298" y="3970020"/>
            <a:ext cx="420624" cy="192024"/>
          </a:xfrm>
          <a:prstGeom prst="roundRect">
            <a:avLst>
              <a:gd name="adj" fmla="val 50000"/>
            </a:avLst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3298" y="39700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8122B"/>
                </a:solidFill>
                <a:latin typeface="Inter"/>
              </a:rPr>
              <a:t>new</a:t>
            </a:r>
          </a:p>
        </p:txBody>
      </p:sp>
      <p:pic>
        <p:nvPicPr>
          <p:cNvPr id="30" name="Picture 29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4241038"/>
            <a:ext cx="182880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08192" y="420903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Цифровой двойник</a:t>
            </a:r>
            <a:r>
              <a:rPr sz="1000" b="0">
                <a:solidFill>
                  <a:srgbClr val="D6E4FF"/>
                </a:solidFill>
                <a:latin typeface="Inter"/>
              </a:rPr>
              <a:t>: видеореклама с вашим лицом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33401" y="4245610"/>
            <a:ext cx="420624" cy="192024"/>
          </a:xfrm>
          <a:prstGeom prst="roundRect">
            <a:avLst>
              <a:gd name="adj" fmla="val 50000"/>
            </a:avLst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33401" y="424561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8122B"/>
                </a:solidFill>
                <a:latin typeface="Inter"/>
              </a:rPr>
              <a:t>new</a:t>
            </a:r>
          </a:p>
        </p:txBody>
      </p:sp>
      <p:pic>
        <p:nvPicPr>
          <p:cNvPr id="34" name="Picture 33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4516628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108192" y="448462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Сайт под заявки</a:t>
            </a:r>
            <a:r>
              <a:rPr sz="1000" b="0">
                <a:solidFill>
                  <a:srgbClr val="D6E4FF"/>
                </a:solidFill>
                <a:latin typeface="Inter"/>
              </a:rPr>
              <a:t>: семь стилей страницы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62186" y="4521200"/>
            <a:ext cx="420624" cy="192024"/>
          </a:xfrm>
          <a:prstGeom prst="roundRect">
            <a:avLst>
              <a:gd name="adj" fmla="val 50000"/>
            </a:avLst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62186" y="452120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8122B"/>
                </a:solidFill>
                <a:latin typeface="Inter"/>
              </a:rPr>
              <a:t>new</a:t>
            </a:r>
          </a:p>
        </p:txBody>
      </p:sp>
      <p:pic>
        <p:nvPicPr>
          <p:cNvPr id="38" name="Picture 37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4792218"/>
            <a:ext cx="18288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08192" y="476021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7FC4FF"/>
                </a:solidFill>
                <a:latin typeface="Inter"/>
              </a:rPr>
              <a:t>Брендбук и мерч</a:t>
            </a:r>
            <a:r>
              <a:rPr sz="1000" b="0">
                <a:solidFill>
                  <a:srgbClr val="D6E4FF"/>
                </a:solidFill>
                <a:latin typeface="Inter"/>
              </a:rPr>
              <a:t>: айдентика и макеты сувенирки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41524" y="4796790"/>
            <a:ext cx="420624" cy="192024"/>
          </a:xfrm>
          <a:prstGeom prst="roundRect">
            <a:avLst>
              <a:gd name="adj" fmla="val 50000"/>
            </a:avLst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41524" y="479679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8122B"/>
                </a:solidFill>
                <a:latin typeface="Inter"/>
              </a:rPr>
              <a:t>new</a:t>
            </a:r>
          </a:p>
        </p:txBody>
      </p:sp>
      <p:pic>
        <p:nvPicPr>
          <p:cNvPr id="42" name="Picture 41" descr="check-4ADE80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5067808"/>
            <a:ext cx="182880" cy="1828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108192" y="5035804"/>
            <a:ext cx="5059375" cy="2573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D6E4FF"/>
                </a:solidFill>
                <a:latin typeface="Inter"/>
              </a:rPr>
              <a:t>Работа по законодательству РФ, договор и закрывающие документы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943600"/>
            <a:ext cx="11057839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Для кого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44752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p-7FC4FF-1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773936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26464" y="1700784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HoReCa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026920"/>
            <a:ext cx="2417978" cy="2446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Рестораны, кафе, бары и доставка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930" y="1444752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issors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9970" y="1773936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9466" y="1700784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Салоны красоты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9466" y="2026920"/>
            <a:ext cx="2417978" cy="2034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>
                <a:solidFill>
                  <a:srgbClr val="9FB6DC"/>
                </a:solidFill>
                <a:latin typeface="Inter"/>
              </a:rPr>
              <a:t>Парикмахерские, барбершопы, ногтевой сервис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1444752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th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2972" y="177393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32468" y="1700784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Стоматология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2468" y="2026920"/>
            <a:ext cx="2417978" cy="2446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Клиники и частные кабинеты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1760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ower-7FC4FF-1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980944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26464" y="2907791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Цветочные салоны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233928"/>
            <a:ext cx="2417978" cy="217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40" b="0">
                <a:solidFill>
                  <a:srgbClr val="9FB6DC"/>
                </a:solidFill>
                <a:latin typeface="Inter"/>
              </a:rPr>
              <a:t>Магазины, мастерские и доставка букетов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9930" y="2651760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ag-7FC4FF-19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9970" y="2980944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79466" y="2907791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Розница и услуги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9466" y="3233928"/>
            <a:ext cx="241797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9FB6DC"/>
                </a:solidFill>
                <a:latin typeface="Inter"/>
              </a:rPr>
              <a:t>Локальные магазины и сервисные компании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2932" y="2651760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me-7FC4FF-19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2972" y="2980944"/>
            <a:ext cx="365760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32468" y="2907791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Товары для дома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2468" y="3233928"/>
            <a:ext cx="2417978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0">
                <a:solidFill>
                  <a:srgbClr val="9FB6DC"/>
                </a:solidFill>
                <a:latin typeface="Inter"/>
              </a:rPr>
              <a:t>Мебель, текстиль, интерьерные решения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58768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y-7FC4FF-19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4187951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26464" y="4114800"/>
            <a:ext cx="2417978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Детские товары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" y="4440936"/>
            <a:ext cx="2417978" cy="2446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Магазины и бренды детских товаров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9930" y="3858768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ar-7FC4FF-19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9970" y="4187951"/>
            <a:ext cx="365760" cy="3657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79466" y="4114800"/>
            <a:ext cx="2417978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Unbounded"/>
              </a:rPr>
              <a:t>Авто и мотоиндустрия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9466" y="4425696"/>
            <a:ext cx="2417978" cy="2034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>
                <a:solidFill>
                  <a:srgbClr val="9FB6DC"/>
                </a:solidFill>
                <a:latin typeface="Inter"/>
              </a:rPr>
              <a:t>Дилеры, автосервисы, детейлинг, шиномонтаж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72932" y="3858768"/>
            <a:ext cx="3551834" cy="1024127"/>
          </a:xfrm>
          <a:prstGeom prst="roundRect">
            <a:avLst>
              <a:gd name="adj" fmla="val 1428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ools-7FC4FF-1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2972" y="4187951"/>
            <a:ext cx="365760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32468" y="4114800"/>
            <a:ext cx="2417978" cy="23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90" b="1">
                <a:solidFill>
                  <a:srgbClr val="FFFFFF"/>
                </a:solidFill>
                <a:latin typeface="Unbounded"/>
              </a:rPr>
              <a:t>Строительство и ремонт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32468" y="4408932"/>
            <a:ext cx="2417978" cy="2446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Бригады, отделочники, застройщики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38928"/>
            <a:ext cx="11057839" cy="914400"/>
          </a:xfrm>
          <a:prstGeom prst="roundRect">
            <a:avLst>
              <a:gd name="adj" fmla="val 18000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rid-7FC4FF-19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6696" y="5404104"/>
            <a:ext cx="384048" cy="38404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72768" y="5376672"/>
            <a:ext cx="959479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Без ограничений по отраслям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72768" y="5733288"/>
            <a:ext cx="9594799" cy="242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19" b="0">
                <a:solidFill>
                  <a:srgbClr val="D6E4FF"/>
                </a:solidFill>
                <a:latin typeface="Inter"/>
              </a:rPr>
              <a:t>Списком выше мы себя не ограничиваем: модули изучают любую нишу с нуля и на этих данных строят стратегию продвижения.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4224"/>
            <a:ext cx="210312" cy="2103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63733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prompter-ai.moscow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5967" y="63733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2064"/>
            <a:ext cx="11057839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Unbounded"/>
              </a:rPr>
              <a:t>Поддержка и сопровождение</a:t>
            </a:r>
          </a:p>
        </p:txBody>
      </p:sp>
      <p:pic>
        <p:nvPicPr>
          <p:cNvPr id="7" name="Picture 6" descr="of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55776"/>
            <a:ext cx="5669280" cy="30236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389120"/>
            <a:ext cx="5669280" cy="240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Офис в Москве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0528" y="1255776"/>
            <a:ext cx="5114239" cy="934719"/>
          </a:xfrm>
          <a:prstGeom prst="roundRect">
            <a:avLst>
              <a:gd name="adj" fmla="val 1760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ulse-7FC4FF-1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1531112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4928" y="1493520"/>
            <a:ext cx="3870655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Постоянный мониторинг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1808988"/>
            <a:ext cx="3870655" cy="252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>
                <a:solidFill>
                  <a:srgbClr val="9FB6DC"/>
                </a:solidFill>
                <a:latin typeface="Inter"/>
              </a:rPr>
              <a:t>Следим за трендами в SEO и GEO продвижении бизнеса.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2300224"/>
            <a:ext cx="5114239" cy="934719"/>
          </a:xfrm>
          <a:prstGeom prst="roundRect">
            <a:avLst>
              <a:gd name="adj" fmla="val 1760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eadset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2575560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8" y="2537967"/>
            <a:ext cx="3870655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Всегда на связи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8" y="2853436"/>
            <a:ext cx="3870655" cy="2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>
                <a:solidFill>
                  <a:srgbClr val="9FB6DC"/>
                </a:solidFill>
                <a:latin typeface="Inter"/>
              </a:rPr>
              <a:t>Московский офис ответит на вопросы и подключит к платформе.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3344672"/>
            <a:ext cx="5114239" cy="934719"/>
          </a:xfrm>
          <a:prstGeom prst="roundRect">
            <a:avLst>
              <a:gd name="adj" fmla="val 1760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efresh-7FC4FF-1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62000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24928" y="3582415"/>
            <a:ext cx="3870655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Развитие вместе с рынком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897883"/>
            <a:ext cx="3870655" cy="252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>
                <a:solidFill>
                  <a:srgbClr val="9FB6DC"/>
                </a:solidFill>
                <a:latin typeface="Inter"/>
              </a:rPr>
              <a:t>Нейросети меняются, и мы обновляем подход под них.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3503066" cy="1207008"/>
          </a:xfrm>
          <a:prstGeom prst="roundRect">
            <a:avLst>
              <a:gd name="adj" fmla="val 1363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084064"/>
            <a:ext cx="2734970" cy="46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7FC4FF"/>
                </a:solidFill>
                <a:latin typeface="Unbounded"/>
              </a:rPr>
              <a:t>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603240"/>
            <a:ext cx="2734970" cy="261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D6E4FF"/>
                </a:solidFill>
                <a:latin typeface="Inter"/>
              </a:rPr>
              <a:t>руководителей довольны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4314" y="4846320"/>
            <a:ext cx="3503066" cy="1207008"/>
          </a:xfrm>
          <a:prstGeom prst="roundRect">
            <a:avLst>
              <a:gd name="adj" fmla="val 1363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8362" y="5084064"/>
            <a:ext cx="2734970" cy="46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7FC4FF"/>
                </a:solidFill>
                <a:latin typeface="Unbounded"/>
              </a:rPr>
              <a:t>1 100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8362" y="5603240"/>
            <a:ext cx="2734970" cy="246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D6E4FF"/>
                </a:solidFill>
                <a:latin typeface="Inter"/>
              </a:rPr>
              <a:t>предприятий продвинулись в GEO и SEO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1700" y="4846320"/>
            <a:ext cx="3503066" cy="1207008"/>
          </a:xfrm>
          <a:prstGeom prst="roundRect">
            <a:avLst>
              <a:gd name="adj" fmla="val 1363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5748" y="5084064"/>
            <a:ext cx="2734970" cy="46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7FC4FF"/>
                </a:solidFill>
                <a:latin typeface="Unbounded"/>
              </a:rPr>
              <a:t>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748" y="5603240"/>
            <a:ext cx="2734970" cy="230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D6E4FF"/>
                </a:solidFill>
                <a:latin typeface="Inter"/>
              </a:rPr>
              <a:t>предприятий оптимизировали свои расходы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417320"/>
            <a:ext cx="6400800" cy="1399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>
                <a:solidFill>
                  <a:srgbClr val="FFFFFF"/>
                </a:solidFill>
                <a:latin typeface="Unbounded"/>
              </a:rPr>
              <a:t>Выведите ваш бизнес в нейровыдачу уже сегодня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35808"/>
            <a:ext cx="6035040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D6E4FF"/>
                </a:solidFill>
                <a:latin typeface="Inter"/>
              </a:rPr>
              <a:t>Оставьте заявку, наш специалист свяжется с вами в ближайшее время. Расскажем, как ваша ниша выглядит в ответах нейросетей.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566928" y="4358259"/>
            <a:ext cx="3200400" cy="658368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566928" y="435825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Оставить заявку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4358259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16367" y="1298448"/>
            <a:ext cx="4108399" cy="4297680"/>
          </a:xfrm>
          <a:prstGeom prst="roundRect">
            <a:avLst>
              <a:gd name="adj" fmla="val 4896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rek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3" y="1700784"/>
            <a:ext cx="3303727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18703" y="3419856"/>
            <a:ext cx="3303727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Руслан Демин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3" y="3755136"/>
            <a:ext cx="3303727" cy="261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Управляющий партнёр, офис в Москве</a:t>
            </a:r>
          </a:p>
        </p:txBody>
      </p:sp>
      <p:pic>
        <p:nvPicPr>
          <p:cNvPr id="13" name="Picture 12" descr="phone-7FC4FF-1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703" y="4309491"/>
            <a:ext cx="201168" cy="201168"/>
          </a:xfrm>
          <a:prstGeom prst="rect">
            <a:avLst/>
          </a:prstGeom>
        </p:spPr>
      </p:pic>
      <p:sp>
        <p:nvSpPr>
          <p:cNvPr id="14" name="TextBox 13">
            <a:hlinkClick r:id="rId6"/>
          </p:cNvPr>
          <p:cNvSpPr txBox="1"/>
          <p:nvPr/>
        </p:nvSpPr>
        <p:spPr>
          <a:xfrm>
            <a:off x="8229599" y="4272915"/>
            <a:ext cx="2992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8703" y="4693539"/>
            <a:ext cx="201168" cy="201168"/>
          </a:xfrm>
          <a:prstGeom prst="rect">
            <a:avLst/>
          </a:prstGeom>
        </p:spPr>
      </p:pic>
      <p:sp>
        <p:nvSpPr>
          <p:cNvPr id="16" name="TextBox 15">
            <a:hlinkClick r:id="rId8"/>
          </p:cNvPr>
          <p:cNvSpPr txBox="1"/>
          <p:nvPr/>
        </p:nvSpPr>
        <p:spPr>
          <a:xfrm>
            <a:off x="8229599" y="4656963"/>
            <a:ext cx="2992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8703" y="5077587"/>
            <a:ext cx="201168" cy="201168"/>
          </a:xfrm>
          <a:prstGeom prst="rect">
            <a:avLst/>
          </a:prstGeom>
        </p:spPr>
      </p:pic>
      <p:sp>
        <p:nvSpPr>
          <p:cNvPr id="18" name="TextBox 17">
            <a:hlinkClick r:id="rId10"/>
          </p:cNvPr>
          <p:cNvSpPr txBox="1"/>
          <p:nvPr/>
        </p:nvSpPr>
        <p:spPr>
          <a:xfrm>
            <a:off x="8229599" y="5041011"/>
            <a:ext cx="2992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" y="59618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8992" y="60167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