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prompter-ai.moscow/zayavka.html?from=presentation-analiz" TargetMode="External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hyperlink" Target="tel:+79067587777" TargetMode="External"/><Relationship Id="rId7" Type="http://schemas.openxmlformats.org/officeDocument/2006/relationships/image" Target="../media/image14.png"/><Relationship Id="rId8" Type="http://schemas.openxmlformats.org/officeDocument/2006/relationships/hyperlink" Target="mailto:prompter.moscow@mail.ru" TargetMode="External"/><Relationship Id="rId9" Type="http://schemas.openxmlformats.org/officeDocument/2006/relationships/image" Target="../media/image15.png"/><Relationship Id="rId10" Type="http://schemas.openxmlformats.org/officeDocument/2006/relationships/hyperlink" Target="https://t.me/Prompter_mos" TargetMode="External"/><Relationship Id="rId1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oblozh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66928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640080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FFFFFF"/>
                </a:solidFill>
                <a:latin typeface="Unbounded"/>
              </a:rPr>
              <a:t>Prompter </a:t>
            </a:r>
            <a:r>
              <a:rPr sz="1600" b="1">
                <a:solidFill>
                  <a:srgbClr val="FFFFFF"/>
                </a:solidFill>
                <a:latin typeface="Unbounded"/>
              </a:rPr>
              <a:t>Moscow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017520"/>
            <a:ext cx="9509760" cy="1289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b="1">
                <a:solidFill>
                  <a:srgbClr val="FFFFFF"/>
                </a:solidFill>
                <a:latin typeface="Unbounded"/>
              </a:rPr>
              <a:t>Продвижение бизнеса там, где его теперь ищут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709160"/>
            <a:ext cx="7863840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D6E4FF"/>
                </a:solidFill>
                <a:latin typeface="Inter"/>
              </a:rPr>
              <a:t>GEO- и SEO-продвижение на автономной AI-платформе «Промптер»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59552"/>
            <a:ext cx="9144000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FB6DC"/>
                </a:solidFill>
                <a:latin typeface="Inter"/>
              </a:rPr>
              <a:t>Официальный партнёр IT-компании «Промптер» по Москве и МО</a:t>
            </a:r>
            <a:r>
              <a:rPr sz="1200" b="1">
                <a:solidFill>
                  <a:srgbClr val="7FC4FF"/>
                </a:solidFill>
                <a:latin typeface="Inter"/>
              </a:rPr>
              <a:t>     ЛД № 54-ПРТ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980176"/>
            <a:ext cx="10058400" cy="287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Inter"/>
              </a:rPr>
              <a:t>prompter-ai.moscow</a:t>
            </a:r>
            <a:r>
              <a:rPr sz="1300" b="0">
                <a:solidFill>
                  <a:srgbClr val="9FB6DC"/>
                </a:solidFill>
                <a:latin typeface="Inter"/>
              </a:rPr>
              <a:t>     +7 906 758-77-77     prompter.moscow@mail.ru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77095" y="634593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2 / 7</a:t>
            </a:r>
          </a:p>
        </p:txBody>
      </p:sp>
      <p:pic>
        <p:nvPicPr>
          <p:cNvPr id="4" name="Picture 3" descr="nejro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495" y="0"/>
            <a:ext cx="50292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600200"/>
            <a:ext cx="5653735" cy="1192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800" b="1">
                <a:solidFill>
                  <a:srgbClr val="FFFFFF"/>
                </a:solidFill>
                <a:latin typeface="Unbounded"/>
              </a:rPr>
              <a:t>Клиентов теперь ищут нейросети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122168"/>
            <a:ext cx="5653735" cy="1018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600" b="0">
                <a:solidFill>
                  <a:srgbClr val="D6E4FF"/>
                </a:solidFill>
                <a:latin typeface="Inter"/>
              </a:rPr>
              <a:t>Человек не листает десять синих ссылок. Он спрашивает нейросеть и получает готовый ответ с двумя-тремя названиями компаний.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4633976"/>
            <a:ext cx="1371600" cy="23774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908296"/>
            <a:ext cx="5653735" cy="7399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7FC4FF"/>
                </a:solidFill>
                <a:latin typeface="Unbounded"/>
              </a:rPr>
              <a:t>Кого назвали — к тому и пошли.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77095" y="634593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3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20095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>
                <a:solidFill>
                  <a:srgbClr val="FFFFFF"/>
                </a:solidFill>
                <a:latin typeface="Unbounded"/>
              </a:rPr>
              <a:t>Платформа ведёт весь цикл сама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5664"/>
            <a:ext cx="8778240" cy="3589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D6E4FF"/>
                </a:solidFill>
                <a:latin typeface="Inter"/>
              </a:rPr>
              <a:t>От сбора данных о компании до публикации и отчёта. Ни одной задачи с вашей стороны.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1766"/>
            <a:ext cx="2003084" cy="1207008"/>
          </a:xfrm>
          <a:prstGeom prst="roundRect">
            <a:avLst>
              <a:gd name="adj" fmla="val 1212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411222"/>
            <a:ext cx="731520" cy="263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C4FF"/>
                </a:solidFill>
                <a:latin typeface="Unbounde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776982"/>
            <a:ext cx="1527596" cy="4605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FFFFFF"/>
                </a:solidFill>
                <a:latin typeface="Unbounded"/>
              </a:rPr>
              <a:t>Информация о компании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0596" y="2191766"/>
            <a:ext cx="274320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3E5C9C"/>
                </a:solidFill>
                <a:latin typeface="Inter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0052" y="2191766"/>
            <a:ext cx="2003084" cy="1207008"/>
          </a:xfrm>
          <a:prstGeom prst="roundRect">
            <a:avLst>
              <a:gd name="adj" fmla="val 1212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796" y="2411222"/>
            <a:ext cx="731520" cy="263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C4FF"/>
                </a:solidFill>
                <a:latin typeface="Unbounde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7796" y="2776982"/>
            <a:ext cx="1527596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FFFFFF"/>
                </a:solidFill>
                <a:latin typeface="Unbounded"/>
              </a:rPr>
              <a:t>Исследование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4849" y="2191766"/>
            <a:ext cx="274320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3E5C9C"/>
                </a:solidFill>
                <a:latin typeface="Inter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94305" y="2191766"/>
            <a:ext cx="2003084" cy="1207008"/>
          </a:xfrm>
          <a:prstGeom prst="roundRect">
            <a:avLst>
              <a:gd name="adj" fmla="val 1212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2049" y="2411222"/>
            <a:ext cx="731520" cy="263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C4FF"/>
                </a:solidFill>
                <a:latin typeface="Unbound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2049" y="2776982"/>
            <a:ext cx="1527596" cy="2668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FFFFFF"/>
                </a:solidFill>
                <a:latin typeface="Unbounded"/>
              </a:rPr>
              <a:t>Стратегия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9101" y="2191766"/>
            <a:ext cx="274320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3E5C9C"/>
                </a:solidFill>
                <a:latin typeface="Inter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98557" y="2191766"/>
            <a:ext cx="2003084" cy="1207008"/>
          </a:xfrm>
          <a:prstGeom prst="roundRect">
            <a:avLst>
              <a:gd name="adj" fmla="val 1212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36301" y="2411222"/>
            <a:ext cx="731520" cy="263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C4FF"/>
                </a:solidFill>
                <a:latin typeface="Unbounde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36301" y="2776982"/>
            <a:ext cx="1527596" cy="2668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FFFFFF"/>
                </a:solidFill>
                <a:latin typeface="Unbounded"/>
              </a:rPr>
              <a:t>Контент-план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3354" y="2191766"/>
            <a:ext cx="274320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3E5C9C"/>
                </a:solidFill>
                <a:latin typeface="Inter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2810" y="2191766"/>
            <a:ext cx="2003084" cy="1207008"/>
          </a:xfrm>
          <a:prstGeom prst="roundRect">
            <a:avLst>
              <a:gd name="adj" fmla="val 1212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40554" y="2411222"/>
            <a:ext cx="731520" cy="263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C4FF"/>
                </a:solidFill>
                <a:latin typeface="Unbounde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40554" y="2776982"/>
            <a:ext cx="1527596" cy="2668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FFFFFF"/>
                </a:solidFill>
                <a:latin typeface="Unbounded"/>
              </a:rPr>
              <a:t>Текст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90052" y="3910838"/>
            <a:ext cx="2003084" cy="1207008"/>
          </a:xfrm>
          <a:prstGeom prst="roundRect">
            <a:avLst>
              <a:gd name="adj" fmla="val 12121"/>
            </a:avLst>
          </a:prstGeom>
          <a:solidFill>
            <a:srgbClr val="152343"/>
          </a:solidFill>
          <a:ln w="1778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27796" y="4130294"/>
            <a:ext cx="731520" cy="263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ADE80"/>
                </a:solidFill>
                <a:latin typeface="Unbounded"/>
              </a:rPr>
              <a:t>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27796" y="4496053"/>
            <a:ext cx="1527596" cy="2668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FFFFFF"/>
                </a:solidFill>
                <a:latin typeface="Unbounded"/>
              </a:rPr>
              <a:t>Статистика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52308" y="3910838"/>
            <a:ext cx="274320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3E5C9C"/>
                </a:solidFill>
                <a:latin typeface="Inter"/>
              </a:rPr>
              <a:t>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94305" y="3910838"/>
            <a:ext cx="2003084" cy="1207008"/>
          </a:xfrm>
          <a:prstGeom prst="roundRect">
            <a:avLst>
              <a:gd name="adj" fmla="val 12121"/>
            </a:avLst>
          </a:prstGeom>
          <a:solidFill>
            <a:srgbClr val="152343"/>
          </a:solidFill>
          <a:ln w="1778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32049" y="4130294"/>
            <a:ext cx="731520" cy="263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ADE80"/>
                </a:solidFill>
                <a:latin typeface="Unbounded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32049" y="4496053"/>
            <a:ext cx="1527596" cy="2668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FFFFFF"/>
                </a:solidFill>
                <a:latin typeface="Unbounded"/>
              </a:rPr>
              <a:t>Публикация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56561" y="3910838"/>
            <a:ext cx="274320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3E5C9C"/>
                </a:solidFill>
                <a:latin typeface="Inter"/>
              </a:rPr>
              <a:t>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98557" y="3910838"/>
            <a:ext cx="2003084" cy="1207008"/>
          </a:xfrm>
          <a:prstGeom prst="roundRect">
            <a:avLst>
              <a:gd name="adj" fmla="val 1212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36301" y="4130294"/>
            <a:ext cx="731520" cy="263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C4FF"/>
                </a:solidFill>
                <a:latin typeface="Unbounde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36301" y="4496053"/>
            <a:ext cx="1527596" cy="2668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FFFFFF"/>
                </a:solidFill>
                <a:latin typeface="Unbounded"/>
              </a:rPr>
              <a:t>Проверка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60813" y="3910838"/>
            <a:ext cx="274320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3E5C9C"/>
                </a:solidFill>
                <a:latin typeface="Inter"/>
              </a:rPr>
              <a:t>‹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02810" y="3910838"/>
            <a:ext cx="2003084" cy="1207008"/>
          </a:xfrm>
          <a:prstGeom prst="roundRect">
            <a:avLst>
              <a:gd name="adj" fmla="val 1212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40554" y="4130294"/>
            <a:ext cx="731520" cy="263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FC4FF"/>
                </a:solidFill>
                <a:latin typeface="Unbounded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40554" y="4496053"/>
            <a:ext cx="1527596" cy="2668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FFFFFF"/>
                </a:solidFill>
                <a:latin typeface="Unbounded"/>
              </a:rPr>
              <a:t>Визуал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65066" y="3910838"/>
            <a:ext cx="274320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3E5C9C"/>
                </a:solidFill>
                <a:latin typeface="Inter"/>
              </a:rPr>
              <a:t>‹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" y="3910838"/>
            <a:ext cx="2003084" cy="1207008"/>
          </a:xfrm>
          <a:prstGeom prst="roundRect">
            <a:avLst>
              <a:gd name="adj" fmla="val 12121"/>
            </a:avLst>
          </a:prstGeom>
          <a:noFill/>
          <a:ln w="12700">
            <a:solidFill>
              <a:srgbClr val="3E5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refresh-7FC4FF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030" y="4176014"/>
            <a:ext cx="420624" cy="420624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68680" y="4733798"/>
            <a:ext cx="1637324" cy="263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>
                <a:solidFill>
                  <a:srgbClr val="7FC4FF"/>
                </a:solidFill>
                <a:latin typeface="Unbounded"/>
              </a:rPr>
              <a:t>Новый цикл</a:t>
            </a:r>
          </a:p>
        </p:txBody>
      </p:sp>
      <p:pic>
        <p:nvPicPr>
          <p:cNvPr id="44" name="Picture 43" descr="arrow-right-3E5C9C-192-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6711" y="3435350"/>
            <a:ext cx="292608" cy="29260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85800" y="5501894"/>
            <a:ext cx="10820095" cy="313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D6E4FF"/>
                </a:solidFill>
                <a:latin typeface="Inter"/>
              </a:rPr>
              <a:t>Цикл ведут 217 ИИ-модулей и повторяют его неделя за неделей. </a:t>
            </a:r>
            <a:r>
              <a:rPr sz="1350" b="1">
                <a:solidFill>
                  <a:srgbClr val="FFFFFF"/>
                </a:solidFill>
                <a:latin typeface="Inter"/>
              </a:rPr>
              <a:t>Результат обычно виден на третьем месяце.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77095" y="634593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4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20095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>
                <a:solidFill>
                  <a:srgbClr val="FFFFFF"/>
                </a:solidFill>
                <a:latin typeface="Unbounded"/>
              </a:rPr>
              <a:t>Новое в платформе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5664"/>
            <a:ext cx="8778240" cy="3589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D6E4FF"/>
                </a:solidFill>
                <a:latin typeface="Inter"/>
              </a:rPr>
              <a:t>Всё это входит в подписку и не оплачивается отдельно.</a:t>
            </a:r>
          </a:p>
        </p:txBody>
      </p:sp>
      <p:pic>
        <p:nvPicPr>
          <p:cNvPr id="6" name="Picture 5" descr="n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10054"/>
            <a:ext cx="2499283" cy="2560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062982"/>
            <a:ext cx="2499283" cy="560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Unbounded"/>
              </a:rPr>
              <a:t>Видео по сценарию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76214"/>
            <a:ext cx="2499283" cy="515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9FB6DC"/>
                </a:solidFill>
                <a:latin typeface="Inter"/>
              </a:rPr>
              <a:t>Опишите сцену — ролик соберётся сам</a:t>
            </a:r>
          </a:p>
        </p:txBody>
      </p:sp>
      <p:pic>
        <p:nvPicPr>
          <p:cNvPr id="9" name="Picture 8" descr="n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9403" y="2210054"/>
            <a:ext cx="2499283" cy="2560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59403" y="5062982"/>
            <a:ext cx="2499283" cy="560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Unbounded"/>
              </a:rPr>
              <a:t>Цифровой двойник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9403" y="5776214"/>
            <a:ext cx="2499283" cy="515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9FB6DC"/>
                </a:solidFill>
                <a:latin typeface="Inter"/>
              </a:rPr>
              <a:t>Реклама с вашим лицом и голосом</a:t>
            </a:r>
          </a:p>
        </p:txBody>
      </p:sp>
      <p:pic>
        <p:nvPicPr>
          <p:cNvPr id="12" name="Picture 11" descr="n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007" y="2210054"/>
            <a:ext cx="2499283" cy="2560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33007" y="5062982"/>
            <a:ext cx="2499283" cy="316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Unbounded"/>
              </a:rPr>
              <a:t>Сайт под заявки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5776214"/>
            <a:ext cx="2499283" cy="515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9FB6DC"/>
                </a:solidFill>
                <a:latin typeface="Inter"/>
              </a:rPr>
              <a:t>Лендинг на семь стилей на выбор</a:t>
            </a:r>
          </a:p>
        </p:txBody>
      </p:sp>
      <p:pic>
        <p:nvPicPr>
          <p:cNvPr id="15" name="Picture 14" descr="n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611" y="2210054"/>
            <a:ext cx="2499283" cy="2560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006611" y="5062982"/>
            <a:ext cx="2499283" cy="316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Unbounded"/>
              </a:rPr>
              <a:t>Брендбук и мерч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611" y="5776214"/>
            <a:ext cx="2499283" cy="29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9FB6DC"/>
                </a:solidFill>
                <a:latin typeface="Inter"/>
              </a:rPr>
              <a:t>Айдентика и макеты сувенирки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77095" y="634593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5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20095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>
                <a:solidFill>
                  <a:srgbClr val="FFFFFF"/>
                </a:solidFill>
                <a:latin typeface="Unbounded"/>
              </a:rPr>
              <a:t>Что это даёт бизнесу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68880"/>
            <a:ext cx="3179978" cy="690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20" b="1">
                <a:solidFill>
                  <a:srgbClr val="7FC4FF"/>
                </a:solidFill>
                <a:latin typeface="Unbounded"/>
              </a:rPr>
              <a:t>в 4 раза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419856"/>
            <a:ext cx="3179978" cy="6129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Unbounded"/>
              </a:rPr>
              <a:t>меньше вашего времени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87952"/>
            <a:ext cx="3179978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FB6DC"/>
                </a:solidFill>
                <a:latin typeface="Inter"/>
              </a:rPr>
              <a:t>Ни техзаданий, ни согласований</a:t>
            </a:r>
          </a:p>
        </p:txBody>
      </p:sp>
      <p:sp>
        <p:nvSpPr>
          <p:cNvPr id="8" name="Rectangle 7"/>
          <p:cNvSpPr/>
          <p:nvPr/>
        </p:nvSpPr>
        <p:spPr>
          <a:xfrm>
            <a:off x="4185818" y="2560320"/>
            <a:ext cx="10972" cy="2286000"/>
          </a:xfrm>
          <a:prstGeom prst="rect">
            <a:avLst/>
          </a:prstGeom>
          <a:solidFill>
            <a:srgbClr val="2C4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5858" y="2468880"/>
            <a:ext cx="3179978" cy="690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20" b="1">
                <a:solidFill>
                  <a:srgbClr val="7FC4FF"/>
                </a:solidFill>
                <a:latin typeface="Unbounded"/>
              </a:rPr>
              <a:t>в 3 раза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5858" y="3419856"/>
            <a:ext cx="3179978" cy="6129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Unbounded"/>
              </a:rPr>
              <a:t>ниже расходы на СММ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5858" y="4187952"/>
            <a:ext cx="3179978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FB6DC"/>
                </a:solidFill>
                <a:latin typeface="Inter"/>
              </a:rPr>
              <a:t>Цена известна заранее и не растёт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5876" y="2560320"/>
            <a:ext cx="10972" cy="2286000"/>
          </a:xfrm>
          <a:prstGeom prst="rect">
            <a:avLst/>
          </a:prstGeom>
          <a:solidFill>
            <a:srgbClr val="2C4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5916" y="2468880"/>
            <a:ext cx="3179978" cy="587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79" b="1">
                <a:solidFill>
                  <a:srgbClr val="7FC4FF"/>
                </a:solidFill>
                <a:latin typeface="Unbounded"/>
              </a:rPr>
              <a:t>0 человек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5916" y="3419856"/>
            <a:ext cx="3179978" cy="3430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Unbounded"/>
              </a:rPr>
              <a:t>нанимать не нужно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5916" y="4187952"/>
            <a:ext cx="3179978" cy="568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FB6DC"/>
                </a:solidFill>
                <a:latin typeface="Inter"/>
              </a:rPr>
              <a:t>Копирайтер, SEO и дизайнер — это модули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77095" y="634593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6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20095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>
                <a:solidFill>
                  <a:srgbClr val="FFFFFF"/>
                </a:solidFill>
                <a:latin typeface="Unbounded"/>
              </a:rPr>
              <a:t>Одна подписка вместо агентства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03120"/>
            <a:ext cx="50292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000" b="1">
                <a:solidFill>
                  <a:srgbClr val="FFFFFF"/>
                </a:solidFill>
                <a:latin typeface="Unbounded"/>
              </a:rPr>
              <a:t>29 500 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072384"/>
            <a:ext cx="5029200" cy="339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9FB6DC"/>
                </a:solidFill>
                <a:latin typeface="Inter"/>
              </a:rPr>
              <a:t>в месяц, цена фиксированная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59708"/>
            <a:ext cx="5029200" cy="3868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D6E4FF"/>
                </a:solidFill>
                <a:latin typeface="Inter"/>
              </a:rPr>
              <a:t>Экономия </a:t>
            </a:r>
            <a:r>
              <a:rPr sz="1900" b="1">
                <a:solidFill>
                  <a:srgbClr val="4ADE80"/>
                </a:solidFill>
                <a:latin typeface="Inter"/>
              </a:rPr>
              <a:t>70 000 ₽</a:t>
            </a:r>
            <a:r>
              <a:rPr sz="1900" b="0">
                <a:solidFill>
                  <a:srgbClr val="D6E4FF"/>
                </a:solidFill>
                <a:latin typeface="Inter"/>
              </a:rPr>
              <a:t> каждый месяц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237990"/>
            <a:ext cx="5029200" cy="3042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FB6DC"/>
                </a:solidFill>
                <a:latin typeface="Inter"/>
              </a:rPr>
              <a:t>SEO-агентство за ту же работу — 100 000 ₽ в месяц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194560"/>
            <a:ext cx="5059375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Что входит</a:t>
            </a:r>
          </a:p>
        </p:txBody>
      </p:sp>
      <p:pic>
        <p:nvPicPr>
          <p:cNvPr id="10" name="Picture 9" descr="check-4ADE80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895600"/>
            <a:ext cx="182880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75704" y="2849880"/>
            <a:ext cx="4730191" cy="551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Полный цикл: тема, текст, картинка, видео, проверка, публикация</a:t>
            </a:r>
          </a:p>
        </p:txBody>
      </p:sp>
      <p:pic>
        <p:nvPicPr>
          <p:cNvPr id="12" name="Picture 11" descr="check-4ADE80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3575557"/>
            <a:ext cx="182880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75704" y="3529838"/>
            <a:ext cx="4730191" cy="3125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Публикации 5 дней в неделю и 2 экспертные статьи</a:t>
            </a:r>
          </a:p>
        </p:txBody>
      </p:sp>
      <p:pic>
        <p:nvPicPr>
          <p:cNvPr id="14" name="Picture 13" descr="check-4ADE80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016120"/>
            <a:ext cx="182880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775704" y="3970400"/>
            <a:ext cx="4730191" cy="551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Автопубликация на 6 площадках: Telegram, Instagram*, VK, Дзен, ОК, Max</a:t>
            </a:r>
          </a:p>
        </p:txBody>
      </p:sp>
      <p:pic>
        <p:nvPicPr>
          <p:cNvPr id="16" name="Picture 15" descr="check-4ADE80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696078"/>
            <a:ext cx="182880" cy="1828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775704" y="4650359"/>
            <a:ext cx="4730191" cy="3125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Видео по сценарию и цифровой двойник</a:t>
            </a:r>
          </a:p>
        </p:txBody>
      </p:sp>
      <p:pic>
        <p:nvPicPr>
          <p:cNvPr id="18" name="Picture 17" descr="check-4ADE80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5136642"/>
            <a:ext cx="182880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775704" y="5090922"/>
            <a:ext cx="4730191" cy="3125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Сайт под заявки, брендбук и мерч</a:t>
            </a:r>
          </a:p>
        </p:txBody>
      </p:sp>
      <p:pic>
        <p:nvPicPr>
          <p:cNvPr id="20" name="Picture 19" descr="check-4ADE80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5577205"/>
            <a:ext cx="182880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75704" y="5531485"/>
            <a:ext cx="4730191" cy="551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Договор и закрывающие документы по законодательству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291072"/>
            <a:ext cx="10820095" cy="2134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9FB6DC"/>
                </a:solidFill>
                <a:latin typeface="Inter"/>
              </a:rPr>
              <a:t>* Instagram принадлежит компании Meta, признанной экстремистской организацией и запрещённой на территории Российской Федерации.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554480"/>
            <a:ext cx="6035040" cy="14432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>
                <a:solidFill>
                  <a:srgbClr val="FFFFFF"/>
                </a:solidFill>
                <a:latin typeface="Unbounded"/>
              </a:rPr>
              <a:t>Посмотрим, как ваша ниша выглядит в ответах нейросетей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17164"/>
            <a:ext cx="5669280" cy="988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50" b="0">
                <a:solidFill>
                  <a:srgbClr val="D6E4FF"/>
                </a:solidFill>
                <a:latin typeface="Inter"/>
              </a:rPr>
              <a:t>Бесплатно и без обязательств: проверим, называют ли нейросети вашу компанию — и кого называют вместо вас.</a:t>
            </a:r>
          </a:p>
        </p:txBody>
      </p:sp>
      <p:sp>
        <p:nvSpPr>
          <p:cNvPr id="6" name="Rounded Rectangle 5">
            <a:hlinkClick r:id="rId3"/>
          </p:cNvPr>
          <p:cNvSpPr/>
          <p:nvPr/>
        </p:nvSpPr>
        <p:spPr>
          <a:xfrm>
            <a:off x="685800" y="4644580"/>
            <a:ext cx="3383280" cy="676656"/>
          </a:xfrm>
          <a:prstGeom prst="roundRect">
            <a:avLst>
              <a:gd name="adj" fmla="val 50000"/>
            </a:avLst>
          </a:prstGeom>
          <a:solidFill>
            <a:srgbClr val="3D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>
            <a:hlinkClick r:id="rId3"/>
          </p:cNvPr>
          <p:cNvSpPr txBox="1"/>
          <p:nvPr/>
        </p:nvSpPr>
        <p:spPr>
          <a:xfrm>
            <a:off x="685800" y="4644580"/>
            <a:ext cx="3383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Inter"/>
              </a:rPr>
              <a:t>Получить разбор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4644580"/>
            <a:ext cx="274320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9FB6DC"/>
                </a:solidFill>
                <a:latin typeface="Inter"/>
              </a:rPr>
              <a:t>Откроется форма
на сайте «Промптера»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463040"/>
            <a:ext cx="3962095" cy="3977639"/>
          </a:xfrm>
          <a:prstGeom prst="roundRect">
            <a:avLst>
              <a:gd name="adj" fmla="val 5077"/>
            </a:avLst>
          </a:prstGeom>
          <a:solidFill>
            <a:srgbClr val="152343"/>
          </a:solidFill>
          <a:ln w="12700">
            <a:solidFill>
              <a:srgbClr val="3E5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rek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7848" y="1847088"/>
            <a:ext cx="3193999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27848" y="3474720"/>
            <a:ext cx="3193999" cy="332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Unbounded"/>
              </a:rPr>
              <a:t>Руслан Демин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7848" y="3825240"/>
            <a:ext cx="3193999" cy="270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9FB6DC"/>
                </a:solidFill>
                <a:latin typeface="Inter"/>
              </a:rPr>
              <a:t>Управляющий партнёр, офис в Москве</a:t>
            </a:r>
          </a:p>
        </p:txBody>
      </p:sp>
      <p:pic>
        <p:nvPicPr>
          <p:cNvPr id="13" name="Picture 12" descr="phone-7FC4FF-192-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7848" y="4369879"/>
            <a:ext cx="201168" cy="201168"/>
          </a:xfrm>
          <a:prstGeom prst="rect">
            <a:avLst/>
          </a:prstGeom>
        </p:spPr>
      </p:pic>
      <p:sp>
        <p:nvSpPr>
          <p:cNvPr id="14" name="TextBox 13">
            <a:hlinkClick r:id="rId6"/>
          </p:cNvPr>
          <p:cNvSpPr txBox="1"/>
          <p:nvPr/>
        </p:nvSpPr>
        <p:spPr>
          <a:xfrm>
            <a:off x="8238744" y="4333303"/>
            <a:ext cx="28831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Inter"/>
              </a:rPr>
              <a:t>+7 906 758-77-77</a:t>
            </a:r>
          </a:p>
        </p:txBody>
      </p:sp>
      <p:pic>
        <p:nvPicPr>
          <p:cNvPr id="15" name="Picture 14" descr="mail-7FC4FF-192-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7848" y="4735639"/>
            <a:ext cx="201168" cy="201168"/>
          </a:xfrm>
          <a:prstGeom prst="rect">
            <a:avLst/>
          </a:prstGeom>
        </p:spPr>
      </p:pic>
      <p:sp>
        <p:nvSpPr>
          <p:cNvPr id="16" name="TextBox 15">
            <a:hlinkClick r:id="rId8"/>
          </p:cNvPr>
          <p:cNvSpPr txBox="1"/>
          <p:nvPr/>
        </p:nvSpPr>
        <p:spPr>
          <a:xfrm>
            <a:off x="8238744" y="4699063"/>
            <a:ext cx="28831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Inter"/>
              </a:rPr>
              <a:t>prompter.moscow@mail.ru</a:t>
            </a:r>
          </a:p>
        </p:txBody>
      </p:sp>
      <p:pic>
        <p:nvPicPr>
          <p:cNvPr id="17" name="Picture 16" descr="tg-7FC4FF-192-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27848" y="5101399"/>
            <a:ext cx="201168" cy="201168"/>
          </a:xfrm>
          <a:prstGeom prst="rect">
            <a:avLst/>
          </a:prstGeom>
        </p:spPr>
      </p:pic>
      <p:sp>
        <p:nvSpPr>
          <p:cNvPr id="18" name="TextBox 17">
            <a:hlinkClick r:id="rId10"/>
          </p:cNvPr>
          <p:cNvSpPr txBox="1"/>
          <p:nvPr/>
        </p:nvSpPr>
        <p:spPr>
          <a:xfrm>
            <a:off x="8238744" y="5064823"/>
            <a:ext cx="28831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Inter"/>
              </a:rPr>
              <a:t>@Prompter_mos</a:t>
            </a:r>
          </a:p>
        </p:txBody>
      </p:sp>
      <p:pic>
        <p:nvPicPr>
          <p:cNvPr id="19" name="Picture 18" descr="log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5943600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16152" y="59984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FFFFFF"/>
                </a:solidFill>
                <a:latin typeface="Unbounded"/>
              </a:rPr>
              <a:t>Prompter </a:t>
            </a:r>
            <a:r>
              <a:rPr sz="1300" b="1">
                <a:solidFill>
                  <a:srgbClr val="FFFFFF"/>
                </a:solidFill>
                <a:latin typeface="Unbounded"/>
              </a:rPr>
              <a:t>Moscow</a:t>
            </a:r>
            <a:r>
              <a:rPr sz="1300" b="0">
                <a:solidFill>
                  <a:srgbClr val="9FB6DC"/>
                </a:solidFill>
                <a:latin typeface="Inter"/>
              </a:rPr>
              <a:t>     prompter-ai.moscow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