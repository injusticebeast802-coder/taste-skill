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embeddedFontLst>
    <p:embeddedFont>
      <p:font typeface="Inter" pitchFamily="34" charset="0"/>
      <p:regular r:id="rIdFont1"/>
      <p:bold r:id="rIdFont2"/>
    </p:embeddedFont>
    <p:embeddedFont>
      <p:font typeface="Unbounded" pitchFamily="34" charset="0"/>
      <p:regular r:id="rIdFont3"/>
      <p:bold r:id="rIdFont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prompter-ai.moscow/zayavka.html?from=presentation-analiz" TargetMode="External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hyperlink" Target="tel:+79067587777" TargetMode="External"/><Relationship Id="rId7" Type="http://schemas.openxmlformats.org/officeDocument/2006/relationships/image" Target="../media/image13.png"/><Relationship Id="rId8" Type="http://schemas.openxmlformats.org/officeDocument/2006/relationships/hyperlink" Target="mailto:prompter.moscow@mail.ru" TargetMode="External"/><Relationship Id="rId9" Type="http://schemas.openxmlformats.org/officeDocument/2006/relationships/image" Target="../media/image14.png"/><Relationship Id="rId10" Type="http://schemas.openxmlformats.org/officeDocument/2006/relationships/hyperlink" Target="https://t.me/Prompter_mos" TargetMode="External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loz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6692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640080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600" b="1">
                <a:solidFill>
                  <a:srgbClr val="FFFFFF"/>
                </a:solidFill>
                <a:latin typeface="Unbounded"/>
              </a:rPr>
              <a:t>Moscow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9509760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>
                <a:solidFill>
                  <a:srgbClr val="FFFFFF"/>
                </a:solidFill>
                <a:latin typeface="Unbounded"/>
              </a:rPr>
              <a:t>Продвижение бизнеса там, где его теперь ищут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9160"/>
            <a:ext cx="78638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D6E4FF"/>
                </a:solidFill>
                <a:latin typeface="Inter"/>
              </a:rPr>
              <a:t>GEO- и SEO-продвижение на автономной AI-платформе «Промптер»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59552"/>
            <a:ext cx="9144000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Официальный партнёр IT-компании «Промптер» по Москве и МО</a:t>
            </a:r>
            <a:r>
              <a:rPr sz="1200" b="1">
                <a:solidFill>
                  <a:srgbClr val="7FC4FF"/>
                </a:solidFill>
                <a:latin typeface="Inter"/>
              </a:rPr>
              <a:t>     ЛД № 54-ПРТ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0176"/>
            <a:ext cx="10058400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prompter-ai.moscow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+7 906 758-77-77     prompter.moscow@mail.ru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7</a:t>
            </a:r>
          </a:p>
        </p:txBody>
      </p:sp>
      <p:pic>
        <p:nvPicPr>
          <p:cNvPr id="4" name="Picture 3" descr="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0"/>
            <a:ext cx="5029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600200"/>
            <a:ext cx="5653735" cy="1192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Клиентов теперь ищут 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22168"/>
            <a:ext cx="5653735" cy="1018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Человек не листает десять синих ссылок. Он спрашивает нейросеть и получает готовый ответ с двумя-тремя названиями компаний.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33976"/>
            <a:ext cx="1371600" cy="2377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08296"/>
            <a:ext cx="5653735" cy="739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7FC4FF"/>
                </a:solidFill>
                <a:latin typeface="Unbounded"/>
              </a:rPr>
              <a:t>Кого назвали — к тому и пошли.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Платформа ведёт весь цикл сама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От сбора данных о компании до публикации и отчёта. Ни одной задачи с вашей стороны.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776982"/>
            <a:ext cx="1527596" cy="4605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Информация о компании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596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0052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796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796" y="2776982"/>
            <a:ext cx="1527596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FFFFFF"/>
                </a:solidFill>
                <a:latin typeface="Unbounded"/>
              </a:rPr>
              <a:t>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4849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4305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2049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2049" y="2776982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Стратегия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9101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8557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6301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36301" y="2776982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Контент-план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3354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2810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40554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40554" y="2776982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Текст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90052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796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796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Статистика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2308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94305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2049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2049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Публикация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6561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98557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6301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36301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Проверка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60813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2810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40554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40554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Визуал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5066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910838"/>
            <a:ext cx="2003084" cy="1207008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refresh-7FC4FF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030" y="4176014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68680" y="4733798"/>
            <a:ext cx="1637324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7FC4FF"/>
                </a:solidFill>
                <a:latin typeface="Unbounded"/>
              </a:rPr>
              <a:t>Новый цикл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1847" y="3417062"/>
            <a:ext cx="384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3E5C9C"/>
                </a:solidFill>
                <a:latin typeface="Inter"/>
              </a:rPr>
              <a:t>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501894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Цикл ведут 217 ИИ-модулей и повторяют его неделя за неделей. </a:t>
            </a:r>
            <a:r>
              <a:rPr sz="1350" b="1">
                <a:solidFill>
                  <a:srgbClr val="FFFFFF"/>
                </a:solidFill>
                <a:latin typeface="Inter"/>
              </a:rPr>
              <a:t>Результат обычно виден на третьем месяце.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Новое в платформе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Всё это входит в подписку и не оплачивается отдельно.</a:t>
            </a:r>
          </a:p>
        </p:txBody>
      </p:sp>
      <p:pic>
        <p:nvPicPr>
          <p:cNvPr id="6" name="Picture 5" descr="n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0054"/>
            <a:ext cx="2499283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Видео по сценарию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Опишите сцену — ролик соберётся сам</a:t>
            </a:r>
          </a:p>
        </p:txBody>
      </p:sp>
      <p:pic>
        <p:nvPicPr>
          <p:cNvPr id="9" name="Picture 8" descr="n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03" y="2210054"/>
            <a:ext cx="2499283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9403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Цифровой двойник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Реклама с вашим лицом и голосом</a:t>
            </a:r>
          </a:p>
        </p:txBody>
      </p:sp>
      <p:pic>
        <p:nvPicPr>
          <p:cNvPr id="12" name="Picture 11" descr="n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210054"/>
            <a:ext cx="2499283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Сайт под заявки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Лендинг на семь стилей на выбор</a:t>
            </a:r>
          </a:p>
        </p:txBody>
      </p:sp>
      <p:pic>
        <p:nvPicPr>
          <p:cNvPr id="15" name="Picture 14" descr="n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210054"/>
            <a:ext cx="2499283" cy="2560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06611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Брендбук и мерч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11" y="5776214"/>
            <a:ext cx="2499283" cy="29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Айдентика и макеты сувенирки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Что это даёт бизнесу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3179978" cy="690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20" b="1">
                <a:solidFill>
                  <a:srgbClr val="7FC4FF"/>
                </a:solidFill>
                <a:latin typeface="Unbounded"/>
              </a:rPr>
              <a:t>в 4 раза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19856"/>
            <a:ext cx="3179978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меньше вашего времени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87952"/>
            <a:ext cx="3179978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Ни техзаданий, ни согласований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185818" y="2560320"/>
            <a:ext cx="10972" cy="2286000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2468880"/>
            <a:ext cx="3179978" cy="690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20" b="1">
                <a:solidFill>
                  <a:srgbClr val="7FC4FF"/>
                </a:solidFill>
                <a:latin typeface="Unbounded"/>
              </a:rPr>
              <a:t>в 3 раза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3419856"/>
            <a:ext cx="3179978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ниже расходы на СММ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187952"/>
            <a:ext cx="3179978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Цена известна заранее и не растёт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5876" y="2560320"/>
            <a:ext cx="10972" cy="2286000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5916" y="2468880"/>
            <a:ext cx="3179978" cy="587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79" b="1">
                <a:solidFill>
                  <a:srgbClr val="7FC4FF"/>
                </a:solidFill>
                <a:latin typeface="Unbounded"/>
              </a:rPr>
              <a:t>0 человек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5916" y="3419856"/>
            <a:ext cx="3179978" cy="3430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нанимать не нужно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6" y="4187952"/>
            <a:ext cx="3179978" cy="56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Копирайтер, SEO и дизайнер — это модули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Одна подписка вместо 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5029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0" b="1">
                <a:solidFill>
                  <a:srgbClr val="FFFFFF"/>
                </a:solidFill>
                <a:latin typeface="Unbounded"/>
              </a:rPr>
              <a:t>29 500 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72384"/>
            <a:ext cx="5029200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в месяц, цена фиксированная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59708"/>
            <a:ext cx="5029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D6E4FF"/>
                </a:solidFill>
                <a:latin typeface="Inter"/>
              </a:rPr>
              <a:t>Экономия </a:t>
            </a:r>
            <a:r>
              <a:rPr sz="1900" b="1">
                <a:solidFill>
                  <a:srgbClr val="4ADE80"/>
                </a:solidFill>
                <a:latin typeface="Inter"/>
              </a:rPr>
              <a:t>70 000 ₽</a:t>
            </a:r>
            <a:r>
              <a:rPr sz="1900" b="0">
                <a:solidFill>
                  <a:srgbClr val="D6E4FF"/>
                </a:solidFill>
                <a:latin typeface="Inter"/>
              </a:rPr>
              <a:t> каждый месяц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37990"/>
            <a:ext cx="502920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SEO-агентство за ту же работу — 100 000 ₽ в месяц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59375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Что входит</a:t>
            </a:r>
          </a:p>
        </p:txBody>
      </p:sp>
      <p:pic>
        <p:nvPicPr>
          <p:cNvPr id="10" name="Picture 9" descr="check-4ADE80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895600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704" y="284988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Полный цикл: тема, текст, картинка, видео, проверка, публикация</a:t>
            </a:r>
          </a:p>
        </p:txBody>
      </p:sp>
      <p:pic>
        <p:nvPicPr>
          <p:cNvPr id="12" name="Picture 11" descr="check-4ADE80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575557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5704" y="3529838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 и 2 экспертные статьи</a:t>
            </a:r>
          </a:p>
        </p:txBody>
      </p:sp>
      <p:pic>
        <p:nvPicPr>
          <p:cNvPr id="14" name="Picture 13" descr="check-4ADE80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016120"/>
            <a:ext cx="182880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5704" y="397040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Автопубликация на 6 площадках: Telegram, Instagram*, VK, Дзен, ОК, Max</a:t>
            </a:r>
          </a:p>
        </p:txBody>
      </p:sp>
      <p:pic>
        <p:nvPicPr>
          <p:cNvPr id="16" name="Picture 15" descr="check-4ADE80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696078"/>
            <a:ext cx="182880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75704" y="4650359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Видео по сценарию и цифровой двойник</a:t>
            </a:r>
          </a:p>
        </p:txBody>
      </p:sp>
      <p:pic>
        <p:nvPicPr>
          <p:cNvPr id="18" name="Picture 17" descr="check-4ADE80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136642"/>
            <a:ext cx="182880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75704" y="5090922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Сайт под заявки, брендбук и мерч</a:t>
            </a:r>
          </a:p>
        </p:txBody>
      </p:sp>
      <p:pic>
        <p:nvPicPr>
          <p:cNvPr id="20" name="Picture 19" descr="check-4ADE80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577205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704" y="5531485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Договор и закрывающие документы по законодательству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035040" cy="1443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>
                <a:solidFill>
                  <a:srgbClr val="FFFFFF"/>
                </a:solidFill>
                <a:latin typeface="Unbounded"/>
              </a:rPr>
              <a:t>Посмотрим, как ваша ниша выглядит в ответах нейросетей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17164"/>
            <a:ext cx="5669280" cy="988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50" b="0">
                <a:solidFill>
                  <a:srgbClr val="D6E4FF"/>
                </a:solidFill>
                <a:latin typeface="Inter"/>
              </a:rPr>
              <a:t>Бесплатно и без обязательств: проверим, называют ли нейросети вашу компанию — и кого называют вместо вас.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685800" y="4644580"/>
            <a:ext cx="3383280" cy="676656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>
            <a:hlinkClick r:id="rId3"/>
          </p:cNvPr>
          <p:cNvSpPr txBox="1"/>
          <p:nvPr/>
        </p:nvSpPr>
        <p:spPr>
          <a:xfrm>
            <a:off x="685800" y="46445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Получить разбор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644580"/>
            <a:ext cx="27432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9FB6DC"/>
                </a:solidFill>
                <a:latin typeface="Inter"/>
              </a:rPr>
              <a:t>Откроется форма
на сайте «Промптера»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63040"/>
            <a:ext cx="3962095" cy="3977639"/>
          </a:xfrm>
          <a:prstGeom prst="roundRect">
            <a:avLst>
              <a:gd name="adj" fmla="val 5077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rek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1847088"/>
            <a:ext cx="3193999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7848" y="3474720"/>
            <a:ext cx="3193999" cy="332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Руслан Демин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7848" y="3825240"/>
            <a:ext cx="3193999" cy="270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Управляющий партнёр, офис в Москве</a:t>
            </a:r>
          </a:p>
        </p:txBody>
      </p:sp>
      <p:pic>
        <p:nvPicPr>
          <p:cNvPr id="13" name="Picture 12" descr="phone-7FC4FF-1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4369879"/>
            <a:ext cx="201168" cy="201168"/>
          </a:xfrm>
          <a:prstGeom prst="rect">
            <a:avLst/>
          </a:prstGeom>
        </p:spPr>
      </p:pic>
      <p:sp>
        <p:nvSpPr>
          <p:cNvPr id="14" name="TextBox 13">
            <a:hlinkClick r:id="rId6"/>
          </p:cNvPr>
          <p:cNvSpPr txBox="1"/>
          <p:nvPr/>
        </p:nvSpPr>
        <p:spPr>
          <a:xfrm>
            <a:off x="8238744" y="433330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pic>
        <p:nvPicPr>
          <p:cNvPr id="15" name="Picture 14" descr="mail-7FC4FF-19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4735639"/>
            <a:ext cx="201168" cy="201168"/>
          </a:xfrm>
          <a:prstGeom prst="rect">
            <a:avLst/>
          </a:prstGeom>
        </p:spPr>
      </p:pic>
      <p:sp>
        <p:nvSpPr>
          <p:cNvPr id="16" name="TextBox 15">
            <a:hlinkClick r:id="rId8"/>
          </p:cNvPr>
          <p:cNvSpPr txBox="1"/>
          <p:nvPr/>
        </p:nvSpPr>
        <p:spPr>
          <a:xfrm>
            <a:off x="8238744" y="469906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pic>
        <p:nvPicPr>
          <p:cNvPr id="17" name="Picture 16" descr="tg-7FC4FF-19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7848" y="5101399"/>
            <a:ext cx="201168" cy="201168"/>
          </a:xfrm>
          <a:prstGeom prst="rect">
            <a:avLst/>
          </a:prstGeom>
        </p:spPr>
      </p:pic>
      <p:sp>
        <p:nvSpPr>
          <p:cNvPr id="18" name="TextBox 17">
            <a:hlinkClick r:id="rId10"/>
          </p:cNvPr>
          <p:cNvSpPr txBox="1"/>
          <p:nvPr/>
        </p:nvSpPr>
        <p:spPr>
          <a:xfrm>
            <a:off x="8238744" y="506482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@Prompter_mos</a:t>
            </a:r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94360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6152" y="59984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300" b="1">
                <a:solidFill>
                  <a:srgbClr val="FFFFFF"/>
                </a:solidFill>
                <a:latin typeface="Unbounded"/>
              </a:rPr>
              <a:t>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prompter-ai.moscow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