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prompter-ai.moscow/zayavka.html?from=presentation-analiz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hyperlink" Target="tel:+79067587777" TargetMode="External"/><Relationship Id="rId7" Type="http://schemas.openxmlformats.org/officeDocument/2006/relationships/image" Target="../media/image27.png"/><Relationship Id="rId8" Type="http://schemas.openxmlformats.org/officeDocument/2006/relationships/hyperlink" Target="mailto:prompter.moscow@mail.ru" TargetMode="External"/><Relationship Id="rId9" Type="http://schemas.openxmlformats.org/officeDocument/2006/relationships/image" Target="../media/image28.png"/><Relationship Id="rId10" Type="http://schemas.openxmlformats.org/officeDocument/2006/relationships/hyperlink" Target="https://t.me/Prompter_mos" TargetMode="External"/><Relationship Id="rId1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blozh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016" y="6400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Unbounded"/>
              </a:rPr>
              <a:t>Prompter </a:t>
            </a:r>
            <a:r>
              <a:rPr sz="1600" b="1">
                <a:solidFill>
                  <a:srgbClr val="FFFFFF"/>
                </a:solidFill>
                <a:latin typeface="Unbounded"/>
              </a:rPr>
              <a:t>Moscow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9509760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b="1">
                <a:solidFill>
                  <a:srgbClr val="FFFFFF"/>
                </a:solidFill>
                <a:latin typeface="Unbounded"/>
              </a:rPr>
              <a:t>Продвижение бизнеса там, где его теперь ищут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786384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6E4FF"/>
                </a:solidFill>
                <a:latin typeface="Inter"/>
              </a:rPr>
              <a:t>GEO- и SEO-продвижение на автономной AI-платформе «Промптер»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59552"/>
            <a:ext cx="9144000" cy="271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FB6DC"/>
                </a:solidFill>
                <a:latin typeface="Inter"/>
              </a:rPr>
              <a:t>Официальный партнёр IT-компании «Промптер» по Москве и МО</a:t>
            </a:r>
            <a:r>
              <a:rPr sz="1200" b="1">
                <a:solidFill>
                  <a:srgbClr val="7FC4FF"/>
                </a:solidFill>
                <a:latin typeface="Inter"/>
              </a:rPr>
              <a:t>     ЛД № 54-ПРТ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0176"/>
            <a:ext cx="10058400" cy="287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prompter-ai.moscow</a:t>
            </a:r>
            <a:r>
              <a:rPr sz="1300" b="0">
                <a:solidFill>
                  <a:srgbClr val="9FB6DC"/>
                </a:solidFill>
                <a:latin typeface="Inter"/>
              </a:rPr>
              <a:t>     +7 906 758-77-77     prompter.moscow@mail.ru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77095" y="634593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2 / 8</a:t>
            </a:r>
          </a:p>
        </p:txBody>
      </p:sp>
      <p:pic>
        <p:nvPicPr>
          <p:cNvPr id="4" name="Picture 3" descr="nejro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00200"/>
            <a:ext cx="5653735" cy="1192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800" b="1">
                <a:solidFill>
                  <a:srgbClr val="FFFFFF"/>
                </a:solidFill>
                <a:latin typeface="Unbounded"/>
              </a:rPr>
              <a:t>Клиентов теперь ищут нейросети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22168"/>
            <a:ext cx="5653735" cy="1018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D6E4FF"/>
                </a:solidFill>
                <a:latin typeface="Inter"/>
              </a:rPr>
              <a:t>Человек не листает десять синих ссылок. Он спрашивает нейросеть и получает готовый ответ с двумя-тремя названиями компаний.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33976"/>
            <a:ext cx="1371600" cy="23774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08296"/>
            <a:ext cx="5653735" cy="7399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7FC4FF"/>
                </a:solidFill>
                <a:latin typeface="Unbounded"/>
              </a:rPr>
              <a:t>Кого назвали — к тому и пошли.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77095" y="634593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2009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Unbounded"/>
              </a:rPr>
              <a:t>5 ИИ-агентов вместо digital-агентства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5664"/>
            <a:ext cx="87782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D6E4FF"/>
                </a:solidFill>
                <a:latin typeface="Inter"/>
              </a:rPr>
              <a:t>Каждый закрывает роль, за которую в агентстве платят отдельному человеку с отдельной зарплатой.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57984"/>
            <a:ext cx="2003084" cy="2743200"/>
          </a:xfrm>
          <a:prstGeom prst="roundRect">
            <a:avLst>
              <a:gd name="adj" fmla="val 7303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414015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ncil-7FC4FF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87751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145536"/>
            <a:ext cx="1527596" cy="265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40" b="1">
                <a:solidFill>
                  <a:srgbClr val="FFFFFF"/>
                </a:solidFill>
                <a:latin typeface="Unbounded"/>
              </a:rPr>
              <a:t>AI-копирайтер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50208"/>
            <a:ext cx="15275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D6E4FF"/>
                </a:solidFill>
                <a:latin typeface="Inter"/>
              </a:rPr>
              <a:t>Тексты и посты в стиле бренда для всех площадок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0052" y="2157984"/>
            <a:ext cx="2003084" cy="2743200"/>
          </a:xfrm>
          <a:prstGeom prst="roundRect">
            <a:avLst>
              <a:gd name="adj" fmla="val 7303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7796" y="2414015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rget-7FC4FF-192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32" y="2587751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27796" y="3145536"/>
            <a:ext cx="1527596" cy="2652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40" b="1">
                <a:solidFill>
                  <a:srgbClr val="FFFFFF"/>
                </a:solidFill>
                <a:latin typeface="Unbounded"/>
              </a:rPr>
              <a:t>AI-маркетолог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796" y="3950208"/>
            <a:ext cx="15275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D6E4FF"/>
                </a:solidFill>
                <a:latin typeface="Inter"/>
              </a:rPr>
              <a:t>Ниша, конкуренты и запросы, по которым вас ищут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4305" y="2157984"/>
            <a:ext cx="2003084" cy="2743200"/>
          </a:xfrm>
          <a:prstGeom prst="roundRect">
            <a:avLst>
              <a:gd name="adj" fmla="val 7303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32049" y="2414015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nd-7FC4FF-192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785" y="2587751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2049" y="3145536"/>
            <a:ext cx="1527596" cy="423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1">
                <a:solidFill>
                  <a:srgbClr val="FFFFFF"/>
                </a:solidFill>
                <a:latin typeface="Unbounded"/>
              </a:rPr>
              <a:t>AI СММ-менеджер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2049" y="3950208"/>
            <a:ext cx="15275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D6E4FF"/>
                </a:solidFill>
                <a:latin typeface="Inter"/>
              </a:rPr>
              <a:t>Проверка, публикация и контроль выдачи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8557" y="2157984"/>
            <a:ext cx="2003084" cy="2743200"/>
          </a:xfrm>
          <a:prstGeom prst="roundRect">
            <a:avLst>
              <a:gd name="adj" fmla="val 7303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36301" y="2414015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lette-7FC4FF-192-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037" y="2587751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36301" y="3145536"/>
            <a:ext cx="1527596" cy="282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FFFFFF"/>
                </a:solidFill>
                <a:latin typeface="Unbounded"/>
              </a:rPr>
              <a:t>AI-дизайнер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6301" y="3950208"/>
            <a:ext cx="15275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D6E4FF"/>
                </a:solidFill>
                <a:latin typeface="Inter"/>
              </a:rPr>
              <a:t>Визуал под требования каждой площадки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2810" y="2157984"/>
            <a:ext cx="2003084" cy="2743200"/>
          </a:xfrm>
          <a:prstGeom prst="roundRect">
            <a:avLst>
              <a:gd name="adj" fmla="val 7303"/>
            </a:avLst>
          </a:prstGeom>
          <a:solidFill>
            <a:srgbClr val="152343"/>
          </a:solidFill>
          <a:ln w="1778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0554" y="2414015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ideo-4ADE80-192-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290" y="2587751"/>
            <a:ext cx="310896" cy="31089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0518343" y="26151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8343" y="2615184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A0A0E"/>
                </a:solidFill>
                <a:latin typeface="Inter"/>
              </a:rPr>
              <a:t>новое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0554" y="3145536"/>
            <a:ext cx="1527596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4ADE80"/>
                </a:solidFill>
                <a:latin typeface="Unbounded"/>
              </a:rPr>
              <a:t>AI-сценарист и оператор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0554" y="3950208"/>
            <a:ext cx="15275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D6E4FF"/>
                </a:solidFill>
                <a:latin typeface="Inter"/>
              </a:rPr>
              <a:t>Сценарий и готовый ролик по описанию сцены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21807"/>
            <a:ext cx="3179978" cy="400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7FC4FF"/>
                </a:solidFill>
                <a:latin typeface="Unbounded"/>
              </a:rPr>
              <a:t>в 4 раза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1"/>
            <a:ext cx="3179978" cy="295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D6E4FF"/>
                </a:solidFill>
                <a:latin typeface="Inter"/>
              </a:rPr>
              <a:t>меньше вашего времени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5818" y="5358383"/>
            <a:ext cx="10972" cy="603504"/>
          </a:xfrm>
          <a:prstGeom prst="rect">
            <a:avLst/>
          </a:prstGeom>
          <a:solidFill>
            <a:srgbClr val="2C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5858" y="5321807"/>
            <a:ext cx="3179978" cy="400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7FC4FF"/>
                </a:solidFill>
                <a:latin typeface="Unbounded"/>
              </a:rPr>
              <a:t>в 3 раза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5858" y="5742431"/>
            <a:ext cx="3179978" cy="295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D6E4FF"/>
                </a:solidFill>
                <a:latin typeface="Inter"/>
              </a:rPr>
              <a:t>ниже расходы на СММ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5876" y="5358383"/>
            <a:ext cx="10972" cy="603504"/>
          </a:xfrm>
          <a:prstGeom prst="rect">
            <a:avLst/>
          </a:prstGeom>
          <a:solidFill>
            <a:srgbClr val="2C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5916" y="5321807"/>
            <a:ext cx="3179978" cy="400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7FC4FF"/>
                </a:solidFill>
                <a:latin typeface="Unbounded"/>
              </a:rPr>
              <a:t>0 человек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5916" y="5742431"/>
            <a:ext cx="3179978" cy="295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D6E4FF"/>
                </a:solidFill>
                <a:latin typeface="Inter"/>
              </a:rPr>
              <a:t>нанимать не нужно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77095" y="634593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2009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Unbounded"/>
              </a:rPr>
              <a:t>Платформа публикует сама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5664"/>
            <a:ext cx="87782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D6E4FF"/>
                </a:solidFill>
                <a:latin typeface="Inter"/>
              </a:rPr>
              <a:t>Готовый материал уходит на площадки по расписанию. Ни выгрузок, ни ручного постинга, ни напоминаний.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39696"/>
            <a:ext cx="3566160" cy="1292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7FC4FF"/>
                </a:solidFill>
                <a:latin typeface="Unbounde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32047"/>
            <a:ext cx="3566160" cy="612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Unbounded"/>
              </a:rPr>
              <a:t>площадок в одной подписке</a:t>
            </a:r>
          </a:p>
        </p:txBody>
      </p:sp>
      <p:pic>
        <p:nvPicPr>
          <p:cNvPr id="8" name="Picture 7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38141"/>
            <a:ext cx="18288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4983" y="4392422"/>
            <a:ext cx="3236976" cy="3125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Публикации 5 дней в неделю</a:t>
            </a:r>
          </a:p>
        </p:txBody>
      </p:sp>
      <p:pic>
        <p:nvPicPr>
          <p:cNvPr id="10" name="Picture 9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9699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4983" y="4851272"/>
            <a:ext cx="3236976" cy="3125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2 экспертные статьи в месяц</a:t>
            </a:r>
          </a:p>
        </p:txBody>
      </p:sp>
      <p:pic>
        <p:nvPicPr>
          <p:cNvPr id="12" name="Picture 11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55843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983" y="5310123"/>
            <a:ext cx="3236976" cy="551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Формат и размер — под каждую площадку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286000"/>
            <a:ext cx="3197199" cy="960120"/>
          </a:xfrm>
          <a:prstGeom prst="roundRect">
            <a:avLst>
              <a:gd name="adj" fmla="val 15238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621280"/>
            <a:ext cx="2831439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Telegram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8695" y="2286000"/>
            <a:ext cx="3197199" cy="960120"/>
          </a:xfrm>
          <a:prstGeom prst="roundRect">
            <a:avLst>
              <a:gd name="adj" fmla="val 15238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1575" y="2621280"/>
            <a:ext cx="2831439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Instagram*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465576"/>
            <a:ext cx="3197199" cy="960120"/>
          </a:xfrm>
          <a:prstGeom prst="roundRect">
            <a:avLst>
              <a:gd name="adj" fmla="val 15238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800855"/>
            <a:ext cx="2831439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VK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8695" y="3465576"/>
            <a:ext cx="3197199" cy="960120"/>
          </a:xfrm>
          <a:prstGeom prst="roundRect">
            <a:avLst>
              <a:gd name="adj" fmla="val 15238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1575" y="3800855"/>
            <a:ext cx="2831439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Яндекс Дзен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645152"/>
            <a:ext cx="3197199" cy="960120"/>
          </a:xfrm>
          <a:prstGeom prst="roundRect">
            <a:avLst>
              <a:gd name="adj" fmla="val 15238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980432"/>
            <a:ext cx="2831439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Одноклассники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8695" y="4645152"/>
            <a:ext cx="3197199" cy="960120"/>
          </a:xfrm>
          <a:prstGeom prst="roundRect">
            <a:avLst>
              <a:gd name="adj" fmla="val 15238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91575" y="4980432"/>
            <a:ext cx="2831439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91072"/>
            <a:ext cx="10820095" cy="213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FB6DC"/>
                </a:solidFill>
                <a:latin typeface="Inter"/>
              </a:rPr>
              <a:t>* Instagram принадлежит компании Meta, признанной экстремистской организацией и запрещённой на территории Российской Федерации.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77095" y="634593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2009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Unbounded"/>
              </a:rPr>
              <a:t>Новое в платформе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5664"/>
            <a:ext cx="8778240" cy="35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D6E4FF"/>
                </a:solidFill>
                <a:latin typeface="Inter"/>
              </a:rPr>
              <a:t>Всё это входит в подписку и не оплачивается отдельно.</a:t>
            </a:r>
          </a:p>
        </p:txBody>
      </p:sp>
      <p:pic>
        <p:nvPicPr>
          <p:cNvPr id="6" name="Picture 5" descr="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0054"/>
            <a:ext cx="2499283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062982"/>
            <a:ext cx="2499283" cy="56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Unbounded"/>
              </a:rPr>
              <a:t>Видео по сценарию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76214"/>
            <a:ext cx="2499283" cy="515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9FB6DC"/>
                </a:solidFill>
                <a:latin typeface="Inter"/>
              </a:rPr>
              <a:t>Опишите сцену — ролик соберётся сам</a:t>
            </a:r>
          </a:p>
        </p:txBody>
      </p:sp>
      <p:pic>
        <p:nvPicPr>
          <p:cNvPr id="9" name="Picture 8" descr="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03" y="2210054"/>
            <a:ext cx="2499283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59403" y="5062982"/>
            <a:ext cx="2499283" cy="56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Unbounded"/>
              </a:rPr>
              <a:t>Цифровой двойник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5776214"/>
            <a:ext cx="2499283" cy="515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9FB6DC"/>
                </a:solidFill>
                <a:latin typeface="Inter"/>
              </a:rPr>
              <a:t>Реклама с вашим лицом и голосом</a:t>
            </a:r>
          </a:p>
        </p:txBody>
      </p:sp>
      <p:pic>
        <p:nvPicPr>
          <p:cNvPr id="12" name="Picture 11" descr="n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7" y="2210054"/>
            <a:ext cx="2499283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062982"/>
            <a:ext cx="2499283" cy="316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Unbounded"/>
              </a:rPr>
              <a:t>Сайт под заявки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5776214"/>
            <a:ext cx="2499283" cy="515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9FB6DC"/>
                </a:solidFill>
                <a:latin typeface="Inter"/>
              </a:rPr>
              <a:t>Лендинг на семь стилей на выбор</a:t>
            </a:r>
          </a:p>
        </p:txBody>
      </p:sp>
      <p:pic>
        <p:nvPicPr>
          <p:cNvPr id="15" name="Picture 14" descr="n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611" y="2210054"/>
            <a:ext cx="2499283" cy="2560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06611" y="5062982"/>
            <a:ext cx="2499283" cy="316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Unbounded"/>
              </a:rPr>
              <a:t>Брендбук и мерч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611" y="5776214"/>
            <a:ext cx="2499283" cy="29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9FB6DC"/>
                </a:solidFill>
                <a:latin typeface="Inter"/>
              </a:rPr>
              <a:t>Айдентика и макеты сувенирки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77095" y="634593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2009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Unbounded"/>
              </a:rPr>
              <a:t>Для кого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5664"/>
            <a:ext cx="8778240" cy="35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D6E4FF"/>
                </a:solidFill>
                <a:latin typeface="Inter"/>
              </a:rPr>
              <a:t>Для каждой из этих ниш есть отдельная презентация с примерами запросов и цифрами.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66543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3113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p-7FC4FF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5" y="2359152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7048" y="2370963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HoReCa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2066543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6338" y="223113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issors-7FC4FF-192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354" y="2359152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94706" y="2370963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Салоны красоты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1116" y="2066543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03996" y="223113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ooth-7FC4FF-192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2" y="2359152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62364" y="2370963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Стоматология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90672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25526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ower-7FC4FF-192-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5" y="338328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7048" y="3395091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Цветочные салоны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3458" y="3090672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36338" y="325526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ag-7FC4FF-192-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4354" y="3383280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94706" y="3395091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Розница и услуги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1116" y="3090672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03996" y="325526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home-7FC4FF-192-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012" y="3383280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62364" y="3395091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Товары для дома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114800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42793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y-7FC4FF-192-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5" y="4407407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27048" y="4419219"/>
            <a:ext cx="2478938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Детские товары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3458" y="4114800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36338" y="42793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r-7FC4FF-192-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4354" y="4407407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94706" y="4303014"/>
            <a:ext cx="2478938" cy="537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Авто и мотоиндустрия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1116" y="4114800"/>
            <a:ext cx="3484778" cy="841248"/>
          </a:xfrm>
          <a:prstGeom prst="roundRect">
            <a:avLst>
              <a:gd name="adj" fmla="val 17391"/>
            </a:avLst>
          </a:prstGeom>
          <a:solidFill>
            <a:srgbClr val="152343"/>
          </a:solidFill>
          <a:ln w="12700">
            <a:solidFill>
              <a:srgbClr val="2C4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03996" y="42793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ools-7FC4FF-192-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2012" y="4407407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862364" y="4303014"/>
            <a:ext cx="2478938" cy="537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FFFFF"/>
                </a:solidFill>
                <a:latin typeface="Unbounded"/>
              </a:rPr>
              <a:t>Строительство и ремонт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212080"/>
            <a:ext cx="10820095" cy="969264"/>
          </a:xfrm>
          <a:prstGeom prst="roundRect">
            <a:avLst>
              <a:gd name="adj" fmla="val 15094"/>
            </a:avLst>
          </a:prstGeom>
          <a:solidFill>
            <a:srgbClr val="152343"/>
          </a:solidFill>
          <a:ln w="1778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68680" y="54406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grid-4ADE80-192-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695" y="556869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527048" y="5413248"/>
            <a:ext cx="9722815" cy="30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4ADE80"/>
                </a:solidFill>
                <a:latin typeface="Unbounded"/>
              </a:rPr>
              <a:t>Без ограничений по отраслям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7048" y="5755386"/>
            <a:ext cx="9722815" cy="303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D6E4FF"/>
                </a:solidFill>
                <a:latin typeface="Inter"/>
              </a:rPr>
              <a:t>Модули изучают любую нишу с нуля — отрасль может быть узкой или редкой.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77095" y="634593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2009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Unbounded"/>
              </a:rPr>
              <a:t>Одна подписка вместо агентства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50292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0" b="1">
                <a:solidFill>
                  <a:srgbClr val="FFFFFF"/>
                </a:solidFill>
                <a:latin typeface="Unbounded"/>
              </a:rPr>
              <a:t>39 500 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72384"/>
            <a:ext cx="5029200" cy="339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B6DC"/>
                </a:solidFill>
                <a:latin typeface="Inter"/>
              </a:rPr>
              <a:t>в месяц, цена фиксированная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59708"/>
            <a:ext cx="5029200" cy="386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D6E4FF"/>
                </a:solidFill>
                <a:latin typeface="Inter"/>
              </a:rPr>
              <a:t>Экономия </a:t>
            </a:r>
            <a:r>
              <a:rPr sz="1900" b="1">
                <a:solidFill>
                  <a:srgbClr val="4ADE80"/>
                </a:solidFill>
                <a:latin typeface="Inter"/>
              </a:rPr>
              <a:t>70 500 ₽</a:t>
            </a:r>
            <a:r>
              <a:rPr sz="1900" b="0">
                <a:solidFill>
                  <a:srgbClr val="D6E4FF"/>
                </a:solidFill>
                <a:latin typeface="Inter"/>
              </a:rPr>
              <a:t> каждый месяц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37990"/>
            <a:ext cx="5029200" cy="304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FB6DC"/>
                </a:solidFill>
                <a:latin typeface="Inter"/>
              </a:rPr>
              <a:t>SEO-агентство за ту же работу — 110 000 ₽ в месяц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5059375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Что входит</a:t>
            </a:r>
          </a:p>
        </p:txBody>
      </p:sp>
      <p:pic>
        <p:nvPicPr>
          <p:cNvPr id="10" name="Picture 9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895600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5704" y="2849880"/>
            <a:ext cx="4730191" cy="551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Полный цикл: тема, текст, картинка, видео, проверка, публикация</a:t>
            </a:r>
          </a:p>
        </p:txBody>
      </p:sp>
      <p:pic>
        <p:nvPicPr>
          <p:cNvPr id="12" name="Picture 11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575557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5704" y="3529838"/>
            <a:ext cx="4730191" cy="3125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Публикации 5 дней в неделю и 2 экспертные статьи</a:t>
            </a:r>
          </a:p>
        </p:txBody>
      </p:sp>
      <p:pic>
        <p:nvPicPr>
          <p:cNvPr id="14" name="Picture 13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016120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5704" y="3970400"/>
            <a:ext cx="4730191" cy="551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Автопубликация на 6 площадках: Telegram, Instagram*, VK, Дзен, ОК, Max</a:t>
            </a:r>
          </a:p>
        </p:txBody>
      </p:sp>
      <p:pic>
        <p:nvPicPr>
          <p:cNvPr id="16" name="Picture 15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696078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75704" y="4650359"/>
            <a:ext cx="4730191" cy="3125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Видео по сценарию и цифровой двойник</a:t>
            </a:r>
          </a:p>
        </p:txBody>
      </p:sp>
      <p:pic>
        <p:nvPicPr>
          <p:cNvPr id="18" name="Picture 17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5136642"/>
            <a:ext cx="18288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75704" y="5090922"/>
            <a:ext cx="4730191" cy="3125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Сайт под заявки, брендбук и мерч</a:t>
            </a:r>
          </a:p>
        </p:txBody>
      </p:sp>
      <p:pic>
        <p:nvPicPr>
          <p:cNvPr id="20" name="Picture 19" descr="check-4ADE80-19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5577205"/>
            <a:ext cx="182880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75704" y="5531485"/>
            <a:ext cx="4730191" cy="551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D6E4FF"/>
                </a:solidFill>
                <a:latin typeface="Inter"/>
              </a:rPr>
              <a:t>Договор и закрывающие документы по законодательству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91072"/>
            <a:ext cx="10820095" cy="213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9FB6DC"/>
                </a:solidFill>
                <a:latin typeface="Inter"/>
              </a:rPr>
              <a:t>* Instagram принадлежит компании Meta, признанной экстремистской организацией и запрещённой на территории Российской Федерации.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554480"/>
            <a:ext cx="6035040" cy="1443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Unbounded"/>
              </a:rPr>
              <a:t>Посмотрим, как ваша ниша выглядит в ответах нейросетей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17164"/>
            <a:ext cx="5669280" cy="988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50" b="0">
                <a:solidFill>
                  <a:srgbClr val="D6E4FF"/>
                </a:solidFill>
                <a:latin typeface="Inter"/>
              </a:rPr>
              <a:t>Бесплатно и без обязательств: проверим, называют ли нейросети вашу компанию — и кого называют вместо вас.</a:t>
            </a:r>
          </a:p>
        </p:txBody>
      </p:sp>
      <p:sp>
        <p:nvSpPr>
          <p:cNvPr id="6" name="Rounded Rectangle 5">
            <a:hlinkClick r:id="rId3"/>
          </p:cNvPr>
          <p:cNvSpPr/>
          <p:nvPr/>
        </p:nvSpPr>
        <p:spPr>
          <a:xfrm>
            <a:off x="685800" y="4644580"/>
            <a:ext cx="3383280" cy="676656"/>
          </a:xfrm>
          <a:prstGeom prst="roundRect">
            <a:avLst>
              <a:gd name="adj" fmla="val 50000"/>
            </a:avLst>
          </a:prstGeom>
          <a:solidFill>
            <a:srgbClr val="3D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hlinkClick r:id="rId3"/>
          </p:cNvPr>
          <p:cNvSpPr txBox="1"/>
          <p:nvPr/>
        </p:nvSpPr>
        <p:spPr>
          <a:xfrm>
            <a:off x="685800" y="46445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Получить разбор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644580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6DC"/>
                </a:solidFill>
                <a:latin typeface="Inter"/>
              </a:rPr>
              <a:t>Откроется форма
на сайте «Промптера»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71600"/>
            <a:ext cx="3962095" cy="4114800"/>
          </a:xfrm>
          <a:prstGeom prst="roundRect">
            <a:avLst>
              <a:gd name="adj" fmla="val 5077"/>
            </a:avLst>
          </a:prstGeom>
          <a:solidFill>
            <a:srgbClr val="152343"/>
          </a:solidFill>
          <a:ln w="12700">
            <a:solidFill>
              <a:srgbClr val="3E5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f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1755648"/>
            <a:ext cx="3193999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27848" y="3383280"/>
            <a:ext cx="3193999" cy="332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Unbounded"/>
              </a:rPr>
              <a:t>Офис в Москве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733799"/>
            <a:ext cx="3193999" cy="270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9FB6DC"/>
                </a:solidFill>
                <a:latin typeface="Inter"/>
              </a:rPr>
              <a:t>Официальный партнёр по Москве и МО</a:t>
            </a:r>
          </a:p>
        </p:txBody>
      </p:sp>
      <p:pic>
        <p:nvPicPr>
          <p:cNvPr id="13" name="Picture 12" descr="phone-7FC4FF-192-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4278439"/>
            <a:ext cx="201168" cy="201168"/>
          </a:xfrm>
          <a:prstGeom prst="rect">
            <a:avLst/>
          </a:prstGeom>
        </p:spPr>
      </p:pic>
      <p:sp>
        <p:nvSpPr>
          <p:cNvPr id="14" name="TextBox 13">
            <a:hlinkClick r:id="rId6"/>
          </p:cNvPr>
          <p:cNvSpPr txBox="1"/>
          <p:nvPr/>
        </p:nvSpPr>
        <p:spPr>
          <a:xfrm>
            <a:off x="8238744" y="4241863"/>
            <a:ext cx="2883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Inter"/>
              </a:rPr>
              <a:t>+7 906 758-77-77</a:t>
            </a:r>
          </a:p>
        </p:txBody>
      </p:sp>
      <p:pic>
        <p:nvPicPr>
          <p:cNvPr id="15" name="Picture 14" descr="mail-7FC4FF-192-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4644199"/>
            <a:ext cx="201168" cy="201168"/>
          </a:xfrm>
          <a:prstGeom prst="rect">
            <a:avLst/>
          </a:prstGeom>
        </p:spPr>
      </p:pic>
      <p:sp>
        <p:nvSpPr>
          <p:cNvPr id="16" name="TextBox 15">
            <a:hlinkClick r:id="rId8"/>
          </p:cNvPr>
          <p:cNvSpPr txBox="1"/>
          <p:nvPr/>
        </p:nvSpPr>
        <p:spPr>
          <a:xfrm>
            <a:off x="8238744" y="4607623"/>
            <a:ext cx="2883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Inter"/>
              </a:rPr>
              <a:t>prompter.moscow@mail.ru</a:t>
            </a:r>
          </a:p>
        </p:txBody>
      </p:sp>
      <p:pic>
        <p:nvPicPr>
          <p:cNvPr id="17" name="Picture 16" descr="tg-7FC4FF-192-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848" y="5009959"/>
            <a:ext cx="201168" cy="201168"/>
          </a:xfrm>
          <a:prstGeom prst="rect">
            <a:avLst/>
          </a:prstGeom>
        </p:spPr>
      </p:pic>
      <p:sp>
        <p:nvSpPr>
          <p:cNvPr id="18" name="TextBox 17">
            <a:hlinkClick r:id="rId10"/>
          </p:cNvPr>
          <p:cNvSpPr txBox="1"/>
          <p:nvPr/>
        </p:nvSpPr>
        <p:spPr>
          <a:xfrm>
            <a:off x="8238744" y="4973383"/>
            <a:ext cx="2883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Inter"/>
              </a:rPr>
              <a:t>@Prompter_mos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94360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6152" y="59984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Unbounded"/>
              </a:rPr>
              <a:t>Prompter </a:t>
            </a:r>
            <a:r>
              <a:rPr sz="1300" b="1">
                <a:solidFill>
                  <a:srgbClr val="FFFFFF"/>
                </a:solidFill>
                <a:latin typeface="Unbounded"/>
              </a:rPr>
              <a:t>Moscow</a:t>
            </a:r>
            <a:r>
              <a:rPr sz="1300" b="0">
                <a:solidFill>
                  <a:srgbClr val="9FB6DC"/>
                </a:solidFill>
                <a:latin typeface="Inter"/>
              </a:rPr>
              <a:t>     prompter-ai.moscow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