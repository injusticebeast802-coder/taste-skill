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denta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7F5EF">
                  <a:alpha val="98039"/>
                </a:srgbClr>
              </a:gs>
              <a:gs pos="55000">
                <a:srgbClr val="F7F5EF">
                  <a:alpha val="92941"/>
                </a:srgbClr>
              </a:gs>
              <a:gs pos="80000">
                <a:srgbClr val="F7F5EF">
                  <a:alpha val="50196"/>
                </a:srgbClr>
              </a:gs>
              <a:gs pos="100000">
                <a:srgbClr val="F7F5EF">
                  <a:alpha val="1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168400" y="6096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kern="0" spc="600">
                <a:solidFill>
                  <a:srgbClr val="101D42"/>
                </a:solidFill>
                <a:latin typeface="MiSans"/>
                <a:ea typeface="MiSans"/>
              </a:rPr>
              <a:t>ПРОМПТЕР</a:t>
            </a:r>
            <a:endParaRPr lang="en-US" sz="1800"/>
          </a:p>
        </p:txBody>
      </p:sp>
      <p:sp>
        <p:nvSpPr>
          <p:cNvPr id="5" name="brand-sub"/>
          <p:cNvSpPr txBox="1"/>
          <p:nvPr/>
        </p:nvSpPr>
        <p:spPr>
          <a:xfrm>
            <a:off x="1168400" y="9652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7C8090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590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kern="0" spc="400">
                <a:solidFill>
                  <a:srgbClr val="B08D3E"/>
                </a:solidFill>
                <a:latin typeface="MiSans"/>
                <a:ea typeface="MiSans"/>
              </a:rPr>
              <a:t>GEO- И SEO-ПРОДВИЖЕНИЕ ДЛЯ СТОМАТОЛОГИИ</a:t>
            </a:r>
            <a:endParaRPr lang="en-US" sz="1100"/>
          </a:p>
        </p:txBody>
      </p:sp>
      <p:sp>
        <p:nvSpPr>
          <p:cNvPr id="7" name="title"/>
          <p:cNvSpPr txBox="1"/>
          <p:nvPr/>
        </p:nvSpPr>
        <p:spPr>
          <a:xfrm>
            <a:off x="711200" y="25146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300" b="1">
                <a:solidFill>
                  <a:srgbClr val="101D42"/>
                </a:solidFill>
                <a:latin typeface="MiSans"/>
                <a:ea typeface="MiSans"/>
              </a:rPr>
              <a:t>КОМПЛЕКСНОЕ GEO- И SEO-</a:t>
            </a:r>
            <a:endParaRPr lang="en-US" sz="3300"/>
          </a:p>
          <a:p>
            <a:pPr algn="l">
              <a:lnSpc>
                <a:spcPct val="122000"/>
              </a:lnSpc>
            </a:pPr>
            <a:r>
              <a:rPr lang="en-US" sz="3300" b="1">
                <a:solidFill>
                  <a:srgbClr val="101D42"/>
                </a:solidFill>
                <a:latin typeface="MiSans"/>
                <a:ea typeface="MiSans"/>
              </a:rPr>
              <a:t>ПРОДВИЖЕНИЕ </a:t>
            </a:r>
            <a:r>
              <a:rPr lang="en-US" sz="3300" b="1">
                <a:solidFill>
                  <a:srgbClr val="B08D3E"/>
                </a:solidFill>
                <a:latin typeface="MiSans"/>
                <a:ea typeface="MiSans"/>
              </a:rPr>
              <a:t>СТОМАТОЛОГИИ</a:t>
            </a:r>
            <a:endParaRPr lang="en-US" sz="3300"/>
          </a:p>
        </p:txBody>
      </p:sp>
      <p:sp>
        <p:nvSpPr>
          <p:cNvPr id="8" name="title-rule"/>
          <p:cNvSpPr/>
          <p:nvPr/>
        </p:nvSpPr>
        <p:spPr>
          <a:xfrm>
            <a:off x="711200" y="38862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9" name="subtitle"/>
          <p:cNvSpPr txBox="1"/>
          <p:nvPr/>
        </p:nvSpPr>
        <p:spPr>
          <a:xfrm>
            <a:off x="711200" y="4089400"/>
            <a:ext cx="660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7C8090"/>
                </a:solidFill>
                <a:latin typeface="MiSans"/>
                <a:ea typeface="MiSans"/>
              </a:rPr>
              <a:t>Делаем стоматологические клиники заметными в нейровыдаче и поисковых системах — без рекламных бюджетов и SEO-агентств</a:t>
            </a:r>
            <a:endParaRPr lang="en-US" sz="1400"/>
          </a:p>
        </p:txBody>
      </p:sp>
      <p:sp>
        <p:nvSpPr>
          <p:cNvPr id="10" name="price"/>
          <p:cNvSpPr txBox="1"/>
          <p:nvPr/>
        </p:nvSpPr>
        <p:spPr>
          <a:xfrm>
            <a:off x="711200" y="49784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101D42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4" name="Рисунок 13" descr="preview">
            <a:extLst>
              <a:ext uri="{FF2B5EF4-FFF2-40B4-BE49-F238E27FC236}">
                <a16:creationId xmlns:a16="http://schemas.microsoft.com/office/drawing/2014/main" id="{64993EE9-3E0E-CDC6-4104-650DF2D99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846" y="584200"/>
            <a:ext cx="587053" cy="632211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101D42"/>
                </a:solidFill>
                <a:latin typeface="MiSans"/>
                <a:ea typeface="MiSans"/>
              </a:rPr>
              <a:t>ПОЧЕМУ СТОМАТОЛОГИИ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101D42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title-rule"/>
          <p:cNvSpPr/>
          <p:nvPr/>
        </p:nvSpPr>
        <p:spPr>
          <a:xfrm>
            <a:off x="711200" y="13716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intro"/>
          <p:cNvSpPr txBox="1"/>
          <p:nvPr/>
        </p:nvSpPr>
        <p:spPr>
          <a:xfrm>
            <a:off x="711200" y="15494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Большинство стоматологических клиник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6" name="n1"/>
          <p:cNvSpPr txBox="1"/>
          <p:nvPr/>
        </p:nvSpPr>
        <p:spPr>
          <a:xfrm>
            <a:off x="711200" y="1981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01</a:t>
            </a:r>
            <a:endParaRPr lang="en-US" sz="1900"/>
          </a:p>
        </p:txBody>
      </p:sp>
      <p:sp>
        <p:nvSpPr>
          <p:cNvPr id="7" name="t1"/>
          <p:cNvSpPr txBox="1"/>
          <p:nvPr/>
        </p:nvSpPr>
        <p:spPr>
          <a:xfrm>
            <a:off x="1295400" y="20066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8" name="d1"/>
          <p:cNvSpPr txBox="1"/>
          <p:nvPr/>
        </p:nvSpPr>
        <p:spPr>
          <a:xfrm>
            <a:off x="1295400" y="23114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Пациенты спрашивают у нейросети «лучшая стоматология рядом» — и она называет конкурентов, а не вас</a:t>
            </a:r>
            <a:endParaRPr lang="en-US" sz="1150"/>
          </a:p>
        </p:txBody>
      </p:sp>
      <p:sp>
        <p:nvSpPr>
          <p:cNvPr id="9" name="l1"/>
          <p:cNvSpPr/>
          <p:nvPr/>
        </p:nvSpPr>
        <p:spPr>
          <a:xfrm>
            <a:off x="711200" y="2946400"/>
            <a:ext cx="5334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0" name="n2"/>
          <p:cNvSpPr txBox="1"/>
          <p:nvPr/>
        </p:nvSpPr>
        <p:spPr>
          <a:xfrm>
            <a:off x="711200" y="320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02</a:t>
            </a:r>
            <a:endParaRPr lang="en-US" sz="1900"/>
          </a:p>
        </p:txBody>
      </p:sp>
      <p:sp>
        <p:nvSpPr>
          <p:cNvPr id="11" name="t2"/>
          <p:cNvSpPr txBox="1"/>
          <p:nvPr/>
        </p:nvSpPr>
        <p:spPr>
          <a:xfrm>
            <a:off x="1295400" y="322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2" name="d2"/>
          <p:cNvSpPr txBox="1"/>
          <p:nvPr/>
        </p:nvSpPr>
        <p:spPr>
          <a:xfrm>
            <a:off x="1295400" y="353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Врачи и администраторы заняты пациентами — на статьи, посты и карточки времени нет</a:t>
            </a:r>
            <a:endParaRPr lang="en-US" sz="1150"/>
          </a:p>
        </p:txBody>
      </p:sp>
      <p:sp>
        <p:nvSpPr>
          <p:cNvPr id="13" name="l2"/>
          <p:cNvSpPr/>
          <p:nvPr/>
        </p:nvSpPr>
        <p:spPr>
          <a:xfrm>
            <a:off x="711200" y="4191000"/>
            <a:ext cx="5334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4" name="n3"/>
          <p:cNvSpPr txBox="1"/>
          <p:nvPr/>
        </p:nvSpPr>
        <p:spPr>
          <a:xfrm>
            <a:off x="711200" y="444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03</a:t>
            </a:r>
            <a:endParaRPr lang="en-US" sz="1900"/>
          </a:p>
        </p:txBody>
      </p:sp>
      <p:sp>
        <p:nvSpPr>
          <p:cNvPr id="15" name="t3"/>
          <p:cNvSpPr txBox="1"/>
          <p:nvPr/>
        </p:nvSpPr>
        <p:spPr>
          <a:xfrm>
            <a:off x="1295400" y="447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6" name="d3"/>
          <p:cNvSpPr txBox="1"/>
          <p:nvPr/>
        </p:nvSpPr>
        <p:spPr>
          <a:xfrm>
            <a:off x="1295400" y="477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7" name="n4"/>
          <p:cNvSpPr txBox="1"/>
          <p:nvPr/>
        </p:nvSpPr>
        <p:spPr>
          <a:xfrm>
            <a:off x="6553200" y="1981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04</a:t>
            </a:r>
            <a:endParaRPr lang="en-US" sz="1900"/>
          </a:p>
        </p:txBody>
      </p:sp>
      <p:sp>
        <p:nvSpPr>
          <p:cNvPr id="18" name="t4"/>
          <p:cNvSpPr txBox="1"/>
          <p:nvPr/>
        </p:nvSpPr>
        <p:spPr>
          <a:xfrm>
            <a:off x="7137400" y="2006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9" name="d4"/>
          <p:cNvSpPr txBox="1"/>
          <p:nvPr/>
        </p:nvSpPr>
        <p:spPr>
          <a:xfrm>
            <a:off x="7137400" y="23114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20" name="l4"/>
          <p:cNvSpPr/>
          <p:nvPr/>
        </p:nvSpPr>
        <p:spPr>
          <a:xfrm>
            <a:off x="6553200" y="2946400"/>
            <a:ext cx="49276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1" name="n5"/>
          <p:cNvSpPr txBox="1"/>
          <p:nvPr/>
        </p:nvSpPr>
        <p:spPr>
          <a:xfrm>
            <a:off x="6553200" y="320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05</a:t>
            </a:r>
            <a:endParaRPr lang="en-US" sz="1900"/>
          </a:p>
        </p:txBody>
      </p:sp>
      <p:sp>
        <p:nvSpPr>
          <p:cNvPr id="22" name="t5"/>
          <p:cNvSpPr txBox="1"/>
          <p:nvPr/>
        </p:nvSpPr>
        <p:spPr>
          <a:xfrm>
            <a:off x="7137400" y="322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3" name="d5"/>
          <p:cNvSpPr txBox="1"/>
          <p:nvPr/>
        </p:nvSpPr>
        <p:spPr>
          <a:xfrm>
            <a:off x="7137400" y="353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4" name="edit-box"/>
          <p:cNvSpPr/>
          <p:nvPr/>
        </p:nvSpPr>
        <p:spPr>
          <a:xfrm>
            <a:off x="6553200" y="4445000"/>
            <a:ext cx="4927600" cy="838200"/>
          </a:xfrm>
          <a:prstGeom prst="rect">
            <a:avLst/>
          </a:prstGeom>
          <a:noFill/>
          <a:ln w="12700">
            <a:solidFill>
              <a:srgbClr val="B08D3E"/>
            </a:solidFill>
            <a:prstDash val="dash"/>
          </a:ln>
        </p:spPr>
      </p:sp>
      <p:sp>
        <p:nvSpPr>
          <p:cNvPr id="25" name="edit-text"/>
          <p:cNvSpPr txBox="1"/>
          <p:nvPr/>
        </p:nvSpPr>
        <p:spPr>
          <a:xfrm>
            <a:off x="6553200" y="44450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7C8090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400"/>
              </a:spcBef>
            </a:pPr>
            <a:r>
              <a:rPr lang="en-US" sz="1000" i="1">
                <a:solidFill>
                  <a:srgbClr val="7C8090"/>
                </a:solidFill>
                <a:latin typeface="MiSans"/>
                <a:ea typeface="MiSans"/>
              </a:rPr>
              <a:t>добавьте свой тезис о проблеме</a:t>
            </a:r>
            <a:endParaRPr lang="en-US" sz="1150"/>
          </a:p>
        </p:txBody>
      </p:sp>
      <p:sp>
        <p:nvSpPr>
          <p:cNvPr id="27" name="conclusion"/>
          <p:cNvSpPr txBox="1"/>
          <p:nvPr/>
        </p:nvSpPr>
        <p:spPr>
          <a:xfrm>
            <a:off x="1371600" y="56642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 клиника теряет пациентов ещё до того, как они решили, куда записаться</a:t>
            </a:r>
            <a:endParaRPr lang="en-US" sz="140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4732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6256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Отсутствие в ответах нейросетей напрямую влияет на записи пациентов и репутацию клиники</a:t>
            </a:r>
            <a:endParaRPr lang="en-US" sz="1300"/>
          </a:p>
        </p:txBody>
      </p:sp>
      <p:sp>
        <p:nvSpPr>
          <p:cNvPr id="6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286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7" name="t1"/>
          <p:cNvSpPr txBox="1"/>
          <p:nvPr/>
        </p:nvSpPr>
        <p:spPr>
          <a:xfrm>
            <a:off x="1193800" y="22860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8" name="d1"/>
          <p:cNvSpPr txBox="1"/>
          <p:nvPr/>
        </p:nvSpPr>
        <p:spPr>
          <a:xfrm>
            <a:off x="1193800" y="25908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Пациенты всё чаще спрашивают «хорошая стоматология рядом» у нейросети, а не у поисковика</a:t>
            </a:r>
            <a:endParaRPr lang="en-US" sz="1200"/>
          </a:p>
        </p:txBody>
      </p:sp>
      <p:sp>
        <p:nvSpPr>
          <p:cNvPr id="9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327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t2"/>
          <p:cNvSpPr txBox="1"/>
          <p:nvPr/>
        </p:nvSpPr>
        <p:spPr>
          <a:xfrm>
            <a:off x="1193800" y="33274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Пациенты без рекламных затрат</a:t>
            </a:r>
            <a:endParaRPr lang="en-US" sz="1500"/>
          </a:p>
        </p:txBody>
      </p:sp>
      <p:sp>
        <p:nvSpPr>
          <p:cNvPr id="11" name="d2"/>
          <p:cNvSpPr txBox="1"/>
          <p:nvPr/>
        </p:nvSpPr>
        <p:spPr>
          <a:xfrm>
            <a:off x="1193800" y="36322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2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68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3" name="t3"/>
          <p:cNvSpPr txBox="1"/>
          <p:nvPr/>
        </p:nvSpPr>
        <p:spPr>
          <a:xfrm>
            <a:off x="1193800" y="43688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Пациент выбирает тех, кого назвала нейросеть</a:t>
            </a:r>
            <a:endParaRPr lang="en-US" sz="1500"/>
          </a:p>
        </p:txBody>
      </p:sp>
      <p:sp>
        <p:nvSpPr>
          <p:cNvPr id="14" name="d3"/>
          <p:cNvSpPr txBox="1"/>
          <p:nvPr/>
        </p:nvSpPr>
        <p:spPr>
          <a:xfrm>
            <a:off x="1193800" y="46736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Рекомендация ИИ воспринимается как совет врача — ей доверяют и записываются на приём</a:t>
            </a:r>
            <a:endParaRPr lang="en-US" sz="1200"/>
          </a:p>
        </p:txBody>
      </p:sp>
      <p:sp>
        <p:nvSpPr>
          <p:cNvPr id="15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101D42"/>
          </a:solidFill>
          <a:ln>
            <a:noFill/>
          </a:ln>
        </p:spPr>
      </p:sp>
      <p:sp>
        <p:nvSpPr>
          <p:cNvPr id="16" name="t4"/>
          <p:cNvSpPr txBox="1"/>
          <p:nvPr/>
        </p:nvSpPr>
        <p:spPr>
          <a:xfrm>
            <a:off x="1193800" y="54102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7" name="d4"/>
          <p:cNvSpPr txBox="1"/>
          <p:nvPr/>
        </p:nvSpPr>
        <p:spPr>
          <a:xfrm>
            <a:off x="1193800" y="57150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Пока вас нет в ответах нейросети, конкуренты забирают ваших пациентов каждый день</a:t>
            </a:r>
            <a:endParaRPr lang="en-US" sz="1200"/>
          </a:p>
        </p:txBody>
      </p:sp>
      <p:sp>
        <p:nvSpPr>
          <p:cNvPr id="18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254000" dist="127000" dir="5400000" algn="bl" rotWithShape="0">
              <a:srgbClr val="101D42">
                <a:alpha val="10196"/>
              </a:srgbClr>
            </a:outerShdw>
          </a:effectLst>
        </p:spPr>
      </p:sp>
      <p:sp>
        <p:nvSpPr>
          <p:cNvPr id="19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7C8090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20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101D42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1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2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101D42"/>
          </a:solidFill>
          <a:ln>
            <a:noFill/>
          </a:ln>
        </p:spPr>
      </p:sp>
      <p:sp>
        <p:nvSpPr>
          <p:cNvPr id="23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7F5EF"/>
                </a:solidFill>
                <a:latin typeface="MiSans"/>
                <a:ea typeface="MiSans"/>
              </a:rPr>
              <a:t>Где лечить зубы рядом с центром?</a:t>
            </a:r>
            <a:endParaRPr lang="en-US" sz="1150"/>
          </a:p>
        </p:txBody>
      </p:sp>
      <p:sp>
        <p:nvSpPr>
          <p:cNvPr id="24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EFEAE0"/>
          </a:solidFill>
          <a:ln w="12700">
            <a:solidFill>
              <a:srgbClr val="DDD6C8"/>
            </a:solidFill>
          </a:ln>
        </p:spPr>
      </p:sp>
      <p:sp>
        <p:nvSpPr>
          <p:cNvPr id="25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Вот 3 клиники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1. Стоматология «Улыбка»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2. Клиника «Дента-Плюс»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B08D3E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7C8090"/>
                </a:solidFill>
                <a:latin typeface="MiSans"/>
                <a:ea typeface="MiSans"/>
              </a:rPr>
              <a:t>место №3 может занять ваша клиника</a:t>
            </a:r>
            <a:endParaRPr lang="en-US" sz="1150"/>
          </a:p>
        </p:txBody>
      </p:sp>
      <p:sp>
        <p:nvSpPr>
          <p:cNvPr id="26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7C8090"/>
                </a:solidFill>
                <a:latin typeface="MiSans"/>
                <a:ea typeface="MiSans"/>
              </a:rPr>
              <a:t>Нейросеть уже отвечает пациентам — вопрос лишь в том, назовёт ли она вас</a:t>
            </a:r>
            <a:endParaRPr lang="en-US" sz="10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500" b="1">
                <a:solidFill>
                  <a:srgbClr val="B08D3E"/>
                </a:solidFill>
                <a:latin typeface="MiSans"/>
                <a:ea typeface="MiSans"/>
              </a:rPr>
              <a:t>СЕРВИС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стоматологические клиники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B08D3E">
              <a:alpha val="7843"/>
            </a:srgbClr>
          </a:solidFill>
          <a:ln w="12700">
            <a:solidFill>
              <a:srgbClr val="B08D3E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101D42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8" name="c1-chip"/>
          <p:cNvSpPr/>
          <p:nvPr/>
        </p:nvSpPr>
        <p:spPr>
          <a:xfrm>
            <a:off x="9398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9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10287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c1-title"/>
          <p:cNvSpPr txBox="1"/>
          <p:nvPr/>
        </p:nvSpPr>
        <p:spPr>
          <a:xfrm>
            <a:off x="15494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AI-КОПИРАЙТЕР</a:t>
            </a:r>
            <a:endParaRPr lang="en-US" sz="1350"/>
          </a:p>
        </p:txBody>
      </p:sp>
      <p:sp>
        <p:nvSpPr>
          <p:cNvPr id="11" name="c1-desc"/>
          <p:cNvSpPr txBox="1"/>
          <p:nvPr/>
        </p:nvSpPr>
        <p:spPr>
          <a:xfrm>
            <a:off x="9398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Создаёт тексты об услугах, врачах и технологиях клиники в вашем tone of voice</a:t>
            </a:r>
            <a:endParaRPr lang="en-US" sz="1100"/>
          </a:p>
        </p:txBody>
      </p:sp>
      <p:sp>
        <p:nvSpPr>
          <p:cNvPr id="12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13" name="c2-chip"/>
          <p:cNvSpPr/>
          <p:nvPr/>
        </p:nvSpPr>
        <p:spPr>
          <a:xfrm>
            <a:off x="45974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14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6863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5" name="c2-title"/>
          <p:cNvSpPr txBox="1"/>
          <p:nvPr/>
        </p:nvSpPr>
        <p:spPr>
          <a:xfrm>
            <a:off x="52070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AI-МОДЕРАТОР</a:t>
            </a:r>
            <a:endParaRPr lang="en-US" sz="1350"/>
          </a:p>
        </p:txBody>
      </p:sp>
      <p:sp>
        <p:nvSpPr>
          <p:cNvPr id="16" name="c2-desc"/>
          <p:cNvSpPr txBox="1"/>
          <p:nvPr/>
        </p:nvSpPr>
        <p:spPr>
          <a:xfrm>
            <a:off x="45974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7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18" name="c3-chip"/>
          <p:cNvSpPr/>
          <p:nvPr/>
        </p:nvSpPr>
        <p:spPr>
          <a:xfrm>
            <a:off x="82550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19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3439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0" name="c3-title"/>
          <p:cNvSpPr txBox="1"/>
          <p:nvPr/>
        </p:nvSpPr>
        <p:spPr>
          <a:xfrm>
            <a:off x="88646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AI-СТРАТЕГ</a:t>
            </a:r>
            <a:endParaRPr lang="en-US" sz="1350"/>
          </a:p>
        </p:txBody>
      </p:sp>
      <p:sp>
        <p:nvSpPr>
          <p:cNvPr id="21" name="c3-desc"/>
          <p:cNvSpPr txBox="1"/>
          <p:nvPr/>
        </p:nvSpPr>
        <p:spPr>
          <a:xfrm>
            <a:off x="82550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Строит стратегию продвижения в нейровыдаче под специализацию вашей клиники</a:t>
            </a:r>
            <a:endParaRPr lang="en-US" sz="1100"/>
          </a:p>
        </p:txBody>
      </p:sp>
      <p:sp>
        <p:nvSpPr>
          <p:cNvPr id="22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23" name="c4-chip"/>
          <p:cNvSpPr/>
          <p:nvPr/>
        </p:nvSpPr>
        <p:spPr>
          <a:xfrm>
            <a:off x="9398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24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10287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5" name="c4-title"/>
          <p:cNvSpPr txBox="1"/>
          <p:nvPr/>
        </p:nvSpPr>
        <p:spPr>
          <a:xfrm>
            <a:off x="15494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МОДУЛЬ АНАЛИТИКИ</a:t>
            </a:r>
            <a:endParaRPr lang="en-US" sz="1350"/>
          </a:p>
        </p:txBody>
      </p:sp>
      <p:sp>
        <p:nvSpPr>
          <p:cNvPr id="26" name="c4-desc"/>
          <p:cNvSpPr txBox="1"/>
          <p:nvPr/>
        </p:nvSpPr>
        <p:spPr>
          <a:xfrm>
            <a:off x="9398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7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28" name="c5-chip"/>
          <p:cNvSpPr/>
          <p:nvPr/>
        </p:nvSpPr>
        <p:spPr>
          <a:xfrm>
            <a:off x="45974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29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6863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30" name="c5-title"/>
          <p:cNvSpPr txBox="1"/>
          <p:nvPr/>
        </p:nvSpPr>
        <p:spPr>
          <a:xfrm>
            <a:off x="52070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AI-ИССЛЕДОВАТЕЛЬ</a:t>
            </a:r>
            <a:endParaRPr lang="en-US" sz="1350"/>
          </a:p>
        </p:txBody>
      </p:sp>
      <p:sp>
        <p:nvSpPr>
          <p:cNvPr id="31" name="c5-desc"/>
          <p:cNvSpPr txBox="1"/>
          <p:nvPr/>
        </p:nvSpPr>
        <p:spPr>
          <a:xfrm>
            <a:off x="45974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Анализирует конкурентов и пациентов в вашем районе и городе</a:t>
            </a:r>
            <a:endParaRPr lang="en-US" sz="1100"/>
          </a:p>
        </p:txBody>
      </p:sp>
      <p:sp>
        <p:nvSpPr>
          <p:cNvPr id="32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33" name="c6-chip"/>
          <p:cNvSpPr/>
          <p:nvPr/>
        </p:nvSpPr>
        <p:spPr>
          <a:xfrm>
            <a:off x="82550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34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3439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35" name="c6-title"/>
          <p:cNvSpPr txBox="1"/>
          <p:nvPr/>
        </p:nvSpPr>
        <p:spPr>
          <a:xfrm>
            <a:off x="88646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AI-ДИЗАЙНЕР</a:t>
            </a:r>
            <a:endParaRPr lang="en-US" sz="1350"/>
          </a:p>
        </p:txBody>
      </p:sp>
      <p:sp>
        <p:nvSpPr>
          <p:cNvPr id="36" name="c6-desc"/>
          <p:cNvSpPr txBox="1"/>
          <p:nvPr/>
        </p:nvSpPr>
        <p:spPr>
          <a:xfrm>
            <a:off x="82550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7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7C8090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734"/>
            </a:gs>
            <a:gs pos="55000">
              <a:srgbClr val="101D42"/>
            </a:gs>
            <a:gs pos="100000">
              <a:srgbClr val="1B2C5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3C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400">
                <a:solidFill>
                  <a:srgbClr val="C9A85C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1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7F5E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C9A85C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title-rule"/>
          <p:cNvSpPr/>
          <p:nvPr/>
        </p:nvSpPr>
        <p:spPr>
          <a:xfrm>
            <a:off x="711200" y="25400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6" name="body"/>
          <p:cNvSpPr txBox="1"/>
          <p:nvPr/>
        </p:nvSpPr>
        <p:spPr>
          <a:xfrm>
            <a:off x="711200" y="2768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3CBE4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вашей клинике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10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11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2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3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14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15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6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7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18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C9A85C"/>
          </a:solidFill>
          <a:ln>
            <a:noFill/>
          </a:ln>
        </p:spPr>
      </p:sp>
      <p:sp>
        <p:nvSpPr>
          <p:cNvPr id="19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101D42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20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101D4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1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22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23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4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5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3C0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3C0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7" name="Рисунок 26" descr="preview">
            <a:extLst>
              <a:ext uri="{FF2B5EF4-FFF2-40B4-BE49-F238E27FC236}">
                <a16:creationId xmlns:a16="http://schemas.microsoft.com/office/drawing/2014/main" id="{D8506B69-E028-BEF1-D0E2-E7F1779A9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414092"/>
            <a:ext cx="2531385" cy="2726108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700" b="1">
                <a:solidFill>
                  <a:srgbClr val="101D42"/>
                </a:solidFill>
                <a:latin typeface="MiSans"/>
                <a:ea typeface="MiSans"/>
              </a:rPr>
              <a:t>КАК РАБОТАЕТ ПРОМПТЕР?</a:t>
            </a:r>
            <a:endParaRPr lang="en-US" sz="27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2954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От первого текста до записей пациентов — полный цикл без вашего участия</a:t>
            </a:r>
            <a:endParaRPr lang="en-US" sz="1300"/>
          </a:p>
        </p:txBody>
      </p:sp>
      <p:sp>
        <p:nvSpPr>
          <p:cNvPr id="7" name="s1-num"/>
          <p:cNvSpPr txBox="1"/>
          <p:nvPr/>
        </p:nvSpPr>
        <p:spPr>
          <a:xfrm>
            <a:off x="7112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01</a:t>
            </a:r>
            <a:endParaRPr lang="en-US" sz="3000"/>
          </a:p>
        </p:txBody>
      </p:sp>
      <p:sp>
        <p:nvSpPr>
          <p:cNvPr id="8" name="s1-title"/>
          <p:cNvSpPr txBox="1"/>
          <p:nvPr/>
        </p:nvSpPr>
        <p:spPr>
          <a:xfrm>
            <a:off x="7112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9" name="s1-desc"/>
          <p:cNvSpPr txBox="1"/>
          <p:nvPr/>
        </p:nvSpPr>
        <p:spPr>
          <a:xfrm>
            <a:off x="7112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Платформа изучает услуги, врачей и технологии клиники, создаёт тексты и визуал</a:t>
            </a:r>
            <a:endParaRPr lang="en-US" sz="1100"/>
          </a:p>
        </p:txBody>
      </p:sp>
      <p:sp>
        <p:nvSpPr>
          <p:cNvPr id="10" name="s2-num"/>
          <p:cNvSpPr txBox="1"/>
          <p:nvPr/>
        </p:nvSpPr>
        <p:spPr>
          <a:xfrm>
            <a:off x="29464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101D42"/>
                </a:solidFill>
                <a:latin typeface="MiSans"/>
                <a:ea typeface="MiSans"/>
              </a:rPr>
              <a:t>02</a:t>
            </a:r>
            <a:endParaRPr lang="en-US" sz="3000"/>
          </a:p>
        </p:txBody>
      </p:sp>
      <p:sp>
        <p:nvSpPr>
          <p:cNvPr id="11" name="s2-title"/>
          <p:cNvSpPr txBox="1"/>
          <p:nvPr/>
        </p:nvSpPr>
        <p:spPr>
          <a:xfrm>
            <a:off x="29464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03</a:t>
            </a:r>
            <a:endParaRPr lang="en-US" sz="3000"/>
          </a:p>
        </p:txBody>
      </p:sp>
      <p:sp>
        <p:nvSpPr>
          <p:cNvPr id="14" name="s3-title"/>
          <p:cNvSpPr txBox="1"/>
          <p:nvPr/>
        </p:nvSpPr>
        <p:spPr>
          <a:xfrm>
            <a:off x="51816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5" name="s3-desc"/>
          <p:cNvSpPr txBox="1"/>
          <p:nvPr/>
        </p:nvSpPr>
        <p:spPr>
          <a:xfrm>
            <a:off x="51816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Поисковики и нейросети фиксируют новый контент о вашей клинике</a:t>
            </a:r>
            <a:endParaRPr lang="en-US" sz="1100"/>
          </a:p>
        </p:txBody>
      </p:sp>
      <p:sp>
        <p:nvSpPr>
          <p:cNvPr id="16" name="s4-num"/>
          <p:cNvSpPr txBox="1"/>
          <p:nvPr/>
        </p:nvSpPr>
        <p:spPr>
          <a:xfrm>
            <a:off x="74168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04</a:t>
            </a:r>
            <a:endParaRPr lang="en-US" sz="3000"/>
          </a:p>
        </p:txBody>
      </p:sp>
      <p:sp>
        <p:nvSpPr>
          <p:cNvPr id="17" name="s4-title"/>
          <p:cNvSpPr txBox="1"/>
          <p:nvPr/>
        </p:nvSpPr>
        <p:spPr>
          <a:xfrm>
            <a:off x="74168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18" name="s4-desc"/>
          <p:cNvSpPr txBox="1"/>
          <p:nvPr/>
        </p:nvSpPr>
        <p:spPr>
          <a:xfrm>
            <a:off x="74168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19" name="s5-num"/>
          <p:cNvSpPr txBox="1"/>
          <p:nvPr/>
        </p:nvSpPr>
        <p:spPr>
          <a:xfrm>
            <a:off x="96520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05</a:t>
            </a:r>
            <a:endParaRPr lang="en-US" sz="3000"/>
          </a:p>
        </p:txBody>
      </p:sp>
      <p:sp>
        <p:nvSpPr>
          <p:cNvPr id="20" name="s5-title"/>
          <p:cNvSpPr txBox="1"/>
          <p:nvPr/>
        </p:nvSpPr>
        <p:spPr>
          <a:xfrm>
            <a:off x="96520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ДОВЕРИЕ И ЗАПИСИ</a:t>
            </a:r>
            <a:endParaRPr lang="en-US" sz="1450"/>
          </a:p>
        </p:txBody>
      </p:sp>
      <p:sp>
        <p:nvSpPr>
          <p:cNvPr id="21" name="s5-desc"/>
          <p:cNvSpPr txBox="1"/>
          <p:nvPr/>
        </p:nvSpPr>
        <p:spPr>
          <a:xfrm>
            <a:off x="96520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Пациенты находят вас, доверяют рекомендации нейросети и записываются на приём</a:t>
            </a:r>
            <a:endParaRPr lang="en-US" sz="1100"/>
          </a:p>
        </p:txBody>
      </p:sp>
      <p:sp>
        <p:nvSpPr>
          <p:cNvPr id="22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01D42"/>
          </a:solidFill>
          <a:ln>
            <a:noFill/>
          </a:ln>
        </p:spPr>
      </p:sp>
      <p:sp>
        <p:nvSpPr>
          <p:cNvPr id="23" name="strip-accent"/>
          <p:cNvSpPr/>
          <p:nvPr/>
        </p:nvSpPr>
        <p:spPr>
          <a:xfrm>
            <a:off x="711200" y="5689600"/>
            <a:ext cx="50800" cy="5842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24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7F5EF"/>
                </a:solidFill>
                <a:latin typeface="MiSans"/>
                <a:ea typeface="MiSans"/>
              </a:rPr>
              <a:t>Система работает 24/7: вы занимаетесь пациентами — Промптер занимается продвижением</a:t>
            </a:r>
            <a:endParaRPr lang="en-US" sz="14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mile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smile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F7F5EF">
                  <a:alpha val="0"/>
                </a:srgbClr>
              </a:gs>
              <a:gs pos="100000">
                <a:srgbClr val="F7F5EF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ДЛЯ ВАШЕЙ КЛИНИКИ</a:t>
            </a:r>
            <a:endParaRPr lang="en-US" sz="2500"/>
          </a:p>
        </p:txBody>
      </p:sp>
      <p:sp>
        <p:nvSpPr>
          <p:cNvPr id="6" name="title-rule"/>
          <p:cNvSpPr/>
          <p:nvPr/>
        </p:nvSpPr>
        <p:spPr>
          <a:xfrm>
            <a:off x="5588000" y="15494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7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879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8" name="b1-title"/>
          <p:cNvSpPr txBox="1"/>
          <p:nvPr/>
        </p:nvSpPr>
        <p:spPr>
          <a:xfrm>
            <a:off x="6045200" y="18796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9" name="b1-desc"/>
          <p:cNvSpPr txBox="1"/>
          <p:nvPr/>
        </p:nvSpPr>
        <p:spPr>
          <a:xfrm>
            <a:off x="6045200" y="21844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10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921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1" name="b2-title"/>
          <p:cNvSpPr txBox="1"/>
          <p:nvPr/>
        </p:nvSpPr>
        <p:spPr>
          <a:xfrm>
            <a:off x="6045200" y="29210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2" name="b2-desc"/>
          <p:cNvSpPr txBox="1"/>
          <p:nvPr/>
        </p:nvSpPr>
        <p:spPr>
          <a:xfrm>
            <a:off x="6045200" y="32258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Клиника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3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962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4" name="b3-title"/>
          <p:cNvSpPr txBox="1"/>
          <p:nvPr/>
        </p:nvSpPr>
        <p:spPr>
          <a:xfrm>
            <a:off x="6045200" y="39624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5" name="b3-desc"/>
          <p:cNvSpPr txBox="1"/>
          <p:nvPr/>
        </p:nvSpPr>
        <p:spPr>
          <a:xfrm>
            <a:off x="6045200" y="42672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Вас называют, когда пациент спрашивает, где лечить зубы, — ежедневно и без рекламы</a:t>
            </a:r>
            <a:endParaRPr lang="en-US" sz="1200"/>
          </a:p>
        </p:txBody>
      </p:sp>
      <p:sp>
        <p:nvSpPr>
          <p:cNvPr id="16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5003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7" name="b4-title"/>
          <p:cNvSpPr txBox="1"/>
          <p:nvPr/>
        </p:nvSpPr>
        <p:spPr>
          <a:xfrm>
            <a:off x="6045200" y="50038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8" name="b4-desc"/>
          <p:cNvSpPr txBox="1"/>
          <p:nvPr/>
        </p:nvSpPr>
        <p:spPr>
          <a:xfrm>
            <a:off x="6045200" y="53086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19" name="edit-box"/>
          <p:cNvSpPr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 w="12700">
            <a:solidFill>
              <a:srgbClr val="B08D3E"/>
            </a:solidFill>
            <a:prstDash val="dash"/>
          </a:ln>
        </p:spPr>
      </p:sp>
      <p:sp>
        <p:nvSpPr>
          <p:cNvPr id="20" name="edit-text"/>
          <p:cNvSpPr txBox="1"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 dirty="0" err="1">
                <a:solidFill>
                  <a:srgbClr val="7C8090"/>
                </a:solidFill>
                <a:latin typeface="MiSans"/>
                <a:ea typeface="MiSans"/>
              </a:rPr>
              <a:t>Место</a:t>
            </a:r>
            <a:r>
              <a:rPr lang="en-US" sz="11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150" i="1" dirty="0" err="1">
                <a:solidFill>
                  <a:srgbClr val="7C8090"/>
                </a:solidFill>
                <a:latin typeface="MiSans"/>
                <a:ea typeface="MiSans"/>
              </a:rPr>
              <a:t>для</a:t>
            </a:r>
            <a:r>
              <a:rPr lang="en-US" sz="11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150" i="1" dirty="0" err="1">
                <a:solidFill>
                  <a:srgbClr val="7C8090"/>
                </a:solidFill>
                <a:latin typeface="MiSans"/>
                <a:ea typeface="MiSans"/>
              </a:rPr>
              <a:t>правок</a:t>
            </a:r>
            <a:endParaRPr lang="en-US" sz="1150" dirty="0"/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lang="en-US" sz="1000" i="1" dirty="0" err="1">
                <a:solidFill>
                  <a:srgbClr val="7C8090"/>
                </a:solidFill>
                <a:latin typeface="MiSans"/>
                <a:ea typeface="MiSans"/>
              </a:rPr>
              <a:t>добавьте</a:t>
            </a:r>
            <a:r>
              <a:rPr lang="en-US" sz="100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00" i="1" dirty="0" err="1">
                <a:solidFill>
                  <a:srgbClr val="7C8090"/>
                </a:solidFill>
                <a:latin typeface="MiSans"/>
                <a:ea typeface="MiSans"/>
              </a:rPr>
              <a:t>свою</a:t>
            </a:r>
            <a:r>
              <a:rPr lang="en-US" sz="100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00" i="1" dirty="0" err="1">
                <a:solidFill>
                  <a:srgbClr val="7C8090"/>
                </a:solidFill>
                <a:latin typeface="MiSans"/>
                <a:ea typeface="MiSans"/>
              </a:rPr>
              <a:t>выгоду</a:t>
            </a:r>
            <a:endParaRPr lang="en-US" sz="1150" dirty="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176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price-label"/>
          <p:cNvSpPr txBox="1"/>
          <p:nvPr/>
        </p:nvSpPr>
        <p:spPr>
          <a:xfrm>
            <a:off x="711200" y="142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300">
                <a:solidFill>
                  <a:srgbClr val="7C8090"/>
                </a:solidFill>
                <a:latin typeface="MiSans"/>
                <a:ea typeface="MiSans"/>
              </a:rPr>
              <a:t>СТОИМОСТЬ СЕРВИСА</a:t>
            </a:r>
            <a:endParaRPr lang="en-US" sz="1050"/>
          </a:p>
        </p:txBody>
      </p:sp>
      <p:sp>
        <p:nvSpPr>
          <p:cNvPr id="6" name="price-big"/>
          <p:cNvSpPr txBox="1"/>
          <p:nvPr/>
        </p:nvSpPr>
        <p:spPr>
          <a:xfrm>
            <a:off x="711200" y="17018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101D42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7C8090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7" name="price-instead"/>
          <p:cNvSpPr txBox="1"/>
          <p:nvPr/>
        </p:nvSpPr>
        <p:spPr>
          <a:xfrm>
            <a:off x="711200" y="256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8" name="price-save"/>
          <p:cNvSpPr txBox="1"/>
          <p:nvPr/>
        </p:nvSpPr>
        <p:spPr>
          <a:xfrm>
            <a:off x="711200" y="294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1" name="price-note"/>
          <p:cNvSpPr txBox="1"/>
          <p:nvPr/>
        </p:nvSpPr>
        <p:spPr>
          <a:xfrm>
            <a:off x="711200" y="42672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7C8090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2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3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101D42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4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5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6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7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8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9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20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1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2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Экспертный контент об услугах, врачах и технологиях лечения</a:t>
            </a:r>
            <a:endParaRPr lang="en-US" sz="1150"/>
          </a:p>
        </p:txBody>
      </p:sp>
      <p:sp>
        <p:nvSpPr>
          <p:cNvPr id="23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4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5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6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7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*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Все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работы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выполняются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в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строгом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соответствии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с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законодательством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Российской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Федерации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.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Договор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и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закрывающие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документы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предоставляются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.</a:t>
            </a:r>
            <a:endParaRPr lang="en-US" sz="1050" dirty="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9" name="cta-btn">
            <a:hlinkClick r:id="rId2"/>
          </p:cNvPr>
          <p:cNvSpPr/>
          <p:nvPr/>
        </p:nvSpPr>
        <p:spPr>
          <a:xfrm>
            <a:off x="711200" y="345440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B08D3E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cta-text">
            <a:hlinkClick r:id="rId2"/>
          </p:cNvPr>
          <p:cNvSpPr txBox="1"/>
          <p:nvPr/>
        </p:nvSpPr>
        <p:spPr>
          <a:xfrm>
            <a:off x="711200" y="345440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rgbClr val="101D42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rgbClr val="101D42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5494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701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6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438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7" name="p1-title"/>
          <p:cNvSpPr txBox="1"/>
          <p:nvPr/>
        </p:nvSpPr>
        <p:spPr>
          <a:xfrm>
            <a:off x="1219200" y="24384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8" name="p1-desc"/>
          <p:cNvSpPr txBox="1"/>
          <p:nvPr/>
        </p:nvSpPr>
        <p:spPr>
          <a:xfrm>
            <a:off x="1219200" y="27432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9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479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p2-title"/>
          <p:cNvSpPr txBox="1"/>
          <p:nvPr/>
        </p:nvSpPr>
        <p:spPr>
          <a:xfrm>
            <a:off x="1219200" y="34798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1" name="p2-desc"/>
          <p:cNvSpPr txBox="1"/>
          <p:nvPr/>
        </p:nvSpPr>
        <p:spPr>
          <a:xfrm>
            <a:off x="1219200" y="37846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2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eyJpY29uTmFtZSI6ImZhczp0b290aCJ9</pptd:icon>
              </p:ext>
            </p:extLst>
          </p:nvPr>
        </p:nvSpPr>
        <p:spPr>
          <a:xfrm>
            <a:off x="711200" y="4521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3" name="p3-title"/>
          <p:cNvSpPr txBox="1"/>
          <p:nvPr/>
        </p:nvSpPr>
        <p:spPr>
          <a:xfrm>
            <a:off x="1219200" y="45212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Экспертиза в стоматологии</a:t>
            </a:r>
            <a:endParaRPr lang="en-US" sz="1500"/>
          </a:p>
        </p:txBody>
      </p:sp>
      <p:sp>
        <p:nvSpPr>
          <p:cNvPr id="14" name="p3-desc"/>
          <p:cNvSpPr txBox="1"/>
          <p:nvPr/>
        </p:nvSpPr>
        <p:spPr>
          <a:xfrm>
            <a:off x="1219200" y="48260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Знаем специфику стоматологических клиник — говорим с пациентами на их языке</a:t>
            </a:r>
            <a:endParaRPr lang="en-US" sz="1200"/>
          </a:p>
        </p:txBody>
      </p:sp>
      <p:pic>
        <p:nvPicPr>
          <p:cNvPr id="15" name="photo"/>
          <p:cNvPicPr/>
          <p:nvPr/>
        </p:nvPicPr>
        <p:blipFill>
          <a:blip r:embed="rId2"/>
          <a:srcRect l="10000" t="2000" r="10000" b="18000"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6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7C8090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7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</p:spPr>
      </p:sp>
      <p:sp>
        <p:nvSpPr>
          <p:cNvPr id="18" name="contacts-accent"/>
          <p:cNvSpPr/>
          <p:nvPr/>
        </p:nvSpPr>
        <p:spPr>
          <a:xfrm>
            <a:off x="711200" y="5384800"/>
            <a:ext cx="38100" cy="787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19" name="contacts-label"/>
          <p:cNvSpPr txBox="1"/>
          <p:nvPr/>
        </p:nvSpPr>
        <p:spPr>
          <a:xfrm>
            <a:off x="1016000" y="5384800"/>
            <a:ext cx="17272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101D42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20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21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2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3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904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стоматологии — GEO/SEO-продвижение</dc:title>
  <dc:subject>Промптер для стоматологии — GEO/SEO-продвижение</dc:subject>
  <dc:creator>Kimi</dc:creator>
  <cp:lastModifiedBy>Пупкин Толя</cp:lastModifiedBy>
  <cp:revision>2</cp:revision>
  <dcterms:modified xsi:type="dcterms:W3CDTF">2026-07-23T17:47:41Z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стоматологии — GEO/SEO-продвижение","ContentProducer":"001191110108MACG2KBH8F10000","ProduceID":"19f8fe49-fd52-8f76-8000-0000d34a264c","ReservedCode1":"","ContentPropagator":"001191110108MACG2KBH8F20000","PropagateID":"19f73adb-8c92-8708-8000-09088e4502a4","ReservedCode2":""}</vt:lpwstr>
  </property>
</Properties>
</file>