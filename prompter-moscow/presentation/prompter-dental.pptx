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rompter-ai.moscow/zayavka.html?from=presentation-denta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7F5EF">
                  <a:alpha val="98039"/>
                </a:srgbClr>
              </a:gs>
              <a:gs pos="55000">
                <a:srgbClr val="F7F5EF">
                  <a:alpha val="92941"/>
                </a:srgbClr>
              </a:gs>
              <a:gs pos="80000">
                <a:srgbClr val="F7F5EF">
                  <a:alpha val="50196"/>
                </a:srgbClr>
              </a:gs>
              <a:gs pos="100000">
                <a:srgbClr val="F7F5EF">
                  <a:alpha val="10196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1168400" y="6096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kern="0" spc="600">
                <a:solidFill>
                  <a:srgbClr val="101D42"/>
                </a:solidFill>
                <a:latin typeface="MiSans"/>
                <a:ea typeface="MiSans"/>
              </a:rPr>
              <a:t>ПРОМПТЕР</a:t>
            </a:r>
            <a:endParaRPr lang="en-US" sz="1800"/>
          </a:p>
        </p:txBody>
      </p:sp>
      <p:sp>
        <p:nvSpPr>
          <p:cNvPr id="5" name="brand-sub"/>
          <p:cNvSpPr txBox="1"/>
          <p:nvPr/>
        </p:nvSpPr>
        <p:spPr>
          <a:xfrm>
            <a:off x="1168400" y="965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kern="0" spc="200">
                <a:solidFill>
                  <a:srgbClr val="7C8090"/>
                </a:solidFill>
                <a:latin typeface="MiSans"/>
                <a:ea typeface="MiSans"/>
              </a:rPr>
              <a:t>AI-ПЛАТФОРМА ЦИФРОВОГО ПРОДВИЖЕНИЯ</a:t>
            </a:r>
            <a:endParaRPr lang="en-US" sz="900"/>
          </a:p>
        </p:txBody>
      </p:sp>
      <p:sp>
        <p:nvSpPr>
          <p:cNvPr id="6" name="kicker"/>
          <p:cNvSpPr txBox="1"/>
          <p:nvPr/>
        </p:nvSpPr>
        <p:spPr>
          <a:xfrm>
            <a:off x="711200" y="21590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kern="0" spc="400">
                <a:solidFill>
                  <a:srgbClr val="B08D3E"/>
                </a:solidFill>
                <a:latin typeface="MiSans"/>
                <a:ea typeface="MiSans"/>
              </a:rPr>
              <a:t>GEO- И SEO-ПРОДВИЖЕНИЕ ДЛЯ СТОМАТОЛОГИИ</a:t>
            </a:r>
            <a:endParaRPr lang="en-US" sz="1100"/>
          </a:p>
        </p:txBody>
      </p:sp>
      <p:sp>
        <p:nvSpPr>
          <p:cNvPr id="7" name="title"/>
          <p:cNvSpPr txBox="1"/>
          <p:nvPr/>
        </p:nvSpPr>
        <p:spPr>
          <a:xfrm>
            <a:off x="711200" y="2514600"/>
            <a:ext cx="812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2000"/>
              </a:lnSpc>
            </a:pPr>
            <a:r>
              <a:rPr lang="en-US" sz="3300" b="1">
                <a:solidFill>
                  <a:srgbClr val="101D42"/>
                </a:solidFill>
                <a:latin typeface="MiSans"/>
                <a:ea typeface="MiSans"/>
              </a:rPr>
              <a:t>КОМПЛЕКСНОЕ GEO- И SEO-</a:t>
            </a:r>
            <a:endParaRPr lang="en-US" sz="3300"/>
          </a:p>
          <a:p>
            <a:pPr algn="l">
              <a:lnSpc>
                <a:spcPct val="122000"/>
              </a:lnSpc>
            </a:pPr>
            <a:r>
              <a:rPr lang="en-US" sz="3300" b="1">
                <a:solidFill>
                  <a:srgbClr val="101D42"/>
                </a:solidFill>
                <a:latin typeface="MiSans"/>
                <a:ea typeface="MiSans"/>
              </a:rPr>
              <a:t>ПРОДВИЖЕНИЕ </a:t>
            </a:r>
            <a:r>
              <a:rPr lang="en-US" sz="3300" b="1">
                <a:solidFill>
                  <a:srgbClr val="B08D3E"/>
                </a:solidFill>
                <a:latin typeface="MiSans"/>
                <a:ea typeface="MiSans"/>
              </a:rPr>
              <a:t>СТОМАТОЛОГИИ</a:t>
            </a:r>
            <a:endParaRPr lang="en-US" sz="3300"/>
          </a:p>
        </p:txBody>
      </p:sp>
      <p:sp>
        <p:nvSpPr>
          <p:cNvPr id="8" name="title-rule"/>
          <p:cNvSpPr/>
          <p:nvPr/>
        </p:nvSpPr>
        <p:spPr>
          <a:xfrm>
            <a:off x="711200" y="3886200"/>
            <a:ext cx="609600" cy="25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9" name="subtitle"/>
          <p:cNvSpPr txBox="1"/>
          <p:nvPr/>
        </p:nvSpPr>
        <p:spPr>
          <a:xfrm>
            <a:off x="711200" y="40894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7C8090"/>
                </a:solidFill>
                <a:latin typeface="MiSans"/>
                <a:ea typeface="MiSans"/>
              </a:rPr>
              <a:t>Делаем стоматологические клиники заметными в нейровыдаче и поисковых системах — без рекламных бюджетов и SEO-агентств</a:t>
            </a:r>
            <a:endParaRPr lang="en-US" sz="1400"/>
          </a:p>
        </p:txBody>
      </p:sp>
      <p:sp>
        <p:nvSpPr>
          <p:cNvPr id="10" name="price"/>
          <p:cNvSpPr txBox="1"/>
          <p:nvPr/>
        </p:nvSpPr>
        <p:spPr>
          <a:xfrm>
            <a:off x="711200" y="49784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101D42"/>
                </a:solidFill>
                <a:latin typeface="MiSans"/>
                <a:ea typeface="MiSans"/>
              </a:rPr>
              <a:t>Стоимость: </a:t>
            </a:r>
            <a:r>
              <a:rPr lang="en-US" sz="1900" b="1">
                <a:solidFill>
                  <a:srgbClr val="B08D3E"/>
                </a:solidFill>
                <a:latin typeface="MiSans"/>
                <a:ea typeface="MiSans"/>
              </a:rPr>
              <a:t>от 29500 ₽/мес</a:t>
            </a:r>
            <a:endParaRPr lang="en-US" sz="1500"/>
          </a:p>
        </p:txBody>
      </p:sp>
      <p:pic>
        <p:nvPicPr>
          <p:cNvPr id="14" name="Рисунок 13" descr="preview">
            <a:extLst>
              <a:ext uri="{FF2B5EF4-FFF2-40B4-BE49-F238E27FC236}">
                <a16:creationId xmlns:a16="http://schemas.microsoft.com/office/drawing/2014/main" id="{64993EE9-3E0E-CDC6-4104-650DF2D99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46" y="584200"/>
            <a:ext cx="587053" cy="632211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7C8090"/>
                </a:solidFill>
                <a:latin typeface="MiSans"/>
                <a:ea typeface="MiSans"/>
              </a:rPr>
              <a:t>ПРОМПТЕР · СТОМАТОЛОГИЯ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101D42"/>
                </a:solidFill>
                <a:latin typeface="MiSans"/>
                <a:ea typeface="MiSans"/>
              </a:rPr>
              <a:t>ПОЧЕМУ СТОМАТОЛОГИИ НЕ ДОБИВАЮТСЯ МАКСИМУМА</a:t>
            </a:r>
            <a:endParaRPr lang="en-US" sz="2300"/>
          </a:p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101D42"/>
                </a:solidFill>
                <a:latin typeface="MiSans"/>
                <a:ea typeface="MiSans"/>
              </a:rPr>
              <a:t>ИЗ ЦИФРОВОГО ПРОДВИЖЕНИЯ?</a:t>
            </a:r>
            <a:endParaRPr lang="en-US" sz="2300"/>
          </a:p>
        </p:txBody>
      </p:sp>
      <p:sp>
        <p:nvSpPr>
          <p:cNvPr id="4" name="title-rule"/>
          <p:cNvSpPr/>
          <p:nvPr/>
        </p:nvSpPr>
        <p:spPr>
          <a:xfrm>
            <a:off x="711200" y="1371600"/>
            <a:ext cx="609600" cy="25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711200" y="15494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7C8090"/>
                </a:solidFill>
                <a:latin typeface="MiSans"/>
                <a:ea typeface="MiSans"/>
              </a:rPr>
              <a:t>Большинство стоматологических клиник уже пробовали продвижение, но не получали ожидаемого результата</a:t>
            </a:r>
            <a:endParaRPr lang="en-US" sz="1300"/>
          </a:p>
        </p:txBody>
      </p:sp>
      <p:sp>
        <p:nvSpPr>
          <p:cNvPr id="6" name="n1"/>
          <p:cNvSpPr txBox="1"/>
          <p:nvPr/>
        </p:nvSpPr>
        <p:spPr>
          <a:xfrm>
            <a:off x="711200" y="19812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B08D3E"/>
                </a:solidFill>
                <a:latin typeface="MiSans"/>
                <a:ea typeface="MiSans"/>
              </a:rPr>
              <a:t>01</a:t>
            </a:r>
            <a:endParaRPr lang="en-US" sz="1900"/>
          </a:p>
        </p:txBody>
      </p:sp>
      <p:sp>
        <p:nvSpPr>
          <p:cNvPr id="7" name="t1"/>
          <p:cNvSpPr txBox="1"/>
          <p:nvPr/>
        </p:nvSpPr>
        <p:spPr>
          <a:xfrm>
            <a:off x="1295400" y="20066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01D42"/>
                </a:solidFill>
                <a:latin typeface="MiSans"/>
                <a:ea typeface="MiSans"/>
              </a:rPr>
              <a:t>Невидимость в нейровыдаче</a:t>
            </a:r>
            <a:endParaRPr lang="en-US" sz="1400"/>
          </a:p>
        </p:txBody>
      </p:sp>
      <p:sp>
        <p:nvSpPr>
          <p:cNvPr id="8" name="d1"/>
          <p:cNvSpPr txBox="1"/>
          <p:nvPr/>
        </p:nvSpPr>
        <p:spPr>
          <a:xfrm>
            <a:off x="1295400" y="23114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7C8090"/>
                </a:solidFill>
                <a:latin typeface="MiSans"/>
                <a:ea typeface="MiSans"/>
              </a:rPr>
              <a:t>Пациенты спрашивают у нейросети «лучшая стоматология рядом» — и она называет конкурентов, а не вас</a:t>
            </a:r>
            <a:endParaRPr lang="en-US" sz="1150"/>
          </a:p>
        </p:txBody>
      </p:sp>
      <p:sp>
        <p:nvSpPr>
          <p:cNvPr id="9" name="l1"/>
          <p:cNvSpPr/>
          <p:nvPr/>
        </p:nvSpPr>
        <p:spPr>
          <a:xfrm>
            <a:off x="711200" y="2946400"/>
            <a:ext cx="5334000" cy="12700"/>
          </a:xfrm>
          <a:prstGeom prst="rect">
            <a:avLst/>
          </a:prstGeom>
          <a:solidFill>
            <a:srgbClr val="DDD6C8"/>
          </a:solidFill>
          <a:ln>
            <a:noFill/>
          </a:ln>
        </p:spPr>
      </p:sp>
      <p:sp>
        <p:nvSpPr>
          <p:cNvPr id="10" name="n2"/>
          <p:cNvSpPr txBox="1"/>
          <p:nvPr/>
        </p:nvSpPr>
        <p:spPr>
          <a:xfrm>
            <a:off x="711200" y="320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B08D3E"/>
                </a:solidFill>
                <a:latin typeface="MiSans"/>
                <a:ea typeface="MiSans"/>
              </a:rPr>
              <a:t>02</a:t>
            </a:r>
            <a:endParaRPr lang="en-US" sz="1900"/>
          </a:p>
        </p:txBody>
      </p:sp>
      <p:sp>
        <p:nvSpPr>
          <p:cNvPr id="11" name="t2"/>
          <p:cNvSpPr txBox="1"/>
          <p:nvPr/>
        </p:nvSpPr>
        <p:spPr>
          <a:xfrm>
            <a:off x="1295400" y="32258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01D42"/>
                </a:solidFill>
                <a:latin typeface="MiSans"/>
                <a:ea typeface="MiSans"/>
              </a:rPr>
              <a:t>Нехватка времени на контент</a:t>
            </a:r>
            <a:endParaRPr lang="en-US" sz="1400"/>
          </a:p>
        </p:txBody>
      </p:sp>
      <p:sp>
        <p:nvSpPr>
          <p:cNvPr id="12" name="d2"/>
          <p:cNvSpPr txBox="1"/>
          <p:nvPr/>
        </p:nvSpPr>
        <p:spPr>
          <a:xfrm>
            <a:off x="1295400" y="35306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7C8090"/>
                </a:solidFill>
                <a:latin typeface="MiSans"/>
                <a:ea typeface="MiSans"/>
              </a:rPr>
              <a:t>Врачи и администраторы заняты пациентами — на статьи, посты и карточки времени нет</a:t>
            </a:r>
            <a:endParaRPr lang="en-US" sz="1150"/>
          </a:p>
        </p:txBody>
      </p:sp>
      <p:sp>
        <p:nvSpPr>
          <p:cNvPr id="13" name="l2"/>
          <p:cNvSpPr/>
          <p:nvPr/>
        </p:nvSpPr>
        <p:spPr>
          <a:xfrm>
            <a:off x="711200" y="4191000"/>
            <a:ext cx="5334000" cy="12700"/>
          </a:xfrm>
          <a:prstGeom prst="rect">
            <a:avLst/>
          </a:prstGeom>
          <a:solidFill>
            <a:srgbClr val="DDD6C8"/>
          </a:solidFill>
          <a:ln>
            <a:noFill/>
          </a:ln>
        </p:spPr>
      </p:sp>
      <p:sp>
        <p:nvSpPr>
          <p:cNvPr id="14" name="n3"/>
          <p:cNvSpPr txBox="1"/>
          <p:nvPr/>
        </p:nvSpPr>
        <p:spPr>
          <a:xfrm>
            <a:off x="711200" y="444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B08D3E"/>
                </a:solidFill>
                <a:latin typeface="MiSans"/>
                <a:ea typeface="MiSans"/>
              </a:rPr>
              <a:t>03</a:t>
            </a:r>
            <a:endParaRPr lang="en-US" sz="1900"/>
          </a:p>
        </p:txBody>
      </p:sp>
      <p:sp>
        <p:nvSpPr>
          <p:cNvPr id="15" name="t3"/>
          <p:cNvSpPr txBox="1"/>
          <p:nvPr/>
        </p:nvSpPr>
        <p:spPr>
          <a:xfrm>
            <a:off x="1295400" y="44704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01D42"/>
                </a:solidFill>
                <a:latin typeface="MiSans"/>
                <a:ea typeface="MiSans"/>
              </a:rPr>
              <a:t>Сложность GEO-продвижения</a:t>
            </a:r>
            <a:endParaRPr lang="en-US" sz="1400"/>
          </a:p>
        </p:txBody>
      </p:sp>
      <p:sp>
        <p:nvSpPr>
          <p:cNvPr id="16" name="d3"/>
          <p:cNvSpPr txBox="1"/>
          <p:nvPr/>
        </p:nvSpPr>
        <p:spPr>
          <a:xfrm>
            <a:off x="1295400" y="47752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7C8090"/>
                </a:solidFill>
                <a:latin typeface="MiSans"/>
                <a:ea typeface="MiSans"/>
              </a:rPr>
              <a:t>Алгоритмы нейропоиска отличаются от классического SEO — старые методы уже не работают</a:t>
            </a:r>
            <a:endParaRPr lang="en-US" sz="1150"/>
          </a:p>
        </p:txBody>
      </p:sp>
      <p:sp>
        <p:nvSpPr>
          <p:cNvPr id="17" name="n4"/>
          <p:cNvSpPr txBox="1"/>
          <p:nvPr/>
        </p:nvSpPr>
        <p:spPr>
          <a:xfrm>
            <a:off x="6553200" y="19812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B08D3E"/>
                </a:solidFill>
                <a:latin typeface="MiSans"/>
                <a:ea typeface="MiSans"/>
              </a:rPr>
              <a:t>04</a:t>
            </a:r>
            <a:endParaRPr lang="en-US" sz="1900"/>
          </a:p>
        </p:txBody>
      </p:sp>
      <p:sp>
        <p:nvSpPr>
          <p:cNvPr id="18" name="t4"/>
          <p:cNvSpPr txBox="1"/>
          <p:nvPr/>
        </p:nvSpPr>
        <p:spPr>
          <a:xfrm>
            <a:off x="7137400" y="2006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01D42"/>
                </a:solidFill>
                <a:latin typeface="MiSans"/>
                <a:ea typeface="MiSans"/>
              </a:rPr>
              <a:t>Высокие расходы на агентства</a:t>
            </a:r>
            <a:endParaRPr lang="en-US" sz="1400"/>
          </a:p>
        </p:txBody>
      </p:sp>
      <p:sp>
        <p:nvSpPr>
          <p:cNvPr id="19" name="d4"/>
          <p:cNvSpPr txBox="1"/>
          <p:nvPr/>
        </p:nvSpPr>
        <p:spPr>
          <a:xfrm>
            <a:off x="7137400" y="23114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7C8090"/>
                </a:solidFill>
                <a:latin typeface="MiSans"/>
                <a:ea typeface="MiSans"/>
              </a:rPr>
              <a:t>SEO-агентства и SMM-специалисты стоят дорого, а результат непрозрачен</a:t>
            </a:r>
            <a:endParaRPr lang="en-US" sz="1150"/>
          </a:p>
        </p:txBody>
      </p:sp>
      <p:sp>
        <p:nvSpPr>
          <p:cNvPr id="20" name="l4"/>
          <p:cNvSpPr/>
          <p:nvPr/>
        </p:nvSpPr>
        <p:spPr>
          <a:xfrm>
            <a:off x="6553200" y="2946400"/>
            <a:ext cx="4927600" cy="12700"/>
          </a:xfrm>
          <a:prstGeom prst="rect">
            <a:avLst/>
          </a:prstGeom>
          <a:solidFill>
            <a:srgbClr val="DDD6C8"/>
          </a:solidFill>
          <a:ln>
            <a:noFill/>
          </a:ln>
        </p:spPr>
      </p:sp>
      <p:sp>
        <p:nvSpPr>
          <p:cNvPr id="21" name="n5"/>
          <p:cNvSpPr txBox="1"/>
          <p:nvPr/>
        </p:nvSpPr>
        <p:spPr>
          <a:xfrm>
            <a:off x="6553200" y="320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B08D3E"/>
                </a:solidFill>
                <a:latin typeface="MiSans"/>
                <a:ea typeface="MiSans"/>
              </a:rPr>
              <a:t>05</a:t>
            </a:r>
            <a:endParaRPr lang="en-US" sz="1900"/>
          </a:p>
        </p:txBody>
      </p:sp>
      <p:sp>
        <p:nvSpPr>
          <p:cNvPr id="22" name="t5"/>
          <p:cNvSpPr txBox="1"/>
          <p:nvPr/>
        </p:nvSpPr>
        <p:spPr>
          <a:xfrm>
            <a:off x="7137400" y="3225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01D42"/>
                </a:solidFill>
                <a:latin typeface="MiSans"/>
                <a:ea typeface="MiSans"/>
              </a:rPr>
              <a:t>Разные площадки и алгоритмы</a:t>
            </a:r>
            <a:endParaRPr lang="en-US" sz="1400"/>
          </a:p>
        </p:txBody>
      </p:sp>
      <p:sp>
        <p:nvSpPr>
          <p:cNvPr id="23" name="d5"/>
          <p:cNvSpPr txBox="1"/>
          <p:nvPr/>
        </p:nvSpPr>
        <p:spPr>
          <a:xfrm>
            <a:off x="7137400" y="35306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7C8090"/>
                </a:solidFill>
                <a:latin typeface="MiSans"/>
                <a:ea typeface="MiSans"/>
              </a:rPr>
              <a:t>Поисковики, карты и нейросети — у каждой площадки свои правила и форматы</a:t>
            </a:r>
            <a:endParaRPr lang="en-US" sz="1150"/>
          </a:p>
        </p:txBody>
      </p:sp>
      <p:sp>
        <p:nvSpPr>
          <p:cNvPr id="27" name="conclusion"/>
          <p:cNvSpPr txBox="1"/>
          <p:nvPr/>
        </p:nvSpPr>
        <p:spPr>
          <a:xfrm>
            <a:off x="1371600" y="5664200"/>
            <a:ext cx="1010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B08D3E"/>
                </a:solidFill>
                <a:latin typeface="MiSans"/>
                <a:ea typeface="MiSans"/>
              </a:rPr>
              <a:t>Вывод:</a:t>
            </a:r>
            <a:r>
              <a:rPr lang="en-US" sz="1400">
                <a:solidFill>
                  <a:srgbClr val="101D42"/>
                </a:solidFill>
                <a:latin typeface="MiSans"/>
                <a:ea typeface="MiSans"/>
              </a:rPr>
              <a:t> клиника теряет пациентов ещё до того, как они решили, куда записаться</a:t>
            </a:r>
            <a:endParaRPr lang="en-US" sz="1400"/>
          </a:p>
        </p:txBody>
      </p:sp>
      <p:sp>
        <p:nvSpPr>
          <p:cNvPr id="28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7C8090"/>
                </a:solidFill>
                <a:latin typeface="MiSans"/>
                <a:ea typeface="MiSans"/>
              </a:rPr>
              <a:t>02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7C8090"/>
                </a:solidFill>
                <a:latin typeface="MiSans"/>
                <a:ea typeface="MiSans"/>
              </a:rPr>
              <a:t>ПРОМПТЕР · СТОМАТОЛОГИЯ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33400"/>
            <a:ext cx="685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101D42"/>
                </a:solidFill>
                <a:latin typeface="MiSans"/>
                <a:ea typeface="MiSans"/>
              </a:rPr>
              <a:t>ПОЧЕМУ ПРИСУТСТВИЕ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101D42"/>
                </a:solidFill>
                <a:latin typeface="MiSans"/>
                <a:ea typeface="MiSans"/>
              </a:rPr>
              <a:t>В НЕЙРОВЫДАЧЕ ТАК ВАЖНО?</a:t>
            </a:r>
            <a:endParaRPr lang="en-US" sz="2500"/>
          </a:p>
        </p:txBody>
      </p:sp>
      <p:sp>
        <p:nvSpPr>
          <p:cNvPr id="4" name="title-rule"/>
          <p:cNvSpPr/>
          <p:nvPr/>
        </p:nvSpPr>
        <p:spPr>
          <a:xfrm>
            <a:off x="711200" y="1473200"/>
            <a:ext cx="609600" cy="25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5" name="subtitle"/>
          <p:cNvSpPr txBox="1"/>
          <p:nvPr/>
        </p:nvSpPr>
        <p:spPr>
          <a:xfrm>
            <a:off x="711200" y="16256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7C8090"/>
                </a:solidFill>
                <a:latin typeface="MiSans"/>
                <a:ea typeface="MiSans"/>
              </a:rPr>
              <a:t>Отсутствие в ответах нейросетей напрямую влияет на записи пациентов и репутацию клиники</a:t>
            </a:r>
            <a:endParaRPr lang="en-US" sz="1300"/>
          </a:p>
        </p:txBody>
      </p:sp>
      <p:sp>
        <p:nvSpPr>
          <p:cNvPr id="6" name="i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711200" y="228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7" name="t1"/>
          <p:cNvSpPr txBox="1"/>
          <p:nvPr/>
        </p:nvSpPr>
        <p:spPr>
          <a:xfrm>
            <a:off x="1193800" y="2286000"/>
            <a:ext cx="5740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1D42"/>
                </a:solidFill>
                <a:latin typeface="MiSans"/>
                <a:ea typeface="MiSans"/>
              </a:rPr>
              <a:t>Нейровыдача заменяет классический поиск</a:t>
            </a:r>
            <a:endParaRPr lang="en-US" sz="1500"/>
          </a:p>
        </p:txBody>
      </p:sp>
      <p:sp>
        <p:nvSpPr>
          <p:cNvPr id="8" name="d1"/>
          <p:cNvSpPr txBox="1"/>
          <p:nvPr/>
        </p:nvSpPr>
        <p:spPr>
          <a:xfrm>
            <a:off x="1193800" y="2590800"/>
            <a:ext cx="574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7C8090"/>
                </a:solidFill>
                <a:latin typeface="MiSans"/>
                <a:ea typeface="MiSans"/>
              </a:rPr>
              <a:t>Пациенты всё чаще спрашивают «хорошая стоматология рядом» у нейросети, а не у поисковика</a:t>
            </a:r>
            <a:endParaRPr lang="en-US" sz="1200"/>
          </a:p>
        </p:txBody>
      </p:sp>
      <p:sp>
        <p:nvSpPr>
          <p:cNvPr id="9" name="i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eyJpY29uTmFtZSI6ImZhczp1c2VycyJ9</pptd:icon>
              </p:ext>
            </p:extLst>
          </p:nvPr>
        </p:nvSpPr>
        <p:spPr>
          <a:xfrm>
            <a:off x="711200" y="332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</a:path>
              <a:path w="640" h="512"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</a:path>
              <a:path w="640" h="512"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</a:path>
              <a:path w="640" h="512"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</a:path>
              <a:path w="640" h="512"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</a:path>
              <a:path w="640" h="512"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0" name="t2"/>
          <p:cNvSpPr txBox="1"/>
          <p:nvPr/>
        </p:nvSpPr>
        <p:spPr>
          <a:xfrm>
            <a:off x="1193800" y="3327400"/>
            <a:ext cx="5740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1D42"/>
                </a:solidFill>
                <a:latin typeface="MiSans"/>
                <a:ea typeface="MiSans"/>
              </a:rPr>
              <a:t>Пациенты без рекламных затрат</a:t>
            </a:r>
            <a:endParaRPr lang="en-US" sz="1500"/>
          </a:p>
        </p:txBody>
      </p:sp>
      <p:sp>
        <p:nvSpPr>
          <p:cNvPr id="11" name="d2"/>
          <p:cNvSpPr txBox="1"/>
          <p:nvPr/>
        </p:nvSpPr>
        <p:spPr>
          <a:xfrm>
            <a:off x="1193800" y="3632200"/>
            <a:ext cx="574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7C8090"/>
                </a:solidFill>
                <a:latin typeface="MiSans"/>
                <a:ea typeface="MiSans"/>
              </a:rPr>
              <a:t>Рекомендации нейросети — бесплатный органический трафик, не требующий рекламного бюджета</a:t>
            </a:r>
            <a:endParaRPr lang="en-US" sz="1200"/>
          </a:p>
        </p:txBody>
      </p:sp>
      <p:sp>
        <p:nvSpPr>
          <p:cNvPr id="12" name="i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711200" y="436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3" name="t3"/>
          <p:cNvSpPr txBox="1"/>
          <p:nvPr/>
        </p:nvSpPr>
        <p:spPr>
          <a:xfrm>
            <a:off x="1193800" y="4368800"/>
            <a:ext cx="5740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1D42"/>
                </a:solidFill>
                <a:latin typeface="MiSans"/>
                <a:ea typeface="MiSans"/>
              </a:rPr>
              <a:t>Пациент выбирает тех, кого назвала нейросеть</a:t>
            </a:r>
            <a:endParaRPr lang="en-US" sz="1500"/>
          </a:p>
        </p:txBody>
      </p:sp>
      <p:sp>
        <p:nvSpPr>
          <p:cNvPr id="14" name="d3"/>
          <p:cNvSpPr txBox="1"/>
          <p:nvPr/>
        </p:nvSpPr>
        <p:spPr>
          <a:xfrm>
            <a:off x="1193800" y="4673600"/>
            <a:ext cx="574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7C8090"/>
                </a:solidFill>
                <a:latin typeface="MiSans"/>
                <a:ea typeface="MiSans"/>
              </a:rPr>
              <a:t>Рекомендация ИИ воспринимается как совет врача — ей доверяют и записываются на приём</a:t>
            </a:r>
            <a:endParaRPr lang="en-US" sz="1200"/>
          </a:p>
        </p:txBody>
      </p:sp>
      <p:sp>
        <p:nvSpPr>
          <p:cNvPr id="15" name="i4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eyJpY29uTmFtZSI6ImZhczpjaGFydC1saW5lIn0</pptd:icon>
              </p:ext>
            </p:extLst>
          </p:nvPr>
        </p:nvSpPr>
        <p:spPr>
          <a:xfrm>
            <a:off x="711200" y="541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101D42"/>
          </a:solidFill>
          <a:ln>
            <a:noFill/>
          </a:ln>
        </p:spPr>
      </p:sp>
      <p:sp>
        <p:nvSpPr>
          <p:cNvPr id="16" name="t4"/>
          <p:cNvSpPr txBox="1"/>
          <p:nvPr/>
        </p:nvSpPr>
        <p:spPr>
          <a:xfrm>
            <a:off x="1193800" y="5410200"/>
            <a:ext cx="5740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1D42"/>
                </a:solidFill>
                <a:latin typeface="MiSans"/>
                <a:ea typeface="MiSans"/>
              </a:rPr>
              <a:t>Отставание от конкурентов</a:t>
            </a:r>
            <a:endParaRPr lang="en-US" sz="1500"/>
          </a:p>
        </p:txBody>
      </p:sp>
      <p:sp>
        <p:nvSpPr>
          <p:cNvPr id="17" name="d4"/>
          <p:cNvSpPr txBox="1"/>
          <p:nvPr/>
        </p:nvSpPr>
        <p:spPr>
          <a:xfrm>
            <a:off x="1193800" y="5715000"/>
            <a:ext cx="574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7C8090"/>
                </a:solidFill>
                <a:latin typeface="MiSans"/>
                <a:ea typeface="MiSans"/>
              </a:rPr>
              <a:t>Пока вас нет в ответах нейросети, конкуренты забирают ваших пациентов каждый день</a:t>
            </a:r>
            <a:endParaRPr lang="en-US" sz="1200"/>
          </a:p>
        </p:txBody>
      </p:sp>
      <p:sp>
        <p:nvSpPr>
          <p:cNvPr id="18" name="phone"/>
          <p:cNvSpPr/>
          <p:nvPr/>
        </p:nvSpPr>
        <p:spPr>
          <a:xfrm>
            <a:off x="7823200" y="914400"/>
            <a:ext cx="3657600" cy="5105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D6C8"/>
            </a:solidFill>
          </a:ln>
          <a:effectLst>
            <a:outerShdw blurRad="254000" dist="127000" dir="5400000" algn="bl" rotWithShape="0">
              <a:srgbClr val="101D42">
                <a:alpha val="10196"/>
              </a:srgbClr>
            </a:outerShdw>
          </a:effectLst>
        </p:spPr>
      </p:sp>
      <p:sp>
        <p:nvSpPr>
          <p:cNvPr id="19" name="phone-time"/>
          <p:cNvSpPr txBox="1"/>
          <p:nvPr/>
        </p:nvSpPr>
        <p:spPr>
          <a:xfrm>
            <a:off x="8128000" y="1117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7C8090"/>
                </a:solidFill>
                <a:latin typeface="MiSans"/>
                <a:ea typeface="MiSans"/>
              </a:rPr>
              <a:t>9:41</a:t>
            </a:r>
            <a:endParaRPr lang="en-US" sz="1000"/>
          </a:p>
        </p:txBody>
      </p:sp>
      <p:sp>
        <p:nvSpPr>
          <p:cNvPr id="20" name="phone-header"/>
          <p:cNvSpPr txBox="1"/>
          <p:nvPr/>
        </p:nvSpPr>
        <p:spPr>
          <a:xfrm>
            <a:off x="8128000" y="1371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101D42"/>
                </a:solidFill>
                <a:latin typeface="MiSans"/>
                <a:ea typeface="MiSans"/>
              </a:rPr>
              <a:t>НЕЙРОПОИСК</a:t>
            </a:r>
            <a:endParaRPr lang="en-US" sz="1100"/>
          </a:p>
        </p:txBody>
      </p:sp>
      <p:sp>
        <p:nvSpPr>
          <p:cNvPr id="21" name="phone-div"/>
          <p:cNvSpPr/>
          <p:nvPr/>
        </p:nvSpPr>
        <p:spPr>
          <a:xfrm>
            <a:off x="8128000" y="1701800"/>
            <a:ext cx="3048000" cy="12700"/>
          </a:xfrm>
          <a:prstGeom prst="rect">
            <a:avLst/>
          </a:prstGeom>
          <a:solidFill>
            <a:srgbClr val="DDD6C8"/>
          </a:solidFill>
          <a:ln>
            <a:noFill/>
          </a:ln>
        </p:spPr>
      </p:sp>
      <p:sp>
        <p:nvSpPr>
          <p:cNvPr id="22" name="bubble-q"/>
          <p:cNvSpPr/>
          <p:nvPr/>
        </p:nvSpPr>
        <p:spPr>
          <a:xfrm>
            <a:off x="8966200" y="1930400"/>
            <a:ext cx="2209800" cy="533400"/>
          </a:xfrm>
          <a:prstGeom prst="roundRect">
            <a:avLst>
              <a:gd name="adj" fmla="val 22000"/>
            </a:avLst>
          </a:prstGeom>
          <a:solidFill>
            <a:srgbClr val="101D42"/>
          </a:solidFill>
          <a:ln>
            <a:noFill/>
          </a:ln>
        </p:spPr>
      </p:sp>
      <p:sp>
        <p:nvSpPr>
          <p:cNvPr id="23" name="bubble-q-text"/>
          <p:cNvSpPr txBox="1"/>
          <p:nvPr/>
        </p:nvSpPr>
        <p:spPr>
          <a:xfrm>
            <a:off x="9093200" y="19304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7F5EF"/>
                </a:solidFill>
                <a:latin typeface="MiSans"/>
                <a:ea typeface="MiSans"/>
              </a:rPr>
              <a:t>Где лечить зубы рядом с центром?</a:t>
            </a:r>
            <a:endParaRPr lang="en-US" sz="1150"/>
          </a:p>
        </p:txBody>
      </p:sp>
      <p:sp>
        <p:nvSpPr>
          <p:cNvPr id="24" name="bubble-a"/>
          <p:cNvSpPr/>
          <p:nvPr/>
        </p:nvSpPr>
        <p:spPr>
          <a:xfrm>
            <a:off x="8128000" y="2667000"/>
            <a:ext cx="3048000" cy="2489200"/>
          </a:xfrm>
          <a:prstGeom prst="roundRect">
            <a:avLst>
              <a:gd name="adj" fmla="val 10000"/>
            </a:avLst>
          </a:prstGeom>
          <a:solidFill>
            <a:srgbClr val="EFEAE0"/>
          </a:solidFill>
          <a:ln w="12700">
            <a:solidFill>
              <a:srgbClr val="DDD6C8"/>
            </a:solidFill>
          </a:ln>
        </p:spPr>
      </p:sp>
      <p:sp>
        <p:nvSpPr>
          <p:cNvPr id="25" name="bubble-a-text"/>
          <p:cNvSpPr txBox="1"/>
          <p:nvPr/>
        </p:nvSpPr>
        <p:spPr>
          <a:xfrm>
            <a:off x="8331200" y="2819400"/>
            <a:ext cx="2641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101D42"/>
                </a:solidFill>
                <a:latin typeface="MiSans"/>
                <a:ea typeface="MiSans"/>
              </a:rPr>
              <a:t>Вот 3 клиники рядом: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50">
                <a:solidFill>
                  <a:srgbClr val="101D42"/>
                </a:solidFill>
                <a:latin typeface="MiSans"/>
                <a:ea typeface="MiSans"/>
              </a:rPr>
              <a:t>1. Стоматология «Улыбка»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101D42"/>
                </a:solidFill>
                <a:latin typeface="MiSans"/>
                <a:ea typeface="MiSans"/>
              </a:rPr>
              <a:t>2. Клиника «Дента-Плюс»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101D42"/>
                </a:solidFill>
                <a:latin typeface="MiSans"/>
                <a:ea typeface="MiSans"/>
              </a:rPr>
              <a:t>3. </a:t>
            </a:r>
            <a:r>
              <a:rPr lang="en-US" sz="1150" b="1">
                <a:solidFill>
                  <a:srgbClr val="B08D3E"/>
                </a:solidFill>
                <a:latin typeface="MiSans"/>
                <a:ea typeface="MiSans"/>
              </a:rPr>
              <a:t>______________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000">
                <a:solidFill>
                  <a:srgbClr val="7C8090"/>
                </a:solidFill>
                <a:latin typeface="MiSans"/>
                <a:ea typeface="MiSans"/>
              </a:rPr>
              <a:t>место №3 может занять ваша клиника</a:t>
            </a:r>
            <a:endParaRPr lang="en-US" sz="1150"/>
          </a:p>
        </p:txBody>
      </p:sp>
      <p:sp>
        <p:nvSpPr>
          <p:cNvPr id="26" name="phone-note"/>
          <p:cNvSpPr txBox="1"/>
          <p:nvPr/>
        </p:nvSpPr>
        <p:spPr>
          <a:xfrm>
            <a:off x="7823200" y="60706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00" i="1">
                <a:solidFill>
                  <a:srgbClr val="7C8090"/>
                </a:solidFill>
                <a:latin typeface="MiSans"/>
                <a:ea typeface="MiSans"/>
              </a:rPr>
              <a:t>Нейросеть уже отвечает пациентам — вопрос лишь в том, назовёт ли она вас</a:t>
            </a:r>
            <a:endParaRPr lang="en-US" sz="100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7C8090"/>
                </a:solidFill>
                <a:latin typeface="MiSans"/>
                <a:ea typeface="MiSans"/>
              </a:rPr>
              <a:t>03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7C8090"/>
                </a:solidFill>
                <a:latin typeface="MiSans"/>
                <a:ea typeface="MiSans"/>
              </a:rPr>
              <a:t>ПРОМПТЕР · СТОМАТОЛОГИЯ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482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101D42"/>
                </a:solidFill>
                <a:latin typeface="MiSans"/>
                <a:ea typeface="MiSans"/>
              </a:rPr>
              <a:t>НАШЕ ИННОВАЦИОННОЕ РЕШЕНИЕ — </a:t>
            </a:r>
            <a:r>
              <a:rPr lang="en-US" sz="2500" b="1">
                <a:solidFill>
                  <a:srgbClr val="B08D3E"/>
                </a:solidFill>
                <a:latin typeface="MiSans"/>
                <a:ea typeface="MiSans"/>
              </a:rPr>
              <a:t>СЕРВИС ПРОМПТЕР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7C8090"/>
                </a:solidFill>
                <a:latin typeface="MiSans"/>
                <a:ea typeface="MiSans"/>
              </a:rPr>
              <a:t>Полностью автоматизированная платформа на базе искусственного интеллекта, которая продвигает стоматологические клиники в нейровыдаче и поисковых системах без ручной рутины</a:t>
            </a:r>
            <a:endParaRPr lang="en-US" sz="1300"/>
          </a:p>
        </p:txBody>
      </p:sp>
      <p:sp>
        <p:nvSpPr>
          <p:cNvPr id="5" name="uniq-box"/>
          <p:cNvSpPr/>
          <p:nvPr/>
        </p:nvSpPr>
        <p:spPr>
          <a:xfrm>
            <a:off x="711200" y="1574800"/>
            <a:ext cx="10769600" cy="431800"/>
          </a:xfrm>
          <a:prstGeom prst="rect">
            <a:avLst/>
          </a:prstGeom>
          <a:solidFill>
            <a:srgbClr val="B08D3E">
              <a:alpha val="7843"/>
            </a:srgbClr>
          </a:solidFill>
          <a:ln w="12700">
            <a:solidFill>
              <a:srgbClr val="B08D3E"/>
            </a:solidFill>
          </a:ln>
        </p:spPr>
      </p:sp>
      <p:sp>
        <p:nvSpPr>
          <p:cNvPr id="6" name="uniq-text"/>
          <p:cNvSpPr txBox="1"/>
          <p:nvPr/>
        </p:nvSpPr>
        <p:spPr>
          <a:xfrm>
            <a:off x="711200" y="1574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kern="0" spc="100">
                <a:solidFill>
                  <a:srgbClr val="101D42"/>
                </a:solidFill>
                <a:latin typeface="MiSans"/>
                <a:ea typeface="MiSans"/>
              </a:rPr>
              <a:t>УНИКАЛЬНОСТЬ: СЕРВИС НЕ ТОЛЬКО ГЕНЕРИРУЕТ КОНТЕНТ — ОН САМ ЕГО ПУБЛИКУЕТ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711200" y="22098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>
            <a:outerShdw blurRad="127000" dist="50800" dir="5400000" algn="bl" rotWithShape="0">
              <a:srgbClr val="101D42">
                <a:alpha val="5882"/>
              </a:srgbClr>
            </a:outerShdw>
          </a:effectLst>
        </p:spPr>
      </p:sp>
      <p:sp>
        <p:nvSpPr>
          <p:cNvPr id="8" name="c1-chip"/>
          <p:cNvSpPr/>
          <p:nvPr/>
        </p:nvSpPr>
        <p:spPr>
          <a:xfrm>
            <a:off x="939800" y="2413000"/>
            <a:ext cx="457200" cy="457200"/>
          </a:xfrm>
          <a:prstGeom prst="rect">
            <a:avLst/>
          </a:prstGeom>
          <a:solidFill>
            <a:srgbClr val="B08D3E">
              <a:alpha val="9412"/>
            </a:srgbClr>
          </a:solidFill>
          <a:ln>
            <a:noFill/>
          </a:ln>
        </p:spPr>
      </p:sp>
      <p:sp>
        <p:nvSpPr>
          <p:cNvPr id="9" name="c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eyJpY29uTmFtZSI6ImZhczpwZW4tbmliIn0</pptd:icon>
              </p:ext>
            </p:extLst>
          </p:nvPr>
        </p:nvSpPr>
        <p:spPr>
          <a:xfrm>
            <a:off x="1028700" y="2501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69" y="18"/>
                </a:moveTo>
                <a:lnTo>
                  <a:pt x="318" y="68"/>
                </a:lnTo>
                <a:lnTo>
                  <a:pt x="444" y="194"/>
                </a:lnTo>
                <a:lnTo>
                  <a:pt x="494" y="144"/>
                </a:lnTo>
                <a:cubicBezTo>
                  <a:pt x="516" y="122"/>
                  <a:pt x="516" y="86"/>
                  <a:pt x="494" y="64"/>
                </a:cubicBezTo>
                <a:lnTo>
                  <a:pt x="448" y="18"/>
                </a:lnTo>
                <a:cubicBezTo>
                  <a:pt x="426" y="-4"/>
                  <a:pt x="390" y="-4"/>
                  <a:pt x="369" y="18"/>
                </a:cubicBezTo>
                <a:close/>
                <a:moveTo>
                  <a:pt x="279" y="97"/>
                </a:moveTo>
                <a:lnTo>
                  <a:pt x="279" y="97"/>
                </a:lnTo>
                <a:lnTo>
                  <a:pt x="135" y="141"/>
                </a:lnTo>
                <a:cubicBezTo>
                  <a:pt x="115" y="147"/>
                  <a:pt x="99" y="162"/>
                  <a:pt x="92" y="182"/>
                </a:cubicBezTo>
                <a:lnTo>
                  <a:pt x="4" y="446"/>
                </a:lnTo>
                <a:cubicBezTo>
                  <a:pt x="1" y="455"/>
                  <a:pt x="2" y="464"/>
                  <a:pt x="6" y="472"/>
                </a:cubicBezTo>
                <a:lnTo>
                  <a:pt x="162" y="316"/>
                </a:lnTo>
                <a:cubicBezTo>
                  <a:pt x="161" y="312"/>
                  <a:pt x="160" y="308"/>
                  <a:pt x="160" y="304"/>
                </a:cubicBezTo>
                <a:cubicBezTo>
                  <a:pt x="160" y="278"/>
                  <a:pt x="182" y="256"/>
                  <a:pt x="208" y="256"/>
                </a:cubicBezTo>
                <a:cubicBezTo>
                  <a:pt x="235" y="256"/>
                  <a:pt x="256" y="278"/>
                  <a:pt x="256" y="304"/>
                </a:cubicBezTo>
                <a:cubicBezTo>
                  <a:pt x="256" y="331"/>
                  <a:pt x="235" y="352"/>
                  <a:pt x="208" y="352"/>
                </a:cubicBezTo>
                <a:cubicBezTo>
                  <a:pt x="204" y="352"/>
                  <a:pt x="200" y="351"/>
                  <a:pt x="196" y="350"/>
                </a:cubicBezTo>
                <a:lnTo>
                  <a:pt x="40" y="506"/>
                </a:lnTo>
                <a:cubicBezTo>
                  <a:pt x="48" y="510"/>
                  <a:pt x="58" y="511"/>
                  <a:pt x="66" y="508"/>
                </a:cubicBezTo>
                <a:lnTo>
                  <a:pt x="331" y="420"/>
                </a:lnTo>
                <a:cubicBezTo>
                  <a:pt x="350" y="413"/>
                  <a:pt x="366" y="397"/>
                  <a:pt x="372" y="377"/>
                </a:cubicBezTo>
                <a:lnTo>
                  <a:pt x="415" y="233"/>
                </a:lnTo>
                <a:lnTo>
                  <a:pt x="415" y="233"/>
                </a:lnTo>
                <a:lnTo>
                  <a:pt x="279" y="97"/>
                </a:ln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0" name="c1-title"/>
          <p:cNvSpPr txBox="1"/>
          <p:nvPr/>
        </p:nvSpPr>
        <p:spPr>
          <a:xfrm>
            <a:off x="1549400" y="25146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01D42"/>
                </a:solidFill>
                <a:latin typeface="MiSans"/>
                <a:ea typeface="MiSans"/>
              </a:rPr>
              <a:t>AI-КОПИРАЙТЕР</a:t>
            </a:r>
            <a:endParaRPr lang="en-US" sz="1350"/>
          </a:p>
        </p:txBody>
      </p:sp>
      <p:sp>
        <p:nvSpPr>
          <p:cNvPr id="11" name="c1-desc"/>
          <p:cNvSpPr txBox="1"/>
          <p:nvPr/>
        </p:nvSpPr>
        <p:spPr>
          <a:xfrm>
            <a:off x="939800" y="3048000"/>
            <a:ext cx="2997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7C8090"/>
                </a:solidFill>
                <a:latin typeface="MiSans"/>
                <a:ea typeface="MiSans"/>
              </a:rPr>
              <a:t>Создаёт тексты об услугах, врачах и технологиях клиники в вашем tone of voice</a:t>
            </a:r>
            <a:endParaRPr lang="en-US" sz="1100"/>
          </a:p>
        </p:txBody>
      </p:sp>
      <p:sp>
        <p:nvSpPr>
          <p:cNvPr id="12" name="c2"/>
          <p:cNvSpPr/>
          <p:nvPr/>
        </p:nvSpPr>
        <p:spPr>
          <a:xfrm>
            <a:off x="4368800" y="22098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>
            <a:outerShdw blurRad="127000" dist="50800" dir="5400000" algn="bl" rotWithShape="0">
              <a:srgbClr val="101D42">
                <a:alpha val="5882"/>
              </a:srgbClr>
            </a:outerShdw>
          </a:effectLst>
        </p:spPr>
      </p:sp>
      <p:sp>
        <p:nvSpPr>
          <p:cNvPr id="13" name="c2-chip"/>
          <p:cNvSpPr/>
          <p:nvPr/>
        </p:nvSpPr>
        <p:spPr>
          <a:xfrm>
            <a:off x="4597400" y="2413000"/>
            <a:ext cx="457200" cy="457200"/>
          </a:xfrm>
          <a:prstGeom prst="rect">
            <a:avLst/>
          </a:prstGeom>
          <a:solidFill>
            <a:srgbClr val="B08D3E">
              <a:alpha val="9412"/>
            </a:srgbClr>
          </a:solidFill>
          <a:ln>
            <a:noFill/>
          </a:ln>
        </p:spPr>
      </p:sp>
      <p:sp>
        <p:nvSpPr>
          <p:cNvPr id="14" name="c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4686300" y="2501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5" name="c2-title"/>
          <p:cNvSpPr txBox="1"/>
          <p:nvPr/>
        </p:nvSpPr>
        <p:spPr>
          <a:xfrm>
            <a:off x="5207000" y="25146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01D42"/>
                </a:solidFill>
                <a:latin typeface="MiSans"/>
                <a:ea typeface="MiSans"/>
              </a:rPr>
              <a:t>AI-МОДЕРАТОР</a:t>
            </a:r>
            <a:endParaRPr lang="en-US" sz="1350"/>
          </a:p>
        </p:txBody>
      </p:sp>
      <p:sp>
        <p:nvSpPr>
          <p:cNvPr id="16" name="c2-desc"/>
          <p:cNvSpPr txBox="1"/>
          <p:nvPr/>
        </p:nvSpPr>
        <p:spPr>
          <a:xfrm>
            <a:off x="4597400" y="3048000"/>
            <a:ext cx="2997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7C8090"/>
                </a:solidFill>
                <a:latin typeface="MiSans"/>
                <a:ea typeface="MiSans"/>
              </a:rPr>
              <a:t>Проверяет каждый материал перед публикацией и формирует контент-план</a:t>
            </a:r>
            <a:endParaRPr lang="en-US" sz="1100"/>
          </a:p>
        </p:txBody>
      </p:sp>
      <p:sp>
        <p:nvSpPr>
          <p:cNvPr id="17" name="c3"/>
          <p:cNvSpPr/>
          <p:nvPr/>
        </p:nvSpPr>
        <p:spPr>
          <a:xfrm>
            <a:off x="8026400" y="22098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>
            <a:outerShdw blurRad="127000" dist="50800" dir="5400000" algn="bl" rotWithShape="0">
              <a:srgbClr val="101D42">
                <a:alpha val="5882"/>
              </a:srgbClr>
            </a:outerShdw>
          </a:effectLst>
        </p:spPr>
      </p:sp>
      <p:sp>
        <p:nvSpPr>
          <p:cNvPr id="18" name="c3-chip"/>
          <p:cNvSpPr/>
          <p:nvPr/>
        </p:nvSpPr>
        <p:spPr>
          <a:xfrm>
            <a:off x="8255000" y="2413000"/>
            <a:ext cx="457200" cy="457200"/>
          </a:xfrm>
          <a:prstGeom prst="rect">
            <a:avLst/>
          </a:prstGeom>
          <a:solidFill>
            <a:srgbClr val="B08D3E">
              <a:alpha val="9412"/>
            </a:srgbClr>
          </a:solidFill>
          <a:ln>
            <a:noFill/>
          </a:ln>
        </p:spPr>
      </p:sp>
      <p:sp>
        <p:nvSpPr>
          <p:cNvPr id="19" name="c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eyJpY29uTmFtZSI6ImZhczpjaGVzcyJ9</pptd:icon>
              </p:ext>
            </p:extLst>
          </p:nvPr>
        </p:nvSpPr>
        <p:spPr>
          <a:xfrm>
            <a:off x="8343900" y="2501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68" y="56"/>
                </a:moveTo>
                <a:lnTo>
                  <a:pt x="168" y="96"/>
                </a:lnTo>
                <a:lnTo>
                  <a:pt x="90" y="96"/>
                </a:lnTo>
                <a:cubicBezTo>
                  <a:pt x="76" y="96"/>
                  <a:pt x="64" y="108"/>
                  <a:pt x="64" y="122"/>
                </a:cubicBezTo>
                <a:cubicBezTo>
                  <a:pt x="64" y="126"/>
                  <a:pt x="65" y="130"/>
                  <a:pt x="67" y="134"/>
                </a:cubicBezTo>
                <a:lnTo>
                  <a:pt x="100" y="200"/>
                </a:lnTo>
                <a:cubicBezTo>
                  <a:pt x="89" y="202"/>
                  <a:pt x="80" y="212"/>
                  <a:pt x="80" y="224"/>
                </a:cubicBezTo>
                <a:cubicBezTo>
                  <a:pt x="80" y="237"/>
                  <a:pt x="91" y="248"/>
                  <a:pt x="104" y="248"/>
                </a:cubicBezTo>
                <a:lnTo>
                  <a:pt x="109" y="248"/>
                </a:lnTo>
                <a:lnTo>
                  <a:pt x="96" y="384"/>
                </a:lnTo>
                <a:lnTo>
                  <a:pt x="40" y="454"/>
                </a:lnTo>
                <a:cubicBezTo>
                  <a:pt x="35" y="461"/>
                  <a:pt x="32" y="468"/>
                  <a:pt x="32" y="477"/>
                </a:cubicBezTo>
                <a:cubicBezTo>
                  <a:pt x="32" y="496"/>
                  <a:pt x="48" y="512"/>
                  <a:pt x="67" y="512"/>
                </a:cubicBezTo>
                <a:lnTo>
                  <a:pt x="316" y="512"/>
                </a:lnTo>
                <a:cubicBezTo>
                  <a:pt x="336" y="512"/>
                  <a:pt x="352" y="496"/>
                  <a:pt x="352" y="477"/>
                </a:cubicBezTo>
                <a:cubicBezTo>
                  <a:pt x="352" y="468"/>
                  <a:pt x="349" y="461"/>
                  <a:pt x="344" y="454"/>
                </a:cubicBezTo>
                <a:lnTo>
                  <a:pt x="288" y="384"/>
                </a:lnTo>
                <a:lnTo>
                  <a:pt x="274" y="248"/>
                </a:lnTo>
                <a:lnTo>
                  <a:pt x="280" y="248"/>
                </a:lnTo>
                <a:cubicBezTo>
                  <a:pt x="293" y="248"/>
                  <a:pt x="304" y="237"/>
                  <a:pt x="304" y="224"/>
                </a:cubicBezTo>
                <a:cubicBezTo>
                  <a:pt x="304" y="212"/>
                  <a:pt x="295" y="202"/>
                  <a:pt x="284" y="200"/>
                </a:cubicBezTo>
                <a:lnTo>
                  <a:pt x="317" y="134"/>
                </a:lnTo>
                <a:cubicBezTo>
                  <a:pt x="319" y="130"/>
                  <a:pt x="320" y="126"/>
                  <a:pt x="320" y="122"/>
                </a:cubicBezTo>
                <a:cubicBezTo>
                  <a:pt x="320" y="108"/>
                  <a:pt x="308" y="96"/>
                  <a:pt x="294" y="96"/>
                </a:cubicBezTo>
                <a:lnTo>
                  <a:pt x="216" y="96"/>
                </a:lnTo>
                <a:lnTo>
                  <a:pt x="216" y="56"/>
                </a:lnTo>
                <a:lnTo>
                  <a:pt x="232" y="56"/>
                </a:lnTo>
                <a:cubicBezTo>
                  <a:pt x="245" y="56"/>
                  <a:pt x="256" y="45"/>
                  <a:pt x="256" y="32"/>
                </a:cubicBezTo>
                <a:cubicBezTo>
                  <a:pt x="256" y="19"/>
                  <a:pt x="245" y="8"/>
                  <a:pt x="232" y="8"/>
                </a:cubicBezTo>
                <a:lnTo>
                  <a:pt x="216" y="8"/>
                </a:lnTo>
                <a:lnTo>
                  <a:pt x="216" y="-8"/>
                </a:lnTo>
                <a:cubicBezTo>
                  <a:pt x="216" y="-21"/>
                  <a:pt x="205" y="-32"/>
                  <a:pt x="192" y="-32"/>
                </a:cubicBezTo>
                <a:cubicBezTo>
                  <a:pt x="179" y="-32"/>
                  <a:pt x="168" y="-21"/>
                  <a:pt x="168" y="-8"/>
                </a:cubicBezTo>
                <a:lnTo>
                  <a:pt x="168" y="8"/>
                </a:lnTo>
                <a:lnTo>
                  <a:pt x="152" y="8"/>
                </a:lnTo>
                <a:cubicBezTo>
                  <a:pt x="139" y="8"/>
                  <a:pt x="128" y="19"/>
                  <a:pt x="128" y="32"/>
                </a:cubicBezTo>
                <a:cubicBezTo>
                  <a:pt x="128" y="45"/>
                  <a:pt x="139" y="56"/>
                  <a:pt x="152" y="56"/>
                </a:cubicBezTo>
                <a:lnTo>
                  <a:pt x="168" y="56"/>
                </a:lnTo>
                <a:close/>
                <a:moveTo>
                  <a:pt x="326" y="280"/>
                </a:moveTo>
                <a:lnTo>
                  <a:pt x="334" y="365"/>
                </a:lnTo>
                <a:lnTo>
                  <a:pt x="382" y="424"/>
                </a:lnTo>
                <a:lnTo>
                  <a:pt x="386" y="430"/>
                </a:lnTo>
                <a:cubicBezTo>
                  <a:pt x="395" y="444"/>
                  <a:pt x="400" y="460"/>
                  <a:pt x="400" y="477"/>
                </a:cubicBezTo>
                <a:cubicBezTo>
                  <a:pt x="400" y="489"/>
                  <a:pt x="397" y="501"/>
                  <a:pt x="392" y="512"/>
                </a:cubicBezTo>
                <a:lnTo>
                  <a:pt x="475" y="512"/>
                </a:lnTo>
                <a:cubicBezTo>
                  <a:pt x="496" y="512"/>
                  <a:pt x="512" y="496"/>
                  <a:pt x="512" y="475"/>
                </a:cubicBezTo>
                <a:cubicBezTo>
                  <a:pt x="512" y="468"/>
                  <a:pt x="510" y="461"/>
                  <a:pt x="506" y="455"/>
                </a:cubicBezTo>
                <a:lnTo>
                  <a:pt x="480" y="416"/>
                </a:lnTo>
                <a:lnTo>
                  <a:pt x="480" y="352"/>
                </a:lnTo>
                <a:lnTo>
                  <a:pt x="493" y="339"/>
                </a:lnTo>
                <a:cubicBezTo>
                  <a:pt x="505" y="327"/>
                  <a:pt x="512" y="311"/>
                  <a:pt x="512" y="294"/>
                </a:cubicBezTo>
                <a:lnTo>
                  <a:pt x="512" y="192"/>
                </a:lnTo>
                <a:cubicBezTo>
                  <a:pt x="512" y="174"/>
                  <a:pt x="498" y="160"/>
                  <a:pt x="480" y="160"/>
                </a:cubicBezTo>
                <a:cubicBezTo>
                  <a:pt x="462" y="160"/>
                  <a:pt x="448" y="174"/>
                  <a:pt x="448" y="192"/>
                </a:cubicBezTo>
                <a:lnTo>
                  <a:pt x="448" y="208"/>
                </a:lnTo>
                <a:lnTo>
                  <a:pt x="416" y="208"/>
                </a:lnTo>
                <a:lnTo>
                  <a:pt x="416" y="192"/>
                </a:lnTo>
                <a:cubicBezTo>
                  <a:pt x="416" y="174"/>
                  <a:pt x="402" y="160"/>
                  <a:pt x="384" y="160"/>
                </a:cubicBezTo>
                <a:cubicBezTo>
                  <a:pt x="366" y="160"/>
                  <a:pt x="352" y="174"/>
                  <a:pt x="352" y="192"/>
                </a:cubicBezTo>
                <a:lnTo>
                  <a:pt x="352" y="224"/>
                </a:lnTo>
                <a:cubicBezTo>
                  <a:pt x="352" y="246"/>
                  <a:pt x="342" y="266"/>
                  <a:pt x="326" y="280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20" name="c3-title"/>
          <p:cNvSpPr txBox="1"/>
          <p:nvPr/>
        </p:nvSpPr>
        <p:spPr>
          <a:xfrm>
            <a:off x="8864600" y="25146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01D42"/>
                </a:solidFill>
                <a:latin typeface="MiSans"/>
                <a:ea typeface="MiSans"/>
              </a:rPr>
              <a:t>AI-СТРАТЕГ</a:t>
            </a:r>
            <a:endParaRPr lang="en-US" sz="1350"/>
          </a:p>
        </p:txBody>
      </p:sp>
      <p:sp>
        <p:nvSpPr>
          <p:cNvPr id="21" name="c3-desc"/>
          <p:cNvSpPr txBox="1"/>
          <p:nvPr/>
        </p:nvSpPr>
        <p:spPr>
          <a:xfrm>
            <a:off x="8255000" y="3048000"/>
            <a:ext cx="2997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7C8090"/>
                </a:solidFill>
                <a:latin typeface="MiSans"/>
                <a:ea typeface="MiSans"/>
              </a:rPr>
              <a:t>Строит стратегию продвижения в нейровыдаче под специализацию вашей клиники</a:t>
            </a:r>
            <a:endParaRPr lang="en-US" sz="1100"/>
          </a:p>
        </p:txBody>
      </p:sp>
      <p:sp>
        <p:nvSpPr>
          <p:cNvPr id="22" name="c4"/>
          <p:cNvSpPr/>
          <p:nvPr/>
        </p:nvSpPr>
        <p:spPr>
          <a:xfrm>
            <a:off x="711200" y="40386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>
            <a:outerShdw blurRad="127000" dist="50800" dir="5400000" algn="bl" rotWithShape="0">
              <a:srgbClr val="101D42">
                <a:alpha val="5882"/>
              </a:srgbClr>
            </a:outerShdw>
          </a:effectLst>
        </p:spPr>
      </p:sp>
      <p:sp>
        <p:nvSpPr>
          <p:cNvPr id="23" name="c4-chip"/>
          <p:cNvSpPr/>
          <p:nvPr/>
        </p:nvSpPr>
        <p:spPr>
          <a:xfrm>
            <a:off x="939800" y="4241800"/>
            <a:ext cx="457200" cy="457200"/>
          </a:xfrm>
          <a:prstGeom prst="rect">
            <a:avLst/>
          </a:prstGeom>
          <a:solidFill>
            <a:srgbClr val="B08D3E">
              <a:alpha val="9412"/>
            </a:srgbClr>
          </a:solidFill>
          <a:ln>
            <a:noFill/>
          </a:ln>
        </p:spPr>
      </p:sp>
      <p:sp>
        <p:nvSpPr>
          <p:cNvPr id="24" name="c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eyJpY29uTmFtZSI6ImZhczpjaGFydC1waWUifQ</pptd:icon>
              </p:ext>
            </p:extLst>
          </p:nvPr>
        </p:nvSpPr>
        <p:spPr>
          <a:xfrm>
            <a:off x="1028700" y="4330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25" name="c4-title"/>
          <p:cNvSpPr txBox="1"/>
          <p:nvPr/>
        </p:nvSpPr>
        <p:spPr>
          <a:xfrm>
            <a:off x="1549400" y="4343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01D42"/>
                </a:solidFill>
                <a:latin typeface="MiSans"/>
                <a:ea typeface="MiSans"/>
              </a:rPr>
              <a:t>МОДУЛЬ АНАЛИТИКИ</a:t>
            </a:r>
            <a:endParaRPr lang="en-US" sz="1350"/>
          </a:p>
        </p:txBody>
      </p:sp>
      <p:sp>
        <p:nvSpPr>
          <p:cNvPr id="26" name="c4-desc"/>
          <p:cNvSpPr txBox="1"/>
          <p:nvPr/>
        </p:nvSpPr>
        <p:spPr>
          <a:xfrm>
            <a:off x="939800" y="4876800"/>
            <a:ext cx="2997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7C8090"/>
                </a:solidFill>
                <a:latin typeface="MiSans"/>
                <a:ea typeface="MiSans"/>
              </a:rPr>
              <a:t>Отслеживает присутствие бренда в нейросетях и поисковых системах</a:t>
            </a:r>
            <a:endParaRPr lang="en-US" sz="1100"/>
          </a:p>
        </p:txBody>
      </p:sp>
      <p:sp>
        <p:nvSpPr>
          <p:cNvPr id="27" name="c5"/>
          <p:cNvSpPr/>
          <p:nvPr/>
        </p:nvSpPr>
        <p:spPr>
          <a:xfrm>
            <a:off x="4368800" y="40386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>
            <a:outerShdw blurRad="127000" dist="50800" dir="5400000" algn="bl" rotWithShape="0">
              <a:srgbClr val="101D42">
                <a:alpha val="5882"/>
              </a:srgbClr>
            </a:outerShdw>
          </a:effectLst>
        </p:spPr>
      </p:sp>
      <p:sp>
        <p:nvSpPr>
          <p:cNvPr id="28" name="c5-chip"/>
          <p:cNvSpPr/>
          <p:nvPr/>
        </p:nvSpPr>
        <p:spPr>
          <a:xfrm>
            <a:off x="4597400" y="4241800"/>
            <a:ext cx="457200" cy="457200"/>
          </a:xfrm>
          <a:prstGeom prst="rect">
            <a:avLst/>
          </a:prstGeom>
          <a:solidFill>
            <a:srgbClr val="B08D3E">
              <a:alpha val="9412"/>
            </a:srgbClr>
          </a:solidFill>
          <a:ln>
            <a:noFill/>
          </a:ln>
        </p:spPr>
      </p:sp>
      <p:sp>
        <p:nvSpPr>
          <p:cNvPr id="29" name="c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eyJpY29uTmFtZSI6ImZhczptaWNyb3Njb3BlIn0</pptd:icon>
              </p:ext>
            </p:extLst>
          </p:nvPr>
        </p:nvSpPr>
        <p:spPr>
          <a:xfrm>
            <a:off x="4686300" y="4330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0"/>
                </a:moveTo>
                <a:cubicBezTo>
                  <a:pt x="150" y="0"/>
                  <a:pt x="128" y="22"/>
                  <a:pt x="128" y="48"/>
                </a:cubicBezTo>
                <a:lnTo>
                  <a:pt x="128" y="256"/>
                </a:lnTo>
                <a:cubicBezTo>
                  <a:pt x="128" y="283"/>
                  <a:pt x="150" y="304"/>
                  <a:pt x="176" y="304"/>
                </a:cubicBezTo>
                <a:lnTo>
                  <a:pt x="240" y="304"/>
                </a:lnTo>
                <a:cubicBezTo>
                  <a:pt x="267" y="304"/>
                  <a:pt x="288" y="283"/>
                  <a:pt x="288" y="256"/>
                </a:cubicBezTo>
                <a:lnTo>
                  <a:pt x="288" y="192"/>
                </a:lnTo>
                <a:lnTo>
                  <a:pt x="320" y="192"/>
                </a:lnTo>
                <a:cubicBezTo>
                  <a:pt x="391" y="192"/>
                  <a:pt x="448" y="249"/>
                  <a:pt x="448" y="320"/>
                </a:cubicBezTo>
                <a:cubicBezTo>
                  <a:pt x="448" y="391"/>
                  <a:pt x="391" y="448"/>
                  <a:pt x="320" y="448"/>
                </a:cubicBezTo>
                <a:lnTo>
                  <a:pt x="32" y="448"/>
                </a:lnTo>
                <a:cubicBezTo>
                  <a:pt x="14" y="448"/>
                  <a:pt x="0" y="462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62"/>
                  <a:pt x="498" y="448"/>
                  <a:pt x="480" y="448"/>
                </a:cubicBezTo>
                <a:lnTo>
                  <a:pt x="463" y="448"/>
                </a:lnTo>
                <a:cubicBezTo>
                  <a:pt x="494" y="414"/>
                  <a:pt x="512" y="369"/>
                  <a:pt x="512" y="320"/>
                </a:cubicBezTo>
                <a:cubicBezTo>
                  <a:pt x="512" y="214"/>
                  <a:pt x="426" y="128"/>
                  <a:pt x="320" y="128"/>
                </a:cubicBezTo>
                <a:lnTo>
                  <a:pt x="288" y="128"/>
                </a:lnTo>
                <a:lnTo>
                  <a:pt x="288" y="48"/>
                </a:lnTo>
                <a:cubicBezTo>
                  <a:pt x="288" y="22"/>
                  <a:pt x="267" y="0"/>
                  <a:pt x="240" y="0"/>
                </a:cubicBezTo>
                <a:lnTo>
                  <a:pt x="176" y="0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96" y="400"/>
                </a:lnTo>
                <a:cubicBezTo>
                  <a:pt x="309" y="400"/>
                  <a:pt x="320" y="389"/>
                  <a:pt x="320" y="376"/>
                </a:cubicBezTo>
                <a:cubicBezTo>
                  <a:pt x="320" y="363"/>
                  <a:pt x="309" y="352"/>
                  <a:pt x="296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30" name="c5-title"/>
          <p:cNvSpPr txBox="1"/>
          <p:nvPr/>
        </p:nvSpPr>
        <p:spPr>
          <a:xfrm>
            <a:off x="5207000" y="4343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01D42"/>
                </a:solidFill>
                <a:latin typeface="MiSans"/>
                <a:ea typeface="MiSans"/>
              </a:rPr>
              <a:t>AI-ИССЛЕДОВАТЕЛЬ</a:t>
            </a:r>
            <a:endParaRPr lang="en-US" sz="1350"/>
          </a:p>
        </p:txBody>
      </p:sp>
      <p:sp>
        <p:nvSpPr>
          <p:cNvPr id="31" name="c5-desc"/>
          <p:cNvSpPr txBox="1"/>
          <p:nvPr/>
        </p:nvSpPr>
        <p:spPr>
          <a:xfrm>
            <a:off x="4597400" y="4876800"/>
            <a:ext cx="2997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7C8090"/>
                </a:solidFill>
                <a:latin typeface="MiSans"/>
                <a:ea typeface="MiSans"/>
              </a:rPr>
              <a:t>Анализирует конкурентов и пациентов в вашем районе и городе</a:t>
            </a:r>
            <a:endParaRPr lang="en-US" sz="1100"/>
          </a:p>
        </p:txBody>
      </p:sp>
      <p:sp>
        <p:nvSpPr>
          <p:cNvPr id="32" name="c6"/>
          <p:cNvSpPr/>
          <p:nvPr/>
        </p:nvSpPr>
        <p:spPr>
          <a:xfrm>
            <a:off x="8026400" y="40386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>
            <a:outerShdw blurRad="127000" dist="50800" dir="5400000" algn="bl" rotWithShape="0">
              <a:srgbClr val="101D42">
                <a:alpha val="5882"/>
              </a:srgbClr>
            </a:outerShdw>
          </a:effectLst>
        </p:spPr>
      </p:sp>
      <p:sp>
        <p:nvSpPr>
          <p:cNvPr id="33" name="c6-chip"/>
          <p:cNvSpPr/>
          <p:nvPr/>
        </p:nvSpPr>
        <p:spPr>
          <a:xfrm>
            <a:off x="8255000" y="4241800"/>
            <a:ext cx="457200" cy="457200"/>
          </a:xfrm>
          <a:prstGeom prst="rect">
            <a:avLst/>
          </a:prstGeom>
          <a:solidFill>
            <a:srgbClr val="B08D3E">
              <a:alpha val="9412"/>
            </a:srgbClr>
          </a:solidFill>
          <a:ln>
            <a:noFill/>
          </a:ln>
        </p:spPr>
      </p:sp>
      <p:sp>
        <p:nvSpPr>
          <p:cNvPr id="34" name="c6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eyJpY29uTmFtZSI6ImZhczpwYWxldHRlIn0</pptd:icon>
              </p:ext>
            </p:extLst>
          </p:nvPr>
        </p:nvSpPr>
        <p:spPr>
          <a:xfrm>
            <a:off x="8343900" y="4330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256"/>
                </a:moveTo>
                <a:cubicBezTo>
                  <a:pt x="512" y="257"/>
                  <a:pt x="512" y="258"/>
                  <a:pt x="512" y="259"/>
                </a:cubicBezTo>
                <a:cubicBezTo>
                  <a:pt x="512" y="295"/>
                  <a:pt x="478" y="320"/>
                  <a:pt x="442" y="320"/>
                </a:cubicBezTo>
                <a:lnTo>
                  <a:pt x="344" y="320"/>
                </a:lnTo>
                <a:cubicBezTo>
                  <a:pt x="318" y="320"/>
                  <a:pt x="296" y="342"/>
                  <a:pt x="296" y="368"/>
                </a:cubicBezTo>
                <a:cubicBezTo>
                  <a:pt x="296" y="371"/>
                  <a:pt x="296" y="375"/>
                  <a:pt x="297" y="378"/>
                </a:cubicBezTo>
                <a:cubicBezTo>
                  <a:pt x="299" y="388"/>
                  <a:pt x="304" y="398"/>
                  <a:pt x="308" y="408"/>
                </a:cubicBezTo>
                <a:cubicBezTo>
                  <a:pt x="314" y="422"/>
                  <a:pt x="320" y="435"/>
                  <a:pt x="320" y="450"/>
                </a:cubicBezTo>
                <a:cubicBezTo>
                  <a:pt x="320" y="482"/>
                  <a:pt x="298" y="510"/>
                  <a:pt x="267" y="512"/>
                </a:cubicBezTo>
                <a:cubicBezTo>
                  <a:pt x="263" y="512"/>
                  <a:pt x="260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lose/>
                <a:moveTo>
                  <a:pt x="128" y="288"/>
                </a:moveTo>
                <a:cubicBezTo>
                  <a:pt x="128" y="270"/>
                  <a:pt x="114" y="256"/>
                  <a:pt x="96" y="256"/>
                </a:cubicBezTo>
                <a:cubicBezTo>
                  <a:pt x="78" y="256"/>
                  <a:pt x="64" y="270"/>
                  <a:pt x="64" y="288"/>
                </a:cubicBezTo>
                <a:cubicBezTo>
                  <a:pt x="64" y="306"/>
                  <a:pt x="78" y="320"/>
                  <a:pt x="96" y="320"/>
                </a:cubicBezTo>
                <a:cubicBezTo>
                  <a:pt x="114" y="320"/>
                  <a:pt x="128" y="306"/>
                  <a:pt x="128" y="288"/>
                </a:cubicBezTo>
                <a:close/>
                <a:moveTo>
                  <a:pt x="128" y="192"/>
                </a:moveTo>
                <a:cubicBezTo>
                  <a:pt x="146" y="192"/>
                  <a:pt x="160" y="178"/>
                  <a:pt x="160" y="160"/>
                </a:cubicBez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384" y="192"/>
                </a:moveTo>
                <a:cubicBezTo>
                  <a:pt x="402" y="192"/>
                  <a:pt x="416" y="178"/>
                  <a:pt x="416" y="160"/>
                </a:cubicBezTo>
                <a:cubicBezTo>
                  <a:pt x="416" y="142"/>
                  <a:pt x="402" y="128"/>
                  <a:pt x="384" y="128"/>
                </a:cubicBezTo>
                <a:cubicBezTo>
                  <a:pt x="366" y="128"/>
                  <a:pt x="352" y="142"/>
                  <a:pt x="352" y="160"/>
                </a:cubicBezTo>
                <a:cubicBezTo>
                  <a:pt x="352" y="178"/>
                  <a:pt x="366" y="192"/>
                  <a:pt x="384" y="192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35" name="c6-title"/>
          <p:cNvSpPr txBox="1"/>
          <p:nvPr/>
        </p:nvSpPr>
        <p:spPr>
          <a:xfrm>
            <a:off x="8864600" y="4343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01D42"/>
                </a:solidFill>
                <a:latin typeface="MiSans"/>
                <a:ea typeface="MiSans"/>
              </a:rPr>
              <a:t>AI-ДИЗАЙНЕР</a:t>
            </a:r>
            <a:endParaRPr lang="en-US" sz="1350"/>
          </a:p>
        </p:txBody>
      </p:sp>
      <p:sp>
        <p:nvSpPr>
          <p:cNvPr id="36" name="c6-desc"/>
          <p:cNvSpPr txBox="1"/>
          <p:nvPr/>
        </p:nvSpPr>
        <p:spPr>
          <a:xfrm>
            <a:off x="8255000" y="4876800"/>
            <a:ext cx="2997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7C8090"/>
                </a:solidFill>
                <a:latin typeface="MiSans"/>
                <a:ea typeface="MiSans"/>
              </a:rPr>
              <a:t>Готовит визуал, фирменные обложки и оформление для каждой публикации</a:t>
            </a:r>
            <a:endParaRPr lang="en-US" sz="1100"/>
          </a:p>
        </p:txBody>
      </p:sp>
      <p:sp>
        <p:nvSpPr>
          <p:cNvPr id="37" name="bottom-note"/>
          <p:cNvSpPr txBox="1"/>
          <p:nvPr/>
        </p:nvSpPr>
        <p:spPr>
          <a:xfrm>
            <a:off x="711200" y="5892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>
                <a:solidFill>
                  <a:srgbClr val="7C8090"/>
                </a:solidFill>
                <a:latin typeface="MiSans"/>
                <a:ea typeface="MiSans"/>
              </a:rPr>
              <a:t>Все модули работают как единая система — от идеи до публикации без вашего участия</a:t>
            </a:r>
            <a:endParaRPr lang="en-US" sz="1200"/>
          </a:p>
        </p:txBody>
      </p:sp>
      <p:sp>
        <p:nvSpPr>
          <p:cNvPr id="38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7C8090"/>
                </a:solidFill>
                <a:latin typeface="MiSans"/>
                <a:ea typeface="MiSans"/>
              </a:rPr>
              <a:t>04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734"/>
            </a:gs>
            <a:gs pos="55000">
              <a:srgbClr val="101D42"/>
            </a:gs>
            <a:gs pos="100000">
              <a:srgbClr val="1B2C5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3C0"/>
                </a:solidFill>
                <a:latin typeface="MiSans"/>
                <a:ea typeface="MiSans"/>
              </a:rPr>
              <a:t>ПРОМПТЕР · СТОМАТОЛОГИЯ</a:t>
            </a:r>
            <a:endParaRPr lang="en-US" sz="900"/>
          </a:p>
        </p:txBody>
      </p:sp>
      <p:sp>
        <p:nvSpPr>
          <p:cNvPr id="3" name="kicker"/>
          <p:cNvSpPr txBox="1"/>
          <p:nvPr/>
        </p:nvSpPr>
        <p:spPr>
          <a:xfrm>
            <a:off x="711200" y="71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400">
                <a:solidFill>
                  <a:srgbClr val="C9A85C"/>
                </a:solidFill>
                <a:latin typeface="MiSans"/>
                <a:ea typeface="MiSans"/>
              </a:rPr>
              <a:t>КЛЮЧЕВОЕ ОТЛИЧИЕ ПРОМПТЕРА</a:t>
            </a:r>
            <a:endParaRPr lang="en-US" sz="1100"/>
          </a:p>
        </p:txBody>
      </p:sp>
      <p:sp>
        <p:nvSpPr>
          <p:cNvPr id="4" name="bigtitle"/>
          <p:cNvSpPr txBox="1"/>
          <p:nvPr/>
        </p:nvSpPr>
        <p:spPr>
          <a:xfrm>
            <a:off x="711200" y="10668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>
                <a:solidFill>
                  <a:srgbClr val="F7F5EF"/>
                </a:solidFill>
                <a:latin typeface="MiSans"/>
                <a:ea typeface="MiSans"/>
              </a:rPr>
              <a:t>НЕ ПРОСТО ГЕНЕРИРУЕТ —</a:t>
            </a:r>
            <a:endParaRPr lang="en-US" sz="3800"/>
          </a:p>
          <a:p>
            <a:pPr algn="l">
              <a:lnSpc>
                <a:spcPct val="118000"/>
              </a:lnSpc>
            </a:pPr>
            <a:r>
              <a:rPr lang="en-US" sz="3800" b="1">
                <a:solidFill>
                  <a:srgbClr val="C9A85C"/>
                </a:solidFill>
                <a:latin typeface="MiSans"/>
                <a:ea typeface="MiSans"/>
              </a:rPr>
              <a:t>САМ ПУБЛИКУЕТ</a:t>
            </a:r>
            <a:endParaRPr lang="en-US" sz="3800"/>
          </a:p>
        </p:txBody>
      </p:sp>
      <p:sp>
        <p:nvSpPr>
          <p:cNvPr id="5" name="title-rule"/>
          <p:cNvSpPr/>
          <p:nvPr/>
        </p:nvSpPr>
        <p:spPr>
          <a:xfrm>
            <a:off x="711200" y="2540000"/>
            <a:ext cx="609600" cy="25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6" name="body"/>
          <p:cNvSpPr txBox="1"/>
          <p:nvPr/>
        </p:nvSpPr>
        <p:spPr>
          <a:xfrm>
            <a:off x="711200" y="27686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C3CBE4"/>
                </a:solidFill>
                <a:latin typeface="MiSans"/>
                <a:ea typeface="MiSans"/>
              </a:rPr>
              <a:t>Технология берёт на себя полный цикл GEO- и SEO-продвижения: создаёт контент о вашей клинике и автоматически публикует его на шести площадках. Цифровой след наращивается каждый день — его считывают нейросети и поисковики.</a:t>
            </a:r>
            <a:endParaRPr lang="en-US" sz="1400"/>
          </a:p>
        </p:txBody>
      </p:sp>
      <p:sp>
        <p:nvSpPr>
          <p:cNvPr id="10" name="chip1"/>
          <p:cNvSpPr/>
          <p:nvPr/>
        </p:nvSpPr>
        <p:spPr>
          <a:xfrm>
            <a:off x="711200" y="4724400"/>
            <a:ext cx="2489200" cy="736600"/>
          </a:xfrm>
          <a:prstGeom prst="rect">
            <a:avLst/>
          </a:prstGeom>
          <a:solidFill>
            <a:srgbClr val="17264E">
              <a:alpha val="80000"/>
            </a:srgbClr>
          </a:solidFill>
          <a:ln w="12700">
            <a:solidFill>
              <a:srgbClr val="2A3A6B"/>
            </a:solidFill>
          </a:ln>
        </p:spPr>
      </p:sp>
      <p:sp>
        <p:nvSpPr>
          <p:cNvPr id="11" name="chip1-num"/>
          <p:cNvSpPr txBox="1"/>
          <p:nvPr/>
        </p:nvSpPr>
        <p:spPr>
          <a:xfrm>
            <a:off x="9144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3C0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12" name="chip1-text"/>
          <p:cNvSpPr txBox="1"/>
          <p:nvPr/>
        </p:nvSpPr>
        <p:spPr>
          <a:xfrm>
            <a:off x="9144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7F5EF"/>
                </a:solidFill>
                <a:latin typeface="MiSans"/>
                <a:ea typeface="MiSans"/>
              </a:rPr>
              <a:t>Генерация контента</a:t>
            </a:r>
            <a:endParaRPr lang="en-US" sz="1250"/>
          </a:p>
        </p:txBody>
      </p:sp>
      <p:sp>
        <p:nvSpPr>
          <p:cNvPr id="13" name="arrow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33274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3C0"/>
          </a:solidFill>
          <a:ln>
            <a:noFill/>
          </a:ln>
        </p:spPr>
      </p:sp>
      <p:sp>
        <p:nvSpPr>
          <p:cNvPr id="14" name="chip2"/>
          <p:cNvSpPr/>
          <p:nvPr/>
        </p:nvSpPr>
        <p:spPr>
          <a:xfrm>
            <a:off x="3683000" y="4724400"/>
            <a:ext cx="2489200" cy="736600"/>
          </a:xfrm>
          <a:prstGeom prst="rect">
            <a:avLst/>
          </a:prstGeom>
          <a:solidFill>
            <a:srgbClr val="17264E">
              <a:alpha val="80000"/>
            </a:srgbClr>
          </a:solidFill>
          <a:ln w="12700">
            <a:solidFill>
              <a:srgbClr val="2A3A6B"/>
            </a:solidFill>
          </a:ln>
        </p:spPr>
      </p:sp>
      <p:sp>
        <p:nvSpPr>
          <p:cNvPr id="15" name="chip2-num"/>
          <p:cNvSpPr txBox="1"/>
          <p:nvPr/>
        </p:nvSpPr>
        <p:spPr>
          <a:xfrm>
            <a:off x="38862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3C0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6" name="chip2-text"/>
          <p:cNvSpPr txBox="1"/>
          <p:nvPr/>
        </p:nvSpPr>
        <p:spPr>
          <a:xfrm>
            <a:off x="38862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7F5EF"/>
                </a:solidFill>
                <a:latin typeface="MiSans"/>
                <a:ea typeface="MiSans"/>
              </a:rPr>
              <a:t>Модерация ИИ</a:t>
            </a:r>
            <a:endParaRPr lang="en-US" sz="1250"/>
          </a:p>
        </p:txBody>
      </p:sp>
      <p:sp>
        <p:nvSpPr>
          <p:cNvPr id="17" name="arrow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62992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3C0"/>
          </a:solidFill>
          <a:ln>
            <a:noFill/>
          </a:ln>
        </p:spPr>
      </p:sp>
      <p:sp>
        <p:nvSpPr>
          <p:cNvPr id="18" name="chip3"/>
          <p:cNvSpPr/>
          <p:nvPr/>
        </p:nvSpPr>
        <p:spPr>
          <a:xfrm>
            <a:off x="6654800" y="4724400"/>
            <a:ext cx="2489200" cy="736600"/>
          </a:xfrm>
          <a:prstGeom prst="rect">
            <a:avLst/>
          </a:prstGeom>
          <a:solidFill>
            <a:srgbClr val="C9A85C"/>
          </a:solidFill>
          <a:ln>
            <a:noFill/>
          </a:ln>
        </p:spPr>
      </p:sp>
      <p:sp>
        <p:nvSpPr>
          <p:cNvPr id="19" name="chip3-num"/>
          <p:cNvSpPr txBox="1"/>
          <p:nvPr/>
        </p:nvSpPr>
        <p:spPr>
          <a:xfrm>
            <a:off x="68580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101D42"/>
                </a:solidFill>
                <a:latin typeface="MiSans"/>
                <a:ea typeface="MiSans"/>
              </a:rPr>
              <a:t>03</a:t>
            </a:r>
            <a:endParaRPr lang="en-US" sz="1000"/>
          </a:p>
        </p:txBody>
      </p:sp>
      <p:sp>
        <p:nvSpPr>
          <p:cNvPr id="20" name="chip3-text"/>
          <p:cNvSpPr txBox="1"/>
          <p:nvPr/>
        </p:nvSpPr>
        <p:spPr>
          <a:xfrm>
            <a:off x="68580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01D42"/>
                </a:solidFill>
                <a:latin typeface="MiSans"/>
                <a:ea typeface="MiSans"/>
              </a:rPr>
              <a:t>АВТОПУБЛИКАЦИЯ</a:t>
            </a:r>
            <a:endParaRPr lang="en-US" sz="1250"/>
          </a:p>
        </p:txBody>
      </p:sp>
      <p:sp>
        <p:nvSpPr>
          <p:cNvPr id="21" name="arrow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92710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3C0"/>
          </a:solidFill>
          <a:ln>
            <a:noFill/>
          </a:ln>
        </p:spPr>
      </p:sp>
      <p:sp>
        <p:nvSpPr>
          <p:cNvPr id="22" name="chip4"/>
          <p:cNvSpPr/>
          <p:nvPr/>
        </p:nvSpPr>
        <p:spPr>
          <a:xfrm>
            <a:off x="9626600" y="4724400"/>
            <a:ext cx="2489200" cy="736600"/>
          </a:xfrm>
          <a:prstGeom prst="rect">
            <a:avLst/>
          </a:prstGeom>
          <a:solidFill>
            <a:srgbClr val="17264E">
              <a:alpha val="80000"/>
            </a:srgbClr>
          </a:solidFill>
          <a:ln w="12700">
            <a:solidFill>
              <a:srgbClr val="2A3A6B"/>
            </a:solidFill>
          </a:ln>
        </p:spPr>
      </p:sp>
      <p:sp>
        <p:nvSpPr>
          <p:cNvPr id="23" name="chip4-num"/>
          <p:cNvSpPr txBox="1"/>
          <p:nvPr/>
        </p:nvSpPr>
        <p:spPr>
          <a:xfrm>
            <a:off x="98298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3C0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24" name="chip4-text"/>
          <p:cNvSpPr txBox="1"/>
          <p:nvPr/>
        </p:nvSpPr>
        <p:spPr>
          <a:xfrm>
            <a:off x="9829800" y="508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7F5EF"/>
                </a:solidFill>
                <a:latin typeface="MiSans"/>
                <a:ea typeface="MiSans"/>
              </a:rPr>
              <a:t>Рост в нейровыдаче</a:t>
            </a:r>
            <a:endParaRPr lang="en-US" sz="1250"/>
          </a:p>
        </p:txBody>
      </p:sp>
      <p:sp>
        <p:nvSpPr>
          <p:cNvPr id="25" name="bottom-note"/>
          <p:cNvSpPr txBox="1"/>
          <p:nvPr/>
        </p:nvSpPr>
        <p:spPr>
          <a:xfrm>
            <a:off x="711200" y="5867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i="1">
                <a:solidFill>
                  <a:srgbClr val="9AA3C0"/>
                </a:solidFill>
                <a:latin typeface="MiSans"/>
                <a:ea typeface="MiSans"/>
              </a:rPr>
              <a:t>Ежедневное присутствие — без ежедневных усилий вашей команды</a:t>
            </a:r>
            <a:endParaRPr lang="en-US" sz="1200"/>
          </a:p>
        </p:txBody>
      </p:sp>
      <p:sp>
        <p:nvSpPr>
          <p:cNvPr id="2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3C0"/>
                </a:solidFill>
                <a:latin typeface="MiSans"/>
                <a:ea typeface="MiSans"/>
              </a:rPr>
              <a:t>05 / 09</a:t>
            </a:r>
            <a:endParaRPr lang="en-US" sz="900"/>
          </a:p>
        </p:txBody>
      </p:sp>
      <p:pic>
        <p:nvPicPr>
          <p:cNvPr id="27" name="Рисунок 26" descr="preview">
            <a:extLst>
              <a:ext uri="{FF2B5EF4-FFF2-40B4-BE49-F238E27FC236}">
                <a16:creationId xmlns:a16="http://schemas.microsoft.com/office/drawing/2014/main" id="{D8506B69-E028-BEF1-D0E2-E7F1779A9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1414092"/>
            <a:ext cx="2531385" cy="2726108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7C8090"/>
                </a:solidFill>
                <a:latin typeface="MiSans"/>
                <a:ea typeface="MiSans"/>
              </a:rPr>
              <a:t>ПРОМПТЕР · СТОМАТОЛОГИЯ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b="1">
                <a:solidFill>
                  <a:srgbClr val="101D42"/>
                </a:solidFill>
                <a:latin typeface="MiSans"/>
                <a:ea typeface="MiSans"/>
              </a:rPr>
              <a:t>КАК РАБОТАЕТ ПРОМПТЕР?</a:t>
            </a:r>
            <a:endParaRPr lang="en-US" sz="2700"/>
          </a:p>
        </p:txBody>
      </p:sp>
      <p:sp>
        <p:nvSpPr>
          <p:cNvPr id="4" name="title-rule"/>
          <p:cNvSpPr/>
          <p:nvPr/>
        </p:nvSpPr>
        <p:spPr>
          <a:xfrm>
            <a:off x="711200" y="1143000"/>
            <a:ext cx="609600" cy="25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5" name="subtitle"/>
          <p:cNvSpPr txBox="1"/>
          <p:nvPr/>
        </p:nvSpPr>
        <p:spPr>
          <a:xfrm>
            <a:off x="711200" y="12954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7C8090"/>
                </a:solidFill>
                <a:latin typeface="MiSans"/>
                <a:ea typeface="MiSans"/>
              </a:rPr>
              <a:t>От первого текста до записей пациентов — полный цикл без вашего участия</a:t>
            </a:r>
            <a:endParaRPr lang="en-US" sz="1300"/>
          </a:p>
        </p:txBody>
      </p:sp>
      <p:sp>
        <p:nvSpPr>
          <p:cNvPr id="7" name="s1-num"/>
          <p:cNvSpPr txBox="1"/>
          <p:nvPr/>
        </p:nvSpPr>
        <p:spPr>
          <a:xfrm>
            <a:off x="711200" y="18542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B08D3E"/>
                </a:solidFill>
                <a:latin typeface="MiSans"/>
                <a:ea typeface="MiSans"/>
              </a:rPr>
              <a:t>01</a:t>
            </a:r>
            <a:endParaRPr lang="en-US" sz="3000"/>
          </a:p>
        </p:txBody>
      </p:sp>
      <p:sp>
        <p:nvSpPr>
          <p:cNvPr id="8" name="s1-title"/>
          <p:cNvSpPr txBox="1"/>
          <p:nvPr/>
        </p:nvSpPr>
        <p:spPr>
          <a:xfrm>
            <a:off x="711200" y="26670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101D42"/>
                </a:solidFill>
                <a:latin typeface="MiSans"/>
                <a:ea typeface="MiSans"/>
              </a:rPr>
              <a:t>КОНТЕНТ</a:t>
            </a:r>
            <a:endParaRPr lang="en-US" sz="1450"/>
          </a:p>
        </p:txBody>
      </p:sp>
      <p:sp>
        <p:nvSpPr>
          <p:cNvPr id="9" name="s1-desc"/>
          <p:cNvSpPr txBox="1"/>
          <p:nvPr/>
        </p:nvSpPr>
        <p:spPr>
          <a:xfrm>
            <a:off x="711200" y="32512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7C8090"/>
                </a:solidFill>
                <a:latin typeface="MiSans"/>
                <a:ea typeface="MiSans"/>
              </a:rPr>
              <a:t>Платформа изучает услуги, врачей и технологии клиники, создаёт тексты и визуал</a:t>
            </a:r>
            <a:endParaRPr lang="en-US" sz="1100"/>
          </a:p>
        </p:txBody>
      </p:sp>
      <p:sp>
        <p:nvSpPr>
          <p:cNvPr id="10" name="s2-num"/>
          <p:cNvSpPr txBox="1"/>
          <p:nvPr/>
        </p:nvSpPr>
        <p:spPr>
          <a:xfrm>
            <a:off x="2946400" y="18542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101D42"/>
                </a:solidFill>
                <a:latin typeface="MiSans"/>
                <a:ea typeface="MiSans"/>
              </a:rPr>
              <a:t>02</a:t>
            </a:r>
            <a:endParaRPr lang="en-US" sz="3000"/>
          </a:p>
        </p:txBody>
      </p:sp>
      <p:sp>
        <p:nvSpPr>
          <p:cNvPr id="11" name="s2-title"/>
          <p:cNvSpPr txBox="1"/>
          <p:nvPr/>
        </p:nvSpPr>
        <p:spPr>
          <a:xfrm>
            <a:off x="2946400" y="26670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101D42"/>
                </a:solidFill>
                <a:latin typeface="MiSans"/>
                <a:ea typeface="MiSans"/>
              </a:rPr>
              <a:t>АВТО-ПУБЛИКАЦИЯ</a:t>
            </a:r>
            <a:endParaRPr lang="en-US" sz="1450"/>
          </a:p>
        </p:txBody>
      </p:sp>
      <p:sp>
        <p:nvSpPr>
          <p:cNvPr id="12" name="s2-desc"/>
          <p:cNvSpPr txBox="1"/>
          <p:nvPr/>
        </p:nvSpPr>
        <p:spPr>
          <a:xfrm>
            <a:off x="2946400" y="32512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7C8090"/>
                </a:solidFill>
                <a:latin typeface="MiSans"/>
                <a:ea typeface="MiSans"/>
              </a:rPr>
              <a:t>Материалы автоматически выходят на шести площадках 5 дней в неделю</a:t>
            </a:r>
            <a:endParaRPr lang="en-US" sz="1100"/>
          </a:p>
        </p:txBody>
      </p:sp>
      <p:sp>
        <p:nvSpPr>
          <p:cNvPr id="13" name="s3-num"/>
          <p:cNvSpPr txBox="1"/>
          <p:nvPr/>
        </p:nvSpPr>
        <p:spPr>
          <a:xfrm>
            <a:off x="5181600" y="18542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B08D3E"/>
                </a:solidFill>
                <a:latin typeface="MiSans"/>
                <a:ea typeface="MiSans"/>
              </a:rPr>
              <a:t>03</a:t>
            </a:r>
            <a:endParaRPr lang="en-US" sz="3000"/>
          </a:p>
        </p:txBody>
      </p:sp>
      <p:sp>
        <p:nvSpPr>
          <p:cNvPr id="14" name="s3-title"/>
          <p:cNvSpPr txBox="1"/>
          <p:nvPr/>
        </p:nvSpPr>
        <p:spPr>
          <a:xfrm>
            <a:off x="5181600" y="26670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101D42"/>
                </a:solidFill>
                <a:latin typeface="MiSans"/>
                <a:ea typeface="MiSans"/>
              </a:rPr>
              <a:t>ИНДЕКСАЦИЯ</a:t>
            </a:r>
            <a:endParaRPr lang="en-US" sz="1450"/>
          </a:p>
        </p:txBody>
      </p:sp>
      <p:sp>
        <p:nvSpPr>
          <p:cNvPr id="15" name="s3-desc"/>
          <p:cNvSpPr txBox="1"/>
          <p:nvPr/>
        </p:nvSpPr>
        <p:spPr>
          <a:xfrm>
            <a:off x="5181600" y="32512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7C8090"/>
                </a:solidFill>
                <a:latin typeface="MiSans"/>
                <a:ea typeface="MiSans"/>
              </a:rPr>
              <a:t>Поисковики и нейросети фиксируют новый контент о вашей клинике</a:t>
            </a:r>
            <a:endParaRPr lang="en-US" sz="1100"/>
          </a:p>
        </p:txBody>
      </p:sp>
      <p:sp>
        <p:nvSpPr>
          <p:cNvPr id="16" name="s4-num"/>
          <p:cNvSpPr txBox="1"/>
          <p:nvPr/>
        </p:nvSpPr>
        <p:spPr>
          <a:xfrm>
            <a:off x="7416800" y="18542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B08D3E"/>
                </a:solidFill>
                <a:latin typeface="MiSans"/>
                <a:ea typeface="MiSans"/>
              </a:rPr>
              <a:t>04</a:t>
            </a:r>
            <a:endParaRPr lang="en-US" sz="3000"/>
          </a:p>
        </p:txBody>
      </p:sp>
      <p:sp>
        <p:nvSpPr>
          <p:cNvPr id="17" name="s4-title"/>
          <p:cNvSpPr txBox="1"/>
          <p:nvPr/>
        </p:nvSpPr>
        <p:spPr>
          <a:xfrm>
            <a:off x="7416800" y="26670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101D42"/>
                </a:solidFill>
                <a:latin typeface="MiSans"/>
                <a:ea typeface="MiSans"/>
              </a:rPr>
              <a:t>ПРИСУТСТВИЕ</a:t>
            </a:r>
            <a:endParaRPr lang="en-US" sz="1450"/>
          </a:p>
        </p:txBody>
      </p:sp>
      <p:sp>
        <p:nvSpPr>
          <p:cNvPr id="18" name="s4-desc"/>
          <p:cNvSpPr txBox="1"/>
          <p:nvPr/>
        </p:nvSpPr>
        <p:spPr>
          <a:xfrm>
            <a:off x="7416800" y="32512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7C8090"/>
                </a:solidFill>
                <a:latin typeface="MiSans"/>
                <a:ea typeface="MiSans"/>
              </a:rPr>
              <a:t>Бренд появляется в ответах нейровыдачи и в выдаче поисковых систем</a:t>
            </a:r>
            <a:endParaRPr lang="en-US" sz="1100"/>
          </a:p>
        </p:txBody>
      </p:sp>
      <p:sp>
        <p:nvSpPr>
          <p:cNvPr id="19" name="s5-num"/>
          <p:cNvSpPr txBox="1"/>
          <p:nvPr/>
        </p:nvSpPr>
        <p:spPr>
          <a:xfrm>
            <a:off x="9652000" y="18542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B08D3E"/>
                </a:solidFill>
                <a:latin typeface="MiSans"/>
                <a:ea typeface="MiSans"/>
              </a:rPr>
              <a:t>05</a:t>
            </a:r>
            <a:endParaRPr lang="en-US" sz="3000"/>
          </a:p>
        </p:txBody>
      </p:sp>
      <p:sp>
        <p:nvSpPr>
          <p:cNvPr id="20" name="s5-title"/>
          <p:cNvSpPr txBox="1"/>
          <p:nvPr/>
        </p:nvSpPr>
        <p:spPr>
          <a:xfrm>
            <a:off x="9652000" y="26670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101D42"/>
                </a:solidFill>
                <a:latin typeface="MiSans"/>
                <a:ea typeface="MiSans"/>
              </a:rPr>
              <a:t>ДОВЕРИЕ И ЗАПИСИ</a:t>
            </a:r>
            <a:endParaRPr lang="en-US" sz="1450"/>
          </a:p>
        </p:txBody>
      </p:sp>
      <p:sp>
        <p:nvSpPr>
          <p:cNvPr id="21" name="s5-desc"/>
          <p:cNvSpPr txBox="1"/>
          <p:nvPr/>
        </p:nvSpPr>
        <p:spPr>
          <a:xfrm>
            <a:off x="9652000" y="32512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7C8090"/>
                </a:solidFill>
                <a:latin typeface="MiSans"/>
                <a:ea typeface="MiSans"/>
              </a:rPr>
              <a:t>Пациенты находят вас, доверяют рекомендации нейросети и записываются на приём</a:t>
            </a:r>
            <a:endParaRPr lang="en-US" sz="1100"/>
          </a:p>
        </p:txBody>
      </p:sp>
      <p:sp>
        <p:nvSpPr>
          <p:cNvPr id="22" name="strip"/>
          <p:cNvSpPr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101D42"/>
          </a:solidFill>
          <a:ln>
            <a:noFill/>
          </a:ln>
        </p:spPr>
      </p:sp>
      <p:sp>
        <p:nvSpPr>
          <p:cNvPr id="23" name="strip-accent"/>
          <p:cNvSpPr/>
          <p:nvPr/>
        </p:nvSpPr>
        <p:spPr>
          <a:xfrm>
            <a:off x="711200" y="5689600"/>
            <a:ext cx="50800" cy="5842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24" name="strip-text"/>
          <p:cNvSpPr txBox="1"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F7F5EF"/>
                </a:solidFill>
                <a:latin typeface="MiSans"/>
                <a:ea typeface="MiSans"/>
              </a:rPr>
              <a:t>Система работает 24/7: вы занимаетесь пациентами — Промптер занимается продвижением</a:t>
            </a:r>
            <a:endParaRPr lang="en-US" sz="1400"/>
          </a:p>
        </p:txBody>
      </p:sp>
      <p:sp>
        <p:nvSpPr>
          <p:cNvPr id="25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7C8090"/>
                </a:solidFill>
                <a:latin typeface="MiSans"/>
                <a:ea typeface="MiSans"/>
              </a:rPr>
              <a:t>06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mile"/>
          <p:cNvPicPr/>
          <p:nvPr/>
        </p:nvPicPr>
        <p:blipFill>
          <a:blip r:embed="rId2"/>
          <a:srcRect l="25309" r="25309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  <a:ln>
            <a:noFill/>
          </a:ln>
        </p:spPr>
      </p:pic>
      <p:sp>
        <p:nvSpPr>
          <p:cNvPr id="3" name="smile-overlay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gradFill rotWithShape="1">
            <a:gsLst>
              <a:gs pos="0">
                <a:srgbClr val="F7F5EF">
                  <a:alpha val="0"/>
                </a:srgbClr>
              </a:gs>
              <a:gs pos="100000">
                <a:srgbClr val="F7F5EF">
                  <a:alpha val="90196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7C8090"/>
                </a:solidFill>
                <a:latin typeface="MiSans"/>
                <a:ea typeface="MiSans"/>
              </a:rPr>
              <a:t>ПРОМПТЕР · СТОМАТОЛОГИЯ</a:t>
            </a:r>
            <a:endParaRPr lang="en-US" sz="900"/>
          </a:p>
        </p:txBody>
      </p:sp>
      <p:sp>
        <p:nvSpPr>
          <p:cNvPr id="5" name="title"/>
          <p:cNvSpPr txBox="1"/>
          <p:nvPr/>
        </p:nvSpPr>
        <p:spPr>
          <a:xfrm>
            <a:off x="5588000" y="609600"/>
            <a:ext cx="589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101D42"/>
                </a:solidFill>
                <a:latin typeface="MiSans"/>
                <a:ea typeface="MiSans"/>
              </a:rPr>
              <a:t>КЛЮЧЕВЫЕ ВЫГОДЫ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101D42"/>
                </a:solidFill>
                <a:latin typeface="MiSans"/>
                <a:ea typeface="MiSans"/>
              </a:rPr>
              <a:t>ДЛЯ ВАШЕЙ КЛИНИКИ</a:t>
            </a:r>
            <a:endParaRPr lang="en-US" sz="2500"/>
          </a:p>
        </p:txBody>
      </p:sp>
      <p:sp>
        <p:nvSpPr>
          <p:cNvPr id="6" name="title-rule"/>
          <p:cNvSpPr/>
          <p:nvPr/>
        </p:nvSpPr>
        <p:spPr>
          <a:xfrm>
            <a:off x="5588000" y="1549400"/>
            <a:ext cx="609600" cy="25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7" name="b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eyJpY29uTmFtZSI6ImZhczp3YWxsZXQifQ</pptd:icon>
              </p:ext>
            </p:extLst>
          </p:nvPr>
        </p:nvSpPr>
        <p:spPr>
          <a:xfrm>
            <a:off x="5588000" y="1879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8" name="b1-title"/>
          <p:cNvSpPr txBox="1"/>
          <p:nvPr/>
        </p:nvSpPr>
        <p:spPr>
          <a:xfrm>
            <a:off x="6045200" y="1879600"/>
            <a:ext cx="543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1D42"/>
                </a:solidFill>
                <a:latin typeface="MiSans"/>
                <a:ea typeface="MiSans"/>
              </a:rPr>
              <a:t>Экономия времени и денег</a:t>
            </a:r>
            <a:endParaRPr lang="en-US" sz="1500"/>
          </a:p>
        </p:txBody>
      </p:sp>
      <p:sp>
        <p:nvSpPr>
          <p:cNvPr id="9" name="b1-desc"/>
          <p:cNvSpPr txBox="1"/>
          <p:nvPr/>
        </p:nvSpPr>
        <p:spPr>
          <a:xfrm>
            <a:off x="6045200" y="2184400"/>
            <a:ext cx="5435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7C8090"/>
                </a:solidFill>
                <a:latin typeface="MiSans"/>
                <a:ea typeface="MiSans"/>
              </a:rPr>
              <a:t>Не нужны SEO-агентство, копирайтер и дизайнер — полный цикл выполняет система</a:t>
            </a:r>
            <a:endParaRPr lang="en-US" sz="1200"/>
          </a:p>
        </p:txBody>
      </p:sp>
      <p:sp>
        <p:nvSpPr>
          <p:cNvPr id="10" name="b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5588000" y="2921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1" name="b2-title"/>
          <p:cNvSpPr txBox="1"/>
          <p:nvPr/>
        </p:nvSpPr>
        <p:spPr>
          <a:xfrm>
            <a:off x="6045200" y="2921000"/>
            <a:ext cx="543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1D42"/>
                </a:solidFill>
                <a:latin typeface="MiSans"/>
                <a:ea typeface="MiSans"/>
              </a:rPr>
              <a:t>Доминирование в нише</a:t>
            </a:r>
            <a:endParaRPr lang="en-US" sz="1500"/>
          </a:p>
        </p:txBody>
      </p:sp>
      <p:sp>
        <p:nvSpPr>
          <p:cNvPr id="12" name="b2-desc"/>
          <p:cNvSpPr txBox="1"/>
          <p:nvPr/>
        </p:nvSpPr>
        <p:spPr>
          <a:xfrm>
            <a:off x="6045200" y="3225800"/>
            <a:ext cx="5435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7C8090"/>
                </a:solidFill>
                <a:latin typeface="MiSans"/>
                <a:ea typeface="MiSans"/>
              </a:rPr>
              <a:t>Клиника становится главным ответом нейросети по запросам вашего района и города</a:t>
            </a:r>
            <a:endParaRPr lang="en-US" sz="1200"/>
          </a:p>
        </p:txBody>
      </p:sp>
      <p:sp>
        <p:nvSpPr>
          <p:cNvPr id="13" name="b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5588000" y="3962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4" name="b3-title"/>
          <p:cNvSpPr txBox="1"/>
          <p:nvPr/>
        </p:nvSpPr>
        <p:spPr>
          <a:xfrm>
            <a:off x="6045200" y="3962400"/>
            <a:ext cx="543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1D42"/>
                </a:solidFill>
                <a:latin typeface="MiSans"/>
                <a:ea typeface="MiSans"/>
              </a:rPr>
              <a:t>Присутствие в нейровыдаче</a:t>
            </a:r>
            <a:endParaRPr lang="en-US" sz="1500"/>
          </a:p>
        </p:txBody>
      </p:sp>
      <p:sp>
        <p:nvSpPr>
          <p:cNvPr id="15" name="b3-desc"/>
          <p:cNvSpPr txBox="1"/>
          <p:nvPr/>
        </p:nvSpPr>
        <p:spPr>
          <a:xfrm>
            <a:off x="6045200" y="4267200"/>
            <a:ext cx="5435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7C8090"/>
                </a:solidFill>
                <a:latin typeface="MiSans"/>
                <a:ea typeface="MiSans"/>
              </a:rPr>
              <a:t>Вас называют, когда пациент спрашивает, где лечить зубы, — ежедневно и без рекламы</a:t>
            </a:r>
            <a:endParaRPr lang="en-US" sz="1200"/>
          </a:p>
        </p:txBody>
      </p:sp>
      <p:sp>
        <p:nvSpPr>
          <p:cNvPr id="16" name="b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5588000" y="5003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7" name="b4-title"/>
          <p:cNvSpPr txBox="1"/>
          <p:nvPr/>
        </p:nvSpPr>
        <p:spPr>
          <a:xfrm>
            <a:off x="6045200" y="5003800"/>
            <a:ext cx="5435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1D42"/>
                </a:solidFill>
                <a:latin typeface="MiSans"/>
                <a:ea typeface="MiSans"/>
              </a:rPr>
              <a:t>Устойчивость к конкурентам</a:t>
            </a:r>
            <a:endParaRPr lang="en-US" sz="1500"/>
          </a:p>
        </p:txBody>
      </p:sp>
      <p:sp>
        <p:nvSpPr>
          <p:cNvPr id="18" name="b4-desc"/>
          <p:cNvSpPr txBox="1"/>
          <p:nvPr/>
        </p:nvSpPr>
        <p:spPr>
          <a:xfrm>
            <a:off x="6045200" y="5308600"/>
            <a:ext cx="5435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7C8090"/>
                </a:solidFill>
                <a:latin typeface="MiSans"/>
                <a:ea typeface="MiSans"/>
              </a:rPr>
              <a:t>Цифровой след наращивается каждый день — его сложно скопировать конкурентам</a:t>
            </a:r>
            <a:endParaRPr lang="en-US" sz="1200"/>
          </a:p>
        </p:txBody>
      </p:sp>
      <p:sp>
        <p:nvSpPr>
          <p:cNvPr id="21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7C8090"/>
                </a:solidFill>
                <a:latin typeface="MiSans"/>
                <a:ea typeface="MiSans"/>
              </a:rPr>
              <a:t>07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7C8090"/>
                </a:solidFill>
                <a:latin typeface="MiSans"/>
                <a:ea typeface="MiSans"/>
              </a:rPr>
              <a:t>ПРОМПТЕР · СТОМАТОЛОГИЯ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101D42"/>
                </a:solidFill>
                <a:latin typeface="MiSans"/>
                <a:ea typeface="MiSans"/>
              </a:rPr>
              <a:t>КОМПЛЕКСНОЕ РЕШЕНИЕ ПО ФИКСИРОВАННОЙ ЦЕНЕ</a:t>
            </a:r>
            <a:endParaRPr lang="en-US" sz="2500"/>
          </a:p>
        </p:txBody>
      </p:sp>
      <p:sp>
        <p:nvSpPr>
          <p:cNvPr id="4" name="title-rule"/>
          <p:cNvSpPr/>
          <p:nvPr/>
        </p:nvSpPr>
        <p:spPr>
          <a:xfrm>
            <a:off x="711200" y="1117600"/>
            <a:ext cx="609600" cy="25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5" name="price-label"/>
          <p:cNvSpPr txBox="1"/>
          <p:nvPr/>
        </p:nvSpPr>
        <p:spPr>
          <a:xfrm>
            <a:off x="711200" y="1422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300">
                <a:solidFill>
                  <a:srgbClr val="7C8090"/>
                </a:solidFill>
                <a:latin typeface="MiSans"/>
                <a:ea typeface="MiSans"/>
              </a:rPr>
              <a:t>СТОИМОСТЬ СЕРВИСА</a:t>
            </a:r>
            <a:endParaRPr lang="en-US" sz="1050"/>
          </a:p>
        </p:txBody>
      </p:sp>
      <p:sp>
        <p:nvSpPr>
          <p:cNvPr id="6" name="price-big"/>
          <p:cNvSpPr txBox="1"/>
          <p:nvPr/>
        </p:nvSpPr>
        <p:spPr>
          <a:xfrm>
            <a:off x="711200" y="1701800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101D42"/>
                </a:solidFill>
                <a:latin typeface="MiSans"/>
                <a:ea typeface="MiSans"/>
              </a:rPr>
              <a:t>От 29500 ₽</a:t>
            </a:r>
            <a:r>
              <a:rPr lang="en-US" sz="1600">
                <a:solidFill>
                  <a:srgbClr val="7C8090"/>
                </a:solidFill>
                <a:latin typeface="MiSans"/>
                <a:ea typeface="MiSans"/>
              </a:rPr>
              <a:t>  /месяц</a:t>
            </a:r>
            <a:endParaRPr lang="en-US" sz="1600"/>
          </a:p>
        </p:txBody>
      </p:sp>
      <p:sp>
        <p:nvSpPr>
          <p:cNvPr id="7" name="price-instead"/>
          <p:cNvSpPr txBox="1"/>
          <p:nvPr/>
        </p:nvSpPr>
        <p:spPr>
          <a:xfrm>
            <a:off x="711200" y="25654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101D42"/>
                </a:solidFill>
                <a:latin typeface="MiSans"/>
                <a:ea typeface="MiSans"/>
              </a:rPr>
              <a:t>вместо </a:t>
            </a:r>
            <a:r>
              <a:rPr lang="en-US" sz="1400" b="1">
                <a:solidFill>
                  <a:srgbClr val="B08D3E"/>
                </a:solidFill>
                <a:latin typeface="MiSans"/>
                <a:ea typeface="MiSans"/>
              </a:rPr>
              <a:t>100 000 ₽/мес</a:t>
            </a:r>
            <a:r>
              <a:rPr lang="en-US" sz="1400">
                <a:solidFill>
                  <a:srgbClr val="101D42"/>
                </a:solidFill>
                <a:latin typeface="MiSans"/>
                <a:ea typeface="MiSans"/>
              </a:rPr>
              <a:t> на SEO-агентство</a:t>
            </a:r>
            <a:endParaRPr lang="en-US" sz="1400"/>
          </a:p>
        </p:txBody>
      </p:sp>
      <p:sp>
        <p:nvSpPr>
          <p:cNvPr id="8" name="price-save"/>
          <p:cNvSpPr txBox="1"/>
          <p:nvPr/>
        </p:nvSpPr>
        <p:spPr>
          <a:xfrm>
            <a:off x="711200" y="29464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101D42"/>
                </a:solidFill>
                <a:latin typeface="MiSans"/>
                <a:ea typeface="MiSans"/>
              </a:rPr>
              <a:t>Экономия — не менее </a:t>
            </a:r>
            <a:r>
              <a:rPr lang="en-US" sz="1400" b="1">
                <a:solidFill>
                  <a:srgbClr val="B08D3E"/>
                </a:solidFill>
                <a:latin typeface="MiSans"/>
                <a:ea typeface="MiSans"/>
              </a:rPr>
              <a:t>70 000 ₽/мес</a:t>
            </a:r>
            <a:endParaRPr lang="en-US" sz="1400"/>
          </a:p>
        </p:txBody>
      </p:sp>
      <p:sp>
        <p:nvSpPr>
          <p:cNvPr id="11" name="price-note"/>
          <p:cNvSpPr txBox="1"/>
          <p:nvPr/>
        </p:nvSpPr>
        <p:spPr>
          <a:xfrm>
            <a:off x="711200" y="42672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1">
                <a:solidFill>
                  <a:srgbClr val="7C8090"/>
                </a:solidFill>
                <a:latin typeface="MiSans"/>
                <a:ea typeface="MiSans"/>
              </a:rPr>
              <a:t>За подробностями и подключением резидентов Москвы и МО — +7 906 758-77-77</a:t>
            </a:r>
            <a:endParaRPr lang="en-US" sz="1100"/>
          </a:p>
        </p:txBody>
      </p:sp>
      <p:sp>
        <p:nvSpPr>
          <p:cNvPr id="12" name="divider"/>
          <p:cNvSpPr/>
          <p:nvPr/>
        </p:nvSpPr>
        <p:spPr>
          <a:xfrm>
            <a:off x="6299200" y="1346200"/>
            <a:ext cx="12700" cy="3810000"/>
          </a:xfrm>
          <a:prstGeom prst="rect">
            <a:avLst/>
          </a:prstGeom>
          <a:solidFill>
            <a:srgbClr val="DDD6C8"/>
          </a:solidFill>
          <a:ln>
            <a:noFill/>
          </a:ln>
        </p:spPr>
      </p:sp>
      <p:sp>
        <p:nvSpPr>
          <p:cNvPr id="13" name="incl-header"/>
          <p:cNvSpPr txBox="1"/>
          <p:nvPr/>
        </p:nvSpPr>
        <p:spPr>
          <a:xfrm>
            <a:off x="6756400" y="1346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kern="0" spc="100">
                <a:solidFill>
                  <a:srgbClr val="101D42"/>
                </a:solidFill>
                <a:latin typeface="MiSans"/>
                <a:ea typeface="MiSans"/>
              </a:rPr>
              <a:t>ЧТО ВХОДИТ В ПОДПИСКУ</a:t>
            </a:r>
            <a:endParaRPr lang="en-US" sz="1500"/>
          </a:p>
        </p:txBody>
      </p:sp>
      <p:sp>
        <p:nvSpPr>
          <p:cNvPr id="14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185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5" name="f1-title"/>
          <p:cNvSpPr txBox="1"/>
          <p:nvPr/>
        </p:nvSpPr>
        <p:spPr>
          <a:xfrm>
            <a:off x="7137400" y="1828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01D42"/>
                </a:solidFill>
                <a:latin typeface="MiSans"/>
                <a:ea typeface="MiSans"/>
              </a:rPr>
              <a:t>Полный AI-цикл</a:t>
            </a:r>
            <a:endParaRPr lang="en-US" sz="1350"/>
          </a:p>
        </p:txBody>
      </p:sp>
      <p:sp>
        <p:nvSpPr>
          <p:cNvPr id="16" name="f1-desc"/>
          <p:cNvSpPr txBox="1"/>
          <p:nvPr/>
        </p:nvSpPr>
        <p:spPr>
          <a:xfrm>
            <a:off x="7137400" y="21082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7C8090"/>
                </a:solidFill>
                <a:latin typeface="MiSans"/>
                <a:ea typeface="MiSans"/>
              </a:rPr>
              <a:t>Создание, модерация и автоматическая публикация контента</a:t>
            </a:r>
            <a:endParaRPr lang="en-US" sz="1150"/>
          </a:p>
        </p:txBody>
      </p:sp>
      <p:sp>
        <p:nvSpPr>
          <p:cNvPr id="17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8" name="f2-title"/>
          <p:cNvSpPr txBox="1"/>
          <p:nvPr/>
        </p:nvSpPr>
        <p:spPr>
          <a:xfrm>
            <a:off x="7137400" y="2692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01D42"/>
                </a:solidFill>
                <a:latin typeface="MiSans"/>
                <a:ea typeface="MiSans"/>
              </a:rPr>
              <a:t>Публикации 5 дней в неделю</a:t>
            </a:r>
            <a:endParaRPr lang="en-US" sz="1350"/>
          </a:p>
        </p:txBody>
      </p:sp>
      <p:sp>
        <p:nvSpPr>
          <p:cNvPr id="19" name="f2-desc"/>
          <p:cNvSpPr txBox="1"/>
          <p:nvPr/>
        </p:nvSpPr>
        <p:spPr>
          <a:xfrm>
            <a:off x="7137400" y="29718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7C8090"/>
                </a:solidFill>
                <a:latin typeface="MiSans"/>
                <a:ea typeface="MiSans"/>
              </a:rPr>
              <a:t>Регулярный поток материалов без вашего участия</a:t>
            </a:r>
            <a:endParaRPr lang="en-US" sz="1150"/>
          </a:p>
        </p:txBody>
      </p:sp>
      <p:sp>
        <p:nvSpPr>
          <p:cNvPr id="20" name="f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21" name="f3-title"/>
          <p:cNvSpPr txBox="1"/>
          <p:nvPr/>
        </p:nvSpPr>
        <p:spPr>
          <a:xfrm>
            <a:off x="7137400" y="35560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01D42"/>
                </a:solidFill>
                <a:latin typeface="MiSans"/>
                <a:ea typeface="MiSans"/>
              </a:rPr>
              <a:t>2 полноценные статьи в неделю</a:t>
            </a:r>
            <a:endParaRPr lang="en-US" sz="1350"/>
          </a:p>
        </p:txBody>
      </p:sp>
      <p:sp>
        <p:nvSpPr>
          <p:cNvPr id="22" name="f3-desc"/>
          <p:cNvSpPr txBox="1"/>
          <p:nvPr/>
        </p:nvSpPr>
        <p:spPr>
          <a:xfrm>
            <a:off x="7137400" y="38354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7C8090"/>
                </a:solidFill>
                <a:latin typeface="MiSans"/>
                <a:ea typeface="MiSans"/>
              </a:rPr>
              <a:t>Экспертный контент об услугах, врачах и технологиях лечения</a:t>
            </a:r>
            <a:endParaRPr lang="en-US" sz="1150"/>
          </a:p>
        </p:txBody>
      </p:sp>
      <p:sp>
        <p:nvSpPr>
          <p:cNvPr id="23" name="f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444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24" name="f4-title"/>
          <p:cNvSpPr txBox="1"/>
          <p:nvPr/>
        </p:nvSpPr>
        <p:spPr>
          <a:xfrm>
            <a:off x="7137400" y="4419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01D42"/>
                </a:solidFill>
                <a:latin typeface="MiSans"/>
                <a:ea typeface="MiSans"/>
              </a:rPr>
              <a:t>6 площадок для публикаций</a:t>
            </a:r>
            <a:endParaRPr lang="en-US" sz="1350"/>
          </a:p>
        </p:txBody>
      </p:sp>
      <p:sp>
        <p:nvSpPr>
          <p:cNvPr id="25" name="f4-desc"/>
          <p:cNvSpPr txBox="1"/>
          <p:nvPr/>
        </p:nvSpPr>
        <p:spPr>
          <a:xfrm>
            <a:off x="7137400" y="46990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7C8090"/>
                </a:solidFill>
                <a:latin typeface="MiSans"/>
                <a:ea typeface="MiSans"/>
              </a:rPr>
              <a:t>Размещение там, где контент считывают нейросети и поисковики</a:t>
            </a:r>
            <a:endParaRPr lang="en-US" sz="1150"/>
          </a:p>
        </p:txBody>
      </p:sp>
      <p:sp>
        <p:nvSpPr>
          <p:cNvPr id="26" name="footnote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DDD6C8"/>
          </a:solidFill>
          <a:ln>
            <a:noFill/>
          </a:ln>
        </p:spPr>
      </p:sp>
      <p:sp>
        <p:nvSpPr>
          <p:cNvPr id="27" name="footnote"/>
          <p:cNvSpPr txBox="1"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*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Все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работы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выполняются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 в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строгом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соответствии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 с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законодательством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Российской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Федерации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.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Договор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 и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закрывающие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документы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7C8090"/>
                </a:solidFill>
                <a:latin typeface="MiSans"/>
                <a:ea typeface="MiSans"/>
              </a:rPr>
              <a:t>предоставляются. Instagram принадлежит компании Meta, признанной экстремистской организацией и запрещённой на территории Российской Федерации</a:t>
            </a:r>
            <a:r>
              <a:rPr lang="en-US" sz="1050" i="1" dirty="0">
                <a:solidFill>
                  <a:srgbClr val="7C8090"/>
                </a:solidFill>
                <a:latin typeface="MiSans"/>
                <a:ea typeface="MiSans"/>
              </a:rPr>
              <a:t>.</a:t>
            </a:r>
            <a:endParaRPr lang="en-US" sz="1050" dirty="0"/>
          </a:p>
        </p:txBody>
      </p:sp>
      <p:sp>
        <p:nvSpPr>
          <p:cNvPr id="28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7C8090"/>
                </a:solidFill>
                <a:latin typeface="MiSans"/>
                <a:ea typeface="MiSans"/>
              </a:rPr>
              <a:t>08 / 09</a:t>
            </a:r>
            <a:endParaRPr lang="en-US" sz="900"/>
          </a:p>
        </p:txBody>
      </p:sp>
      <p:sp>
        <p:nvSpPr>
          <p:cNvPr id="29" name="cta-btn">
            <a:hlinkClick r:id="rId2"/>
          </p:cNvPr>
          <p:cNvSpPr/>
          <p:nvPr/>
        </p:nvSpPr>
        <p:spPr>
          <a:xfrm>
            <a:off x="711200" y="3454400"/>
            <a:ext cx="3098800" cy="584200"/>
          </a:xfrm>
          <a:prstGeom prst="roundRect">
            <a:avLst>
              <a:gd name="adj" fmla="val 50000"/>
            </a:avLst>
          </a:prstGeom>
          <a:solidFill>
            <a:srgbClr val="B08D3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0" name="cta-text">
            <a:hlinkClick r:id="rId2"/>
          </p:cNvPr>
          <p:cNvSpPr txBox="1"/>
          <p:nvPr/>
        </p:nvSpPr>
        <p:spPr>
          <a:xfrm>
            <a:off x="711200" y="3454400"/>
            <a:ext cx="3098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50" b="1" kern="0" spc="200" dirty="0">
                <a:solidFill>
                  <a:srgbClr val="101D42"/>
                </a:solidFill>
                <a:latin typeface="MiSans"/>
                <a:ea typeface="MiSans"/>
                <a:hlinkClick r:id="rId2"/>
              </a:rPr>
              <a:t>ОСТАВИТЬ ЗАЯВКУ</a:t>
            </a:r>
            <a:endParaRPr lang="ru-RU" sz="1250" dirty="0">
              <a:solidFill>
                <a:srgbClr val="101D42"/>
              </a:solidFill>
            </a:endParaRPr>
          </a:p>
        </p:txBody>
      </p:sp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7C8090"/>
                </a:solidFill>
                <a:latin typeface="MiSans"/>
                <a:ea typeface="MiSans"/>
              </a:rPr>
              <a:t>ПРОМПТЕР · СТОМАТОЛОГИЯ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60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101D42"/>
                </a:solidFill>
                <a:latin typeface="MiSans"/>
                <a:ea typeface="MiSans"/>
              </a:rPr>
              <a:t>ПОДДЕРЖКА И СОПРОВОЖДЕНИЕ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101D42"/>
                </a:solidFill>
                <a:latin typeface="MiSans"/>
                <a:ea typeface="MiSans"/>
              </a:rPr>
              <a:t>КЛИЕНТОВ ПРОМПТЕР</a:t>
            </a:r>
            <a:endParaRPr lang="en-US" sz="2500"/>
          </a:p>
        </p:txBody>
      </p:sp>
      <p:sp>
        <p:nvSpPr>
          <p:cNvPr id="4" name="title-rule"/>
          <p:cNvSpPr/>
          <p:nvPr/>
        </p:nvSpPr>
        <p:spPr>
          <a:xfrm>
            <a:off x="711200" y="1549400"/>
            <a:ext cx="609600" cy="25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5" name="subtitle"/>
          <p:cNvSpPr txBox="1"/>
          <p:nvPr/>
        </p:nvSpPr>
        <p:spPr>
          <a:xfrm>
            <a:off x="711200" y="1701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7C8090"/>
                </a:solidFill>
                <a:latin typeface="MiSans"/>
                <a:ea typeface="MiSans"/>
              </a:rPr>
              <a:t>Мы не просто запускаем систему — наша команда остаётся рядом и работает на ваш результат</a:t>
            </a:r>
            <a:endParaRPr lang="en-US" sz="1300"/>
          </a:p>
        </p:txBody>
      </p:sp>
      <p:sp>
        <p:nvSpPr>
          <p:cNvPr id="6" name="p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eyJpY29uTmFtZSI6ImZhczpoZWFkc2V0In0</pptd:icon>
              </p:ext>
            </p:extLst>
          </p:nvPr>
        </p:nvSpPr>
        <p:spPr>
          <a:xfrm>
            <a:off x="711200" y="243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7" name="p1-title"/>
          <p:cNvSpPr txBox="1"/>
          <p:nvPr/>
        </p:nvSpPr>
        <p:spPr>
          <a:xfrm>
            <a:off x="1219200" y="2438400"/>
            <a:ext cx="599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1D42"/>
                </a:solidFill>
                <a:latin typeface="MiSans"/>
                <a:ea typeface="MiSans"/>
              </a:rPr>
              <a:t>Постоянный мониторинг</a:t>
            </a:r>
            <a:endParaRPr lang="en-US" sz="1500"/>
          </a:p>
        </p:txBody>
      </p:sp>
      <p:sp>
        <p:nvSpPr>
          <p:cNvPr id="8" name="p1-desc"/>
          <p:cNvSpPr txBox="1"/>
          <p:nvPr/>
        </p:nvSpPr>
        <p:spPr>
          <a:xfrm>
            <a:off x="1219200" y="2743200"/>
            <a:ext cx="5994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7C8090"/>
                </a:solidFill>
                <a:latin typeface="MiSans"/>
                <a:ea typeface="MiSans"/>
              </a:rPr>
              <a:t>Регулярно отслеживаем присутствие бренда в нейровыдаче и корректируем стратегию под ваши цели</a:t>
            </a:r>
            <a:endParaRPr lang="en-US" sz="1200"/>
          </a:p>
        </p:txBody>
      </p:sp>
      <p:sp>
        <p:nvSpPr>
          <p:cNvPr id="9" name="p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eyJpY29uTmFtZSI6ImZhczpjb21tZW50cyJ9</pptd:icon>
              </p:ext>
            </p:extLst>
          </p:nvPr>
        </p:nvSpPr>
        <p:spPr>
          <a:xfrm>
            <a:off x="711200" y="347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0" name="p2-title"/>
          <p:cNvSpPr txBox="1"/>
          <p:nvPr/>
        </p:nvSpPr>
        <p:spPr>
          <a:xfrm>
            <a:off x="1219200" y="3479800"/>
            <a:ext cx="599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1D42"/>
                </a:solidFill>
                <a:latin typeface="MiSans"/>
                <a:ea typeface="MiSans"/>
              </a:rPr>
              <a:t>Живая команда на связи</a:t>
            </a:r>
            <a:endParaRPr lang="en-US" sz="1500"/>
          </a:p>
        </p:txBody>
      </p:sp>
      <p:sp>
        <p:nvSpPr>
          <p:cNvPr id="11" name="p2-desc"/>
          <p:cNvSpPr txBox="1"/>
          <p:nvPr/>
        </p:nvSpPr>
        <p:spPr>
          <a:xfrm>
            <a:off x="1219200" y="3784600"/>
            <a:ext cx="5994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7C8090"/>
                </a:solidFill>
                <a:latin typeface="MiSans"/>
                <a:ea typeface="MiSans"/>
              </a:rPr>
              <a:t>Помогаем с контентом и площадками — вы не останетесь один на один с алгоритмами</a:t>
            </a:r>
            <a:endParaRPr lang="en-US" sz="1200"/>
          </a:p>
        </p:txBody>
      </p:sp>
      <p:sp>
        <p:nvSpPr>
          <p:cNvPr id="12" name="p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eyJpY29uTmFtZSI6ImZhczp0b290aCJ9</pptd:icon>
              </p:ext>
            </p:extLst>
          </p:nvPr>
        </p:nvSpPr>
        <p:spPr>
          <a:xfrm>
            <a:off x="711200" y="452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45" y="6"/>
                </a:moveTo>
                <a:lnTo>
                  <a:pt x="224" y="32"/>
                </a:lnTo>
                <a:lnTo>
                  <a:pt x="303" y="6"/>
                </a:lnTo>
                <a:cubicBezTo>
                  <a:pt x="314" y="2"/>
                  <a:pt x="326" y="0"/>
                  <a:pt x="338" y="0"/>
                </a:cubicBezTo>
                <a:cubicBezTo>
                  <a:pt x="399" y="0"/>
                  <a:pt x="448" y="49"/>
                  <a:pt x="448" y="110"/>
                </a:cubicBezTo>
                <a:lnTo>
                  <a:pt x="448" y="179"/>
                </a:lnTo>
                <a:cubicBezTo>
                  <a:pt x="448" y="208"/>
                  <a:pt x="439" y="237"/>
                  <a:pt x="421" y="260"/>
                </a:cubicBezTo>
                <a:lnTo>
                  <a:pt x="420" y="262"/>
                </a:lnTo>
                <a:cubicBezTo>
                  <a:pt x="407" y="279"/>
                  <a:pt x="398" y="299"/>
                  <a:pt x="395" y="320"/>
                </a:cubicBezTo>
                <a:lnTo>
                  <a:pt x="374" y="472"/>
                </a:lnTo>
                <a:cubicBezTo>
                  <a:pt x="370" y="495"/>
                  <a:pt x="351" y="512"/>
                  <a:pt x="328" y="512"/>
                </a:cubicBezTo>
                <a:cubicBezTo>
                  <a:pt x="305" y="512"/>
                  <a:pt x="285" y="496"/>
                  <a:pt x="282" y="473"/>
                </a:cubicBezTo>
                <a:lnTo>
                  <a:pt x="261" y="352"/>
                </a:lnTo>
                <a:cubicBezTo>
                  <a:pt x="258" y="333"/>
                  <a:pt x="243" y="320"/>
                  <a:pt x="224" y="320"/>
                </a:cubicBezTo>
                <a:cubicBezTo>
                  <a:pt x="206" y="320"/>
                  <a:pt x="190" y="333"/>
                  <a:pt x="187" y="352"/>
                </a:cubicBezTo>
                <a:lnTo>
                  <a:pt x="167" y="473"/>
                </a:lnTo>
                <a:cubicBezTo>
                  <a:pt x="163" y="496"/>
                  <a:pt x="143" y="512"/>
                  <a:pt x="121" y="512"/>
                </a:cubicBezTo>
                <a:cubicBezTo>
                  <a:pt x="97" y="512"/>
                  <a:pt x="78" y="495"/>
                  <a:pt x="74" y="472"/>
                </a:cubicBezTo>
                <a:lnTo>
                  <a:pt x="53" y="321"/>
                </a:lnTo>
                <a:cubicBezTo>
                  <a:pt x="50" y="299"/>
                  <a:pt x="41" y="279"/>
                  <a:pt x="28" y="262"/>
                </a:cubicBezTo>
                <a:lnTo>
                  <a:pt x="27" y="260"/>
                </a:lnTo>
                <a:cubicBezTo>
                  <a:pt x="10" y="237"/>
                  <a:pt x="0" y="208"/>
                  <a:pt x="0" y="179"/>
                </a:cubicBezTo>
                <a:lnTo>
                  <a:pt x="0" y="110"/>
                </a:lnTo>
                <a:cubicBezTo>
                  <a:pt x="0" y="49"/>
                  <a:pt x="49" y="0"/>
                  <a:pt x="110" y="0"/>
                </a:cubicBezTo>
                <a:cubicBezTo>
                  <a:pt x="122" y="0"/>
                  <a:pt x="134" y="2"/>
                  <a:pt x="145" y="6"/>
                </a:cubicBezTo>
                <a:close/>
              </a:path>
            </a:pathLst>
          </a:custGeom>
          <a:solidFill>
            <a:srgbClr val="B08D3E"/>
          </a:solidFill>
          <a:ln>
            <a:noFill/>
          </a:ln>
        </p:spPr>
      </p:sp>
      <p:sp>
        <p:nvSpPr>
          <p:cNvPr id="13" name="p3-title"/>
          <p:cNvSpPr txBox="1"/>
          <p:nvPr/>
        </p:nvSpPr>
        <p:spPr>
          <a:xfrm>
            <a:off x="1219200" y="4521200"/>
            <a:ext cx="599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01D42"/>
                </a:solidFill>
                <a:latin typeface="MiSans"/>
                <a:ea typeface="MiSans"/>
              </a:rPr>
              <a:t>Экспертиза в стоматологии</a:t>
            </a:r>
            <a:endParaRPr lang="en-US" sz="1500"/>
          </a:p>
        </p:txBody>
      </p:sp>
      <p:sp>
        <p:nvSpPr>
          <p:cNvPr id="14" name="p3-desc"/>
          <p:cNvSpPr txBox="1"/>
          <p:nvPr/>
        </p:nvSpPr>
        <p:spPr>
          <a:xfrm>
            <a:off x="1219200" y="4826000"/>
            <a:ext cx="5994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7C8090"/>
                </a:solidFill>
                <a:latin typeface="MiSans"/>
                <a:ea typeface="MiSans"/>
              </a:rPr>
              <a:t>Знаем специфику стоматологических клиник — говорим с пациентами на их языке</a:t>
            </a:r>
            <a:endParaRPr lang="en-US" sz="1200"/>
          </a:p>
        </p:txBody>
      </p:sp>
      <p:pic>
        <p:nvPicPr>
          <p:cNvPr id="15" name="photo"/>
          <p:cNvPicPr/>
          <p:nvPr/>
        </p:nvPicPr>
        <p:blipFill>
          <a:blip r:embed="rId2"/>
          <a:srcRect l="10000" t="2000" r="10000" b="18000"/>
          <a:stretch>
            <a:fillRect/>
          </a:stretch>
        </p:blipFill>
        <p:spPr>
          <a:xfrm>
            <a:off x="7670800" y="914400"/>
            <a:ext cx="3810000" cy="25400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16" name="photo-caption"/>
          <p:cNvSpPr txBox="1"/>
          <p:nvPr/>
        </p:nvSpPr>
        <p:spPr>
          <a:xfrm>
            <a:off x="7670800" y="3581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50" i="1">
                <a:solidFill>
                  <a:srgbClr val="7C8090"/>
                </a:solidFill>
                <a:latin typeface="MiSans"/>
                <a:ea typeface="MiSans"/>
              </a:rPr>
              <a:t>Ваш персональный менеджер следит за присутствием бренда в нейросетях</a:t>
            </a:r>
            <a:endParaRPr lang="en-US" sz="1050"/>
          </a:p>
        </p:txBody>
      </p:sp>
      <p:sp>
        <p:nvSpPr>
          <p:cNvPr id="17" name="contacts-panel"/>
          <p:cNvSpPr/>
          <p:nvPr/>
        </p:nvSpPr>
        <p:spPr>
          <a:xfrm>
            <a:off x="711200" y="5384800"/>
            <a:ext cx="107696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</p:sp>
      <p:sp>
        <p:nvSpPr>
          <p:cNvPr id="18" name="contacts-accent"/>
          <p:cNvSpPr/>
          <p:nvPr/>
        </p:nvSpPr>
        <p:spPr>
          <a:xfrm>
            <a:off x="711200" y="5384800"/>
            <a:ext cx="38100" cy="787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19" name="contacts-label"/>
          <p:cNvSpPr txBox="1"/>
          <p:nvPr/>
        </p:nvSpPr>
        <p:spPr>
          <a:xfrm>
            <a:off x="1016000" y="5384800"/>
            <a:ext cx="17272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100">
                <a:solidFill>
                  <a:srgbClr val="101D42"/>
                </a:solidFill>
                <a:latin typeface="MiSans"/>
                <a:ea typeface="MiSans"/>
              </a:rPr>
              <a:t>КОНТАКТЫ</a:t>
            </a:r>
            <a:endParaRPr lang="en-US" sz="1300"/>
          </a:p>
        </p:txBody>
      </p:sp>
      <p:sp>
        <p:nvSpPr>
          <p:cNvPr id="20" name="contact-phone"/>
          <p:cNvSpPr txBox="1"/>
          <p:nvPr/>
        </p:nvSpPr>
        <p:spPr>
          <a:xfrm>
            <a:off x="27432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7C8090"/>
                </a:solidFill>
                <a:latin typeface="MiSans"/>
                <a:ea typeface="MiSans"/>
              </a:rPr>
              <a:t>Телефон: </a:t>
            </a:r>
            <a:r>
              <a:rPr lang="en-US" sz="1300">
                <a:solidFill>
                  <a:srgbClr val="101D42"/>
                </a:solidFill>
                <a:latin typeface="MiSans"/>
                <a:ea typeface="MiSans"/>
              </a:rPr>
              <a:t>+7 906 758-77-77</a:t>
            </a:r>
            <a:endParaRPr lang="en-US" sz="1300"/>
          </a:p>
        </p:txBody>
      </p:sp>
      <p:sp>
        <p:nvSpPr>
          <p:cNvPr id="21" name="contact-mail"/>
          <p:cNvSpPr txBox="1"/>
          <p:nvPr/>
        </p:nvSpPr>
        <p:spPr>
          <a:xfrm>
            <a:off x="57404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7C8090"/>
                </a:solidFill>
                <a:latin typeface="MiSans"/>
                <a:ea typeface="MiSans"/>
              </a:rPr>
              <a:t>E-mail: </a:t>
            </a:r>
            <a:r>
              <a:rPr lang="en-US" sz="1300">
                <a:solidFill>
                  <a:srgbClr val="101D42"/>
                </a:solidFill>
                <a:latin typeface="MiSans"/>
                <a:ea typeface="MiSans"/>
              </a:rPr>
              <a:t>prompter.moscow@mail.ru</a:t>
            </a:r>
            <a:endParaRPr lang="en-US" sz="1300"/>
          </a:p>
        </p:txBody>
      </p:sp>
      <p:sp>
        <p:nvSpPr>
          <p:cNvPr id="22" name="contact-site"/>
          <p:cNvSpPr txBox="1"/>
          <p:nvPr/>
        </p:nvSpPr>
        <p:spPr>
          <a:xfrm>
            <a:off x="8737600" y="5384800"/>
            <a:ext cx="2540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7C8090"/>
                </a:solidFill>
                <a:latin typeface="MiSans"/>
                <a:ea typeface="MiSans"/>
              </a:rPr>
              <a:t>Сайт: </a:t>
            </a:r>
            <a:r>
              <a:rPr lang="en-US" sz="1300">
                <a:solidFill>
                  <a:srgbClr val="101D42"/>
                </a:solidFill>
                <a:latin typeface="MiSans"/>
                <a:ea typeface="MiSans"/>
              </a:rPr>
              <a:t>prompter-ai.moscow</a:t>
            </a:r>
            <a:endParaRPr lang="en-US" sz="1300"/>
          </a:p>
        </p:txBody>
      </p:sp>
      <p:sp>
        <p:nvSpPr>
          <p:cNvPr id="23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7C8090"/>
                </a:solidFill>
                <a:latin typeface="MiSans"/>
                <a:ea typeface="MiSans"/>
              </a:rPr>
              <a:t>09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Microsoft Office PowerPoint</Application>
  <PresentationFormat>Широкоэкранный</PresentationFormat>
  <Paragraphs>154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Промптер для стоматологии — GEO/SEO-продвижение</dc:title>
  <dc:subject>Промптер для стоматологии — GEO/SEO-продвижение</dc:subject>
  <dc:creator>Kimi</dc:creator>
  <cp:lastModifiedBy>Пупкин Толя</cp:lastModifiedBy>
  <cp:revision>2</cp:revision>
  <dcterms:modified xsi:type="dcterms:W3CDTF">2026-07-23T17:47:41Z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{"Label":"Промптер для стоматологии — GEO/SEO-продвижение","ContentProducer":"001191110108MACG2KBH8F10000","ProduceID":"19f8fe49-fd52-8f76-8000-0000d34a264c","ReservedCode1":"","ContentPropagator":"001191110108MACG2KBH8F20000","PropagateID":"19f73adb-8c92-8708-8000-09088e4502a4","ReservedCode2":""}</vt:lpwstr>
  </property>
</Properties>
</file>