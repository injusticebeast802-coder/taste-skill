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6"/>
    <p:sldId id="265" r:id="rId15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A0E"/>
    <a:srgbClr val="E845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3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rompter-ai.moscow/zayavka.html?from=presentation-kratkaya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A0E">
                  <a:alpha val="92157"/>
                </a:srgbClr>
              </a:gs>
              <a:gs pos="50000">
                <a:srgbClr val="0A0A0E">
                  <a:alpha val="80000"/>
                </a:srgbClr>
              </a:gs>
              <a:gs pos="100000">
                <a:srgbClr val="0A0A0E">
                  <a:alpha val="2000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brand"/>
          <p:cNvSpPr txBox="1"/>
          <p:nvPr/>
        </p:nvSpPr>
        <p:spPr>
          <a:xfrm>
            <a:off x="1422400" y="711200"/>
            <a:ext cx="3302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kern="0" spc="600">
                <a:solidFill>
                  <a:srgbClr val="F5F5F7"/>
                </a:solidFill>
                <a:latin typeface="MiSans"/>
                <a:ea typeface="MiSans"/>
              </a:rPr>
              <a:t>ПРОМПТЕР</a:t>
            </a:r>
            <a:endParaRPr lang="en-US" sz="1900"/>
          </a:p>
        </p:txBody>
      </p:sp>
      <p:sp>
        <p:nvSpPr>
          <p:cNvPr id="5" name="brand-sub"/>
          <p:cNvSpPr txBox="1"/>
          <p:nvPr/>
        </p:nvSpPr>
        <p:spPr>
          <a:xfrm>
            <a:off x="1422400" y="1066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kern="0" spc="200">
                <a:solidFill>
                  <a:srgbClr val="9A9AA8"/>
                </a:solidFill>
                <a:latin typeface="MiSans"/>
                <a:ea typeface="MiSans"/>
              </a:rPr>
              <a:t>AI-ПЛАТФОРМА ЦИФРОВОГО ПРОДВИЖЕНИЯ</a:t>
            </a:r>
            <a:endParaRPr lang="en-US" sz="900"/>
          </a:p>
        </p:txBody>
      </p:sp>
      <p:sp>
        <p:nvSpPr>
          <p:cNvPr id="6" name="kicker"/>
          <p:cNvSpPr txBox="1"/>
          <p:nvPr/>
        </p:nvSpPr>
        <p:spPr>
          <a:xfrm>
            <a:off x="711200" y="17907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400" dirty="0">
                <a:solidFill>
                  <a:srgbClr val="E8453C"/>
                </a:solidFill>
                <a:latin typeface="MiSans"/>
                <a:ea typeface="MiSans"/>
              </a:rPr>
              <a:t>ПРЕДСТАВЛЕНИЕ КОМПАНИИ</a:t>
            </a:r>
            <a:endParaRPr lang="en-US" sz="1200" dirty="0"/>
          </a:p>
        </p:txBody>
      </p:sp>
      <p:sp>
        <p:nvSpPr>
          <p:cNvPr id="7" name="title"/>
          <p:cNvSpPr txBox="1"/>
          <p:nvPr/>
        </p:nvSpPr>
        <p:spPr>
          <a:xfrm>
            <a:off x="711200" y="2483502"/>
            <a:ext cx="8937475" cy="21922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4000" b="1" dirty="0">
                <a:solidFill>
                  <a:srgbClr val="F5F5F7"/>
                </a:solidFill>
                <a:latin typeface="MiSans"/>
              </a:rPr>
              <a:t>Комплексное </a:t>
            </a:r>
            <a:r>
              <a:rPr lang="en-US" sz="4000" b="1" dirty="0">
                <a:solidFill>
                  <a:srgbClr val="F5F5F7"/>
                </a:solidFill>
                <a:latin typeface="MiSans"/>
              </a:rPr>
              <a:t>GEO- </a:t>
            </a:r>
            <a:r>
              <a:rPr lang="ru-RU" sz="4000" b="1" dirty="0">
                <a:solidFill>
                  <a:srgbClr val="F5F5F7"/>
                </a:solidFill>
                <a:latin typeface="MiSans"/>
              </a:rPr>
              <a:t>и </a:t>
            </a:r>
            <a:r>
              <a:rPr lang="en-US" sz="4000" b="1" dirty="0">
                <a:solidFill>
                  <a:srgbClr val="F5F5F7"/>
                </a:solidFill>
                <a:latin typeface="MiSans"/>
              </a:rPr>
              <a:t>SEO-</a:t>
            </a:r>
            <a:r>
              <a:rPr lang="ru-RU" sz="4000" b="1" dirty="0">
                <a:solidFill>
                  <a:srgbClr val="F5F5F7"/>
                </a:solidFill>
                <a:latin typeface="MiSans"/>
              </a:rPr>
              <a:t>продвижение бизнеса с сервисом </a:t>
            </a:r>
            <a:r>
              <a:rPr lang="ru-RU" sz="4000" b="1" dirty="0" err="1">
                <a:solidFill>
                  <a:srgbClr val="F5F5F7"/>
                </a:solidFill>
                <a:latin typeface="MiSans"/>
              </a:rPr>
              <a:t>Промптер</a:t>
            </a:r>
            <a:endParaRPr lang="ru-RU" sz="4000" b="1" dirty="0">
              <a:solidFill>
                <a:srgbClr val="F5F5F7"/>
              </a:solidFill>
              <a:latin typeface="MiSans"/>
            </a:endParaRPr>
          </a:p>
          <a:p>
            <a:pPr algn="l">
              <a:lnSpc>
                <a:spcPct val="120000"/>
              </a:lnSpc>
            </a:pPr>
            <a:endParaRPr lang="en-US" sz="4000" dirty="0"/>
          </a:p>
        </p:txBody>
      </p:sp>
      <p:sp>
        <p:nvSpPr>
          <p:cNvPr id="9" name="subtitle"/>
          <p:cNvSpPr txBox="1"/>
          <p:nvPr/>
        </p:nvSpPr>
        <p:spPr>
          <a:xfrm>
            <a:off x="711199" y="4419600"/>
            <a:ext cx="8458437" cy="9984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Промптер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—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автономная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платформа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GEO- и SEO-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продвижения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: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создаёт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контент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о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вашем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бизнесе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и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сама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публикует</a:t>
            </a:r>
            <a:r>
              <a:rPr lang="en-US" sz="15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500" dirty="0" err="1">
                <a:solidFill>
                  <a:srgbClr val="9A9AA8"/>
                </a:solidFill>
                <a:latin typeface="MiSans"/>
                <a:ea typeface="MiSans"/>
              </a:rPr>
              <a:t>его</a:t>
            </a:r>
            <a:r>
              <a:rPr lang="ru-RU" sz="1500" dirty="0">
                <a:solidFill>
                  <a:srgbClr val="9A9AA8"/>
                </a:solidFill>
                <a:latin typeface="MiSans"/>
                <a:ea typeface="MiSans"/>
              </a:rPr>
              <a:t>. </a:t>
            </a:r>
            <a:r>
              <a:rPr lang="ru-RU" sz="1500" dirty="0">
                <a:solidFill>
                  <a:srgbClr val="9A9AA8"/>
                </a:solidFill>
                <a:latin typeface="MiSans"/>
              </a:rPr>
              <a:t>Делаем ваш бизнес заметным в </a:t>
            </a:r>
            <a:r>
              <a:rPr lang="ru-RU" sz="1500" dirty="0" err="1">
                <a:solidFill>
                  <a:srgbClr val="9A9AA8"/>
                </a:solidFill>
                <a:latin typeface="MiSans"/>
              </a:rPr>
              <a:t>нейровыдаче</a:t>
            </a:r>
            <a:r>
              <a:rPr lang="ru-RU" sz="1500" dirty="0">
                <a:solidFill>
                  <a:srgbClr val="9A9AA8"/>
                </a:solidFill>
                <a:latin typeface="MiSans"/>
              </a:rPr>
              <a:t> </a:t>
            </a:r>
            <a:r>
              <a:rPr lang="ru-RU" sz="1500" dirty="0">
                <a:solidFill>
                  <a:srgbClr val="9A9AA8"/>
                </a:solidFill>
              </a:rPr>
              <a:t>и поисковых системах</a:t>
            </a:r>
            <a:endParaRPr lang="en-US" sz="1500" dirty="0">
              <a:solidFill>
                <a:srgbClr val="9A9AA8"/>
              </a:solidFill>
              <a:latin typeface="MiSans"/>
            </a:endParaRPr>
          </a:p>
        </p:txBody>
      </p:sp>
      <p:pic>
        <p:nvPicPr>
          <p:cNvPr id="13" name="Рисунок 12" descr="preview">
            <a:extLst>
              <a:ext uri="{FF2B5EF4-FFF2-40B4-BE49-F238E27FC236}">
                <a16:creationId xmlns:a16="http://schemas.microsoft.com/office/drawing/2014/main" id="{0608E8DD-4211-16CA-E499-FFFAE3068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9" y="639292"/>
            <a:ext cx="774343" cy="83390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2D57932-6AD8-5817-EB54-9A01BC3F1837}"/>
              </a:ext>
            </a:extLst>
          </p:cNvPr>
          <p:cNvSpPr/>
          <p:nvPr/>
        </p:nvSpPr>
        <p:spPr>
          <a:xfrm>
            <a:off x="85458" y="6434983"/>
            <a:ext cx="774343" cy="308124"/>
          </a:xfrm>
          <a:prstGeom prst="rect">
            <a:avLst/>
          </a:prstGeom>
          <a:solidFill>
            <a:srgbClr val="090A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i-img"/>
          <p:cNvPicPr/>
          <p:nvPr/>
        </p:nvPicPr>
        <p:blipFill>
          <a:blip r:embed="rId2"/>
          <a:srcRect l="25309" r="25309"/>
          <a:stretch>
            <a:fillRect/>
          </a:stretch>
        </p:blipFill>
        <p:spPr>
          <a:xfrm>
            <a:off x="7112000" y="0"/>
            <a:ext cx="5080000" cy="6858000"/>
          </a:xfrm>
          <a:prstGeom prst="rect">
            <a:avLst/>
          </a:prstGeom>
          <a:ln>
            <a:noFill/>
          </a:ln>
        </p:spPr>
      </p:pic>
      <p:sp>
        <p:nvSpPr>
          <p:cNvPr id="3" name="ai-overlay"/>
          <p:cNvSpPr/>
          <p:nvPr/>
        </p:nvSpPr>
        <p:spPr>
          <a:xfrm>
            <a:off x="7112000" y="0"/>
            <a:ext cx="5080000" cy="6858000"/>
          </a:xfrm>
          <a:prstGeom prst="rect">
            <a:avLst/>
          </a:prstGeom>
          <a:gradFill rotWithShape="1">
            <a:gsLst>
              <a:gs pos="0">
                <a:srgbClr val="0A0A0E">
                  <a:alpha val="94902"/>
                </a:srgbClr>
              </a:gs>
              <a:gs pos="50000">
                <a:srgbClr val="0A0A0E">
                  <a:alpha val="40000"/>
                </a:srgbClr>
              </a:gs>
              <a:gs pos="100000">
                <a:srgbClr val="0A0A0E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brandmark"/>
          <p:cNvSpPr txBox="1"/>
          <p:nvPr/>
        </p:nvSpPr>
        <p:spPr>
          <a:xfrm>
            <a:off x="7112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5" name="title"/>
          <p:cNvSpPr txBox="1"/>
          <p:nvPr/>
        </p:nvSpPr>
        <p:spPr>
          <a:xfrm>
            <a:off x="711200" y="8128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2000"/>
              </a:lnSpc>
            </a:pPr>
            <a:r>
              <a:rPr lang="ru-RU" sz="2700" b="1" dirty="0">
                <a:solidFill>
                  <a:srgbClr val="C00000"/>
                </a:solidFill>
                <a:latin typeface="MiSans"/>
                <a:ea typeface="MiSans"/>
              </a:rPr>
              <a:t>О</a:t>
            </a:r>
            <a:r>
              <a:rPr lang="ru-RU" sz="2700" b="1" dirty="0">
                <a:solidFill>
                  <a:srgbClr val="F5F5F7"/>
                </a:solidFill>
                <a:latin typeface="MiSans"/>
                <a:ea typeface="MiSans"/>
              </a:rPr>
              <a:t> КОМПАНИИ</a:t>
            </a:r>
            <a:endParaRPr lang="en-US" sz="2700" dirty="0"/>
          </a:p>
        </p:txBody>
      </p:sp>
      <p:sp>
        <p:nvSpPr>
          <p:cNvPr id="6" name="title-rule"/>
          <p:cNvSpPr/>
          <p:nvPr/>
        </p:nvSpPr>
        <p:spPr>
          <a:xfrm>
            <a:off x="711200" y="1778000"/>
            <a:ext cx="609600" cy="254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body"/>
          <p:cNvSpPr txBox="1"/>
          <p:nvPr/>
        </p:nvSpPr>
        <p:spPr>
          <a:xfrm>
            <a:off x="711200" y="2006600"/>
            <a:ext cx="5969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Промптер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—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технологическая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компания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на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стыке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искусственного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интеллекта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и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маркетинга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.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Мы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создали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автономную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платформу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цифрового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продвижения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,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которая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берёт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на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себя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весь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цикл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работы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с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контентом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—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от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идеи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до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 </a:t>
            </a:r>
            <a:r>
              <a:rPr lang="en-US" sz="1350" dirty="0" err="1">
                <a:solidFill>
                  <a:srgbClr val="C9C9D4"/>
                </a:solidFill>
                <a:latin typeface="MiSans"/>
                <a:ea typeface="MiSans"/>
              </a:rPr>
              <a:t>публикации</a:t>
            </a:r>
            <a:r>
              <a:rPr lang="en-US" sz="1350" dirty="0">
                <a:solidFill>
                  <a:srgbClr val="C9C9D4"/>
                </a:solidFill>
                <a:latin typeface="MiSans"/>
                <a:ea typeface="MiSans"/>
              </a:rPr>
              <a:t>.</a:t>
            </a:r>
            <a:endParaRPr lang="en-US" sz="1350" dirty="0"/>
          </a:p>
        </p:txBody>
      </p:sp>
      <p:sp>
        <p:nvSpPr>
          <p:cNvPr id="8" name="f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eyJpY29uTmFtZSI6ImZhczpyb2JvdCJ9</pptd:icon>
              </p:ext>
            </p:extLst>
          </p:nvPr>
        </p:nvSpPr>
        <p:spPr>
          <a:xfrm>
            <a:off x="711200" y="3810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" name="f1-title"/>
          <p:cNvSpPr txBox="1"/>
          <p:nvPr/>
        </p:nvSpPr>
        <p:spPr>
          <a:xfrm>
            <a:off x="1168400" y="3810000"/>
            <a:ext cx="5511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>
                <a:solidFill>
                  <a:srgbClr val="F5F5F7"/>
                </a:solidFill>
                <a:latin typeface="MiSans"/>
                <a:ea typeface="MiSans"/>
              </a:rPr>
              <a:t>Собственная AI-технология</a:t>
            </a:r>
            <a:endParaRPr lang="en-US" sz="1450"/>
          </a:p>
        </p:txBody>
      </p:sp>
      <p:sp>
        <p:nvSpPr>
          <p:cNvPr id="10" name="f1-desc"/>
          <p:cNvSpPr txBox="1"/>
          <p:nvPr/>
        </p:nvSpPr>
        <p:spPr>
          <a:xfrm>
            <a:off x="1168400" y="4114800"/>
            <a:ext cx="551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ru-RU" sz="1200" dirty="0">
                <a:solidFill>
                  <a:srgbClr val="9A9AA8"/>
                </a:solidFill>
                <a:latin typeface="MiSans"/>
                <a:ea typeface="MiSans"/>
              </a:rPr>
              <a:t>217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специализированных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ИИ-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модулей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работают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как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единая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команда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специалистов</a:t>
            </a:r>
            <a:endParaRPr lang="en-US" sz="1200" dirty="0"/>
          </a:p>
        </p:txBody>
      </p:sp>
      <p:sp>
        <p:nvSpPr>
          <p:cNvPr id="11" name="f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eyJpY29uTmFtZSI6ImZhczpidWxsc2V5ZSJ9</pptd:icon>
              </p:ext>
            </p:extLst>
          </p:nvPr>
        </p:nvSpPr>
        <p:spPr>
          <a:xfrm>
            <a:off x="711200" y="482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448" y="256"/>
                </a:moveTo>
                <a:cubicBezTo>
                  <a:pt x="448" y="150"/>
                  <a:pt x="362" y="64"/>
                  <a:pt x="256" y="64"/>
                </a:cubicBezTo>
                <a:cubicBezTo>
                  <a:pt x="150" y="64"/>
                  <a:pt x="64" y="150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362" y="448"/>
                  <a:pt x="448" y="362"/>
                  <a:pt x="448" y="256"/>
                </a:cubicBezTo>
                <a:close/>
              </a:path>
              <a:path w="512" h="512">
                <a:moveTo>
                  <a:pt x="256" y="112"/>
                </a:moveTo>
                <a:cubicBezTo>
                  <a:pt x="336" y="112"/>
                  <a:pt x="400" y="176"/>
                  <a:pt x="400" y="256"/>
                </a:cubicBezTo>
                <a:cubicBezTo>
                  <a:pt x="400" y="336"/>
                  <a:pt x="336" y="400"/>
                  <a:pt x="256" y="400"/>
                </a:cubicBezTo>
                <a:cubicBezTo>
                  <a:pt x="176" y="400"/>
                  <a:pt x="112" y="336"/>
                  <a:pt x="112" y="256"/>
                </a:cubicBezTo>
                <a:cubicBezTo>
                  <a:pt x="112" y="176"/>
                  <a:pt x="176" y="112"/>
                  <a:pt x="256" y="112"/>
                </a:cubicBezTo>
                <a:close/>
                <a:moveTo>
                  <a:pt x="256" y="336"/>
                </a:moveTo>
                <a:cubicBezTo>
                  <a:pt x="300" y="336"/>
                  <a:pt x="336" y="300"/>
                  <a:pt x="336" y="256"/>
                </a:cubicBezTo>
                <a:cubicBezTo>
                  <a:pt x="336" y="212"/>
                  <a:pt x="300" y="176"/>
                  <a:pt x="256" y="176"/>
                </a:cubicBezTo>
                <a:cubicBezTo>
                  <a:pt x="212" y="176"/>
                  <a:pt x="176" y="212"/>
                  <a:pt x="176" y="256"/>
                </a:cubicBezTo>
                <a:cubicBezTo>
                  <a:pt x="176" y="300"/>
                  <a:pt x="212" y="336"/>
                  <a:pt x="256" y="33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cubicBezTo>
                  <a:pt x="274" y="224"/>
                  <a:pt x="288" y="238"/>
                  <a:pt x="288" y="256"/>
                </a:cubicBezTo>
                <a:cubicBezTo>
                  <a:pt x="288" y="274"/>
                  <a:pt x="274" y="288"/>
                  <a:pt x="256" y="288"/>
                </a:cubicBezTo>
                <a:cubicBezTo>
                  <a:pt x="238" y="288"/>
                  <a:pt x="224" y="274"/>
                  <a:pt x="224" y="256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" name="f2-title"/>
          <p:cNvSpPr txBox="1"/>
          <p:nvPr/>
        </p:nvSpPr>
        <p:spPr>
          <a:xfrm>
            <a:off x="1168400" y="4826000"/>
            <a:ext cx="5511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>
                <a:solidFill>
                  <a:srgbClr val="F5F5F7"/>
                </a:solidFill>
                <a:latin typeface="MiSans"/>
                <a:ea typeface="MiSans"/>
              </a:rPr>
              <a:t>Фокус на нейровыдаче (GEO)</a:t>
            </a:r>
            <a:endParaRPr lang="en-US" sz="1450"/>
          </a:p>
        </p:txBody>
      </p:sp>
      <p:sp>
        <p:nvSpPr>
          <p:cNvPr id="13" name="f2-desc"/>
          <p:cNvSpPr txBox="1"/>
          <p:nvPr/>
        </p:nvSpPr>
        <p:spPr>
          <a:xfrm>
            <a:off x="1168400" y="5130800"/>
            <a:ext cx="551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Одни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из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первых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на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рынке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делаем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бизнес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видимым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для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нейросетей</a:t>
            </a:r>
            <a:r>
              <a:rPr lang="en-US" sz="1200" dirty="0">
                <a:solidFill>
                  <a:srgbClr val="9A9AA8"/>
                </a:solidFill>
                <a:latin typeface="MiSans"/>
                <a:ea typeface="MiSans"/>
              </a:rPr>
              <a:t> и ИИ-</a:t>
            </a:r>
            <a:r>
              <a:rPr lang="en-US" sz="1200" dirty="0" err="1">
                <a:solidFill>
                  <a:srgbClr val="9A9AA8"/>
                </a:solidFill>
                <a:latin typeface="MiSans"/>
                <a:ea typeface="MiSans"/>
              </a:rPr>
              <a:t>ассистентов</a:t>
            </a:r>
            <a:endParaRPr lang="en-US" sz="1200" dirty="0"/>
          </a:p>
        </p:txBody>
      </p:sp>
      <p:sp>
        <p:nvSpPr>
          <p:cNvPr id="16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900"/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02 / 06</a:t>
            </a:r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1210"/>
            </a:gs>
            <a:gs pos="50000">
              <a:srgbClr val="0A0A0E"/>
            </a:gs>
            <a:gs pos="100000">
              <a:srgbClr val="101A4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3" name="kicker"/>
          <p:cNvSpPr txBox="1"/>
          <p:nvPr/>
        </p:nvSpPr>
        <p:spPr>
          <a:xfrm>
            <a:off x="711200" y="71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400">
                <a:solidFill>
                  <a:srgbClr val="E8453C"/>
                </a:solidFill>
                <a:latin typeface="MiSans"/>
                <a:ea typeface="MiSans"/>
              </a:rPr>
              <a:t>КЛЮЧЕВАЯ ТЕХНОЛОГИЯ</a:t>
            </a:r>
            <a:endParaRPr lang="en-US" sz="1200"/>
          </a:p>
        </p:txBody>
      </p:sp>
      <p:sp>
        <p:nvSpPr>
          <p:cNvPr id="4" name="bigtitle"/>
          <p:cNvSpPr txBox="1"/>
          <p:nvPr/>
        </p:nvSpPr>
        <p:spPr>
          <a:xfrm>
            <a:off x="711200" y="10668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>
                <a:solidFill>
                  <a:srgbClr val="F5F5F7"/>
                </a:solidFill>
                <a:latin typeface="MiSans"/>
                <a:ea typeface="MiSans"/>
              </a:rPr>
              <a:t>НЕ ПРОСТО ГЕНЕРИРУЕТ —</a:t>
            </a:r>
            <a:endParaRPr lang="en-US" sz="3800"/>
          </a:p>
          <a:p>
            <a:pPr algn="l">
              <a:lnSpc>
                <a:spcPct val="118000"/>
              </a:lnSpc>
            </a:pPr>
            <a:r>
              <a:rPr lang="en-US" sz="3800" b="1">
                <a:solidFill>
                  <a:srgbClr val="3D6BFF"/>
                </a:solidFill>
                <a:latin typeface="MiSans"/>
                <a:ea typeface="MiSans"/>
              </a:rPr>
              <a:t>САМА ПУБЛИКУЕТ</a:t>
            </a:r>
            <a:endParaRPr lang="en-US" sz="3800"/>
          </a:p>
        </p:txBody>
      </p:sp>
      <p:sp>
        <p:nvSpPr>
          <p:cNvPr id="5" name="title-rule"/>
          <p:cNvSpPr/>
          <p:nvPr/>
        </p:nvSpPr>
        <p:spPr>
          <a:xfrm>
            <a:off x="711200" y="2540000"/>
            <a:ext cx="6096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body"/>
          <p:cNvSpPr txBox="1"/>
          <p:nvPr/>
        </p:nvSpPr>
        <p:spPr>
          <a:xfrm>
            <a:off x="711200" y="27686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C9C9D4"/>
                </a:solidFill>
                <a:latin typeface="MiSans"/>
                <a:ea typeface="MiSans"/>
              </a:rPr>
              <a:t>Технология Промптера берёт на себя полный цикл GEO- и SEO-продвижения: создаёт контент о бизнесе клиента и автоматически публикует его на шести площадках. Цифровой след наращивается каждый день — его считывают нейросети и поисковики.</a:t>
            </a:r>
            <a:endParaRPr lang="en-US" sz="1400"/>
          </a:p>
        </p:txBody>
      </p:sp>
      <p:sp>
        <p:nvSpPr>
          <p:cNvPr id="9" name="chip1"/>
          <p:cNvSpPr/>
          <p:nvPr/>
        </p:nvSpPr>
        <p:spPr>
          <a:xfrm>
            <a:off x="711200" y="4724400"/>
            <a:ext cx="2489200" cy="736600"/>
          </a:xfrm>
          <a:prstGeom prst="rect">
            <a:avLst/>
          </a:prstGeom>
          <a:solidFill>
            <a:srgbClr val="13131B">
              <a:alpha val="80000"/>
            </a:srgbClr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chip1-num"/>
          <p:cNvSpPr txBox="1"/>
          <p:nvPr/>
        </p:nvSpPr>
        <p:spPr>
          <a:xfrm>
            <a:off x="9144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9AA8"/>
                </a:solidFill>
                <a:latin typeface="MiSans"/>
                <a:ea typeface="MiSans"/>
              </a:rPr>
              <a:t>01</a:t>
            </a:r>
            <a:endParaRPr lang="en-US" sz="1000"/>
          </a:p>
        </p:txBody>
      </p:sp>
      <p:sp>
        <p:nvSpPr>
          <p:cNvPr id="11" name="chip1-text"/>
          <p:cNvSpPr txBox="1"/>
          <p:nvPr/>
        </p:nvSpPr>
        <p:spPr>
          <a:xfrm>
            <a:off x="9144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5F5F7"/>
                </a:solidFill>
                <a:latin typeface="MiSans"/>
                <a:ea typeface="MiSans"/>
              </a:rPr>
              <a:t>Генерация контента</a:t>
            </a:r>
            <a:endParaRPr lang="en-US" sz="1250"/>
          </a:p>
        </p:txBody>
      </p:sp>
      <p:sp>
        <p:nvSpPr>
          <p:cNvPr id="12" name="arrow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33274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9AA8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chip2"/>
          <p:cNvSpPr/>
          <p:nvPr/>
        </p:nvSpPr>
        <p:spPr>
          <a:xfrm>
            <a:off x="3683000" y="4724400"/>
            <a:ext cx="2489200" cy="736600"/>
          </a:xfrm>
          <a:prstGeom prst="rect">
            <a:avLst/>
          </a:prstGeom>
          <a:solidFill>
            <a:srgbClr val="13131B">
              <a:alpha val="80000"/>
            </a:srgbClr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chip2-num"/>
          <p:cNvSpPr txBox="1"/>
          <p:nvPr/>
        </p:nvSpPr>
        <p:spPr>
          <a:xfrm>
            <a:off x="38862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9AA8"/>
                </a:solidFill>
                <a:latin typeface="MiSans"/>
                <a:ea typeface="MiSans"/>
              </a:rPr>
              <a:t>02</a:t>
            </a:r>
            <a:endParaRPr lang="en-US" sz="1000"/>
          </a:p>
        </p:txBody>
      </p:sp>
      <p:sp>
        <p:nvSpPr>
          <p:cNvPr id="15" name="chip2-text"/>
          <p:cNvSpPr txBox="1"/>
          <p:nvPr/>
        </p:nvSpPr>
        <p:spPr>
          <a:xfrm>
            <a:off x="38862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5F5F7"/>
                </a:solidFill>
                <a:latin typeface="MiSans"/>
                <a:ea typeface="MiSans"/>
              </a:rPr>
              <a:t>Модерация ИИ</a:t>
            </a:r>
            <a:endParaRPr lang="en-US" sz="1250"/>
          </a:p>
        </p:txBody>
      </p:sp>
      <p:sp>
        <p:nvSpPr>
          <p:cNvPr id="16" name="arrow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62992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9AA8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7" name="chip3"/>
          <p:cNvSpPr/>
          <p:nvPr/>
        </p:nvSpPr>
        <p:spPr>
          <a:xfrm>
            <a:off x="6654800" y="4724400"/>
            <a:ext cx="2489200" cy="7366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8" name="chip3-num"/>
          <p:cNvSpPr txBox="1"/>
          <p:nvPr/>
        </p:nvSpPr>
        <p:spPr>
          <a:xfrm>
            <a:off x="68580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03</a:t>
            </a:r>
            <a:endParaRPr lang="en-US" sz="1000"/>
          </a:p>
        </p:txBody>
      </p:sp>
      <p:sp>
        <p:nvSpPr>
          <p:cNvPr id="19" name="chip3-text"/>
          <p:cNvSpPr txBox="1"/>
          <p:nvPr/>
        </p:nvSpPr>
        <p:spPr>
          <a:xfrm>
            <a:off x="68580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5F5F7"/>
                </a:solidFill>
                <a:latin typeface="MiSans"/>
                <a:ea typeface="MiSans"/>
              </a:rPr>
              <a:t>АВТОПУБЛИКАЦИЯ</a:t>
            </a:r>
            <a:endParaRPr lang="en-US" sz="1250"/>
          </a:p>
        </p:txBody>
      </p:sp>
      <p:sp>
        <p:nvSpPr>
          <p:cNvPr id="20" name="arrow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92710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9AA8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1" name="chip4"/>
          <p:cNvSpPr/>
          <p:nvPr/>
        </p:nvSpPr>
        <p:spPr>
          <a:xfrm>
            <a:off x="9626600" y="4724400"/>
            <a:ext cx="2489200" cy="736600"/>
          </a:xfrm>
          <a:prstGeom prst="rect">
            <a:avLst/>
          </a:prstGeom>
          <a:solidFill>
            <a:srgbClr val="13131B">
              <a:alpha val="80000"/>
            </a:srgbClr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2" name="chip4-num"/>
          <p:cNvSpPr txBox="1"/>
          <p:nvPr/>
        </p:nvSpPr>
        <p:spPr>
          <a:xfrm>
            <a:off x="98298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9AA8"/>
                </a:solidFill>
                <a:latin typeface="MiSans"/>
                <a:ea typeface="MiSans"/>
              </a:rPr>
              <a:t>04</a:t>
            </a:r>
            <a:endParaRPr lang="en-US" sz="1000"/>
          </a:p>
        </p:txBody>
      </p:sp>
      <p:sp>
        <p:nvSpPr>
          <p:cNvPr id="23" name="chip4-text"/>
          <p:cNvSpPr txBox="1"/>
          <p:nvPr/>
        </p:nvSpPr>
        <p:spPr>
          <a:xfrm>
            <a:off x="9829800" y="5080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5F5F7"/>
                </a:solidFill>
                <a:latin typeface="MiSans"/>
                <a:ea typeface="MiSans"/>
              </a:rPr>
              <a:t>Рост в нейровыдаче</a:t>
            </a:r>
            <a:endParaRPr lang="en-US" sz="1250"/>
          </a:p>
        </p:txBody>
      </p:sp>
      <p:sp>
        <p:nvSpPr>
          <p:cNvPr id="24" name="bottom-note"/>
          <p:cNvSpPr txBox="1"/>
          <p:nvPr/>
        </p:nvSpPr>
        <p:spPr>
          <a:xfrm>
            <a:off x="711200" y="5867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i="1">
                <a:solidFill>
                  <a:srgbClr val="9A9AA8"/>
                </a:solidFill>
                <a:latin typeface="MiSans"/>
                <a:ea typeface="MiSans"/>
              </a:rPr>
              <a:t>Ежедневное присутствие — без ежедневных усилий команды клиента</a:t>
            </a:r>
            <a:endParaRPr lang="en-US" sz="1200"/>
          </a:p>
        </p:txBody>
      </p:sp>
      <p:sp>
        <p:nvSpPr>
          <p:cNvPr id="25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900"/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03 / 06</a:t>
            </a:r>
          </a:p>
        </p:txBody>
      </p:sp>
      <p:pic>
        <p:nvPicPr>
          <p:cNvPr id="26" name="Рисунок 25" descr="preview">
            <a:extLst>
              <a:ext uri="{FF2B5EF4-FFF2-40B4-BE49-F238E27FC236}">
                <a16:creationId xmlns:a16="http://schemas.microsoft.com/office/drawing/2014/main" id="{C9D0F1FF-55FF-FD1A-22B1-D3F210523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300" y="1329524"/>
            <a:ext cx="2365955" cy="2547952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482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2500" dirty="0"/>
            <a:r>
              <a:rPr lang="en-US" sz="2500" b="1" dirty="0">
                <a:solidFill>
                  <a:srgbClr val="F5F5F7"/>
                </a:solidFill>
                <a:latin typeface="MiSans"/>
                <a:ea typeface="MiSans"/>
              </a:rPr>
              <a:t>НОВЫЕ ФУНКЦИИ </a:t>
            </a:r>
            <a:r>
              <a:rPr lang="en-US" sz="2500" b="1" dirty="0">
                <a:solidFill>
                  <a:srgbClr val="E8453C"/>
                </a:solidFill>
                <a:latin typeface="MiSans"/>
                <a:ea typeface="MiSans"/>
              </a:rPr>
              <a:t>ПЛАТФОРМЫ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11200" y="9906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endParaRPr lang="en-US" sz="1300" dirty="0"/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Возможности, которые добавились к работе платформы. Отдельный подрядчик на видео, сайт и фирменный стиль для них не нужен</a:t>
            </a:r>
          </a:p>
        </p:txBody>
      </p:sp>
      <p:sp>
        <p:nvSpPr>
          <p:cNvPr id="5" name="uniq-box"/>
          <p:cNvSpPr/>
          <p:nvPr/>
        </p:nvSpPr>
        <p:spPr>
          <a:xfrm>
            <a:off x="711200" y="1574800"/>
            <a:ext cx="10769600" cy="431800"/>
          </a:xfrm>
          <a:prstGeom prst="rect">
            <a:avLst/>
          </a:prstGeom>
          <a:solidFill>
            <a:srgbClr val="E8453C">
              <a:alpha val="7843"/>
            </a:srgbClr>
          </a:solidFill>
          <a:ln w="12700">
            <a:solidFill>
              <a:srgbClr val="E8453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uniq-text"/>
          <p:cNvSpPr txBox="1"/>
          <p:nvPr/>
        </p:nvSpPr>
        <p:spPr>
          <a:xfrm>
            <a:off x="711200" y="1574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250"/>
            <a:r>
              <a:rPr lang="en-US" sz="1250" b="1" kern="0" spc="100">
                <a:solidFill>
                  <a:srgbClr val="F5F5F7"/>
                </a:solidFill>
                <a:latin typeface="MiSans"/>
                <a:ea typeface="MiSans"/>
              </a:rPr>
              <a:t>ВСЁ ПЕРЕЧИСЛЕННОЕ ВХОДИТ В ТУ ЖЕ ПОДПИСКУ И НЕ ОПЛАЧИВАЕТСЯ ОТДЕЛЬНО</a:t>
            </a:r>
          </a:p>
        </p:txBody>
      </p:sp>
      <p:sp>
        <p:nvSpPr>
          <p:cNvPr id="7" name="c1"/>
          <p:cNvSpPr/>
          <p:nvPr/>
        </p:nvSpPr>
        <p:spPr>
          <a:xfrm>
            <a:off x="711200" y="2209800"/>
            <a:ext cx="5283200" cy="16256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c1-bar"/>
          <p:cNvSpPr/>
          <p:nvPr/>
        </p:nvSpPr>
        <p:spPr>
          <a:xfrm>
            <a:off x="711200" y="2209800"/>
            <a:ext cx="38100" cy="16256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" name="c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eyJpY29uTmFtZSI6ImZhczpwZW4tbmliIn0</pptd:icon>
              </p:ext>
            </p:extLst>
          </p:nvPr>
        </p:nvSpPr>
        <p:spPr>
          <a:xfrm>
            <a:off x="965200" y="241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69" y="18"/>
                </a:moveTo>
                <a:lnTo>
                  <a:pt x="318" y="68"/>
                </a:lnTo>
                <a:lnTo>
                  <a:pt x="444" y="194"/>
                </a:lnTo>
                <a:lnTo>
                  <a:pt x="494" y="144"/>
                </a:lnTo>
                <a:cubicBezTo>
                  <a:pt x="516" y="122"/>
                  <a:pt x="516" y="86"/>
                  <a:pt x="494" y="64"/>
                </a:cubicBezTo>
                <a:lnTo>
                  <a:pt x="448" y="18"/>
                </a:lnTo>
                <a:cubicBezTo>
                  <a:pt x="426" y="-4"/>
                  <a:pt x="390" y="-4"/>
                  <a:pt x="369" y="18"/>
                </a:cubicBezTo>
                <a:close/>
                <a:moveTo>
                  <a:pt x="279" y="97"/>
                </a:moveTo>
                <a:lnTo>
                  <a:pt x="279" y="97"/>
                </a:lnTo>
                <a:lnTo>
                  <a:pt x="135" y="141"/>
                </a:lnTo>
                <a:cubicBezTo>
                  <a:pt x="115" y="147"/>
                  <a:pt x="99" y="162"/>
                  <a:pt x="92" y="182"/>
                </a:cubicBezTo>
                <a:lnTo>
                  <a:pt x="4" y="446"/>
                </a:lnTo>
                <a:cubicBezTo>
                  <a:pt x="1" y="455"/>
                  <a:pt x="2" y="464"/>
                  <a:pt x="6" y="472"/>
                </a:cubicBezTo>
                <a:lnTo>
                  <a:pt x="162" y="316"/>
                </a:lnTo>
                <a:cubicBezTo>
                  <a:pt x="161" y="312"/>
                  <a:pt x="160" y="308"/>
                  <a:pt x="160" y="304"/>
                </a:cubicBezTo>
                <a:cubicBezTo>
                  <a:pt x="160" y="278"/>
                  <a:pt x="182" y="256"/>
                  <a:pt x="208" y="256"/>
                </a:cubicBezTo>
                <a:cubicBezTo>
                  <a:pt x="235" y="256"/>
                  <a:pt x="256" y="278"/>
                  <a:pt x="256" y="304"/>
                </a:cubicBezTo>
                <a:cubicBezTo>
                  <a:pt x="256" y="331"/>
                  <a:pt x="235" y="352"/>
                  <a:pt x="208" y="352"/>
                </a:cubicBezTo>
                <a:cubicBezTo>
                  <a:pt x="204" y="352"/>
                  <a:pt x="200" y="351"/>
                  <a:pt x="196" y="350"/>
                </a:cubicBezTo>
                <a:lnTo>
                  <a:pt x="40" y="506"/>
                </a:lnTo>
                <a:cubicBezTo>
                  <a:pt x="48" y="510"/>
                  <a:pt x="58" y="511"/>
                  <a:pt x="66" y="508"/>
                </a:cubicBezTo>
                <a:lnTo>
                  <a:pt x="331" y="420"/>
                </a:lnTo>
                <a:cubicBezTo>
                  <a:pt x="350" y="413"/>
                  <a:pt x="366" y="397"/>
                  <a:pt x="372" y="377"/>
                </a:cubicBezTo>
                <a:lnTo>
                  <a:pt x="415" y="233"/>
                </a:lnTo>
                <a:lnTo>
                  <a:pt x="415" y="233"/>
                </a:lnTo>
                <a:lnTo>
                  <a:pt x="279" y="9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" name="c1-title"/>
          <p:cNvSpPr txBox="1"/>
          <p:nvPr/>
        </p:nvSpPr>
        <p:spPr>
          <a:xfrm>
            <a:off x="1397000" y="2438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1350"/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ВИДЕО ПО СЦЕНАРИЮ</a:t>
            </a:r>
          </a:p>
        </p:txBody>
      </p:sp>
      <p:sp>
        <p:nvSpPr>
          <p:cNvPr id="11" name="c1-desc"/>
          <p:cNvSpPr txBox="1"/>
          <p:nvPr/>
        </p:nvSpPr>
        <p:spPr>
          <a:xfrm>
            <a:off x="965200" y="2895600"/>
            <a:ext cx="4775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endParaRPr lang="en-US" sz="1100" dirty="0"/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Опишите сцену, и ролик соберётся сам: 6, 10 или 15 секунд, форматы 9:16, 16:9 и 1:1. Первым кадром можно поставить своё фото. Без камеры, съёмочной группы и монтажа.</a:t>
            </a:r>
          </a:p>
        </p:txBody>
      </p:sp>
      <p:sp>
        <p:nvSpPr>
          <p:cNvPr id="12" name="c2"/>
          <p:cNvSpPr/>
          <p:nvPr/>
        </p:nvSpPr>
        <p:spPr>
          <a:xfrm>
            <a:off x="6197600" y="2209800"/>
            <a:ext cx="5283200" cy="16256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c2-bar"/>
          <p:cNvSpPr/>
          <p:nvPr/>
        </p:nvSpPr>
        <p:spPr>
          <a:xfrm>
            <a:off x="6197600" y="2209800"/>
            <a:ext cx="38100" cy="16256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" name="c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6451600" y="241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5" name="c2-title"/>
          <p:cNvSpPr txBox="1"/>
          <p:nvPr/>
        </p:nvSpPr>
        <p:spPr>
          <a:xfrm>
            <a:off x="6883400" y="2438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1350"/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ЦИФРОВОЙ ДВОЙНИК</a:t>
            </a:r>
          </a:p>
        </p:txBody>
      </p:sp>
      <p:sp>
        <p:nvSpPr>
          <p:cNvPr id="16" name="c2-desc"/>
          <p:cNvSpPr txBox="1"/>
          <p:nvPr/>
        </p:nvSpPr>
        <p:spPr>
          <a:xfrm>
            <a:off x="6451600" y="2895600"/>
            <a:ext cx="4775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endParaRPr lang="en-US" sz="1100" dirty="0"/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Видеореклама с лицом и голосом руководителя. Двойник говорит как живой: мы обучаем его мимике и поведению. Съёмочная группа не нужна.</a:t>
            </a:r>
          </a:p>
        </p:txBody>
      </p:sp>
      <p:sp>
        <p:nvSpPr>
          <p:cNvPr id="22" name="c4"/>
          <p:cNvSpPr/>
          <p:nvPr/>
        </p:nvSpPr>
        <p:spPr>
          <a:xfrm>
            <a:off x="711200" y="4038600"/>
            <a:ext cx="5283200" cy="16256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c4-bar"/>
          <p:cNvSpPr/>
          <p:nvPr/>
        </p:nvSpPr>
        <p:spPr>
          <a:xfrm>
            <a:off x="711200" y="4038600"/>
            <a:ext cx="38100" cy="16256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4" name="c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eyJpY29uTmFtZSI6ImZhczpjaGFydC1waWUifQ</pptd:icon>
              </p:ext>
            </p:extLst>
          </p:nvPr>
        </p:nvSpPr>
        <p:spPr>
          <a:xfrm>
            <a:off x="965200" y="4241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5" name="c4-title"/>
          <p:cNvSpPr txBox="1"/>
          <p:nvPr/>
        </p:nvSpPr>
        <p:spPr>
          <a:xfrm>
            <a:off x="1397000" y="42672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1350"/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САЙТ ПОД ЗАЯВКИ</a:t>
            </a:r>
          </a:p>
        </p:txBody>
      </p:sp>
      <p:sp>
        <p:nvSpPr>
          <p:cNvPr id="26" name="c4-desc"/>
          <p:cNvSpPr txBox="1"/>
          <p:nvPr/>
        </p:nvSpPr>
        <p:spPr>
          <a:xfrm>
            <a:off x="965200" y="4724400"/>
            <a:ext cx="4775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endParaRPr lang="en-US" sz="1100" dirty="0"/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Отдельный сайт-лендинг, который собирает заявки. С вас бриф, с нас семь готовых стилей страницы и картинки из вашей медиатеки.</a:t>
            </a:r>
          </a:p>
        </p:txBody>
      </p:sp>
      <p:sp>
        <p:nvSpPr>
          <p:cNvPr id="27" name="c5"/>
          <p:cNvSpPr/>
          <p:nvPr/>
        </p:nvSpPr>
        <p:spPr>
          <a:xfrm>
            <a:off x="6197600" y="4038600"/>
            <a:ext cx="5283200" cy="16256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8" name="c5-bar"/>
          <p:cNvSpPr/>
          <p:nvPr/>
        </p:nvSpPr>
        <p:spPr>
          <a:xfrm>
            <a:off x="6197600" y="4038600"/>
            <a:ext cx="38100" cy="16256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9" name="c5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eyJpY29uTmFtZSI6ImZhczptaWNyb3Njb3BlIn0</pptd:icon>
              </p:ext>
            </p:extLst>
          </p:nvPr>
        </p:nvSpPr>
        <p:spPr>
          <a:xfrm>
            <a:off x="6451600" y="4241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0"/>
                </a:moveTo>
                <a:cubicBezTo>
                  <a:pt x="150" y="0"/>
                  <a:pt x="128" y="22"/>
                  <a:pt x="128" y="48"/>
                </a:cubicBezTo>
                <a:lnTo>
                  <a:pt x="128" y="256"/>
                </a:lnTo>
                <a:cubicBezTo>
                  <a:pt x="128" y="283"/>
                  <a:pt x="150" y="304"/>
                  <a:pt x="176" y="304"/>
                </a:cubicBezTo>
                <a:lnTo>
                  <a:pt x="240" y="304"/>
                </a:lnTo>
                <a:cubicBezTo>
                  <a:pt x="267" y="304"/>
                  <a:pt x="288" y="283"/>
                  <a:pt x="288" y="256"/>
                </a:cubicBezTo>
                <a:lnTo>
                  <a:pt x="288" y="192"/>
                </a:lnTo>
                <a:lnTo>
                  <a:pt x="320" y="192"/>
                </a:lnTo>
                <a:cubicBezTo>
                  <a:pt x="391" y="192"/>
                  <a:pt x="448" y="249"/>
                  <a:pt x="448" y="320"/>
                </a:cubicBezTo>
                <a:cubicBezTo>
                  <a:pt x="448" y="391"/>
                  <a:pt x="391" y="448"/>
                  <a:pt x="320" y="448"/>
                </a:cubicBezTo>
                <a:lnTo>
                  <a:pt x="32" y="448"/>
                </a:lnTo>
                <a:cubicBezTo>
                  <a:pt x="14" y="448"/>
                  <a:pt x="0" y="462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62"/>
                  <a:pt x="498" y="448"/>
                  <a:pt x="480" y="448"/>
                </a:cubicBezTo>
                <a:lnTo>
                  <a:pt x="463" y="448"/>
                </a:lnTo>
                <a:cubicBezTo>
                  <a:pt x="494" y="414"/>
                  <a:pt x="512" y="369"/>
                  <a:pt x="512" y="320"/>
                </a:cubicBezTo>
                <a:cubicBezTo>
                  <a:pt x="512" y="214"/>
                  <a:pt x="426" y="128"/>
                  <a:pt x="320" y="128"/>
                </a:cubicBezTo>
                <a:lnTo>
                  <a:pt x="288" y="128"/>
                </a:lnTo>
                <a:lnTo>
                  <a:pt x="288" y="48"/>
                </a:lnTo>
                <a:cubicBezTo>
                  <a:pt x="288" y="22"/>
                  <a:pt x="267" y="0"/>
                  <a:pt x="240" y="0"/>
                </a:cubicBezTo>
                <a:lnTo>
                  <a:pt x="176" y="0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96" y="400"/>
                </a:lnTo>
                <a:cubicBezTo>
                  <a:pt x="309" y="400"/>
                  <a:pt x="320" y="389"/>
                  <a:pt x="320" y="376"/>
                </a:cubicBezTo>
                <a:cubicBezTo>
                  <a:pt x="320" y="363"/>
                  <a:pt x="309" y="352"/>
                  <a:pt x="296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0" name="c5-title"/>
          <p:cNvSpPr txBox="1"/>
          <p:nvPr/>
        </p:nvSpPr>
        <p:spPr>
          <a:xfrm>
            <a:off x="6883400" y="42672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1350"/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БРЕНДБУК И МЕРЧ</a:t>
            </a:r>
          </a:p>
        </p:txBody>
      </p:sp>
      <p:sp>
        <p:nvSpPr>
          <p:cNvPr id="31" name="c5-desc"/>
          <p:cNvSpPr txBox="1"/>
          <p:nvPr/>
        </p:nvSpPr>
        <p:spPr>
          <a:xfrm>
            <a:off x="6451600" y="4724400"/>
            <a:ext cx="4775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endParaRPr lang="en-US" sz="1100" dirty="0"/>
            <a:r>
              <a:rPr lang="en-US" sz="1100" dirty="0" err="1">
                <a:solidFill>
                  <a:srgbClr val="9A9AA8"/>
                </a:solidFill>
                <a:latin typeface="MiSans"/>
                <a:ea typeface="MiSans"/>
              </a:rPr>
              <a:t>Фирменный стиль компании и макеты сувенирной продукции: айдентика, мерч, брендбук. Всё в едином стиле бренда.</a:t>
            </a:r>
          </a:p>
        </p:txBody>
      </p:sp>
      <p:sp>
        <p:nvSpPr>
          <p:cNvPr id="37" name="bottom-note"/>
          <p:cNvSpPr txBox="1"/>
          <p:nvPr/>
        </p:nvSpPr>
        <p:spPr>
          <a:xfrm>
            <a:off x="711200" y="58928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200" dirty="0"/>
            <a:r>
              <a:rPr lang="en-US" sz="1200" i="1" dirty="0" err="1">
                <a:solidFill>
                  <a:srgbClr val="9A9AA8"/>
                </a:solidFill>
                <a:latin typeface="MiSans"/>
                <a:ea typeface="MiSans"/>
              </a:rPr>
              <a:t>Возможности доступны действующим клиентам платформы без доплаты</a:t>
            </a:r>
          </a:p>
        </p:txBody>
      </p:sp>
      <p:sp>
        <p:nvSpPr>
          <p:cNvPr id="38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900"/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04 / 06</a:t>
            </a:r>
          </a:p>
        </p:txBody>
      </p:sp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F5F5F7"/>
                </a:solidFill>
                <a:latin typeface="MiSans"/>
                <a:ea typeface="MiSans"/>
              </a:rPr>
              <a:t>КОМПЛЕКСНОЕ РЕШЕНИЕ ПО ФИКСИРОВАННОЙ ЦЕНЕ</a:t>
            </a:r>
            <a:endParaRPr lang="en-US" sz="2500"/>
          </a:p>
        </p:txBody>
      </p:sp>
      <p:sp>
        <p:nvSpPr>
          <p:cNvPr id="4" name="title-rule"/>
          <p:cNvSpPr/>
          <p:nvPr/>
        </p:nvSpPr>
        <p:spPr>
          <a:xfrm>
            <a:off x="711200" y="1117600"/>
            <a:ext cx="6096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price-label"/>
          <p:cNvSpPr txBox="1"/>
          <p:nvPr/>
        </p:nvSpPr>
        <p:spPr>
          <a:xfrm>
            <a:off x="711200" y="1422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kern="0" spc="300">
                <a:solidFill>
                  <a:srgbClr val="9A9AA8"/>
                </a:solidFill>
                <a:latin typeface="MiSans"/>
                <a:ea typeface="MiSans"/>
              </a:rPr>
              <a:t>СТОИМОСТЬ СЕРВИСА</a:t>
            </a:r>
            <a:endParaRPr lang="en-US" sz="1050"/>
          </a:p>
        </p:txBody>
      </p:sp>
      <p:sp>
        <p:nvSpPr>
          <p:cNvPr id="6" name="price-big"/>
          <p:cNvSpPr txBox="1"/>
          <p:nvPr/>
        </p:nvSpPr>
        <p:spPr>
          <a:xfrm>
            <a:off x="711200" y="1701800"/>
            <a:ext cx="53340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4400" b="1" dirty="0">
                <a:solidFill>
                  <a:srgbClr val="E8453C"/>
                </a:solidFill>
                <a:latin typeface="MiSans"/>
                <a:ea typeface="MiSans"/>
              </a:rPr>
              <a:t>От </a:t>
            </a:r>
            <a:r>
              <a:rPr lang="ru-RU" sz="4400" b="1" u="sng" dirty="0">
                <a:solidFill>
                  <a:srgbClr val="E8453C"/>
                </a:solidFill>
                <a:latin typeface="MiSans"/>
                <a:ea typeface="MiSans"/>
              </a:rPr>
              <a:t>29500</a:t>
            </a:r>
            <a:r>
              <a:rPr lang="ru-RU" sz="4400" b="1" dirty="0">
                <a:solidFill>
                  <a:srgbClr val="E8453C"/>
                </a:solidFill>
                <a:latin typeface="MiSans"/>
                <a:ea typeface="MiSans"/>
              </a:rPr>
              <a:t> </a:t>
            </a:r>
            <a:r>
              <a:rPr lang="en-US" sz="4400" b="1" dirty="0">
                <a:solidFill>
                  <a:srgbClr val="E8453C"/>
                </a:solidFill>
                <a:latin typeface="MiSans"/>
                <a:ea typeface="MiSans"/>
              </a:rPr>
              <a:t>₽</a:t>
            </a:r>
            <a:r>
              <a:rPr lang="en-US" sz="1600" dirty="0">
                <a:solidFill>
                  <a:srgbClr val="9A9AA8"/>
                </a:solidFill>
                <a:latin typeface="MiSans"/>
                <a:ea typeface="MiSans"/>
              </a:rPr>
              <a:t>  /</a:t>
            </a:r>
            <a:r>
              <a:rPr lang="en-US" sz="1600" dirty="0" err="1">
                <a:solidFill>
                  <a:srgbClr val="9A9AA8"/>
                </a:solidFill>
                <a:latin typeface="MiSans"/>
                <a:ea typeface="MiSans"/>
              </a:rPr>
              <a:t>месяц</a:t>
            </a:r>
            <a:endParaRPr lang="en-US" sz="1600" dirty="0"/>
          </a:p>
        </p:txBody>
      </p:sp>
      <p:sp>
        <p:nvSpPr>
          <p:cNvPr id="7" name="price-instead"/>
          <p:cNvSpPr txBox="1"/>
          <p:nvPr/>
        </p:nvSpPr>
        <p:spPr>
          <a:xfrm>
            <a:off x="711200" y="25654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вместо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ru-RU" sz="1400" b="1" u="sng" dirty="0">
                <a:solidFill>
                  <a:srgbClr val="3D6BFF"/>
                </a:solidFill>
                <a:latin typeface="MiSans"/>
                <a:ea typeface="MiSans"/>
              </a:rPr>
              <a:t>100 000</a:t>
            </a:r>
            <a:r>
              <a:rPr lang="en-US" sz="1400" b="1" u="sng" dirty="0">
                <a:solidFill>
                  <a:srgbClr val="3D6BFF"/>
                </a:solidFill>
                <a:latin typeface="MiSans"/>
                <a:ea typeface="MiSans"/>
              </a:rPr>
              <a:t> </a:t>
            </a:r>
            <a:r>
              <a:rPr lang="en-US" sz="1400" b="1" dirty="0">
                <a:solidFill>
                  <a:srgbClr val="3D6BFF"/>
                </a:solidFill>
                <a:latin typeface="MiSans"/>
                <a:ea typeface="MiSans"/>
              </a:rPr>
              <a:t>₽/</a:t>
            </a:r>
            <a:r>
              <a:rPr lang="en-US" sz="1400" b="1" dirty="0" err="1">
                <a:solidFill>
                  <a:srgbClr val="3D6BFF"/>
                </a:solidFill>
                <a:latin typeface="MiSans"/>
                <a:ea typeface="MiSans"/>
              </a:rPr>
              <a:t>мес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на</a:t>
            </a:r>
            <a:r>
              <a:rPr lang="ru-RU" sz="1400" dirty="0">
                <a:solidFill>
                  <a:srgbClr val="F5F5F7"/>
                </a:solidFill>
                <a:latin typeface="MiSans"/>
                <a:ea typeface="MiSans"/>
              </a:rPr>
              <a:t> продвижение через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SEO-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агентство</a:t>
            </a:r>
            <a:endParaRPr lang="en-US" sz="1400" dirty="0"/>
          </a:p>
        </p:txBody>
      </p:sp>
      <p:sp>
        <p:nvSpPr>
          <p:cNvPr id="8" name="price-save"/>
          <p:cNvSpPr txBox="1"/>
          <p:nvPr/>
        </p:nvSpPr>
        <p:spPr>
          <a:xfrm>
            <a:off x="711200" y="29464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Экономия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—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не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400" dirty="0" err="1">
                <a:solidFill>
                  <a:srgbClr val="F5F5F7"/>
                </a:solidFill>
                <a:latin typeface="MiSans"/>
                <a:ea typeface="MiSans"/>
              </a:rPr>
              <a:t>менее</a:t>
            </a:r>
            <a:r>
              <a:rPr lang="en-US" sz="1400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ru-RU" sz="1400" b="1" u="sng" dirty="0">
                <a:solidFill>
                  <a:srgbClr val="3D6BFF"/>
                </a:solidFill>
                <a:latin typeface="MiSans"/>
                <a:ea typeface="MiSans"/>
              </a:rPr>
              <a:t>70 000</a:t>
            </a:r>
            <a:r>
              <a:rPr lang="en-US" sz="1400" b="1" u="sng" dirty="0">
                <a:solidFill>
                  <a:srgbClr val="3D6BFF"/>
                </a:solidFill>
                <a:latin typeface="MiSans"/>
                <a:ea typeface="MiSans"/>
              </a:rPr>
              <a:t> </a:t>
            </a:r>
            <a:r>
              <a:rPr lang="en-US" sz="1400" b="1" dirty="0">
                <a:solidFill>
                  <a:srgbClr val="3D6BFF"/>
                </a:solidFill>
                <a:latin typeface="MiSans"/>
                <a:ea typeface="MiSans"/>
              </a:rPr>
              <a:t>₽/</a:t>
            </a:r>
            <a:r>
              <a:rPr lang="en-US" sz="1400" b="1" dirty="0" err="1">
                <a:solidFill>
                  <a:srgbClr val="3D6BFF"/>
                </a:solidFill>
                <a:latin typeface="MiSans"/>
                <a:ea typeface="MiSans"/>
              </a:rPr>
              <a:t>мес</a:t>
            </a:r>
            <a:endParaRPr lang="en-US" sz="1400" dirty="0"/>
          </a:p>
        </p:txBody>
      </p:sp>
      <p:sp>
        <p:nvSpPr>
          <p:cNvPr id="9" name="cta-btn">
            <a:hlinkClick xmlns:r="http://schemas.openxmlformats.org/officeDocument/2006/relationships" r:id="rId2"/>
          </p:cNvPr>
          <p:cNvSpPr/>
          <p:nvPr/>
        </p:nvSpPr>
        <p:spPr>
          <a:xfrm>
            <a:off x="711200" y="3505200"/>
            <a:ext cx="3098800" cy="584200"/>
          </a:xfrm>
          <a:prstGeom prst="roundRect">
            <a:avLst>
              <a:gd name="adj" fmla="val 50000"/>
            </a:avLst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" name="cta-text">
            <a:hlinkClick xmlns:r="http://schemas.openxmlformats.org/officeDocument/2006/relationships" r:id="rId2"/>
          </p:cNvPr>
          <p:cNvSpPr txBox="1"/>
          <p:nvPr/>
        </p:nvSpPr>
        <p:spPr>
          <a:xfrm>
            <a:off x="711200" y="3505200"/>
            <a:ext cx="3098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50" b="1" kern="0" spc="200" dirty="0">
                <a:solidFill>
                  <a:schemeClr val="bg1"/>
                </a:solidFill>
                <a:latin typeface="MiSans"/>
                <a:ea typeface="Mi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ОСТАВИТЬ ЗАЯВКУ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2" name="divider"/>
          <p:cNvSpPr/>
          <p:nvPr/>
        </p:nvSpPr>
        <p:spPr>
          <a:xfrm>
            <a:off x="6299200" y="1346200"/>
            <a:ext cx="12700" cy="3810000"/>
          </a:xfrm>
          <a:prstGeom prst="rect">
            <a:avLst/>
          </a:prstGeom>
          <a:solidFill>
            <a:srgbClr val="262635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incl-header"/>
          <p:cNvSpPr txBox="1"/>
          <p:nvPr/>
        </p:nvSpPr>
        <p:spPr>
          <a:xfrm>
            <a:off x="6756400" y="1346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kern="0" spc="100">
                <a:solidFill>
                  <a:srgbClr val="F5F5F7"/>
                </a:solidFill>
                <a:latin typeface="MiSans"/>
                <a:ea typeface="MiSans"/>
              </a:rPr>
              <a:t>ЧТО ВХОДИТ В ПОДПИСКУ</a:t>
            </a:r>
            <a:endParaRPr lang="en-US" sz="1500"/>
          </a:p>
        </p:txBody>
      </p:sp>
      <p:sp>
        <p:nvSpPr>
          <p:cNvPr id="14" name="f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185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5" name="f1-title"/>
          <p:cNvSpPr txBox="1"/>
          <p:nvPr/>
        </p:nvSpPr>
        <p:spPr>
          <a:xfrm>
            <a:off x="7137400" y="1828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Полный AI-цикл</a:t>
            </a:r>
            <a:endParaRPr lang="en-US" sz="1350"/>
          </a:p>
        </p:txBody>
      </p:sp>
      <p:sp>
        <p:nvSpPr>
          <p:cNvPr id="16" name="f1-desc"/>
          <p:cNvSpPr txBox="1"/>
          <p:nvPr/>
        </p:nvSpPr>
        <p:spPr>
          <a:xfrm>
            <a:off x="7137400" y="21082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9AA8"/>
                </a:solidFill>
                <a:latin typeface="MiSans"/>
                <a:ea typeface="MiSans"/>
              </a:rPr>
              <a:t>Создание, модерация и автоматическая публикация контента</a:t>
            </a:r>
            <a:endParaRPr lang="en-US" sz="1150"/>
          </a:p>
        </p:txBody>
      </p:sp>
      <p:sp>
        <p:nvSpPr>
          <p:cNvPr id="17" name="f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271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8" name="f2-title"/>
          <p:cNvSpPr txBox="1"/>
          <p:nvPr/>
        </p:nvSpPr>
        <p:spPr>
          <a:xfrm>
            <a:off x="7137400" y="2692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Публикации 5 дней в неделю</a:t>
            </a:r>
            <a:endParaRPr lang="en-US" sz="1350"/>
          </a:p>
        </p:txBody>
      </p:sp>
      <p:sp>
        <p:nvSpPr>
          <p:cNvPr id="19" name="f2-desc"/>
          <p:cNvSpPr txBox="1"/>
          <p:nvPr/>
        </p:nvSpPr>
        <p:spPr>
          <a:xfrm>
            <a:off x="7137400" y="29718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9AA8"/>
                </a:solidFill>
                <a:latin typeface="MiSans"/>
                <a:ea typeface="MiSans"/>
              </a:rPr>
              <a:t>Регулярный поток материалов без участия клиента</a:t>
            </a:r>
            <a:endParaRPr lang="en-US" sz="1150"/>
          </a:p>
        </p:txBody>
      </p:sp>
      <p:sp>
        <p:nvSpPr>
          <p:cNvPr id="20" name="f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1" name="f3-title"/>
          <p:cNvSpPr txBox="1"/>
          <p:nvPr/>
        </p:nvSpPr>
        <p:spPr>
          <a:xfrm>
            <a:off x="7137400" y="35560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5F5F7"/>
                </a:solidFill>
                <a:latin typeface="MiSans"/>
                <a:ea typeface="MiSans"/>
              </a:rPr>
              <a:t>2 полноценные статьи в неделю</a:t>
            </a:r>
            <a:endParaRPr lang="en-US" sz="1350"/>
          </a:p>
        </p:txBody>
      </p:sp>
      <p:sp>
        <p:nvSpPr>
          <p:cNvPr id="22" name="f3-desc"/>
          <p:cNvSpPr txBox="1"/>
          <p:nvPr/>
        </p:nvSpPr>
        <p:spPr>
          <a:xfrm>
            <a:off x="7137400" y="38354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9AA8"/>
                </a:solidFill>
                <a:latin typeface="MiSans"/>
                <a:ea typeface="MiSans"/>
              </a:rPr>
              <a:t>Экспертный контент о продукте, команде и событиях компании</a:t>
            </a:r>
            <a:endParaRPr lang="en-US" sz="1150"/>
          </a:p>
        </p:txBody>
      </p:sp>
      <p:sp>
        <p:nvSpPr>
          <p:cNvPr id="23" name="f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444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4" name="f4-title"/>
          <p:cNvSpPr txBox="1"/>
          <p:nvPr/>
        </p:nvSpPr>
        <p:spPr>
          <a:xfrm>
            <a:off x="7137400" y="44196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endParaRPr lang="en-US" sz="1350" dirty="0"/>
            <a:r>
              <a:rPr lang="en-US" sz="1350" b="1" dirty="0">
                <a:solidFill>
                  <a:srgbClr val="F5F5F7"/>
                </a:solidFill>
                <a:latin typeface="MiSans"/>
                <a:ea typeface="MiSans"/>
              </a:rPr>
              <a:t>6 площадок для автопубликации</a:t>
            </a:r>
          </a:p>
        </p:txBody>
      </p:sp>
      <p:sp>
        <p:nvSpPr>
          <p:cNvPr id="25" name="f4-desc"/>
          <p:cNvSpPr txBox="1"/>
          <p:nvPr/>
        </p:nvSpPr>
        <p:spPr>
          <a:xfrm>
            <a:off x="7137400" y="4699000"/>
            <a:ext cx="43434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br>
              <a:rPr lang="ru-RU" sz="1150" dirty="0">
                <a:solidFill>
                  <a:srgbClr val="9A9AA8"/>
                </a:solidFill>
                <a:latin typeface="MiSans"/>
                <a:ea typeface="MiSans"/>
              </a:rPr>
            </a:br>
            <a:br>
              <a:rPr lang="ru-RU" sz="1150" dirty="0">
                <a:solidFill>
                  <a:srgbClr val="9A9AA8"/>
                </a:solidFill>
                <a:latin typeface="MiSans"/>
                <a:ea typeface="MiSans"/>
              </a:rPr>
            </a:br>
            <a:endParaRPr lang="ru-RU" sz="1150" dirty="0">
              <a:solidFill>
                <a:srgbClr val="9A9AA8"/>
              </a:solidFill>
              <a:latin typeface="MiSans"/>
              <a:ea typeface="MiSans"/>
            </a:endParaRPr>
            <a:r>
              <a:rPr lang="en-US" sz="1150" dirty="0">
                <a:solidFill>
                  <a:srgbClr val="9A9AA8"/>
                </a:solidFill>
                <a:latin typeface="MiSans"/>
                <a:ea typeface="MiSans"/>
              </a:rPr>
              <a:t>Telegram, VK, Яндекс Дзен, Одноклассники, Max и Instagram*. Для других площадок платформа готовит контент, вы публикуете его сами.</a:t>
            </a:r>
          </a:p>
        </p:txBody>
      </p:sp>
      <p:sp>
        <p:nvSpPr>
          <p:cNvPr id="26" name="footnote-line"/>
          <p:cNvSpPr/>
          <p:nvPr/>
        </p:nvSpPr>
        <p:spPr>
          <a:xfrm>
            <a:off x="711200" y="5740400"/>
            <a:ext cx="10769600" cy="12700"/>
          </a:xfrm>
          <a:prstGeom prst="rect">
            <a:avLst/>
          </a:prstGeom>
          <a:solidFill>
            <a:srgbClr val="262635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7" name="footnote"/>
          <p:cNvSpPr txBox="1"/>
          <p:nvPr/>
        </p:nvSpPr>
        <p:spPr>
          <a:xfrm>
            <a:off x="711200" y="5892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1">
                <a:solidFill>
                  <a:srgbClr val="9A9AA8"/>
                </a:solidFill>
                <a:latin typeface="MiSans"/>
                <a:ea typeface="MiSans"/>
              </a:rPr>
              <a:t>* Все работы выполняются в строгом соответствии с законодательством Российской Федерации. Договор и закрывающие документы предоставляются. Instagram принадлежит компании Meta, признанной экстремистской организацией и запрещённой на территории Российской Федерации.</a:t>
            </a:r>
            <a:endParaRPr lang="en-US" sz="1050"/>
          </a:p>
        </p:txBody>
      </p:sp>
      <p:sp>
        <p:nvSpPr>
          <p:cNvPr id="28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900"/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05 / 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1B6D24-25E8-6E28-6A4A-18E2B58B2C72}"/>
              </a:ext>
            </a:extLst>
          </p:cNvPr>
          <p:cNvSpPr txBox="1"/>
          <p:nvPr/>
        </p:nvSpPr>
        <p:spPr>
          <a:xfrm>
            <a:off x="711200" y="4568195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i="1" dirty="0">
                <a:solidFill>
                  <a:srgbClr val="9A9AA8"/>
                </a:solidFill>
                <a:latin typeface="MiSans"/>
              </a:rPr>
              <a:t>За подробностями и подключением резидентов Москвы и МО обращайтесь по телефону +7 906 758-77-77</a:t>
            </a:r>
          </a:p>
        </p:txBody>
      </p:sp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9AA8"/>
                </a:solidFill>
                <a:latin typeface="MiSans"/>
                <a:ea typeface="MiSans"/>
              </a:rPr>
              <a:t>ПРОМПТЕР · О КОМПАНИИ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6604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 dirty="0">
                <a:solidFill>
                  <a:srgbClr val="F5F5F7"/>
                </a:solidFill>
                <a:latin typeface="MiSans"/>
                <a:ea typeface="MiSans"/>
              </a:rPr>
              <a:t>КОМАНДА</a:t>
            </a:r>
            <a:r>
              <a:rPr lang="ru-RU" sz="2500" b="1" dirty="0">
                <a:solidFill>
                  <a:srgbClr val="F5F5F7"/>
                </a:solidFill>
                <a:latin typeface="MiSans"/>
                <a:ea typeface="MiSans"/>
              </a:rPr>
              <a:t> МОСКВЫ</a:t>
            </a:r>
            <a:r>
              <a:rPr lang="en-US" sz="2500" b="1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ru-RU" sz="2500" b="1" dirty="0">
                <a:solidFill>
                  <a:srgbClr val="F5F5F7"/>
                </a:solidFill>
                <a:latin typeface="MiSans"/>
                <a:ea typeface="MiSans"/>
              </a:rPr>
              <a:t>ПО</a:t>
            </a:r>
            <a:r>
              <a:rPr lang="en-US" sz="2500" b="1" dirty="0">
                <a:solidFill>
                  <a:srgbClr val="F5F5F7"/>
                </a:solidFill>
                <a:latin typeface="MiSans"/>
                <a:ea typeface="MiSans"/>
              </a:rPr>
              <a:t> СОПРОВОЖДЕНИ</a:t>
            </a:r>
            <a:r>
              <a:rPr lang="ru-RU" sz="2500" b="1" dirty="0">
                <a:solidFill>
                  <a:srgbClr val="F5F5F7"/>
                </a:solidFill>
                <a:latin typeface="MiSans"/>
                <a:ea typeface="MiSans"/>
              </a:rPr>
              <a:t>Ю</a:t>
            </a:r>
            <a:endParaRPr lang="en-US" sz="2500" dirty="0"/>
          </a:p>
          <a:p>
            <a:pPr algn="l">
              <a:lnSpc>
                <a:spcPct val="125000"/>
              </a:lnSpc>
            </a:pPr>
            <a:r>
              <a:rPr lang="en-US" sz="2500" b="1" dirty="0">
                <a:solidFill>
                  <a:srgbClr val="F5F5F7"/>
                </a:solidFill>
                <a:latin typeface="MiSans"/>
                <a:ea typeface="MiSans"/>
              </a:rPr>
              <a:t>КЛИЕНТОВ ПРОМПТЕРА</a:t>
            </a:r>
            <a:endParaRPr lang="en-US" sz="2500" dirty="0"/>
          </a:p>
        </p:txBody>
      </p:sp>
      <p:sp>
        <p:nvSpPr>
          <p:cNvPr id="4" name="title-rule"/>
          <p:cNvSpPr/>
          <p:nvPr/>
        </p:nvSpPr>
        <p:spPr>
          <a:xfrm>
            <a:off x="711200" y="1549400"/>
            <a:ext cx="609600" cy="254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subtitle"/>
          <p:cNvSpPr txBox="1"/>
          <p:nvPr/>
        </p:nvSpPr>
        <p:spPr>
          <a:xfrm>
            <a:off x="711200" y="17018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Мы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не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просто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запускаем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систему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—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наша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команда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остаётся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рядом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и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работает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на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результат</a:t>
            </a:r>
            <a:r>
              <a:rPr lang="en-US" sz="1300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300" dirty="0" err="1">
                <a:solidFill>
                  <a:srgbClr val="9A9AA8"/>
                </a:solidFill>
                <a:latin typeface="MiSans"/>
                <a:ea typeface="MiSans"/>
              </a:rPr>
              <a:t>клиента</a:t>
            </a:r>
            <a:endParaRPr lang="en-US" sz="1300" dirty="0"/>
          </a:p>
        </p:txBody>
      </p:sp>
      <p:sp>
        <p:nvSpPr>
          <p:cNvPr id="6" name="p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eyJpY29uTmFtZSI6ImZhczpoZWFkc2V0In0</pptd:icon>
              </p:ext>
            </p:extLst>
          </p:nvPr>
        </p:nvSpPr>
        <p:spPr>
          <a:xfrm>
            <a:off x="711200" y="243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64"/>
                </a:moveTo>
                <a:cubicBezTo>
                  <a:pt x="145" y="64"/>
                  <a:pt x="79" y="121"/>
                  <a:pt x="66" y="197"/>
                </a:cubicBezTo>
                <a:cubicBezTo>
                  <a:pt x="76" y="194"/>
                  <a:pt x="86" y="192"/>
                  <a:pt x="96" y="192"/>
                </a:cubicBezTo>
                <a:lnTo>
                  <a:pt x="112" y="192"/>
                </a:lnTo>
                <a:cubicBezTo>
                  <a:pt x="139" y="192"/>
                  <a:pt x="160" y="214"/>
                  <a:pt x="160" y="240"/>
                </a:cubicBezTo>
                <a:lnTo>
                  <a:pt x="160" y="336"/>
                </a:lnTo>
                <a:cubicBezTo>
                  <a:pt x="160" y="363"/>
                  <a:pt x="139" y="384"/>
                  <a:pt x="112" y="384"/>
                </a:cubicBezTo>
                <a:lnTo>
                  <a:pt x="96" y="384"/>
                </a:lnTo>
                <a:cubicBezTo>
                  <a:pt x="43" y="384"/>
                  <a:pt x="0" y="341"/>
                  <a:pt x="0" y="288"/>
                </a:cubicBezTo>
                <a:lnTo>
                  <a:pt x="0" y="224"/>
                </a:lnTo>
                <a:cubicBezTo>
                  <a:pt x="0" y="100"/>
                  <a:pt x="100" y="0"/>
                  <a:pt x="224" y="0"/>
                </a:cubicBezTo>
                <a:cubicBezTo>
                  <a:pt x="348" y="0"/>
                  <a:pt x="448" y="100"/>
                  <a:pt x="448" y="224"/>
                </a:cubicBezTo>
                <a:lnTo>
                  <a:pt x="448" y="392"/>
                </a:lnTo>
                <a:cubicBezTo>
                  <a:pt x="448" y="458"/>
                  <a:pt x="394" y="512"/>
                  <a:pt x="328" y="512"/>
                </a:cubicBezTo>
                <a:lnTo>
                  <a:pt x="240" y="512"/>
                </a:lnTo>
                <a:lnTo>
                  <a:pt x="208" y="512"/>
                </a:lnTo>
                <a:cubicBezTo>
                  <a:pt x="181" y="512"/>
                  <a:pt x="160" y="491"/>
                  <a:pt x="160" y="464"/>
                </a:cubicBezTo>
                <a:cubicBezTo>
                  <a:pt x="160" y="438"/>
                  <a:pt x="181" y="416"/>
                  <a:pt x="208" y="416"/>
                </a:cubicBezTo>
                <a:lnTo>
                  <a:pt x="240" y="416"/>
                </a:lnTo>
                <a:cubicBezTo>
                  <a:pt x="267" y="416"/>
                  <a:pt x="288" y="438"/>
                  <a:pt x="288" y="464"/>
                </a:cubicBezTo>
                <a:lnTo>
                  <a:pt x="288" y="464"/>
                </a:lnTo>
                <a:lnTo>
                  <a:pt x="328" y="464"/>
                </a:lnTo>
                <a:cubicBezTo>
                  <a:pt x="368" y="464"/>
                  <a:pt x="400" y="432"/>
                  <a:pt x="400" y="392"/>
                </a:cubicBezTo>
                <a:lnTo>
                  <a:pt x="400" y="371"/>
                </a:lnTo>
                <a:cubicBezTo>
                  <a:pt x="386" y="379"/>
                  <a:pt x="370" y="384"/>
                  <a:pt x="352" y="384"/>
                </a:cubicBezTo>
                <a:lnTo>
                  <a:pt x="336" y="384"/>
                </a:lnTo>
                <a:cubicBezTo>
                  <a:pt x="310" y="384"/>
                  <a:pt x="288" y="362"/>
                  <a:pt x="288" y="336"/>
                </a:cubicBezTo>
                <a:lnTo>
                  <a:pt x="288" y="240"/>
                </a:lnTo>
                <a:cubicBezTo>
                  <a:pt x="288" y="213"/>
                  <a:pt x="310" y="192"/>
                  <a:pt x="336" y="192"/>
                </a:cubicBezTo>
                <a:lnTo>
                  <a:pt x="352" y="192"/>
                </a:lnTo>
                <a:cubicBezTo>
                  <a:pt x="362" y="192"/>
                  <a:pt x="372" y="194"/>
                  <a:pt x="382" y="197"/>
                </a:cubicBezTo>
                <a:cubicBezTo>
                  <a:pt x="369" y="121"/>
                  <a:pt x="303" y="64"/>
                  <a:pt x="224" y="64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p1-title"/>
          <p:cNvSpPr txBox="1"/>
          <p:nvPr/>
        </p:nvSpPr>
        <p:spPr>
          <a:xfrm>
            <a:off x="1219200" y="2438400"/>
            <a:ext cx="599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dirty="0" err="1">
                <a:solidFill>
                  <a:srgbClr val="F5F5F7"/>
                </a:solidFill>
                <a:latin typeface="MiSans"/>
                <a:ea typeface="MiSans"/>
              </a:rPr>
              <a:t>Постоянный</a:t>
            </a:r>
            <a:r>
              <a:rPr lang="en-US" sz="1500" b="1" dirty="0">
                <a:solidFill>
                  <a:srgbClr val="F5F5F7"/>
                </a:solidFill>
                <a:latin typeface="MiSans"/>
                <a:ea typeface="MiSans"/>
              </a:rPr>
              <a:t> </a:t>
            </a:r>
            <a:r>
              <a:rPr lang="en-US" sz="1500" b="1" dirty="0" err="1">
                <a:solidFill>
                  <a:srgbClr val="F5F5F7"/>
                </a:solidFill>
                <a:latin typeface="MiSans"/>
                <a:ea typeface="MiSans"/>
              </a:rPr>
              <a:t>мониторинг</a:t>
            </a:r>
            <a:endParaRPr lang="en-US" sz="1500" dirty="0"/>
          </a:p>
        </p:txBody>
      </p:sp>
      <p:sp>
        <p:nvSpPr>
          <p:cNvPr id="8" name="p1-desc"/>
          <p:cNvSpPr txBox="1"/>
          <p:nvPr/>
        </p:nvSpPr>
        <p:spPr>
          <a:xfrm>
            <a:off x="1219200" y="2743200"/>
            <a:ext cx="5994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9AA8"/>
                </a:solidFill>
                <a:latin typeface="MiSans"/>
                <a:ea typeface="MiSans"/>
              </a:rPr>
              <a:t>Регулярно отслеживаем присутствие бренда в нейровыдаче и корректируем стратегию под цели клиента</a:t>
            </a:r>
            <a:endParaRPr lang="en-US" sz="1200"/>
          </a:p>
        </p:txBody>
      </p:sp>
      <p:sp>
        <p:nvSpPr>
          <p:cNvPr id="9" name="p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eyJpY29uTmFtZSI6ImZhczpjb21tZW50cyJ9</pptd:icon>
              </p:ext>
            </p:extLst>
          </p:nvPr>
        </p:nvSpPr>
        <p:spPr>
          <a:xfrm>
            <a:off x="711200" y="347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" name="p2-title"/>
          <p:cNvSpPr txBox="1"/>
          <p:nvPr/>
        </p:nvSpPr>
        <p:spPr>
          <a:xfrm>
            <a:off x="1219200" y="3479800"/>
            <a:ext cx="599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5F5F7"/>
                </a:solidFill>
                <a:latin typeface="MiSans"/>
                <a:ea typeface="MiSans"/>
              </a:rPr>
              <a:t>Живая команда на связи</a:t>
            </a:r>
            <a:endParaRPr lang="en-US" sz="1500"/>
          </a:p>
        </p:txBody>
      </p:sp>
      <p:sp>
        <p:nvSpPr>
          <p:cNvPr id="11" name="p2-desc"/>
          <p:cNvSpPr txBox="1"/>
          <p:nvPr/>
        </p:nvSpPr>
        <p:spPr>
          <a:xfrm>
            <a:off x="1219200" y="3784600"/>
            <a:ext cx="5994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9AA8"/>
                </a:solidFill>
                <a:latin typeface="MiSans"/>
                <a:ea typeface="MiSans"/>
              </a:rPr>
              <a:t>Помогаем с контентом и площадками — вы не останетесь один на один с алгоритмами</a:t>
            </a:r>
            <a:endParaRPr lang="en-US" sz="1200"/>
          </a:p>
        </p:txBody>
      </p:sp>
      <p:sp>
        <p:nvSpPr>
          <p:cNvPr id="12" name="p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eyJpY29uTmFtZSI6ImZhczpyb2NrZXQifQ</pptd:icon>
              </p:ext>
            </p:extLst>
          </p:nvPr>
        </p:nvSpPr>
        <p:spPr>
          <a:xfrm>
            <a:off x="711200" y="452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320"/>
                </a:moveTo>
                <a:lnTo>
                  <a:pt x="25" y="320"/>
                </a:lnTo>
                <a:cubicBezTo>
                  <a:pt x="0" y="320"/>
                  <a:pt x="-16" y="293"/>
                  <a:pt x="-3" y="272"/>
                </a:cubicBezTo>
                <a:lnTo>
                  <a:pt x="50" y="183"/>
                </a:lnTo>
                <a:cubicBezTo>
                  <a:pt x="59" y="169"/>
                  <a:pt x="74" y="160"/>
                  <a:pt x="91" y="160"/>
                </a:cubicBezTo>
                <a:lnTo>
                  <a:pt x="186" y="160"/>
                </a:lnTo>
                <a:cubicBezTo>
                  <a:pt x="262" y="31"/>
                  <a:pt x="376" y="25"/>
                  <a:pt x="452" y="36"/>
                </a:cubicBezTo>
                <a:cubicBezTo>
                  <a:pt x="465" y="38"/>
                  <a:pt x="475" y="48"/>
                  <a:pt x="476" y="60"/>
                </a:cubicBezTo>
                <a:cubicBezTo>
                  <a:pt x="487" y="136"/>
                  <a:pt x="481" y="250"/>
                  <a:pt x="352" y="326"/>
                </a:cubicBezTo>
                <a:lnTo>
                  <a:pt x="352" y="421"/>
                </a:lnTo>
                <a:cubicBezTo>
                  <a:pt x="352" y="438"/>
                  <a:pt x="343" y="453"/>
                  <a:pt x="329" y="462"/>
                </a:cubicBezTo>
                <a:lnTo>
                  <a:pt x="241" y="515"/>
                </a:lnTo>
                <a:cubicBezTo>
                  <a:pt x="219" y="528"/>
                  <a:pt x="192" y="512"/>
                  <a:pt x="192" y="488"/>
                </a:cubicBezTo>
                <a:lnTo>
                  <a:pt x="192" y="384"/>
                </a:lnTo>
                <a:cubicBezTo>
                  <a:pt x="192" y="349"/>
                  <a:pt x="163" y="320"/>
                  <a:pt x="128" y="320"/>
                </a:cubicBezTo>
                <a:lnTo>
                  <a:pt x="128" y="320"/>
                </a:lnTo>
                <a:close/>
                <a:moveTo>
                  <a:pt x="400" y="160"/>
                </a:moveTo>
                <a:cubicBezTo>
                  <a:pt x="400" y="133"/>
                  <a:pt x="379" y="112"/>
                  <a:pt x="352" y="112"/>
                </a:cubicBezTo>
                <a:cubicBezTo>
                  <a:pt x="325" y="112"/>
                  <a:pt x="304" y="133"/>
                  <a:pt x="304" y="160"/>
                </a:cubicBezTo>
                <a:cubicBezTo>
                  <a:pt x="304" y="187"/>
                  <a:pt x="325" y="208"/>
                  <a:pt x="352" y="208"/>
                </a:cubicBezTo>
                <a:cubicBezTo>
                  <a:pt x="379" y="208"/>
                  <a:pt x="400" y="187"/>
                  <a:pt x="400" y="16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p3-title"/>
          <p:cNvSpPr txBox="1"/>
          <p:nvPr/>
        </p:nvSpPr>
        <p:spPr>
          <a:xfrm>
            <a:off x="1219200" y="4521200"/>
            <a:ext cx="5994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5F5F7"/>
                </a:solidFill>
                <a:latin typeface="MiSans"/>
                <a:ea typeface="MiSans"/>
              </a:rPr>
              <a:t>Развитие вместе с рынком</a:t>
            </a:r>
            <a:endParaRPr lang="en-US" sz="1500"/>
          </a:p>
        </p:txBody>
      </p:sp>
      <p:sp>
        <p:nvSpPr>
          <p:cNvPr id="14" name="p3-desc"/>
          <p:cNvSpPr txBox="1"/>
          <p:nvPr/>
        </p:nvSpPr>
        <p:spPr>
          <a:xfrm>
            <a:off x="1219200" y="4826000"/>
            <a:ext cx="5994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9AA8"/>
                </a:solidFill>
                <a:latin typeface="MiSans"/>
                <a:ea typeface="MiSans"/>
              </a:rPr>
              <a:t>Платформа обновляется следом за алгоритмами нейросетей — клиенты всегда на шаг впереди</a:t>
            </a:r>
            <a:endParaRPr lang="en-US" sz="1200"/>
          </a:p>
        </p:txBody>
      </p:sp>
      <p:sp>
        <p:nvSpPr>
          <p:cNvPr id="16" name="photo-caption"/>
          <p:cNvSpPr txBox="1"/>
          <p:nvPr/>
        </p:nvSpPr>
        <p:spPr>
          <a:xfrm>
            <a:off x="7670800" y="3581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50" i="1" dirty="0" err="1">
                <a:solidFill>
                  <a:srgbClr val="9A9AA8"/>
                </a:solidFill>
                <a:latin typeface="MiSans"/>
                <a:ea typeface="MiSans"/>
              </a:rPr>
              <a:t>Команда</a:t>
            </a:r>
            <a:r>
              <a:rPr lang="en-US" sz="105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9A9AA8"/>
                </a:solidFill>
                <a:latin typeface="MiSans"/>
                <a:ea typeface="MiSans"/>
              </a:rPr>
              <a:t>Промптера</a:t>
            </a:r>
            <a:r>
              <a:rPr lang="en-US" sz="1050" i="1" dirty="0">
                <a:solidFill>
                  <a:srgbClr val="9A9AA8"/>
                </a:solidFill>
                <a:latin typeface="MiSans"/>
                <a:ea typeface="MiSans"/>
              </a:rPr>
              <a:t>: </a:t>
            </a:r>
            <a:r>
              <a:rPr lang="en-US" sz="1050" i="1" dirty="0" err="1">
                <a:solidFill>
                  <a:srgbClr val="9A9AA8"/>
                </a:solidFill>
                <a:latin typeface="MiSans"/>
                <a:ea typeface="MiSans"/>
              </a:rPr>
              <a:t>технологии</a:t>
            </a:r>
            <a:r>
              <a:rPr lang="en-US" sz="1050" i="1" dirty="0">
                <a:solidFill>
                  <a:srgbClr val="9A9AA8"/>
                </a:solidFill>
                <a:latin typeface="MiSans"/>
                <a:ea typeface="MiSans"/>
              </a:rPr>
              <a:t> ИИ + </a:t>
            </a:r>
            <a:r>
              <a:rPr lang="en-US" sz="1050" i="1" dirty="0" err="1">
                <a:solidFill>
                  <a:srgbClr val="9A9AA8"/>
                </a:solidFill>
                <a:latin typeface="MiSans"/>
                <a:ea typeface="MiSans"/>
              </a:rPr>
              <a:t>живое</a:t>
            </a:r>
            <a:r>
              <a:rPr lang="en-US" sz="105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9A9AA8"/>
                </a:solidFill>
                <a:latin typeface="MiSans"/>
                <a:ea typeface="MiSans"/>
              </a:rPr>
              <a:t>сопровождение</a:t>
            </a:r>
            <a:r>
              <a:rPr lang="en-US" sz="1050" i="1" dirty="0">
                <a:solidFill>
                  <a:srgbClr val="9A9AA8"/>
                </a:solidFill>
                <a:latin typeface="MiSans"/>
                <a:ea typeface="MiSans"/>
              </a:rPr>
              <a:t> </a:t>
            </a:r>
            <a:r>
              <a:rPr lang="en-US" sz="1050" i="1" dirty="0" err="1">
                <a:solidFill>
                  <a:srgbClr val="9A9AA8"/>
                </a:solidFill>
                <a:latin typeface="MiSans"/>
                <a:ea typeface="MiSans"/>
              </a:rPr>
              <a:t>клиентов</a:t>
            </a:r>
            <a:endParaRPr lang="en-US" sz="1050" dirty="0"/>
          </a:p>
        </p:txBody>
      </p:sp>
      <p:sp>
        <p:nvSpPr>
          <p:cNvPr id="17" name="contacts-panel"/>
          <p:cNvSpPr/>
          <p:nvPr/>
        </p:nvSpPr>
        <p:spPr>
          <a:xfrm>
            <a:off x="711200" y="5562600"/>
            <a:ext cx="10769600" cy="787400"/>
          </a:xfrm>
          <a:prstGeom prst="rect">
            <a:avLst/>
          </a:prstGeom>
          <a:solidFill>
            <a:srgbClr val="13131B"/>
          </a:solidFill>
          <a:ln w="12700">
            <a:solidFill>
              <a:srgbClr val="262635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contacts-accent"/>
          <p:cNvSpPr/>
          <p:nvPr/>
        </p:nvSpPr>
        <p:spPr>
          <a:xfrm>
            <a:off x="711200" y="5562600"/>
            <a:ext cx="38100" cy="7874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19" name="contacts-label"/>
          <p:cNvSpPr txBox="1"/>
          <p:nvPr/>
        </p:nvSpPr>
        <p:spPr>
          <a:xfrm>
            <a:off x="1016000" y="5562600"/>
            <a:ext cx="17272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kern="0" spc="100" dirty="0">
                <a:solidFill>
                  <a:schemeClr val="bg1"/>
                </a:solidFill>
                <a:latin typeface="MiSans"/>
                <a:ea typeface="MiSans"/>
              </a:rPr>
              <a:t>КОНТАКТЫ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contact-phone"/>
          <p:cNvSpPr txBox="1"/>
          <p:nvPr/>
        </p:nvSpPr>
        <p:spPr>
          <a:xfrm>
            <a:off x="2819400" y="554812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300" dirty="0">
              <a:solidFill>
                <a:schemeClr val="bg1"/>
              </a:solidFill>
              <a:latin typeface="MiSans"/>
            </a:endParaRPr>
            <a:r>
              <a:rPr lang="en-US" sz="1300" dirty="0" err="1">
                <a:solidFill>
                  <a:schemeClr val="bg1"/>
                </a:solidFill>
                <a:latin typeface="MiSans"/>
              </a:rPr>
              <a:t>Телефон: +7 906 758-77-77</a:t>
            </a:r>
          </a:p>
        </p:txBody>
      </p:sp>
      <p:sp>
        <p:nvSpPr>
          <p:cNvPr id="21" name="contact-mail"/>
          <p:cNvSpPr txBox="1"/>
          <p:nvPr/>
        </p:nvSpPr>
        <p:spPr>
          <a:xfrm>
            <a:off x="8534400" y="5538387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chemeClr val="bg1"/>
                </a:solidFill>
                <a:latin typeface="MiSans"/>
                <a:ea typeface="MiSans"/>
              </a:rPr>
              <a:t>E-mail: prompter.moscow@mail.ru</a:t>
            </a:r>
          </a:p>
        </p:txBody>
      </p:sp>
      <p:sp>
        <p:nvSpPr>
          <p:cNvPr id="23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900"/>
            <a:r>
              <a:rPr lang="en-US" sz="900">
                <a:solidFill>
                  <a:srgbClr val="9A9AA8"/>
                </a:solidFill>
                <a:latin typeface="MiSans"/>
                <a:ea typeface="MiSans"/>
              </a:rPr>
              <a:t>06 / 06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B13B29C-656E-5C78-8FD9-1E11366C8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463" y="914400"/>
            <a:ext cx="3711535" cy="2565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38CF235-0817-4190-4B3F-164600FB9C97}"/>
              </a:ext>
            </a:extLst>
          </p:cNvPr>
          <p:cNvSpPr txBox="1"/>
          <p:nvPr/>
        </p:nvSpPr>
        <p:spPr>
          <a:xfrm>
            <a:off x="5689600" y="5822806"/>
            <a:ext cx="2700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300" dirty="0">
              <a:solidFill>
                <a:schemeClr val="bg1"/>
              </a:solidFill>
              <a:latin typeface="MiSans"/>
            </a:endParaRPr>
            <a:r>
              <a:rPr lang="en-US" sz="1300" dirty="0">
                <a:solidFill>
                  <a:schemeClr val="bg1"/>
                </a:solidFill>
                <a:latin typeface="MiSans"/>
              </a:rPr>
              <a:t>Telegram: @Prompter_mos</a:t>
            </a:r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886</Words>
  <Application>Microsoft Office PowerPoint</Application>
  <PresentationFormat>Широкоэкранный</PresentationFormat>
  <Paragraphs>134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Промптер — представление компании</dc:title>
  <dc:subject>Промптер — представление компании</dc:subject>
  <dc:creator>Kimi</dc:creator>
  <cp:lastModifiedBy>Пупкин Толя</cp:lastModifiedBy>
  <cp:revision>4</cp:revision>
  <dcterms:modified xsi:type="dcterms:W3CDTF">2026-08-05T12:55:48Z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{"Label":"Промптер — представление компании","ContentProducer":"001191110108MACG2KBH8F10000","ProduceID":"19f9002e-0f52-87c7-8000-00006034c46f","ReservedCode1":"","ContentPropagator":"001191110108MACG2KBH8F20000","PropagateID":"19f73adb-8c92-8708-8000-09088e4502a4","ReservedCode2":""}</vt:lpwstr>
  </property>
</Properties>
</file>