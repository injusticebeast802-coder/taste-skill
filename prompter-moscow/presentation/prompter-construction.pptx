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942"/>
    <a:srgbClr val="101D51"/>
    <a:srgbClr val="0D1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constructio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28">
                  <a:alpha val="96078"/>
                </a:srgbClr>
              </a:gs>
              <a:gs pos="55000">
                <a:srgbClr val="0A0E28">
                  <a:alpha val="85098"/>
                </a:srgbClr>
              </a:gs>
              <a:gs pos="100000">
                <a:srgbClr val="0A0E28">
                  <a:alpha val="2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1447800" y="711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500">
                <a:solidFill>
                  <a:srgbClr val="FFFFFF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1447800" y="10668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9AA6D4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33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GEO- И SEO-ПРОДВИЖЕНИЕ ДЛЯ СТРОИТЕЛЬСТВА И РЕМОНТА</a:t>
            </a:r>
            <a:endParaRPr lang="en-US" sz="1200"/>
          </a:p>
        </p:txBody>
      </p:sp>
      <p:sp>
        <p:nvSpPr>
          <p:cNvPr id="7" name="title"/>
          <p:cNvSpPr txBox="1"/>
          <p:nvPr/>
        </p:nvSpPr>
        <p:spPr>
          <a:xfrm>
            <a:off x="711200" y="2463800"/>
            <a:ext cx="736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КОМПЛЕКСНОЕ GEO- И SEO-</a:t>
            </a:r>
            <a:endParaRPr lang="en-US" sz="3600"/>
          </a:p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ПРОДВИЖЕНИЕ СТРОИТЕЛЬСТВА И РЕМОНТА</a:t>
            </a:r>
            <a:r>
              <a:rPr lang="en-US" sz="3600" b="1">
                <a:solidFill>
                  <a:srgbClr val="E8453C"/>
                </a:solidFill>
                <a:latin typeface="MiSans"/>
                <a:ea typeface="MiSans"/>
              </a:rPr>
              <a:t/>
            </a:r>
            <a:endParaRPr lang="en-US" sz="3600"/>
          </a:p>
        </p:txBody>
      </p:sp>
      <p:sp>
        <p:nvSpPr>
          <p:cNvPr id="8" name="subtitle"/>
          <p:cNvSpPr txBox="1"/>
          <p:nvPr/>
        </p:nvSpPr>
        <p:spPr>
          <a:xfrm>
            <a:off x="711200" y="3860800"/>
            <a:ext cx="6604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9AA6D4"/>
                </a:solidFill>
                <a:latin typeface="MiSans"/>
                <a:ea typeface="MiSans"/>
              </a:rPr>
              <a:t>Делаем строительные и ремонтные компании заметными в нейровыдаче и поисковых системах — без рекламных бюджетов и SEO-агентств</a:t>
            </a:r>
            <a:endParaRPr lang="en-US" sz="1500"/>
          </a:p>
        </p:txBody>
      </p:sp>
      <p:sp>
        <p:nvSpPr>
          <p:cNvPr id="9" name="price"/>
          <p:cNvSpPr txBox="1"/>
          <p:nvPr/>
        </p:nvSpPr>
        <p:spPr>
          <a:xfrm>
            <a:off x="711200" y="48768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Стоимость: </a:t>
            </a:r>
            <a:r>
              <a:rPr lang="en-US" sz="1900" b="1">
                <a:solidFill>
                  <a:srgbClr val="E8B54A"/>
                </a:solidFill>
                <a:latin typeface="MiSans"/>
                <a:ea typeface="MiSans"/>
              </a:rPr>
              <a:t>от 29500 ₽/мес</a:t>
            </a:r>
            <a:endParaRPr lang="en-US" sz="1500"/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89BFB6D2-898F-E9FE-6E41-A6A22FEF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7" y="631375"/>
            <a:ext cx="663766" cy="7148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СТРОИТЕЛЬСТВО И РЕМОНТ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ПОЧЕМУ СТРОИТЕЛЬНЫЙ БИЗНЕС НЕ ДОБИВАЕТСЯ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intro"/>
          <p:cNvSpPr txBox="1"/>
          <p:nvPr/>
        </p:nvSpPr>
        <p:spPr>
          <a:xfrm>
            <a:off x="711200" y="1371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Большинство строительных и ремонтных компаний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5" name="n1"/>
          <p:cNvSpPr txBox="1"/>
          <p:nvPr/>
        </p:nvSpPr>
        <p:spPr>
          <a:xfrm>
            <a:off x="711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6" name="t1"/>
          <p:cNvSpPr txBox="1"/>
          <p:nvPr/>
        </p:nvSpPr>
        <p:spPr>
          <a:xfrm>
            <a:off x="1295400" y="195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7" name="d1"/>
          <p:cNvSpPr txBox="1"/>
          <p:nvPr/>
        </p:nvSpPr>
        <p:spPr>
          <a:xfrm>
            <a:off x="1295400" y="226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Заказчик спрашивает у нейросети «кто сделает ремонт» или «какой бригаде доверить объект» — и она называет конкурентов, а не вас</a:t>
            </a:r>
            <a:endParaRPr lang="en-US" sz="1150"/>
          </a:p>
        </p:txBody>
      </p:sp>
      <p:sp>
        <p:nvSpPr>
          <p:cNvPr id="8" name="l1"/>
          <p:cNvSpPr/>
          <p:nvPr/>
        </p:nvSpPr>
        <p:spPr>
          <a:xfrm>
            <a:off x="711200" y="29210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0" name="t2"/>
          <p:cNvSpPr txBox="1"/>
          <p:nvPr/>
        </p:nvSpPr>
        <p:spPr>
          <a:xfrm>
            <a:off x="1295400" y="320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1" name="d2"/>
          <p:cNvSpPr txBox="1"/>
          <p:nvPr/>
        </p:nvSpPr>
        <p:spPr>
          <a:xfrm>
            <a:off x="1295400" y="350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Владелец и прорабы заняты объектами — на статьи, посты и фотоотчёты времени нет</a:t>
            </a:r>
            <a:endParaRPr lang="en-US" sz="1150"/>
          </a:p>
        </p:txBody>
      </p:sp>
      <p:sp>
        <p:nvSpPr>
          <p:cNvPr id="12" name="l2"/>
          <p:cNvSpPr/>
          <p:nvPr/>
        </p:nvSpPr>
        <p:spPr>
          <a:xfrm>
            <a:off x="711200" y="41656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11200" y="4419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4" name="t3"/>
          <p:cNvSpPr txBox="1"/>
          <p:nvPr/>
        </p:nvSpPr>
        <p:spPr>
          <a:xfrm>
            <a:off x="1295400" y="44450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5" name="d3"/>
          <p:cNvSpPr txBox="1"/>
          <p:nvPr/>
        </p:nvSpPr>
        <p:spPr>
          <a:xfrm>
            <a:off x="1295400" y="4749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6" name="n4"/>
          <p:cNvSpPr txBox="1"/>
          <p:nvPr/>
        </p:nvSpPr>
        <p:spPr>
          <a:xfrm>
            <a:off x="6553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7" name="t4"/>
          <p:cNvSpPr txBox="1"/>
          <p:nvPr/>
        </p:nvSpPr>
        <p:spPr>
          <a:xfrm>
            <a:off x="7137400" y="195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8" name="d4"/>
          <p:cNvSpPr txBox="1"/>
          <p:nvPr/>
        </p:nvSpPr>
        <p:spPr>
          <a:xfrm>
            <a:off x="7137400" y="226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19" name="l4"/>
          <p:cNvSpPr/>
          <p:nvPr/>
        </p:nvSpPr>
        <p:spPr>
          <a:xfrm>
            <a:off x="6553200" y="2921000"/>
            <a:ext cx="4927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0" name="n5"/>
          <p:cNvSpPr txBox="1"/>
          <p:nvPr/>
        </p:nvSpPr>
        <p:spPr>
          <a:xfrm>
            <a:off x="6553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t5"/>
          <p:cNvSpPr txBox="1"/>
          <p:nvPr/>
        </p:nvSpPr>
        <p:spPr>
          <a:xfrm>
            <a:off x="7137400" y="3200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2" name="d5"/>
          <p:cNvSpPr txBox="1"/>
          <p:nvPr/>
        </p:nvSpPr>
        <p:spPr>
          <a:xfrm>
            <a:off x="7137400" y="35052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5" name="conclusion-line"/>
          <p:cNvSpPr/>
          <p:nvPr/>
        </p:nvSpPr>
        <p:spPr>
          <a:xfrm>
            <a:off x="711200" y="57404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conclusion"/>
          <p:cNvSpPr txBox="1"/>
          <p:nvPr/>
        </p:nvSpPr>
        <p:spPr>
          <a:xfrm>
            <a:off x="1371600" y="56134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E8453C"/>
                </a:solidFill>
                <a:latin typeface="MiSans"/>
                <a:ea typeface="MiSans"/>
              </a:rPr>
              <a:t>Вывод: бизнес теряет клиентов ещё до того, как они решили, куда пойти за покупкой или услугой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/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СТРОИТЕЛЬСТВО И РЕМОНТ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447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Отсутствие в ответах нейросетей напрямую влияет на продажи, поток клиентов и репутацию</a:t>
            </a:r>
            <a:endParaRPr lang="en-US" sz="1300"/>
          </a:p>
        </p:txBody>
      </p:sp>
      <p:sp>
        <p:nvSpPr>
          <p:cNvPr id="5" name="i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711200" y="213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244600" y="2133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7" name="d1"/>
          <p:cNvSpPr txBox="1"/>
          <p:nvPr/>
        </p:nvSpPr>
        <p:spPr>
          <a:xfrm>
            <a:off x="1244600" y="243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Заказчики всё чаще спрашивают «кто сделает ремонт под ключ» или «кому доверить стройку» у нейросети, а не у поисковика</a:t>
            </a:r>
            <a:endParaRPr lang="en-US" sz="1200"/>
          </a:p>
        </p:txBody>
      </p:sp>
      <p:sp>
        <p:nvSpPr>
          <p:cNvPr id="8" name="i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eyJpY29uTmFtZSI6ImZhczp1c2VycyJ9</pptd:icon>
              </p:ext>
            </p:extLst>
          </p:nvPr>
        </p:nvSpPr>
        <p:spPr>
          <a:xfrm>
            <a:off x="711200" y="322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t2"/>
          <p:cNvSpPr txBox="1"/>
          <p:nvPr/>
        </p:nvSpPr>
        <p:spPr>
          <a:xfrm>
            <a:off x="1244600" y="322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Клиенты без рекламных затрат</a:t>
            </a:r>
            <a:endParaRPr lang="en-US" sz="1500"/>
          </a:p>
        </p:txBody>
      </p:sp>
      <p:sp>
        <p:nvSpPr>
          <p:cNvPr id="10" name="d2"/>
          <p:cNvSpPr txBox="1"/>
          <p:nvPr/>
        </p:nvSpPr>
        <p:spPr>
          <a:xfrm>
            <a:off x="1244600" y="3530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1" name="i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711200" y="431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2" name="t3"/>
          <p:cNvSpPr txBox="1"/>
          <p:nvPr/>
        </p:nvSpPr>
        <p:spPr>
          <a:xfrm>
            <a:off x="1244600" y="43180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Клиент выбирает тех, кого назвала нейросеть</a:t>
            </a:r>
            <a:endParaRPr lang="en-US" sz="1500"/>
          </a:p>
        </p:txBody>
      </p:sp>
      <p:sp>
        <p:nvSpPr>
          <p:cNvPr id="13" name="d3"/>
          <p:cNvSpPr txBox="1"/>
          <p:nvPr/>
        </p:nvSpPr>
        <p:spPr>
          <a:xfrm>
            <a:off x="1244600" y="46228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Рекомендация ИИ воспринимается как мнение эксперта — ей доверяют и следуют ей</a:t>
            </a:r>
            <a:endParaRPr lang="en-US" sz="1200"/>
          </a:p>
        </p:txBody>
      </p:sp>
      <p:sp>
        <p:nvSpPr>
          <p:cNvPr id="14" name="i4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711200" y="541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5" name="t4"/>
          <p:cNvSpPr txBox="1"/>
          <p:nvPr/>
        </p:nvSpPr>
        <p:spPr>
          <a:xfrm>
            <a:off x="1244600" y="5410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6" name="d4"/>
          <p:cNvSpPr txBox="1"/>
          <p:nvPr/>
        </p:nvSpPr>
        <p:spPr>
          <a:xfrm>
            <a:off x="1244600" y="57150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Пока вас нет в ответах нейросети, конкуренты забирают ваших клиентов каждый день</a:t>
            </a:r>
            <a:endParaRPr lang="en-US" sz="1200"/>
          </a:p>
        </p:txBody>
      </p:sp>
      <p:sp>
        <p:nvSpPr>
          <p:cNvPr id="17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0F1538"/>
          </a:solidFill>
          <a:ln w="19050">
            <a:solidFill>
              <a:srgbClr val="2A3570"/>
            </a:solidFill>
          </a:ln>
        </p:spPr>
      </p:sp>
      <p:sp>
        <p:nvSpPr>
          <p:cNvPr id="18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19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FFFFFF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0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</p:sp>
      <p:sp>
        <p:nvSpPr>
          <p:cNvPr id="21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2E5CFF"/>
          </a:solidFill>
          <a:ln>
            <a:noFill/>
          </a:ln>
        </p:spPr>
      </p:sp>
      <p:sp>
        <p:nvSpPr>
          <p:cNvPr id="22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Где купить и починить рядом с домом?</a:t>
            </a:r>
            <a:endParaRPr lang="en-US" sz="1150"/>
          </a:p>
        </p:txBody>
      </p:sp>
      <p:sp>
        <p:nvSpPr>
          <p:cNvPr id="23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182050"/>
          </a:solidFill>
          <a:ln w="12700">
            <a:solidFill>
              <a:srgbClr val="28336B"/>
            </a:solidFill>
          </a:ln>
        </p:spPr>
      </p:sp>
      <p:sp>
        <p:nvSpPr>
          <p:cNvPr id="24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Вот 3 места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1. Магазин «Соседи»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2. Сервис «Мастер рядом»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3. ______________</a:t>
            </a:r>
            <a:r>
              <a:rPr lang="en-US" sz="1150" b="1">
                <a:solidFill>
                  <a:srgbClr val="E8B54A"/>
                </a:solidFill>
                <a:latin typeface="MiSans"/>
                <a:ea typeface="MiSans"/>
              </a:rPr>
              <a:t/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место №3 может занять ваш бизнес</a:t>
            </a:r>
            <a:endParaRPr lang="en-US" sz="1150"/>
          </a:p>
        </p:txBody>
      </p:sp>
      <p:sp>
        <p:nvSpPr>
          <p:cNvPr id="25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9AA6D4"/>
                </a:solidFill>
                <a:latin typeface="MiSans"/>
                <a:ea typeface="MiSans"/>
              </a:rPr>
              <a:t>Нейросеть уже отвечает клиентам — вопрос лишь в том, назовёт ли она вас</a:t>
            </a:r>
            <a:endParaRPr lang="en-US" sz="10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СТРОИТЕЛЬСТВО И РЕМОНТ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600" b="1">
                <a:solidFill>
                  <a:srgbClr val="E8453C"/>
                </a:solidFill>
                <a:latin typeface="MiSans"/>
                <a:ea typeface="MiSans"/>
              </a:rPr>
              <a:t>СЕРВИС ПРОМПТЕР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строительные и ремонтные компании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6" name="uniq-text"/>
          <p:cNvSpPr txBox="1"/>
          <p:nvPr/>
        </p:nvSpPr>
        <p:spPr>
          <a:xfrm>
            <a:off x="711200" y="1612900"/>
            <a:ext cx="10769600" cy="431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E8B54A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8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398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AI-КОПИРАЙТЕР</a:t>
            </a:r>
            <a:endParaRPr lang="en-US" sz="1400"/>
          </a:p>
        </p:txBody>
      </p:sp>
      <p:sp>
        <p:nvSpPr>
          <p:cNvPr id="10" name="c1-desc"/>
          <p:cNvSpPr txBox="1"/>
          <p:nvPr/>
        </p:nvSpPr>
        <p:spPr>
          <a:xfrm>
            <a:off x="9398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Создаёт тексты об услугах, объектах, сроках и ценах в вашем tone of voice</a:t>
            </a:r>
            <a:endParaRPr lang="en-US" sz="1100"/>
          </a:p>
        </p:txBody>
      </p:sp>
      <p:sp>
        <p:nvSpPr>
          <p:cNvPr id="11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2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5974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3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AI-МОДЕРАТОР</a:t>
            </a:r>
            <a:endParaRPr lang="en-US" sz="1400"/>
          </a:p>
        </p:txBody>
      </p:sp>
      <p:sp>
        <p:nvSpPr>
          <p:cNvPr id="14" name="c2-desc"/>
          <p:cNvSpPr txBox="1"/>
          <p:nvPr/>
        </p:nvSpPr>
        <p:spPr>
          <a:xfrm>
            <a:off x="45974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5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6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255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7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AI-СТРАТЕГ</a:t>
            </a:r>
            <a:endParaRPr lang="en-US" sz="1400"/>
          </a:p>
        </p:txBody>
      </p:sp>
      <p:sp>
        <p:nvSpPr>
          <p:cNvPr id="18" name="c3-desc"/>
          <p:cNvSpPr txBox="1"/>
          <p:nvPr/>
        </p:nvSpPr>
        <p:spPr>
          <a:xfrm>
            <a:off x="82550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Строит стратегию продвижения в нейровыдаче под нишу и формат вашего бизнеса</a:t>
            </a:r>
            <a:endParaRPr lang="en-US" sz="1100"/>
          </a:p>
        </p:txBody>
      </p:sp>
      <p:sp>
        <p:nvSpPr>
          <p:cNvPr id="19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0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398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1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МОДУЛЬ АНАЛИТИКИ</a:t>
            </a:r>
            <a:endParaRPr lang="en-US" sz="1400"/>
          </a:p>
        </p:txBody>
      </p:sp>
      <p:sp>
        <p:nvSpPr>
          <p:cNvPr id="22" name="c4-desc"/>
          <p:cNvSpPr txBox="1"/>
          <p:nvPr/>
        </p:nvSpPr>
        <p:spPr>
          <a:xfrm>
            <a:off x="9398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3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4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5974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5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AI-ИССЛЕДОВАТЕЛЬ</a:t>
            </a:r>
            <a:endParaRPr lang="en-US" sz="1400"/>
          </a:p>
        </p:txBody>
      </p:sp>
      <p:sp>
        <p:nvSpPr>
          <p:cNvPr id="26" name="c5-desc"/>
          <p:cNvSpPr txBox="1"/>
          <p:nvPr/>
        </p:nvSpPr>
        <p:spPr>
          <a:xfrm>
            <a:off x="45974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Анализирует конкурентов и клиентов в вашем районе и городе</a:t>
            </a:r>
            <a:endParaRPr lang="en-US" sz="1100"/>
          </a:p>
        </p:txBody>
      </p:sp>
      <p:sp>
        <p:nvSpPr>
          <p:cNvPr id="27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8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2550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9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AI-ДИЗАЙНЕР</a:t>
            </a:r>
            <a:endParaRPr lang="en-US" sz="1400"/>
          </a:p>
        </p:txBody>
      </p:sp>
      <p:sp>
        <p:nvSpPr>
          <p:cNvPr id="30" name="c6-desc"/>
          <p:cNvSpPr txBox="1"/>
          <p:nvPr/>
        </p:nvSpPr>
        <p:spPr>
          <a:xfrm>
            <a:off x="82550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1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2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1018"/>
            </a:gs>
            <a:gs pos="50000">
              <a:srgbClr val="0C1030"/>
            </a:gs>
            <a:gs pos="100000">
              <a:srgbClr val="101F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ip2">
            <a:extLst>
              <a:ext uri="{FF2B5EF4-FFF2-40B4-BE49-F238E27FC236}">
                <a16:creationId xmlns:a16="http://schemas.microsoft.com/office/drawing/2014/main" id="{6D8A5F92-47B1-9B74-0214-A2D7F857B98B}"/>
              </a:ext>
            </a:extLst>
          </p:cNvPr>
          <p:cNvSpPr/>
          <p:nvPr/>
        </p:nvSpPr>
        <p:spPr>
          <a:xfrm>
            <a:off x="67183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СТРОИТЕЛЬСТВО И РЕМОНТ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FFFFFF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 dirty="0"/>
          </a:p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E8453C"/>
                </a:solidFill>
                <a:latin typeface="MiSans"/>
                <a:ea typeface="MiSans"/>
              </a:rPr>
              <a:t>САМ ПУБЛИКУЕТ</a:t>
            </a:r>
            <a:endParaRPr lang="en-US" sz="3800" dirty="0"/>
          </a:p>
        </p:txBody>
      </p:sp>
      <p:sp>
        <p:nvSpPr>
          <p:cNvPr id="5" name="body"/>
          <p:cNvSpPr txBox="1"/>
          <p:nvPr/>
        </p:nvSpPr>
        <p:spPr>
          <a:xfrm>
            <a:off x="711200" y="2641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D6DCF5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вашей компании и её объектах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8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9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0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1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2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13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4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5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7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chemeClr val="accent4"/>
                </a:solidFill>
                <a:latin typeface="MiSans"/>
                <a:ea typeface="MiSans"/>
              </a:rPr>
              <a:t>03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chemeClr val="accent4"/>
                </a:solidFill>
                <a:latin typeface="MiSans"/>
                <a:ea typeface="MiSans"/>
              </a:rPr>
              <a:t>АВТОПУБЛИКАЦИЯ</a:t>
            </a:r>
            <a:endParaRPr lang="en-US" sz="1250" dirty="0">
              <a:solidFill>
                <a:schemeClr val="accent4"/>
              </a:solidFill>
            </a:endParaRPr>
          </a:p>
        </p:txBody>
      </p:sp>
      <p:sp>
        <p:nvSpPr>
          <p:cNvPr id="19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20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1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2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3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4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8B0827C9-9925-874B-CE45-CCF3464F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63" y="1480058"/>
            <a:ext cx="2220674" cy="23914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СТРОИТЕЛЬСТВО И РЕМОНТ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FFFF"/>
                </a:solidFill>
                <a:latin typeface="MiSans"/>
                <a:ea typeface="MiSans"/>
              </a:rPr>
              <a:t>КАК РАБОТАЕТ ПРОМПТЕР?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711200" y="10668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 первого текста до заявок на объекты — полный цикл без вашего участия</a:t>
            </a:r>
            <a:endParaRPr lang="en-US" sz="1300"/>
          </a:p>
        </p:txBody>
      </p:sp>
      <p:sp>
        <p:nvSpPr>
          <p:cNvPr id="5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6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7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8" name="s1-desc"/>
          <p:cNvSpPr txBox="1"/>
          <p:nvPr/>
        </p:nvSpPr>
        <p:spPr>
          <a:xfrm>
            <a:off x="7112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Платформа изучает услуги, объекты, сроки и цены, создаёт тексты и визуал</a:t>
            </a:r>
            <a:endParaRPr lang="en-US" sz="1100"/>
          </a:p>
        </p:txBody>
      </p:sp>
      <p:sp>
        <p:nvSpPr>
          <p:cNvPr id="9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0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1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 dirty="0">
                <a:solidFill>
                  <a:schemeClr val="accent4"/>
                </a:solidFill>
                <a:latin typeface="MiSans"/>
                <a:ea typeface="MiSans"/>
              </a:rPr>
              <a:t>АВТО-ПУБЛИКАЦИЯ</a:t>
            </a:r>
            <a:endParaRPr lang="en-US" sz="1450" dirty="0">
              <a:solidFill>
                <a:schemeClr val="accent4"/>
              </a:solidFill>
            </a:endParaRPr>
          </a:p>
        </p:txBody>
      </p:sp>
      <p:sp>
        <p:nvSpPr>
          <p:cNvPr id="12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4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6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Поисковики и нейросети фиксируют новый контент о вашем бизнесе</a:t>
            </a:r>
            <a:endParaRPr lang="en-US" sz="1100"/>
          </a:p>
        </p:txBody>
      </p:sp>
      <p:sp>
        <p:nvSpPr>
          <p:cNvPr id="17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8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9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0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1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2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3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ДОВЕРИЕ И ПРОДАЖИ</a:t>
            </a:r>
            <a:endParaRPr lang="en-US" sz="1450"/>
          </a:p>
        </p:txBody>
      </p:sp>
      <p:sp>
        <p:nvSpPr>
          <p:cNvPr id="24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Заказчики находят вас, доверяют рекомендации нейросети и приходят с объектом</a:t>
            </a:r>
            <a:endParaRPr lang="en-US" sz="1100"/>
          </a:p>
        </p:txBody>
      </p:sp>
      <p:sp>
        <p:nvSpPr>
          <p:cNvPr id="25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121942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Система работает 24/7: вы занимаетесь клиентами — Промптер занимается продвижением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sh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dish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0C1030">
                  <a:alpha val="20000"/>
                </a:srgbClr>
              </a:gs>
              <a:gs pos="100000">
                <a:srgbClr val="0C1030">
                  <a:alpha val="94902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СТРОИТЕЛЬСТВО И РЕМОНТ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ДЛЯ ВАШЕГО БИЗНЕСА</a:t>
            </a:r>
            <a:endParaRPr lang="en-US" sz="2500"/>
          </a:p>
        </p:txBody>
      </p:sp>
      <p:sp>
        <p:nvSpPr>
          <p:cNvPr id="6" name="b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eyJpY29uTmFtZSI6ImZhczp3YWxsZXQifQ</pptd:icon>
              </p:ext>
            </p:extLst>
          </p:nvPr>
        </p:nvSpPr>
        <p:spPr>
          <a:xfrm>
            <a:off x="5588000" y="177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7" name="b1-title"/>
          <p:cNvSpPr txBox="1"/>
          <p:nvPr/>
        </p:nvSpPr>
        <p:spPr>
          <a:xfrm>
            <a:off x="6070600" y="17780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8" name="b1-desc"/>
          <p:cNvSpPr txBox="1"/>
          <p:nvPr/>
        </p:nvSpPr>
        <p:spPr>
          <a:xfrm>
            <a:off x="6070600" y="20828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9" name="b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5588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0" name="b2-title"/>
          <p:cNvSpPr txBox="1"/>
          <p:nvPr/>
        </p:nvSpPr>
        <p:spPr>
          <a:xfrm>
            <a:off x="6070600" y="28194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1" name="b2-desc"/>
          <p:cNvSpPr txBox="1"/>
          <p:nvPr/>
        </p:nvSpPr>
        <p:spPr>
          <a:xfrm>
            <a:off x="6070600" y="31242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Бизнес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2" name="b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5588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3" name="b3-title"/>
          <p:cNvSpPr txBox="1"/>
          <p:nvPr/>
        </p:nvSpPr>
        <p:spPr>
          <a:xfrm>
            <a:off x="6070600" y="38608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4" name="b3-desc"/>
          <p:cNvSpPr txBox="1"/>
          <p:nvPr/>
        </p:nvSpPr>
        <p:spPr>
          <a:xfrm>
            <a:off x="6070600" y="41656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Вас называют, когда заказчик спрашивает, кто сделает ремонт или построит, — ежедневно и без рекламы</a:t>
            </a:r>
            <a:endParaRPr lang="en-US" sz="1200"/>
          </a:p>
        </p:txBody>
      </p:sp>
      <p:sp>
        <p:nvSpPr>
          <p:cNvPr id="15" name="b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55880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6" name="b4-title"/>
          <p:cNvSpPr txBox="1"/>
          <p:nvPr/>
        </p:nvSpPr>
        <p:spPr>
          <a:xfrm>
            <a:off x="6070600" y="49022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7" name="b4-desc"/>
          <p:cNvSpPr txBox="1"/>
          <p:nvPr/>
        </p:nvSpPr>
        <p:spPr>
          <a:xfrm>
            <a:off x="6070600" y="52070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0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СТРОИТЕЛЬСТВО И РЕМОНТ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600"/>
          </a:p>
        </p:txBody>
      </p:sp>
      <p:sp>
        <p:nvSpPr>
          <p:cNvPr id="4" name="price-label"/>
          <p:cNvSpPr txBox="1"/>
          <p:nvPr/>
        </p:nvSpPr>
        <p:spPr>
          <a:xfrm>
            <a:off x="711200" y="2095856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9AA6D4"/>
                </a:solidFill>
                <a:latin typeface="MiSans"/>
                <a:ea typeface="MiSans"/>
              </a:rPr>
              <a:t>СТОИМОСТЬ СЕРВИСА</a:t>
            </a:r>
            <a:endParaRPr lang="en-US" sz="1100"/>
          </a:p>
        </p:txBody>
      </p:sp>
      <p:sp>
        <p:nvSpPr>
          <p:cNvPr id="5" name="price-big"/>
          <p:cNvSpPr txBox="1"/>
          <p:nvPr/>
        </p:nvSpPr>
        <p:spPr>
          <a:xfrm>
            <a:off x="711200" y="2375256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E8453C"/>
                </a:solidFill>
                <a:latin typeface="MiSans"/>
                <a:ea typeface="MiSans"/>
              </a:rPr>
              <a:t>От 29500 ₽</a:t>
            </a:r>
            <a:r>
              <a:rPr lang="en-US" sz="1600">
                <a:solidFill>
                  <a:srgbClr val="9AA6D4"/>
                </a:solidFill>
                <a:latin typeface="MiSans"/>
                <a:ea typeface="MiSans"/>
              </a:rPr>
              <a:t>  /месяц</a:t>
            </a:r>
            <a:endParaRPr lang="en-US" sz="1600"/>
          </a:p>
        </p:txBody>
      </p:sp>
      <p:sp>
        <p:nvSpPr>
          <p:cNvPr id="6" name="price-instead"/>
          <p:cNvSpPr txBox="1"/>
          <p:nvPr/>
        </p:nvSpPr>
        <p:spPr>
          <a:xfrm>
            <a:off x="711200" y="3264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7" name="price-save"/>
          <p:cNvSpPr txBox="1"/>
          <p:nvPr/>
        </p:nvSpPr>
        <p:spPr>
          <a:xfrm>
            <a:off x="711200" y="3645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0" name="price-note"/>
          <p:cNvSpPr txBox="1"/>
          <p:nvPr/>
        </p:nvSpPr>
        <p:spPr>
          <a:xfrm>
            <a:off x="711200" y="4966056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9AA6D4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endParaRPr lang="en-US" sz="1100"/>
          </a:p>
        </p:txBody>
      </p:sp>
      <p:sp>
        <p:nvSpPr>
          <p:cNvPr id="11" name="divider"/>
          <p:cNvSpPr/>
          <p:nvPr/>
        </p:nvSpPr>
        <p:spPr>
          <a:xfrm>
            <a:off x="6299200" y="2095856"/>
            <a:ext cx="12700" cy="38100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2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FFFFF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3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4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5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6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7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8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19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0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1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Экспертный контент об услугах, объектах и ценах</a:t>
            </a:r>
            <a:endParaRPr lang="en-US" sz="1150"/>
          </a:p>
        </p:txBody>
      </p:sp>
      <p:sp>
        <p:nvSpPr>
          <p:cNvPr id="22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3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6 площадок для публикаций</a:t>
            </a:r>
            <a:endParaRPr lang="en-US" sz="1350"/>
          </a:p>
        </p:txBody>
      </p:sp>
      <p:sp>
        <p:nvSpPr>
          <p:cNvPr id="24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5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6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8" name="cta-btn">
            <a:hlinkClick r:id="rId2"/>
          </p:cNvPr>
          <p:cNvSpPr/>
          <p:nvPr/>
        </p:nvSpPr>
        <p:spPr>
          <a:xfrm>
            <a:off x="711200" y="4153256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ta-text">
            <a:hlinkClick r:id="rId2"/>
          </p:cNvPr>
          <p:cNvSpPr txBox="1"/>
          <p:nvPr/>
        </p:nvSpPr>
        <p:spPr>
          <a:xfrm>
            <a:off x="711200" y="4153256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СТРОИТЕЛЬСТВО И РЕМОНТ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5240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5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286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1244600" y="228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7" name="p1-desc"/>
          <p:cNvSpPr txBox="1"/>
          <p:nvPr/>
        </p:nvSpPr>
        <p:spPr>
          <a:xfrm>
            <a:off x="1244600" y="2590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8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32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9" name="p2-title"/>
          <p:cNvSpPr txBox="1"/>
          <p:nvPr/>
        </p:nvSpPr>
        <p:spPr>
          <a:xfrm>
            <a:off x="1244600" y="3327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0" name="p2-desc"/>
          <p:cNvSpPr txBox="1"/>
          <p:nvPr/>
        </p:nvSpPr>
        <p:spPr>
          <a:xfrm>
            <a:off x="1244600" y="36322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1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eyJpY29uTmFtZSI6ImZhczp1dGVuc2lscyJ9</pptd:icon>
              </p:ext>
            </p:extLst>
          </p:nvPr>
        </p:nvSpPr>
        <p:spPr>
          <a:xfrm>
            <a:off x="711200" y="4368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14"/>
                </a:moveTo>
                <a:cubicBezTo>
                  <a:pt x="63" y="6"/>
                  <a:pt x="56" y="0"/>
                  <a:pt x="48" y="0"/>
                </a:cubicBezTo>
                <a:cubicBezTo>
                  <a:pt x="40" y="0"/>
                  <a:pt x="33" y="6"/>
                  <a:pt x="32" y="14"/>
                </a:cubicBezTo>
                <a:lnTo>
                  <a:pt x="18" y="150"/>
                </a:lnTo>
                <a:cubicBezTo>
                  <a:pt x="17" y="156"/>
                  <a:pt x="16" y="162"/>
                  <a:pt x="16" y="168"/>
                </a:cubicBezTo>
                <a:cubicBezTo>
                  <a:pt x="16" y="214"/>
                  <a:pt x="51" y="251"/>
                  <a:pt x="96" y="256"/>
                </a:cubicBezTo>
                <a:lnTo>
                  <a:pt x="96" y="480"/>
                </a:lnTo>
                <a:cubicBezTo>
                  <a:pt x="96" y="498"/>
                  <a:pt x="110" y="512"/>
                  <a:pt x="128" y="512"/>
                </a:cubicBezTo>
                <a:cubicBezTo>
                  <a:pt x="146" y="512"/>
                  <a:pt x="160" y="498"/>
                  <a:pt x="160" y="480"/>
                </a:cubicBezTo>
                <a:lnTo>
                  <a:pt x="160" y="256"/>
                </a:lnTo>
                <a:cubicBezTo>
                  <a:pt x="205" y="252"/>
                  <a:pt x="240" y="214"/>
                  <a:pt x="240" y="168"/>
                </a:cubicBezTo>
                <a:cubicBezTo>
                  <a:pt x="240" y="162"/>
                  <a:pt x="239" y="156"/>
                  <a:pt x="238" y="150"/>
                </a:cubicBezTo>
                <a:lnTo>
                  <a:pt x="224" y="14"/>
                </a:lnTo>
                <a:cubicBezTo>
                  <a:pt x="223" y="6"/>
                  <a:pt x="216" y="0"/>
                  <a:pt x="208" y="0"/>
                </a:cubicBezTo>
                <a:cubicBezTo>
                  <a:pt x="200" y="0"/>
                  <a:pt x="193" y="6"/>
                  <a:pt x="192" y="14"/>
                </a:cubicBezTo>
                <a:lnTo>
                  <a:pt x="179" y="150"/>
                </a:lnTo>
                <a:cubicBezTo>
                  <a:pt x="178" y="156"/>
                  <a:pt x="173" y="160"/>
                  <a:pt x="167" y="160"/>
                </a:cubicBezTo>
                <a:cubicBezTo>
                  <a:pt x="162" y="160"/>
                  <a:pt x="157" y="156"/>
                  <a:pt x="156" y="150"/>
                </a:cubicBezTo>
                <a:lnTo>
                  <a:pt x="144" y="15"/>
                </a:lnTo>
                <a:cubicBezTo>
                  <a:pt x="143" y="6"/>
                  <a:pt x="136" y="0"/>
                  <a:pt x="128" y="0"/>
                </a:cubicBezTo>
                <a:cubicBezTo>
                  <a:pt x="120" y="0"/>
                  <a:pt x="113" y="6"/>
                  <a:pt x="112" y="15"/>
                </a:cubicBezTo>
                <a:lnTo>
                  <a:pt x="100" y="150"/>
                </a:lnTo>
                <a:cubicBezTo>
                  <a:pt x="99" y="156"/>
                  <a:pt x="94" y="160"/>
                  <a:pt x="89" y="160"/>
                </a:cubicBezTo>
                <a:cubicBezTo>
                  <a:pt x="83" y="160"/>
                  <a:pt x="78" y="156"/>
                  <a:pt x="78" y="150"/>
                </a:cubicBezTo>
                <a:lnTo>
                  <a:pt x="64" y="14"/>
                </a:lnTo>
                <a:close/>
                <a:moveTo>
                  <a:pt x="448" y="0"/>
                </a:moveTo>
                <a:cubicBezTo>
                  <a:pt x="432" y="0"/>
                  <a:pt x="320" y="32"/>
                  <a:pt x="320" y="176"/>
                </a:cubicBezTo>
                <a:lnTo>
                  <a:pt x="320" y="288"/>
                </a:lnTo>
                <a:cubicBezTo>
                  <a:pt x="320" y="323"/>
                  <a:pt x="349" y="352"/>
                  <a:pt x="384" y="352"/>
                </a:cubicBezTo>
                <a:lnTo>
                  <a:pt x="416" y="352"/>
                </a:lnTo>
                <a:lnTo>
                  <a:pt x="416" y="480"/>
                </a:lnTo>
                <a:cubicBezTo>
                  <a:pt x="416" y="498"/>
                  <a:pt x="430" y="512"/>
                  <a:pt x="448" y="512"/>
                </a:cubicBezTo>
                <a:cubicBezTo>
                  <a:pt x="466" y="512"/>
                  <a:pt x="480" y="498"/>
                  <a:pt x="480" y="480"/>
                </a:cubicBezTo>
                <a:lnTo>
                  <a:pt x="480" y="32"/>
                </a:lnTo>
                <a:cubicBezTo>
                  <a:pt x="480" y="14"/>
                  <a:pt x="466" y="0"/>
                  <a:pt x="448" y="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2" name="p3-title"/>
          <p:cNvSpPr txBox="1"/>
          <p:nvPr/>
        </p:nvSpPr>
        <p:spPr>
          <a:xfrm>
            <a:off x="1244600" y="4368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Экспертиза в строительстве и ремонте</a:t>
            </a:r>
            <a:endParaRPr lang="en-US" sz="1500"/>
          </a:p>
        </p:txBody>
      </p:sp>
      <p:sp>
        <p:nvSpPr>
          <p:cNvPr id="13" name="p3-desc"/>
          <p:cNvSpPr txBox="1"/>
          <p:nvPr/>
        </p:nvSpPr>
        <p:spPr>
          <a:xfrm>
            <a:off x="1244600" y="46736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Знаем специфику строительных и ремонтных компаний — говорим с клиентами на их языке</a:t>
            </a:r>
            <a:endParaRPr lang="en-US" sz="1200"/>
          </a:p>
        </p:txBody>
      </p:sp>
      <p:pic>
        <p:nvPicPr>
          <p:cNvPr id="14" name="photo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5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6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7" name="contacts-label"/>
          <p:cNvSpPr txBox="1"/>
          <p:nvPr/>
        </p:nvSpPr>
        <p:spPr>
          <a:xfrm>
            <a:off x="965200" y="53848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FFFFFF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18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19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0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943</Words>
  <Application>Microsoft Office PowerPoint</Application>
  <PresentationFormat>Широкоэкранный</PresentationFormat>
  <Paragraphs>154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HoReCa — GEO/SEO-продвижение</dc:title>
  <dc:subject>Промптер для HoReCa — GEO/SEO-продвижение</dc:subject>
  <dc:creator>Kimi</dc:creator>
  <cp:lastModifiedBy>Пупкин Толя</cp:lastModifiedBy>
  <cp:revision>4</cp:revision>
  <dcterms:modified xsi:type="dcterms:W3CDTF">2026-07-23T17:49:20Z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HoReCa — GEO/SEO-продвижение","ContentProducer":"001191110108MACG2KBH8F10000","ProduceID":"19f8fce5-3bc2-8667-8000-00008a4bb8cd","ReservedCode1":"","ContentPropagator":"001191110108MACG2KBH8F20000","PropagateID":"19f73adb-8c92-8708-8000-09088e4502a4","ReservedCode2":""}</vt:lpwstr>
  </property>
</Properties>
</file>