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942"/>
    <a:srgbClr val="101D51"/>
    <a:srgbClr val="0D1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horec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0E28">
                  <a:alpha val="96078"/>
                </a:srgbClr>
              </a:gs>
              <a:gs pos="55000">
                <a:srgbClr val="0A0E28">
                  <a:alpha val="85098"/>
                </a:srgbClr>
              </a:gs>
              <a:gs pos="100000">
                <a:srgbClr val="0A0E28">
                  <a:alpha val="2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1447800" y="711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>
                <a:solidFill>
                  <a:srgbClr val="FFFFFF"/>
                </a:solidFill>
                <a:latin typeface="MiSans"/>
                <a:ea typeface="MiSans"/>
              </a:rPr>
              <a:t>ПРОМПТЕР</a:t>
            </a:r>
            <a:endParaRPr lang="en-US" sz="1900"/>
          </a:p>
        </p:txBody>
      </p:sp>
      <p:sp>
        <p:nvSpPr>
          <p:cNvPr id="5" name="brand-sub"/>
          <p:cNvSpPr txBox="1"/>
          <p:nvPr/>
        </p:nvSpPr>
        <p:spPr>
          <a:xfrm>
            <a:off x="1447800" y="1066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9AA6D4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GEO- И SEO-ПРОДВИЖЕНИЕ ДЛЯ HoReCa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736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КОМПЛЕКСНОЕ GEO- И SEO-</a:t>
            </a:r>
            <a:endParaRPr lang="en-US" sz="3600"/>
          </a:p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ПРОДВИЖЕНИЕ </a:t>
            </a:r>
            <a:r>
              <a:rPr lang="en-US" sz="3600" b="1">
                <a:solidFill>
                  <a:srgbClr val="E8453C"/>
                </a:solidFill>
                <a:latin typeface="MiSans"/>
                <a:ea typeface="MiSans"/>
              </a:rPr>
              <a:t>HoReCa</a:t>
            </a:r>
            <a:endParaRPr lang="en-US" sz="3600"/>
          </a:p>
        </p:txBody>
      </p:sp>
      <p:sp>
        <p:nvSpPr>
          <p:cNvPr id="8" name="subtitle"/>
          <p:cNvSpPr txBox="1"/>
          <p:nvPr/>
        </p:nvSpPr>
        <p:spPr>
          <a:xfrm>
            <a:off x="711200" y="3860800"/>
            <a:ext cx="660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9AA6D4"/>
                </a:solidFill>
                <a:latin typeface="MiSans"/>
                <a:ea typeface="MiSans"/>
              </a:rPr>
              <a:t>Делаем отели, рестораны и кафе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876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FFFFFF"/>
                </a:solidFill>
                <a:latin typeface="MiSans"/>
                <a:ea typeface="MiSans"/>
              </a:rPr>
              <a:t>Стоимость: </a:t>
            </a:r>
            <a:r>
              <a:rPr lang="en-US" sz="1900" b="1">
                <a:solidFill>
                  <a:srgbClr val="E8B54A"/>
                </a:solidFill>
                <a:latin typeface="MiSans"/>
                <a:ea typeface="MiSans"/>
              </a:rPr>
              <a:t>от 29500 ₽/мес</a:t>
            </a:r>
            <a:endParaRPr lang="en-US" sz="150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" y="631375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ПОЧЕМУ БИЗНЕС В HoReCa НЕ ДОБИВАЕТСЯ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FFFFFF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Большинство отелей, ресторанов и кафе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Гости спрашивают у нейросети «где поесть» или «где остановиться»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Управляющий и команда заняты гостями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5" name="conclusion-line"/>
          <p:cNvSpPr/>
          <p:nvPr/>
        </p:nvSpPr>
        <p:spPr>
          <a:xfrm>
            <a:off x="711200" y="57404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E8453C"/>
                </a:solidFill>
                <a:latin typeface="MiSans"/>
                <a:ea typeface="MiSans"/>
              </a:rPr>
              <a:t>Вывод: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бизнес теряет гостей ещё до того, как они решили, куда пойти или где остановиться</a:t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Отсутствие в ответах нейросетей напрямую влияет на бронирования, посещаемость и репутацию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Гости всё чаще спрашивают «лучший отель рядом» или «куда сходить поесть»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Гости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Гость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Рекомендация ИИ воспринимается как мнение эксперта — ей доверяют и следуют ей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Пока вас нет в ответах нейросети, конкуренты забирают ваших гостей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0F1538"/>
          </a:solidFill>
          <a:ln w="19050">
            <a:solidFill>
              <a:srgbClr val="2A3570"/>
            </a:solidFill>
          </a:ln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FFFFFF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2A357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2E5CFF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Где остановиться и поужинать в центре?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182050"/>
          </a:solidFill>
          <a:ln w="12700">
            <a:solidFill>
              <a:srgbClr val="28336B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Вот 3 места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1. Отель «У набережной»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2. Ресторан «Домашний»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FFFFFF"/>
                </a:solidFill>
                <a:latin typeface="MiSans"/>
                <a:ea typeface="MiSans"/>
              </a:rPr>
              <a:t>3. </a:t>
            </a:r>
            <a:r>
              <a:rPr lang="en-US" sz="1150" b="1">
                <a:solidFill>
                  <a:srgbClr val="E8B54A"/>
                </a:solidFill>
                <a:latin typeface="MiSans"/>
                <a:ea typeface="MiSans"/>
              </a:rPr>
              <a:t>______________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9AA6D4"/>
                </a:solidFill>
                <a:latin typeface="MiSans"/>
                <a:ea typeface="MiSans"/>
              </a:rPr>
              <a:t>место №3 может занять ваш бизнес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9AA6D4"/>
                </a:solidFill>
                <a:latin typeface="MiSans"/>
                <a:ea typeface="MiSans"/>
              </a:rPr>
              <a:t>Нейросеть уже отвечает гостям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E8453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отели, рестораны и кафе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6" name="uniq-text"/>
          <p:cNvSpPr txBox="1"/>
          <p:nvPr/>
        </p:nvSpPr>
        <p:spPr>
          <a:xfrm>
            <a:off x="711200" y="1612900"/>
            <a:ext cx="10769600" cy="431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E8B54A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8" name="c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Создаёт тексты о кухне, номерах, сервисе и событиях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2" name="c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6" name="c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Строит стратегию продвижения в нейровыдаче под нишу и формат вашего бизнеса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0" name="c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4" name="c5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Анализирует конкурентов и гостей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28" name="c6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3D6BFF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41018"/>
            </a:gs>
            <a:gs pos="50000">
              <a:srgbClr val="0C1030"/>
            </a:gs>
            <a:gs pos="100000">
              <a:srgbClr val="101F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ip2">
            <a:extLst>
              <a:ext uri="{FF2B5EF4-FFF2-40B4-BE49-F238E27FC236}">
                <a16:creationId xmlns:a16="http://schemas.microsoft.com/office/drawing/2014/main" id="{6D8A5F92-47B1-9B74-0214-A2D7F857B98B}"/>
              </a:ext>
            </a:extLst>
          </p:cNvPr>
          <p:cNvSpPr/>
          <p:nvPr/>
        </p:nvSpPr>
        <p:spPr>
          <a:xfrm>
            <a:off x="67183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E8B54A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FFFFFF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 dirty="0"/>
          </a:p>
          <a:p>
            <a:pPr algn="l">
              <a:lnSpc>
                <a:spcPct val="118000"/>
              </a:lnSpc>
            </a:pPr>
            <a:r>
              <a:rPr lang="en-US" sz="3800" b="1" dirty="0">
                <a:solidFill>
                  <a:srgbClr val="E8453C"/>
                </a:solidFill>
                <a:latin typeface="MiSans"/>
                <a:ea typeface="MiSans"/>
              </a:rPr>
              <a:t>САМ ПУБЛИКУЕТ</a:t>
            </a:r>
            <a:endParaRPr lang="en-US" sz="3800" dirty="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D6DCF5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отеле, ресторане или кафе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8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9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0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1" name="arrow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2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13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4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5" name="arrow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17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chemeClr val="accent4"/>
                </a:solidFill>
                <a:latin typeface="MiSans"/>
                <a:ea typeface="MiSans"/>
              </a:rPr>
              <a:t>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chemeClr val="accent4"/>
                </a:solidFill>
                <a:latin typeface="MiSans"/>
                <a:ea typeface="MiSans"/>
              </a:rPr>
              <a:t>АВТОПУБЛИКАЦИЯ</a:t>
            </a:r>
            <a:endParaRPr lang="en-US" sz="1250" dirty="0">
              <a:solidFill>
                <a:schemeClr val="accent4"/>
              </a:solidFill>
            </a:endParaRPr>
          </a:p>
        </p:txBody>
      </p:sp>
      <p:sp>
        <p:nvSpPr>
          <p:cNvPr id="19" name="arrow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9AA6D4"/>
          </a:solidFill>
          <a:ln>
            <a:noFill/>
          </a:ln>
        </p:spPr>
      </p:sp>
      <p:sp>
        <p:nvSpPr>
          <p:cNvPr id="20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0F1538">
              <a:alpha val="80000"/>
            </a:srgbClr>
          </a:solidFill>
          <a:ln w="12700">
            <a:solidFill>
              <a:srgbClr val="242E63"/>
            </a:solidFill>
          </a:ln>
        </p:spPr>
      </p:sp>
      <p:sp>
        <p:nvSpPr>
          <p:cNvPr id="21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9AA6D4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2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FFFFF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3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9AA6D4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4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B0827C9-9925-874B-CE45-CCF3464F6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3" y="1480058"/>
            <a:ext cx="2220674" cy="2391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FFFF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От первого текста до гостей у ваших дверей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Платформа изучает меню, номера, сервис и атмосферу,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 dirty="0">
                <a:solidFill>
                  <a:schemeClr val="accent4"/>
                </a:solidFill>
                <a:latin typeface="MiSans"/>
                <a:ea typeface="MiSans"/>
              </a:rPr>
              <a:t>АВТО-ПУБЛИКАЦИЯ</a:t>
            </a:r>
            <a:endParaRPr lang="en-US" sz="1450" dirty="0">
              <a:solidFill>
                <a:schemeClr val="accent4"/>
              </a:solidFill>
            </a:endParaRPr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Поисковики и нейросети фиксируют новый контент о вашем бизнесе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E845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FFFFFF"/>
                </a:solidFill>
                <a:latin typeface="MiSans"/>
                <a:ea typeface="MiSans"/>
              </a:rPr>
              <a:t>ДОВЕРИЕ И ПРОДАЖИ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9AA6D4"/>
                </a:solidFill>
                <a:latin typeface="MiSans"/>
                <a:ea typeface="MiSans"/>
              </a:rPr>
              <a:t>Гости находят вас, доверяют рекомендации нейросети и приходят в зал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E8453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121942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Система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работает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24/7: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вы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занимаетесь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гостями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—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Промптер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занимается</a:t>
            </a:r>
            <a:r>
              <a:rPr lang="en-US" sz="1400" b="1" dirty="0">
                <a:solidFill>
                  <a:schemeClr val="accent4"/>
                </a:solidFill>
                <a:latin typeface="MiSans"/>
                <a:ea typeface="MiSans"/>
              </a:rPr>
              <a:t> </a:t>
            </a:r>
            <a:r>
              <a:rPr lang="en-US" sz="1400" b="1" dirty="0" err="1">
                <a:solidFill>
                  <a:schemeClr val="accent4"/>
                </a:solidFill>
                <a:latin typeface="MiSans"/>
                <a:ea typeface="MiSans"/>
              </a:rPr>
              <a:t>продвижением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sh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dish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0C1030">
                  <a:alpha val="20000"/>
                </a:srgbClr>
              </a:gs>
              <a:gs pos="100000">
                <a:srgbClr val="0C1030">
                  <a:alpha val="94902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ДЛЯ ВАШЕГО БИЗНЕСА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Бизнес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Вас называют, когда гость спрашивает, где остановиться или поесть,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E8B54A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FFFF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95856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9AA6D4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75256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E8453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9AA6D4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64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45256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FFFFF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E8B54A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66056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9AA6D4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95856"/>
            <a:ext cx="12700" cy="38100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FFFFFF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Экспертный контент о кухне, номерах, сервисе и спецпредложениях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FFFFFF"/>
                </a:solidFill>
                <a:latin typeface="MiSans"/>
                <a:ea typeface="MiSans"/>
              </a:rPr>
              <a:t>6 площадок для публикаций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9AA6D4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242E63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53256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E845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53256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030"/>
            </a:gs>
            <a:gs pos="100000">
              <a:srgbClr val="131B4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9067800" y="304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9AA6D4"/>
                </a:solidFill>
                <a:latin typeface="MiSans"/>
                <a:ea typeface="MiSans"/>
              </a:rPr>
              <a:t>ПРОМПТЕР · HoReCa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FFFFFF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eyJpY29uTmFtZSI6ImZhczp1dGVuc2lscyJ9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14"/>
                </a:moveTo>
                <a:cubicBezTo>
                  <a:pt x="63" y="6"/>
                  <a:pt x="56" y="0"/>
                  <a:pt x="48" y="0"/>
                </a:cubicBezTo>
                <a:cubicBezTo>
                  <a:pt x="40" y="0"/>
                  <a:pt x="33" y="6"/>
                  <a:pt x="32" y="14"/>
                </a:cubicBezTo>
                <a:lnTo>
                  <a:pt x="18" y="150"/>
                </a:lnTo>
                <a:cubicBezTo>
                  <a:pt x="17" y="156"/>
                  <a:pt x="16" y="162"/>
                  <a:pt x="16" y="168"/>
                </a:cubicBezTo>
                <a:cubicBezTo>
                  <a:pt x="16" y="214"/>
                  <a:pt x="51" y="251"/>
                  <a:pt x="96" y="256"/>
                </a:cubicBezTo>
                <a:lnTo>
                  <a:pt x="96" y="480"/>
                </a:lnTo>
                <a:cubicBezTo>
                  <a:pt x="96" y="498"/>
                  <a:pt x="110" y="512"/>
                  <a:pt x="128" y="512"/>
                </a:cubicBezTo>
                <a:cubicBezTo>
                  <a:pt x="146" y="512"/>
                  <a:pt x="160" y="498"/>
                  <a:pt x="160" y="480"/>
                </a:cubicBezTo>
                <a:lnTo>
                  <a:pt x="160" y="256"/>
                </a:lnTo>
                <a:cubicBezTo>
                  <a:pt x="205" y="252"/>
                  <a:pt x="240" y="214"/>
                  <a:pt x="240" y="168"/>
                </a:cubicBezTo>
                <a:cubicBezTo>
                  <a:pt x="240" y="162"/>
                  <a:pt x="239" y="156"/>
                  <a:pt x="238" y="150"/>
                </a:cubicBezTo>
                <a:lnTo>
                  <a:pt x="224" y="14"/>
                </a:lnTo>
                <a:cubicBezTo>
                  <a:pt x="223" y="6"/>
                  <a:pt x="216" y="0"/>
                  <a:pt x="208" y="0"/>
                </a:cubicBezTo>
                <a:cubicBezTo>
                  <a:pt x="200" y="0"/>
                  <a:pt x="193" y="6"/>
                  <a:pt x="192" y="14"/>
                </a:cubicBezTo>
                <a:lnTo>
                  <a:pt x="179" y="150"/>
                </a:lnTo>
                <a:cubicBezTo>
                  <a:pt x="178" y="156"/>
                  <a:pt x="173" y="160"/>
                  <a:pt x="167" y="160"/>
                </a:cubicBezTo>
                <a:cubicBezTo>
                  <a:pt x="162" y="160"/>
                  <a:pt x="157" y="156"/>
                  <a:pt x="156" y="150"/>
                </a:cubicBezTo>
                <a:lnTo>
                  <a:pt x="144" y="15"/>
                </a:lnTo>
                <a:cubicBezTo>
                  <a:pt x="143" y="6"/>
                  <a:pt x="136" y="0"/>
                  <a:pt x="128" y="0"/>
                </a:cubicBezTo>
                <a:cubicBezTo>
                  <a:pt x="120" y="0"/>
                  <a:pt x="113" y="6"/>
                  <a:pt x="112" y="15"/>
                </a:cubicBezTo>
                <a:lnTo>
                  <a:pt x="100" y="150"/>
                </a:lnTo>
                <a:cubicBezTo>
                  <a:pt x="99" y="156"/>
                  <a:pt x="94" y="160"/>
                  <a:pt x="89" y="160"/>
                </a:cubicBezTo>
                <a:cubicBezTo>
                  <a:pt x="83" y="160"/>
                  <a:pt x="78" y="156"/>
                  <a:pt x="78" y="150"/>
                </a:cubicBezTo>
                <a:lnTo>
                  <a:pt x="64" y="14"/>
                </a:lnTo>
                <a:close/>
                <a:moveTo>
                  <a:pt x="448" y="0"/>
                </a:moveTo>
                <a:cubicBezTo>
                  <a:pt x="432" y="0"/>
                  <a:pt x="320" y="32"/>
                  <a:pt x="320" y="176"/>
                </a:cubicBezTo>
                <a:lnTo>
                  <a:pt x="320" y="288"/>
                </a:lnTo>
                <a:cubicBezTo>
                  <a:pt x="320" y="323"/>
                  <a:pt x="349" y="352"/>
                  <a:pt x="384" y="352"/>
                </a:cubicBezTo>
                <a:lnTo>
                  <a:pt x="416" y="352"/>
                </a:lnTo>
                <a:lnTo>
                  <a:pt x="416" y="480"/>
                </a:lnTo>
                <a:cubicBezTo>
                  <a:pt x="416" y="498"/>
                  <a:pt x="430" y="512"/>
                  <a:pt x="448" y="512"/>
                </a:cubicBezTo>
                <a:cubicBezTo>
                  <a:pt x="466" y="512"/>
                  <a:pt x="480" y="498"/>
                  <a:pt x="480" y="480"/>
                </a:cubicBezTo>
                <a:lnTo>
                  <a:pt x="480" y="32"/>
                </a:lnTo>
                <a:cubicBezTo>
                  <a:pt x="480" y="14"/>
                  <a:pt x="466" y="0"/>
                  <a:pt x="448" y="0"/>
                </a:cubicBezTo>
                <a:close/>
              </a:path>
            </a:pathLst>
          </a:custGeom>
          <a:solidFill>
            <a:srgbClr val="E8453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MiSans"/>
                <a:ea typeface="MiSans"/>
              </a:rPr>
              <a:t>Экспертиза в HoReCa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9AA6D4"/>
                </a:solidFill>
                <a:latin typeface="MiSans"/>
                <a:ea typeface="MiSans"/>
              </a:rPr>
              <a:t>Знаем специфику отелей, ресторанов и кафе — говорим с гостями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9AA6D4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141B45"/>
          </a:solidFill>
          <a:ln w="12700">
            <a:solidFill>
              <a:srgbClr val="242E63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FFFFFF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9AA6D4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FFFFFF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9AA6D4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943</Words>
  <Application>Microsoft Office PowerPoint</Application>
  <PresentationFormat>Широкоэкранный</PresentationFormat>
  <Paragraphs>154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HoReCa — GEO/SEO-продвижение</dc:title>
  <dc:subject>Промптер для HoReCa — GEO/SEO-продвижение</dc:subject>
  <dc:creator>Kimi</dc:creator>
  <cp:lastModifiedBy>Пупкин Толя</cp:lastModifiedBy>
  <cp:revision>4</cp:revision>
  <dcterms:modified xsi:type="dcterms:W3CDTF">2026-07-23T17:49:20Z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HoReCa — GEO/SEO-продвижение","ContentProducer":"001191110108MACG2KBH8F10000","ProduceID":"19f8fce5-3bc2-8667-8000-00008a4bb8cd","ReservedCode1":"","ContentPropagator":"001191110108MACG2KBH8F20000","PropagateID":"19f73adb-8c92-8708-8000-09088e4502a4","ReservedCode2":""}</vt:lpwstr>
  </property>
</Properties>
</file>