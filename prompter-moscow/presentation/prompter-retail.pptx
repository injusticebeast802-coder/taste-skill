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42"/>
    <a:srgbClr val="101D51"/>
    <a:srgbClr val="0D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retai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28">
                  <a:alpha val="96078"/>
                </a:srgbClr>
              </a:gs>
              <a:gs pos="55000">
                <a:srgbClr val="0A0E28">
                  <a:alpha val="85098"/>
                </a:srgbClr>
              </a:gs>
              <a:gs pos="100000">
                <a:srgbClr val="0A0E28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447800" y="711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FFFFF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47800" y="1066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A6D4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GEO- И SEO-ПРОДВИЖЕНИЕ ДЛЯ РОЗНИЦЫ И УСЛУГ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КОМПЛЕКСНОЕ GEO- И SEO-</a:t>
            </a:r>
            <a:endParaRPr lang="en-US" sz="3600"/>
          </a:p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ПРОДВИЖЕНИЕ РОЗНИЦЫ И УСЛУГ</a:t>
            </a:r>
            <a:r>
              <a:rPr lang="en-US" sz="3600" b="1">
                <a:solidFill>
                  <a:srgbClr val="E8453C"/>
                </a:solidFill>
                <a:latin typeface="MiSans"/>
                <a:ea typeface="MiSans"/>
              </a:rPr>
              <a:t/>
            </a:r>
            <a:endParaRPr lang="en-US" sz="3600"/>
          </a:p>
        </p:txBody>
      </p:sp>
      <p:sp>
        <p:nvSpPr>
          <p:cNvPr id="8" name="subtitle"/>
          <p:cNvSpPr txBox="1"/>
          <p:nvPr/>
        </p:nvSpPr>
        <p:spPr>
          <a:xfrm>
            <a:off x="711200" y="38608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9AA6D4"/>
                </a:solidFill>
                <a:latin typeface="MiSans"/>
                <a:ea typeface="MiSans"/>
              </a:rPr>
              <a:t>Делаем локальные магазины и сервисные компании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876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E8B54A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" y="631375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ПОЧЕМУ ЛОКАЛЬНЫЙ БИЗНЕС НЕ ДОБИВАЕТСЯ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Большинство локальных магазинов и сервисных компаний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Клиенты спрашивают у нейросети «где купить» или «кто починит» — и она называет конкурентов, а не вас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Владелец и продавцы заняты клиентами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5" name="conclusion-line"/>
          <p:cNvSpPr/>
          <p:nvPr/>
        </p:nvSpPr>
        <p:spPr>
          <a:xfrm>
            <a:off x="711200" y="57404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8453C"/>
                </a:solidFill>
                <a:latin typeface="MiSans"/>
                <a:ea typeface="MiSans"/>
              </a:rPr>
              <a:t>Вывод: бизнес теряет клиентов ещё до того, как они решили, куда пойти за покупкой или услугой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/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Отсутствие в ответах нейросетей напрямую влияет на продажи, поток клиентов и репутацию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Клиенты всё чаще спрашивают «где купить рядом» или «кому доверить ремонт»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Клиенты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Клиент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Рекомендация ИИ воспринимается как мнение эксперта — ей доверяют и следуют ей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Пока вас нет в ответах нейросети, конкуренты забирают ваших клиентов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0F1538"/>
          </a:solidFill>
          <a:ln w="19050">
            <a:solidFill>
              <a:srgbClr val="2A3570"/>
            </a:solidFill>
          </a:ln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FFFFFF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2E5CFF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Где купить и починить рядом с домом?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182050"/>
          </a:solidFill>
          <a:ln w="12700">
            <a:solidFill>
              <a:srgbClr val="28336B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Вот 3 места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1. Магазин «Соседи»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2. Сервис «Мастер рядом»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3. ______________</a:t>
            </a:r>
            <a:r>
              <a:rPr lang="en-US" sz="1150" b="1">
                <a:solidFill>
                  <a:srgbClr val="E8B54A"/>
                </a:solidFill>
                <a:latin typeface="MiSans"/>
                <a:ea typeface="MiSans"/>
              </a:rPr>
              <a:t/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место №3 может занять ваш бизнес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9AA6D4"/>
                </a:solidFill>
                <a:latin typeface="MiSans"/>
                <a:ea typeface="MiSans"/>
              </a:rPr>
              <a:t>Нейросеть уже отвечает клиентам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8453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локальные магазины и сервисные компании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6" name="uniq-text"/>
          <p:cNvSpPr txBox="1"/>
          <p:nvPr/>
        </p:nvSpPr>
        <p:spPr>
          <a:xfrm>
            <a:off x="711200" y="1612900"/>
            <a:ext cx="10769600" cy="431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8B54A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Создаёт тексты о товарах, услугах, ценах и акциях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Строит стратегию продвижения в нейровыдаче под нишу и формат вашего бизнеса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Анализирует конкурентов и клиентов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1018"/>
            </a:gs>
            <a:gs pos="50000">
              <a:srgbClr val="0C1030"/>
            </a:gs>
            <a:gs pos="100000">
              <a:srgbClr val="101F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ip2">
            <a:extLst>
              <a:ext uri="{FF2B5EF4-FFF2-40B4-BE49-F238E27FC236}">
                <a16:creationId xmlns:a16="http://schemas.microsoft.com/office/drawing/2014/main" id="{6D8A5F92-47B1-9B74-0214-A2D7F857B98B}"/>
              </a:ext>
            </a:extLst>
          </p:cNvPr>
          <p:cNvSpPr/>
          <p:nvPr/>
        </p:nvSpPr>
        <p:spPr>
          <a:xfrm>
            <a:off x="67183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FFFFF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 dirty="0"/>
          </a:p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E8453C"/>
                </a:solidFill>
                <a:latin typeface="MiSans"/>
                <a:ea typeface="MiSans"/>
              </a:rPr>
              <a:t>САМ ПУБЛИКУЕТ</a:t>
            </a:r>
            <a:endParaRPr lang="en-US" sz="3800" dirty="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D6DCF5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магазине или сервисе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8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9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0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1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2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13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4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5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7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chemeClr val="accent4"/>
                </a:solidFill>
                <a:latin typeface="MiSans"/>
                <a:ea typeface="MiSans"/>
              </a:rPr>
              <a:t>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chemeClr val="accent4"/>
                </a:solidFill>
                <a:latin typeface="MiSans"/>
                <a:ea typeface="MiSans"/>
              </a:rPr>
              <a:t>АВТОПУБЛИКАЦИЯ</a:t>
            </a:r>
            <a:endParaRPr lang="en-US" sz="1250" dirty="0">
              <a:solidFill>
                <a:schemeClr val="accent4"/>
              </a:solidFill>
            </a:endParaRPr>
          </a:p>
        </p:txBody>
      </p:sp>
      <p:sp>
        <p:nvSpPr>
          <p:cNvPr id="19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20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1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2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3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4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B0827C9-9925-874B-CE45-CCF3464F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3" y="1480058"/>
            <a:ext cx="2220674" cy="2391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 первого текста до клиентов у вашей двери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Платформа изучает ассортимент, услуги, цены и сервис,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chemeClr val="accent4"/>
                </a:solidFill>
                <a:latin typeface="MiSans"/>
                <a:ea typeface="MiSans"/>
              </a:rPr>
              <a:t>АВТО-ПУБЛИКАЦИЯ</a:t>
            </a:r>
            <a:endParaRPr lang="en-US" sz="1450" dirty="0">
              <a:solidFill>
                <a:schemeClr val="accent4"/>
              </a:solidFill>
            </a:endParaRPr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Поисковики и нейросети фиксируют новый контент о вашем бизнесе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Клиенты находят вас, доверяют рекомендации нейросети и приходят за покупкой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21942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Система работает 24/7: вы занимаетесь клиентами — Промптер занимается продвижением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sh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dish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C1030">
                  <a:alpha val="20000"/>
                </a:srgbClr>
              </a:gs>
              <a:gs pos="100000">
                <a:srgbClr val="0C1030">
                  <a:alpha val="9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ДЛЯ ВАШЕГО БИЗНЕСА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Бизнес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Вас называют, когда клиент спрашивает, где купить или кто окажет услугу,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95856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9AA6D4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75256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E8453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9AA6D4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64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45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66056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9AA6D4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95856"/>
            <a:ext cx="12700" cy="38100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FFFFF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Экспертный контент о товарах, услугах, ценах и акциях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6 площадок для автопубликации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53256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53256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РОЗНИЦА И УСЛУГИ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Экспертиза в рознице и услугах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Знаем специфику локальных магазинов и сервисных компаний — говорим с клиентами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FFFFF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943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HoReCa — GEO/SEO-продвижение</dc:title>
  <dc:subject>Промптер для HoReCa — GEO/SEO-продвижение</dc:subject>
  <dc:creator>Kimi</dc:creator>
  <cp:lastModifiedBy>Пупкин Толя</cp:lastModifiedBy>
  <cp:revision>4</cp:revision>
  <dcterms:modified xsi:type="dcterms:W3CDTF">2026-07-23T17:49:20Z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HoReCa — GEO/SEO-продвижение","ContentProducer":"001191110108MACG2KBH8F10000","ProduceID":"19f8fce5-3bc2-8667-8000-00008a4bb8cd","ReservedCode1":"","ContentPropagator":"001191110108MACG2KBH8F20000","PropagateID":"19f73adb-8c92-8708-8000-09088e4502a4","ReservedCode2":""}</vt:lpwstr>
  </property>
</Properties>
</file>