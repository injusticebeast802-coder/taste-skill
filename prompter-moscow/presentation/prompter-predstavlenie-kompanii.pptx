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12192000" cy="6858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90A0E"/>
    <a:srgbClr val="E8453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2" d="100"/>
          <a:sy n="112" d="100"/>
        </p:scale>
        <p:origin x="51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prompter-ai.moscow/zayavka?from=presentation" TargetMode="Externa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erlay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A0A0E">
                  <a:alpha val="92157"/>
                </a:srgbClr>
              </a:gs>
              <a:gs pos="50000">
                <a:srgbClr val="0A0A0E">
                  <a:alpha val="80000"/>
                </a:srgbClr>
              </a:gs>
              <a:gs pos="100000">
                <a:srgbClr val="0A0A0E">
                  <a:alpha val="20000"/>
                </a:srgbClr>
              </a:gs>
            </a:gsLst>
            <a:lin ang="0" scaled="1"/>
          </a:gra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4" name="brand"/>
          <p:cNvSpPr txBox="1"/>
          <p:nvPr/>
        </p:nvSpPr>
        <p:spPr>
          <a:xfrm>
            <a:off x="1422400" y="711200"/>
            <a:ext cx="330200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900" b="1" kern="0" spc="600">
                <a:solidFill>
                  <a:srgbClr val="F5F5F7"/>
                </a:solidFill>
                <a:latin typeface="MiSans"/>
                <a:ea typeface="MiSans"/>
              </a:rPr>
              <a:t>ПРОМПТЕР</a:t>
            </a:r>
            <a:endParaRPr lang="en-US" sz="1900"/>
          </a:p>
        </p:txBody>
      </p:sp>
      <p:sp>
        <p:nvSpPr>
          <p:cNvPr id="5" name="brand-sub"/>
          <p:cNvSpPr txBox="1"/>
          <p:nvPr/>
        </p:nvSpPr>
        <p:spPr>
          <a:xfrm>
            <a:off x="1422400" y="1066800"/>
            <a:ext cx="3810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900" kern="0" spc="200">
                <a:solidFill>
                  <a:srgbClr val="9A9AA8"/>
                </a:solidFill>
                <a:latin typeface="MiSans"/>
                <a:ea typeface="MiSans"/>
              </a:rPr>
              <a:t>AI-ПЛАТФОРМА ЦИФРОВОГО ПРОДВИЖЕНИЯ</a:t>
            </a:r>
            <a:endParaRPr lang="en-US" sz="900"/>
          </a:p>
        </p:txBody>
      </p:sp>
      <p:sp>
        <p:nvSpPr>
          <p:cNvPr id="6" name="kicker"/>
          <p:cNvSpPr txBox="1"/>
          <p:nvPr/>
        </p:nvSpPr>
        <p:spPr>
          <a:xfrm>
            <a:off x="711200" y="1790700"/>
            <a:ext cx="762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200" b="1" kern="0" spc="400" dirty="0">
                <a:solidFill>
                  <a:srgbClr val="E8453C"/>
                </a:solidFill>
                <a:latin typeface="MiSans"/>
                <a:ea typeface="MiSans"/>
              </a:rPr>
              <a:t>ПРЕДСТАВЛЕНИЕ КОМПАНИИ</a:t>
            </a:r>
            <a:endParaRPr lang="en-US" sz="1200" dirty="0"/>
          </a:p>
        </p:txBody>
      </p:sp>
      <p:sp>
        <p:nvSpPr>
          <p:cNvPr id="7" name="title"/>
          <p:cNvSpPr txBox="1"/>
          <p:nvPr/>
        </p:nvSpPr>
        <p:spPr>
          <a:xfrm>
            <a:off x="711200" y="2483502"/>
            <a:ext cx="8937475" cy="219221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ru-RU" sz="4000" b="1" dirty="0">
                <a:solidFill>
                  <a:srgbClr val="F5F5F7"/>
                </a:solidFill>
                <a:latin typeface="MiSans"/>
              </a:rPr>
              <a:t>Комплексное </a:t>
            </a:r>
            <a:r>
              <a:rPr lang="en-US" sz="4000" b="1" dirty="0">
                <a:solidFill>
                  <a:srgbClr val="F5F5F7"/>
                </a:solidFill>
                <a:latin typeface="MiSans"/>
              </a:rPr>
              <a:t>GEO- </a:t>
            </a:r>
            <a:r>
              <a:rPr lang="ru-RU" sz="4000" b="1" dirty="0">
                <a:solidFill>
                  <a:srgbClr val="F5F5F7"/>
                </a:solidFill>
                <a:latin typeface="MiSans"/>
              </a:rPr>
              <a:t>и </a:t>
            </a:r>
            <a:r>
              <a:rPr lang="en-US" sz="4000" b="1" dirty="0">
                <a:solidFill>
                  <a:srgbClr val="F5F5F7"/>
                </a:solidFill>
                <a:latin typeface="MiSans"/>
              </a:rPr>
              <a:t>SEO-</a:t>
            </a:r>
            <a:r>
              <a:rPr lang="ru-RU" sz="4000" b="1" dirty="0">
                <a:solidFill>
                  <a:srgbClr val="F5F5F7"/>
                </a:solidFill>
                <a:latin typeface="MiSans"/>
              </a:rPr>
              <a:t>продвижение бизнеса с сервисом </a:t>
            </a:r>
            <a:r>
              <a:rPr lang="ru-RU" sz="4000" b="1" dirty="0" err="1">
                <a:solidFill>
                  <a:srgbClr val="F5F5F7"/>
                </a:solidFill>
                <a:latin typeface="MiSans"/>
              </a:rPr>
              <a:t>Промптер</a:t>
            </a:r>
            <a:endParaRPr lang="ru-RU" sz="4000" b="1" dirty="0">
              <a:solidFill>
                <a:srgbClr val="F5F5F7"/>
              </a:solidFill>
              <a:latin typeface="MiSans"/>
            </a:endParaRPr>
          </a:p>
          <a:p>
            <a:pPr algn="l">
              <a:lnSpc>
                <a:spcPct val="120000"/>
              </a:lnSpc>
            </a:pPr>
            <a:endParaRPr lang="en-US" sz="4000" dirty="0"/>
          </a:p>
        </p:txBody>
      </p:sp>
      <p:sp>
        <p:nvSpPr>
          <p:cNvPr id="9" name="subtitle"/>
          <p:cNvSpPr txBox="1"/>
          <p:nvPr/>
        </p:nvSpPr>
        <p:spPr>
          <a:xfrm>
            <a:off x="711199" y="4419600"/>
            <a:ext cx="8458437" cy="99843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500" dirty="0" err="1">
                <a:solidFill>
                  <a:srgbClr val="9A9AA8"/>
                </a:solidFill>
                <a:latin typeface="MiSans"/>
                <a:ea typeface="MiSans"/>
              </a:rPr>
              <a:t>Промптер</a:t>
            </a:r>
            <a:r>
              <a:rPr lang="en-US" sz="1500" dirty="0">
                <a:solidFill>
                  <a:srgbClr val="9A9AA8"/>
                </a:solidFill>
                <a:latin typeface="MiSans"/>
                <a:ea typeface="MiSans"/>
              </a:rPr>
              <a:t> — </a:t>
            </a:r>
            <a:r>
              <a:rPr lang="en-US" sz="1500" dirty="0" err="1">
                <a:solidFill>
                  <a:srgbClr val="9A9AA8"/>
                </a:solidFill>
                <a:latin typeface="MiSans"/>
                <a:ea typeface="MiSans"/>
              </a:rPr>
              <a:t>автономная</a:t>
            </a:r>
            <a:r>
              <a:rPr lang="en-US" sz="15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500" dirty="0" err="1">
                <a:solidFill>
                  <a:srgbClr val="9A9AA8"/>
                </a:solidFill>
                <a:latin typeface="MiSans"/>
                <a:ea typeface="MiSans"/>
              </a:rPr>
              <a:t>платформа</a:t>
            </a:r>
            <a:r>
              <a:rPr lang="en-US" sz="1500" dirty="0">
                <a:solidFill>
                  <a:srgbClr val="9A9AA8"/>
                </a:solidFill>
                <a:latin typeface="MiSans"/>
                <a:ea typeface="MiSans"/>
              </a:rPr>
              <a:t> GEO- и SEO-</a:t>
            </a:r>
            <a:r>
              <a:rPr lang="en-US" sz="1500" dirty="0" err="1">
                <a:solidFill>
                  <a:srgbClr val="9A9AA8"/>
                </a:solidFill>
                <a:latin typeface="MiSans"/>
                <a:ea typeface="MiSans"/>
              </a:rPr>
              <a:t>продвижения</a:t>
            </a:r>
            <a:r>
              <a:rPr lang="en-US" sz="1500" dirty="0">
                <a:solidFill>
                  <a:srgbClr val="9A9AA8"/>
                </a:solidFill>
                <a:latin typeface="MiSans"/>
                <a:ea typeface="MiSans"/>
              </a:rPr>
              <a:t>: </a:t>
            </a:r>
            <a:r>
              <a:rPr lang="en-US" sz="1500" dirty="0" err="1">
                <a:solidFill>
                  <a:srgbClr val="9A9AA8"/>
                </a:solidFill>
                <a:latin typeface="MiSans"/>
                <a:ea typeface="MiSans"/>
              </a:rPr>
              <a:t>создаёт</a:t>
            </a:r>
            <a:r>
              <a:rPr lang="en-US" sz="15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500" dirty="0" err="1">
                <a:solidFill>
                  <a:srgbClr val="9A9AA8"/>
                </a:solidFill>
                <a:latin typeface="MiSans"/>
                <a:ea typeface="MiSans"/>
              </a:rPr>
              <a:t>контент</a:t>
            </a:r>
            <a:r>
              <a:rPr lang="en-US" sz="1500" dirty="0">
                <a:solidFill>
                  <a:srgbClr val="9A9AA8"/>
                </a:solidFill>
                <a:latin typeface="MiSans"/>
                <a:ea typeface="MiSans"/>
              </a:rPr>
              <a:t> о </a:t>
            </a:r>
            <a:r>
              <a:rPr lang="en-US" sz="1500" dirty="0" err="1">
                <a:solidFill>
                  <a:srgbClr val="9A9AA8"/>
                </a:solidFill>
                <a:latin typeface="MiSans"/>
                <a:ea typeface="MiSans"/>
              </a:rPr>
              <a:t>вашем</a:t>
            </a:r>
            <a:r>
              <a:rPr lang="en-US" sz="15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500" dirty="0" err="1">
                <a:solidFill>
                  <a:srgbClr val="9A9AA8"/>
                </a:solidFill>
                <a:latin typeface="MiSans"/>
                <a:ea typeface="MiSans"/>
              </a:rPr>
              <a:t>бизнесе</a:t>
            </a:r>
            <a:r>
              <a:rPr lang="en-US" sz="1500" dirty="0">
                <a:solidFill>
                  <a:srgbClr val="9A9AA8"/>
                </a:solidFill>
                <a:latin typeface="MiSans"/>
                <a:ea typeface="MiSans"/>
              </a:rPr>
              <a:t> и </a:t>
            </a:r>
            <a:r>
              <a:rPr lang="en-US" sz="1500" dirty="0" err="1">
                <a:solidFill>
                  <a:srgbClr val="9A9AA8"/>
                </a:solidFill>
                <a:latin typeface="MiSans"/>
                <a:ea typeface="MiSans"/>
              </a:rPr>
              <a:t>сама</a:t>
            </a:r>
            <a:r>
              <a:rPr lang="en-US" sz="15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500" dirty="0" err="1">
                <a:solidFill>
                  <a:srgbClr val="9A9AA8"/>
                </a:solidFill>
                <a:latin typeface="MiSans"/>
                <a:ea typeface="MiSans"/>
              </a:rPr>
              <a:t>публикует</a:t>
            </a:r>
            <a:r>
              <a:rPr lang="en-US" sz="15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500" dirty="0" err="1">
                <a:solidFill>
                  <a:srgbClr val="9A9AA8"/>
                </a:solidFill>
                <a:latin typeface="MiSans"/>
                <a:ea typeface="MiSans"/>
              </a:rPr>
              <a:t>его</a:t>
            </a:r>
            <a:r>
              <a:rPr lang="ru-RU" sz="1500" dirty="0">
                <a:solidFill>
                  <a:srgbClr val="9A9AA8"/>
                </a:solidFill>
                <a:latin typeface="MiSans"/>
                <a:ea typeface="MiSans"/>
              </a:rPr>
              <a:t>. </a:t>
            </a:r>
            <a:r>
              <a:rPr lang="ru-RU" sz="1500" dirty="0">
                <a:solidFill>
                  <a:srgbClr val="9A9AA8"/>
                </a:solidFill>
                <a:latin typeface="MiSans"/>
              </a:rPr>
              <a:t>Делаем ваш бизнес заметным в </a:t>
            </a:r>
            <a:r>
              <a:rPr lang="ru-RU" sz="1500" dirty="0" err="1">
                <a:solidFill>
                  <a:srgbClr val="9A9AA8"/>
                </a:solidFill>
                <a:latin typeface="MiSans"/>
              </a:rPr>
              <a:t>нейровыдаче</a:t>
            </a:r>
            <a:r>
              <a:rPr lang="ru-RU" sz="1500" dirty="0">
                <a:solidFill>
                  <a:srgbClr val="9A9AA8"/>
                </a:solidFill>
                <a:latin typeface="MiSans"/>
              </a:rPr>
              <a:t> </a:t>
            </a:r>
            <a:r>
              <a:rPr lang="ru-RU" sz="1500" dirty="0">
                <a:solidFill>
                  <a:srgbClr val="9A9AA8"/>
                </a:solidFill>
              </a:rPr>
              <a:t>и поисковых системах</a:t>
            </a:r>
            <a:endParaRPr lang="en-US" sz="1500" dirty="0">
              <a:solidFill>
                <a:srgbClr val="9A9AA8"/>
              </a:solidFill>
              <a:latin typeface="MiSans"/>
            </a:endParaRPr>
          </a:p>
        </p:txBody>
      </p:sp>
      <p:pic>
        <p:nvPicPr>
          <p:cNvPr id="13" name="Рисунок 12" descr="preview">
            <a:extLst>
              <a:ext uri="{FF2B5EF4-FFF2-40B4-BE49-F238E27FC236}">
                <a16:creationId xmlns:a16="http://schemas.microsoft.com/office/drawing/2014/main" id="{0608E8DD-4211-16CA-E499-FFFAE3068A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719" y="639292"/>
            <a:ext cx="774343" cy="833908"/>
          </a:xfrm>
          <a:prstGeom prst="rect">
            <a:avLst/>
          </a:prstGeom>
        </p:spPr>
      </p:pic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42D57932-6AD8-5817-EB54-9A01BC3F1837}"/>
              </a:ext>
            </a:extLst>
          </p:cNvPr>
          <p:cNvSpPr/>
          <p:nvPr/>
        </p:nvSpPr>
        <p:spPr>
          <a:xfrm>
            <a:off x="85458" y="6434983"/>
            <a:ext cx="774343" cy="308124"/>
          </a:xfrm>
          <a:prstGeom prst="rect">
            <a:avLst/>
          </a:prstGeom>
          <a:solidFill>
            <a:srgbClr val="090A0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  <p:transition>
    <p:checker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i-img"/>
          <p:cNvPicPr/>
          <p:nvPr/>
        </p:nvPicPr>
        <p:blipFill>
          <a:blip r:embed="rId2"/>
          <a:srcRect l="25309" r="25309"/>
          <a:stretch>
            <a:fillRect/>
          </a:stretch>
        </p:blipFill>
        <p:spPr>
          <a:xfrm>
            <a:off x="7112000" y="0"/>
            <a:ext cx="5080000" cy="6858000"/>
          </a:xfrm>
          <a:prstGeom prst="rect">
            <a:avLst/>
          </a:prstGeom>
          <a:ln>
            <a:noFill/>
          </a:ln>
        </p:spPr>
      </p:pic>
      <p:sp>
        <p:nvSpPr>
          <p:cNvPr id="3" name="ai-overlay"/>
          <p:cNvSpPr/>
          <p:nvPr/>
        </p:nvSpPr>
        <p:spPr>
          <a:xfrm>
            <a:off x="7112000" y="0"/>
            <a:ext cx="5080000" cy="6858000"/>
          </a:xfrm>
          <a:prstGeom prst="rect">
            <a:avLst/>
          </a:prstGeom>
          <a:gradFill rotWithShape="1">
            <a:gsLst>
              <a:gs pos="0">
                <a:srgbClr val="0A0A0E">
                  <a:alpha val="94902"/>
                </a:srgbClr>
              </a:gs>
              <a:gs pos="50000">
                <a:srgbClr val="0A0A0E">
                  <a:alpha val="40000"/>
                </a:srgbClr>
              </a:gs>
              <a:gs pos="100000">
                <a:srgbClr val="0A0A0E">
                  <a:alpha val="0"/>
                </a:srgbClr>
              </a:gs>
            </a:gsLst>
            <a:lin ang="0" scaled="1"/>
          </a:gra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4" name="brandmark"/>
          <p:cNvSpPr txBox="1"/>
          <p:nvPr/>
        </p:nvSpPr>
        <p:spPr>
          <a:xfrm>
            <a:off x="711200" y="304800"/>
            <a:ext cx="2667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900" b="1" kern="0" spc="300">
                <a:solidFill>
                  <a:srgbClr val="9A9AA8"/>
                </a:solidFill>
                <a:latin typeface="MiSans"/>
                <a:ea typeface="MiSans"/>
              </a:rPr>
              <a:t>ПРОМПТЕР · О КОМПАНИИ</a:t>
            </a:r>
            <a:endParaRPr lang="en-US" sz="900"/>
          </a:p>
        </p:txBody>
      </p:sp>
      <p:sp>
        <p:nvSpPr>
          <p:cNvPr id="5" name="title"/>
          <p:cNvSpPr txBox="1"/>
          <p:nvPr/>
        </p:nvSpPr>
        <p:spPr>
          <a:xfrm>
            <a:off x="711200" y="812800"/>
            <a:ext cx="59690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2000"/>
              </a:lnSpc>
            </a:pPr>
            <a:r>
              <a:rPr lang="ru-RU" sz="2700" b="1" dirty="0">
                <a:solidFill>
                  <a:srgbClr val="C00000"/>
                </a:solidFill>
                <a:latin typeface="MiSans"/>
                <a:ea typeface="MiSans"/>
              </a:rPr>
              <a:t>О</a:t>
            </a:r>
            <a:r>
              <a:rPr lang="ru-RU" sz="2700" b="1" dirty="0">
                <a:solidFill>
                  <a:srgbClr val="F5F5F7"/>
                </a:solidFill>
                <a:latin typeface="MiSans"/>
                <a:ea typeface="MiSans"/>
              </a:rPr>
              <a:t> КОМПАНИИ</a:t>
            </a:r>
            <a:endParaRPr lang="en-US" sz="2700" dirty="0"/>
          </a:p>
        </p:txBody>
      </p:sp>
      <p:sp>
        <p:nvSpPr>
          <p:cNvPr id="6" name="title-rule"/>
          <p:cNvSpPr/>
          <p:nvPr/>
        </p:nvSpPr>
        <p:spPr>
          <a:xfrm>
            <a:off x="711200" y="1778000"/>
            <a:ext cx="609600" cy="25400"/>
          </a:xfrm>
          <a:prstGeom prst="rect">
            <a:avLst/>
          </a:prstGeom>
          <a:solidFill>
            <a:srgbClr val="3D6BFF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7" name="body"/>
          <p:cNvSpPr txBox="1"/>
          <p:nvPr/>
        </p:nvSpPr>
        <p:spPr>
          <a:xfrm>
            <a:off x="711200" y="2006600"/>
            <a:ext cx="5969000" cy="149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350" dirty="0" err="1">
                <a:solidFill>
                  <a:srgbClr val="C9C9D4"/>
                </a:solidFill>
                <a:latin typeface="MiSans"/>
                <a:ea typeface="MiSans"/>
              </a:rPr>
              <a:t>Промптер</a:t>
            </a:r>
            <a:r>
              <a:rPr lang="en-US" sz="1350" dirty="0">
                <a:solidFill>
                  <a:srgbClr val="C9C9D4"/>
                </a:solidFill>
                <a:latin typeface="MiSans"/>
                <a:ea typeface="MiSans"/>
              </a:rPr>
              <a:t> — </a:t>
            </a:r>
            <a:r>
              <a:rPr lang="en-US" sz="1350" dirty="0" err="1">
                <a:solidFill>
                  <a:srgbClr val="C9C9D4"/>
                </a:solidFill>
                <a:latin typeface="MiSans"/>
                <a:ea typeface="MiSans"/>
              </a:rPr>
              <a:t>технологическая</a:t>
            </a:r>
            <a:r>
              <a:rPr lang="en-US" sz="1350" dirty="0">
                <a:solidFill>
                  <a:srgbClr val="C9C9D4"/>
                </a:solidFill>
                <a:latin typeface="MiSans"/>
                <a:ea typeface="MiSans"/>
              </a:rPr>
              <a:t> </a:t>
            </a:r>
            <a:r>
              <a:rPr lang="en-US" sz="1350" dirty="0" err="1">
                <a:solidFill>
                  <a:srgbClr val="C9C9D4"/>
                </a:solidFill>
                <a:latin typeface="MiSans"/>
                <a:ea typeface="MiSans"/>
              </a:rPr>
              <a:t>компания</a:t>
            </a:r>
            <a:r>
              <a:rPr lang="en-US" sz="1350" dirty="0">
                <a:solidFill>
                  <a:srgbClr val="C9C9D4"/>
                </a:solidFill>
                <a:latin typeface="MiSans"/>
                <a:ea typeface="MiSans"/>
              </a:rPr>
              <a:t> </a:t>
            </a:r>
            <a:r>
              <a:rPr lang="en-US" sz="1350" dirty="0" err="1">
                <a:solidFill>
                  <a:srgbClr val="C9C9D4"/>
                </a:solidFill>
                <a:latin typeface="MiSans"/>
                <a:ea typeface="MiSans"/>
              </a:rPr>
              <a:t>на</a:t>
            </a:r>
            <a:r>
              <a:rPr lang="en-US" sz="1350" dirty="0">
                <a:solidFill>
                  <a:srgbClr val="C9C9D4"/>
                </a:solidFill>
                <a:latin typeface="MiSans"/>
                <a:ea typeface="MiSans"/>
              </a:rPr>
              <a:t> </a:t>
            </a:r>
            <a:r>
              <a:rPr lang="en-US" sz="1350" dirty="0" err="1">
                <a:solidFill>
                  <a:srgbClr val="C9C9D4"/>
                </a:solidFill>
                <a:latin typeface="MiSans"/>
                <a:ea typeface="MiSans"/>
              </a:rPr>
              <a:t>стыке</a:t>
            </a:r>
            <a:r>
              <a:rPr lang="en-US" sz="1350" dirty="0">
                <a:solidFill>
                  <a:srgbClr val="C9C9D4"/>
                </a:solidFill>
                <a:latin typeface="MiSans"/>
                <a:ea typeface="MiSans"/>
              </a:rPr>
              <a:t> </a:t>
            </a:r>
            <a:r>
              <a:rPr lang="en-US" sz="1350" dirty="0" err="1">
                <a:solidFill>
                  <a:srgbClr val="C9C9D4"/>
                </a:solidFill>
                <a:latin typeface="MiSans"/>
                <a:ea typeface="MiSans"/>
              </a:rPr>
              <a:t>искусственного</a:t>
            </a:r>
            <a:r>
              <a:rPr lang="en-US" sz="1350" dirty="0">
                <a:solidFill>
                  <a:srgbClr val="C9C9D4"/>
                </a:solidFill>
                <a:latin typeface="MiSans"/>
                <a:ea typeface="MiSans"/>
              </a:rPr>
              <a:t> </a:t>
            </a:r>
            <a:r>
              <a:rPr lang="en-US" sz="1350" dirty="0" err="1">
                <a:solidFill>
                  <a:srgbClr val="C9C9D4"/>
                </a:solidFill>
                <a:latin typeface="MiSans"/>
                <a:ea typeface="MiSans"/>
              </a:rPr>
              <a:t>интеллекта</a:t>
            </a:r>
            <a:r>
              <a:rPr lang="en-US" sz="1350" dirty="0">
                <a:solidFill>
                  <a:srgbClr val="C9C9D4"/>
                </a:solidFill>
                <a:latin typeface="MiSans"/>
                <a:ea typeface="MiSans"/>
              </a:rPr>
              <a:t> и </a:t>
            </a:r>
            <a:r>
              <a:rPr lang="en-US" sz="1350" dirty="0" err="1">
                <a:solidFill>
                  <a:srgbClr val="C9C9D4"/>
                </a:solidFill>
                <a:latin typeface="MiSans"/>
                <a:ea typeface="MiSans"/>
              </a:rPr>
              <a:t>маркетинга</a:t>
            </a:r>
            <a:r>
              <a:rPr lang="en-US" sz="1350" dirty="0">
                <a:solidFill>
                  <a:srgbClr val="C9C9D4"/>
                </a:solidFill>
                <a:latin typeface="MiSans"/>
                <a:ea typeface="MiSans"/>
              </a:rPr>
              <a:t>. </a:t>
            </a:r>
            <a:r>
              <a:rPr lang="en-US" sz="1350" dirty="0" err="1">
                <a:solidFill>
                  <a:srgbClr val="C9C9D4"/>
                </a:solidFill>
                <a:latin typeface="MiSans"/>
                <a:ea typeface="MiSans"/>
              </a:rPr>
              <a:t>Мы</a:t>
            </a:r>
            <a:r>
              <a:rPr lang="en-US" sz="1350" dirty="0">
                <a:solidFill>
                  <a:srgbClr val="C9C9D4"/>
                </a:solidFill>
                <a:latin typeface="MiSans"/>
                <a:ea typeface="MiSans"/>
              </a:rPr>
              <a:t> </a:t>
            </a:r>
            <a:r>
              <a:rPr lang="en-US" sz="1350" dirty="0" err="1">
                <a:solidFill>
                  <a:srgbClr val="C9C9D4"/>
                </a:solidFill>
                <a:latin typeface="MiSans"/>
                <a:ea typeface="MiSans"/>
              </a:rPr>
              <a:t>создали</a:t>
            </a:r>
            <a:r>
              <a:rPr lang="en-US" sz="1350" dirty="0">
                <a:solidFill>
                  <a:srgbClr val="C9C9D4"/>
                </a:solidFill>
                <a:latin typeface="MiSans"/>
                <a:ea typeface="MiSans"/>
              </a:rPr>
              <a:t> </a:t>
            </a:r>
            <a:r>
              <a:rPr lang="en-US" sz="1350" dirty="0" err="1">
                <a:solidFill>
                  <a:srgbClr val="C9C9D4"/>
                </a:solidFill>
                <a:latin typeface="MiSans"/>
                <a:ea typeface="MiSans"/>
              </a:rPr>
              <a:t>автономную</a:t>
            </a:r>
            <a:r>
              <a:rPr lang="en-US" sz="1350" dirty="0">
                <a:solidFill>
                  <a:srgbClr val="C9C9D4"/>
                </a:solidFill>
                <a:latin typeface="MiSans"/>
                <a:ea typeface="MiSans"/>
              </a:rPr>
              <a:t> </a:t>
            </a:r>
            <a:r>
              <a:rPr lang="en-US" sz="1350" dirty="0" err="1">
                <a:solidFill>
                  <a:srgbClr val="C9C9D4"/>
                </a:solidFill>
                <a:latin typeface="MiSans"/>
                <a:ea typeface="MiSans"/>
              </a:rPr>
              <a:t>платформу</a:t>
            </a:r>
            <a:r>
              <a:rPr lang="en-US" sz="1350" dirty="0">
                <a:solidFill>
                  <a:srgbClr val="C9C9D4"/>
                </a:solidFill>
                <a:latin typeface="MiSans"/>
                <a:ea typeface="MiSans"/>
              </a:rPr>
              <a:t> </a:t>
            </a:r>
            <a:r>
              <a:rPr lang="en-US" sz="1350" dirty="0" err="1">
                <a:solidFill>
                  <a:srgbClr val="C9C9D4"/>
                </a:solidFill>
                <a:latin typeface="MiSans"/>
                <a:ea typeface="MiSans"/>
              </a:rPr>
              <a:t>цифрового</a:t>
            </a:r>
            <a:r>
              <a:rPr lang="en-US" sz="1350" dirty="0">
                <a:solidFill>
                  <a:srgbClr val="C9C9D4"/>
                </a:solidFill>
                <a:latin typeface="MiSans"/>
                <a:ea typeface="MiSans"/>
              </a:rPr>
              <a:t> </a:t>
            </a:r>
            <a:r>
              <a:rPr lang="en-US" sz="1350" dirty="0" err="1">
                <a:solidFill>
                  <a:srgbClr val="C9C9D4"/>
                </a:solidFill>
                <a:latin typeface="MiSans"/>
                <a:ea typeface="MiSans"/>
              </a:rPr>
              <a:t>продвижения</a:t>
            </a:r>
            <a:r>
              <a:rPr lang="en-US" sz="1350" dirty="0">
                <a:solidFill>
                  <a:srgbClr val="C9C9D4"/>
                </a:solidFill>
                <a:latin typeface="MiSans"/>
                <a:ea typeface="MiSans"/>
              </a:rPr>
              <a:t>, </a:t>
            </a:r>
            <a:r>
              <a:rPr lang="en-US" sz="1350" dirty="0" err="1">
                <a:solidFill>
                  <a:srgbClr val="C9C9D4"/>
                </a:solidFill>
                <a:latin typeface="MiSans"/>
                <a:ea typeface="MiSans"/>
              </a:rPr>
              <a:t>которая</a:t>
            </a:r>
            <a:r>
              <a:rPr lang="en-US" sz="1350" dirty="0">
                <a:solidFill>
                  <a:srgbClr val="C9C9D4"/>
                </a:solidFill>
                <a:latin typeface="MiSans"/>
                <a:ea typeface="MiSans"/>
              </a:rPr>
              <a:t> </a:t>
            </a:r>
            <a:r>
              <a:rPr lang="en-US" sz="1350" dirty="0" err="1">
                <a:solidFill>
                  <a:srgbClr val="C9C9D4"/>
                </a:solidFill>
                <a:latin typeface="MiSans"/>
                <a:ea typeface="MiSans"/>
              </a:rPr>
              <a:t>берёт</a:t>
            </a:r>
            <a:r>
              <a:rPr lang="en-US" sz="1350" dirty="0">
                <a:solidFill>
                  <a:srgbClr val="C9C9D4"/>
                </a:solidFill>
                <a:latin typeface="MiSans"/>
                <a:ea typeface="MiSans"/>
              </a:rPr>
              <a:t> </a:t>
            </a:r>
            <a:r>
              <a:rPr lang="en-US" sz="1350" dirty="0" err="1">
                <a:solidFill>
                  <a:srgbClr val="C9C9D4"/>
                </a:solidFill>
                <a:latin typeface="MiSans"/>
                <a:ea typeface="MiSans"/>
              </a:rPr>
              <a:t>на</a:t>
            </a:r>
            <a:r>
              <a:rPr lang="en-US" sz="1350" dirty="0">
                <a:solidFill>
                  <a:srgbClr val="C9C9D4"/>
                </a:solidFill>
                <a:latin typeface="MiSans"/>
                <a:ea typeface="MiSans"/>
              </a:rPr>
              <a:t> </a:t>
            </a:r>
            <a:r>
              <a:rPr lang="en-US" sz="1350" dirty="0" err="1">
                <a:solidFill>
                  <a:srgbClr val="C9C9D4"/>
                </a:solidFill>
                <a:latin typeface="MiSans"/>
                <a:ea typeface="MiSans"/>
              </a:rPr>
              <a:t>себя</a:t>
            </a:r>
            <a:r>
              <a:rPr lang="en-US" sz="1350" dirty="0">
                <a:solidFill>
                  <a:srgbClr val="C9C9D4"/>
                </a:solidFill>
                <a:latin typeface="MiSans"/>
                <a:ea typeface="MiSans"/>
              </a:rPr>
              <a:t> </a:t>
            </a:r>
            <a:r>
              <a:rPr lang="en-US" sz="1350" dirty="0" err="1">
                <a:solidFill>
                  <a:srgbClr val="C9C9D4"/>
                </a:solidFill>
                <a:latin typeface="MiSans"/>
                <a:ea typeface="MiSans"/>
              </a:rPr>
              <a:t>весь</a:t>
            </a:r>
            <a:r>
              <a:rPr lang="en-US" sz="1350" dirty="0">
                <a:solidFill>
                  <a:srgbClr val="C9C9D4"/>
                </a:solidFill>
                <a:latin typeface="MiSans"/>
                <a:ea typeface="MiSans"/>
              </a:rPr>
              <a:t> </a:t>
            </a:r>
            <a:r>
              <a:rPr lang="en-US" sz="1350" dirty="0" err="1">
                <a:solidFill>
                  <a:srgbClr val="C9C9D4"/>
                </a:solidFill>
                <a:latin typeface="MiSans"/>
                <a:ea typeface="MiSans"/>
              </a:rPr>
              <a:t>цикл</a:t>
            </a:r>
            <a:r>
              <a:rPr lang="en-US" sz="1350" dirty="0">
                <a:solidFill>
                  <a:srgbClr val="C9C9D4"/>
                </a:solidFill>
                <a:latin typeface="MiSans"/>
                <a:ea typeface="MiSans"/>
              </a:rPr>
              <a:t> </a:t>
            </a:r>
            <a:r>
              <a:rPr lang="en-US" sz="1350" dirty="0" err="1">
                <a:solidFill>
                  <a:srgbClr val="C9C9D4"/>
                </a:solidFill>
                <a:latin typeface="MiSans"/>
                <a:ea typeface="MiSans"/>
              </a:rPr>
              <a:t>работы</a:t>
            </a:r>
            <a:r>
              <a:rPr lang="en-US" sz="1350" dirty="0">
                <a:solidFill>
                  <a:srgbClr val="C9C9D4"/>
                </a:solidFill>
                <a:latin typeface="MiSans"/>
                <a:ea typeface="MiSans"/>
              </a:rPr>
              <a:t> с </a:t>
            </a:r>
            <a:r>
              <a:rPr lang="en-US" sz="1350" dirty="0" err="1">
                <a:solidFill>
                  <a:srgbClr val="C9C9D4"/>
                </a:solidFill>
                <a:latin typeface="MiSans"/>
                <a:ea typeface="MiSans"/>
              </a:rPr>
              <a:t>контентом</a:t>
            </a:r>
            <a:r>
              <a:rPr lang="en-US" sz="1350" dirty="0">
                <a:solidFill>
                  <a:srgbClr val="C9C9D4"/>
                </a:solidFill>
                <a:latin typeface="MiSans"/>
                <a:ea typeface="MiSans"/>
              </a:rPr>
              <a:t> — </a:t>
            </a:r>
            <a:r>
              <a:rPr lang="en-US" sz="1350" dirty="0" err="1">
                <a:solidFill>
                  <a:srgbClr val="C9C9D4"/>
                </a:solidFill>
                <a:latin typeface="MiSans"/>
                <a:ea typeface="MiSans"/>
              </a:rPr>
              <a:t>от</a:t>
            </a:r>
            <a:r>
              <a:rPr lang="en-US" sz="1350" dirty="0">
                <a:solidFill>
                  <a:srgbClr val="C9C9D4"/>
                </a:solidFill>
                <a:latin typeface="MiSans"/>
                <a:ea typeface="MiSans"/>
              </a:rPr>
              <a:t> </a:t>
            </a:r>
            <a:r>
              <a:rPr lang="en-US" sz="1350" dirty="0" err="1">
                <a:solidFill>
                  <a:srgbClr val="C9C9D4"/>
                </a:solidFill>
                <a:latin typeface="MiSans"/>
                <a:ea typeface="MiSans"/>
              </a:rPr>
              <a:t>идеи</a:t>
            </a:r>
            <a:r>
              <a:rPr lang="en-US" sz="1350" dirty="0">
                <a:solidFill>
                  <a:srgbClr val="C9C9D4"/>
                </a:solidFill>
                <a:latin typeface="MiSans"/>
                <a:ea typeface="MiSans"/>
              </a:rPr>
              <a:t> </a:t>
            </a:r>
            <a:r>
              <a:rPr lang="en-US" sz="1350" dirty="0" err="1">
                <a:solidFill>
                  <a:srgbClr val="C9C9D4"/>
                </a:solidFill>
                <a:latin typeface="MiSans"/>
                <a:ea typeface="MiSans"/>
              </a:rPr>
              <a:t>до</a:t>
            </a:r>
            <a:r>
              <a:rPr lang="en-US" sz="1350" dirty="0">
                <a:solidFill>
                  <a:srgbClr val="C9C9D4"/>
                </a:solidFill>
                <a:latin typeface="MiSans"/>
                <a:ea typeface="MiSans"/>
              </a:rPr>
              <a:t> </a:t>
            </a:r>
            <a:r>
              <a:rPr lang="en-US" sz="1350" dirty="0" err="1">
                <a:solidFill>
                  <a:srgbClr val="C9C9D4"/>
                </a:solidFill>
                <a:latin typeface="MiSans"/>
                <a:ea typeface="MiSans"/>
              </a:rPr>
              <a:t>публикации</a:t>
            </a:r>
            <a:r>
              <a:rPr lang="en-US" sz="1350" dirty="0">
                <a:solidFill>
                  <a:srgbClr val="C9C9D4"/>
                </a:solidFill>
                <a:latin typeface="MiSans"/>
                <a:ea typeface="MiSans"/>
              </a:rPr>
              <a:t>.</a:t>
            </a:r>
            <a:endParaRPr lang="en-US" sz="1350" dirty="0"/>
          </a:p>
        </p:txBody>
      </p:sp>
      <p:sp>
        <p:nvSpPr>
          <p:cNvPr id="8" name="f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eyJpY29uTmFtZSI6ImZhczpyb2JvdCJ9</pptd:icon>
              </p:ext>
            </p:extLst>
          </p:nvPr>
        </p:nvSpPr>
        <p:spPr>
          <a:xfrm>
            <a:off x="711200" y="38100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640" h="512">
                <a:moveTo>
                  <a:pt x="352" y="0"/>
                </a:moveTo>
                <a:cubicBezTo>
                  <a:pt x="352" y="-18"/>
                  <a:pt x="338" y="-32"/>
                  <a:pt x="320" y="-32"/>
                </a:cubicBezTo>
                <a:cubicBezTo>
                  <a:pt x="302" y="-32"/>
                  <a:pt x="288" y="-18"/>
                  <a:pt x="288" y="0"/>
                </a:cubicBezTo>
                <a:lnTo>
                  <a:pt x="288" y="64"/>
                </a:lnTo>
                <a:lnTo>
                  <a:pt x="192" y="64"/>
                </a:lnTo>
                <a:cubicBezTo>
                  <a:pt x="139" y="64"/>
                  <a:pt x="96" y="107"/>
                  <a:pt x="96" y="160"/>
                </a:cubicBezTo>
                <a:lnTo>
                  <a:pt x="96" y="384"/>
                </a:lnTo>
                <a:cubicBezTo>
                  <a:pt x="96" y="437"/>
                  <a:pt x="139" y="480"/>
                  <a:pt x="192" y="480"/>
                </a:cubicBezTo>
                <a:lnTo>
                  <a:pt x="448" y="480"/>
                </a:lnTo>
                <a:cubicBezTo>
                  <a:pt x="501" y="480"/>
                  <a:pt x="544" y="437"/>
                  <a:pt x="544" y="384"/>
                </a:cubicBezTo>
                <a:lnTo>
                  <a:pt x="544" y="160"/>
                </a:lnTo>
                <a:cubicBezTo>
                  <a:pt x="544" y="107"/>
                  <a:pt x="501" y="64"/>
                  <a:pt x="448" y="64"/>
                </a:cubicBezTo>
                <a:lnTo>
                  <a:pt x="352" y="64"/>
                </a:lnTo>
                <a:lnTo>
                  <a:pt x="352" y="0"/>
                </a:lnTo>
                <a:close/>
                <a:moveTo>
                  <a:pt x="160" y="368"/>
                </a:moveTo>
                <a:cubicBezTo>
                  <a:pt x="160" y="355"/>
                  <a:pt x="171" y="344"/>
                  <a:pt x="184" y="344"/>
                </a:cubicBezTo>
                <a:lnTo>
                  <a:pt x="216" y="344"/>
                </a:lnTo>
                <a:cubicBezTo>
                  <a:pt x="229" y="344"/>
                  <a:pt x="240" y="355"/>
                  <a:pt x="240" y="368"/>
                </a:cubicBezTo>
                <a:cubicBezTo>
                  <a:pt x="240" y="381"/>
                  <a:pt x="229" y="392"/>
                  <a:pt x="216" y="392"/>
                </a:cubicBezTo>
                <a:lnTo>
                  <a:pt x="184" y="392"/>
                </a:lnTo>
                <a:cubicBezTo>
                  <a:pt x="171" y="392"/>
                  <a:pt x="160" y="381"/>
                  <a:pt x="160" y="368"/>
                </a:cubicBezTo>
                <a:close/>
                <a:moveTo>
                  <a:pt x="280" y="368"/>
                </a:moveTo>
                <a:cubicBezTo>
                  <a:pt x="280" y="355"/>
                  <a:pt x="291" y="344"/>
                  <a:pt x="304" y="344"/>
                </a:cubicBezTo>
                <a:lnTo>
                  <a:pt x="336" y="344"/>
                </a:lnTo>
                <a:cubicBezTo>
                  <a:pt x="349" y="344"/>
                  <a:pt x="360" y="355"/>
                  <a:pt x="360" y="368"/>
                </a:cubicBezTo>
                <a:cubicBezTo>
                  <a:pt x="360" y="381"/>
                  <a:pt x="349" y="392"/>
                  <a:pt x="336" y="392"/>
                </a:cubicBezTo>
                <a:lnTo>
                  <a:pt x="304" y="392"/>
                </a:lnTo>
                <a:cubicBezTo>
                  <a:pt x="291" y="392"/>
                  <a:pt x="280" y="381"/>
                  <a:pt x="280" y="368"/>
                </a:cubicBezTo>
                <a:close/>
                <a:moveTo>
                  <a:pt x="400" y="368"/>
                </a:moveTo>
                <a:cubicBezTo>
                  <a:pt x="400" y="355"/>
                  <a:pt x="411" y="344"/>
                  <a:pt x="424" y="344"/>
                </a:cubicBezTo>
                <a:lnTo>
                  <a:pt x="456" y="344"/>
                </a:lnTo>
                <a:cubicBezTo>
                  <a:pt x="469" y="344"/>
                  <a:pt x="480" y="355"/>
                  <a:pt x="480" y="368"/>
                </a:cubicBezTo>
                <a:cubicBezTo>
                  <a:pt x="480" y="381"/>
                  <a:pt x="469" y="392"/>
                  <a:pt x="456" y="392"/>
                </a:cubicBezTo>
                <a:lnTo>
                  <a:pt x="424" y="392"/>
                </a:lnTo>
                <a:cubicBezTo>
                  <a:pt x="411" y="392"/>
                  <a:pt x="400" y="381"/>
                  <a:pt x="400" y="368"/>
                </a:cubicBezTo>
                <a:close/>
                <a:moveTo>
                  <a:pt x="224" y="176"/>
                </a:moveTo>
                <a:cubicBezTo>
                  <a:pt x="251" y="176"/>
                  <a:pt x="272" y="197"/>
                  <a:pt x="272" y="224"/>
                </a:cubicBezTo>
                <a:cubicBezTo>
                  <a:pt x="272" y="251"/>
                  <a:pt x="251" y="272"/>
                  <a:pt x="224" y="272"/>
                </a:cubicBezTo>
                <a:cubicBezTo>
                  <a:pt x="197" y="272"/>
                  <a:pt x="176" y="251"/>
                  <a:pt x="176" y="224"/>
                </a:cubicBezTo>
                <a:cubicBezTo>
                  <a:pt x="176" y="197"/>
                  <a:pt x="197" y="176"/>
                  <a:pt x="224" y="176"/>
                </a:cubicBezTo>
                <a:close/>
                <a:moveTo>
                  <a:pt x="368" y="224"/>
                </a:moveTo>
                <a:cubicBezTo>
                  <a:pt x="368" y="197"/>
                  <a:pt x="389" y="176"/>
                  <a:pt x="416" y="176"/>
                </a:cubicBezTo>
                <a:cubicBezTo>
                  <a:pt x="443" y="176"/>
                  <a:pt x="464" y="197"/>
                  <a:pt x="464" y="224"/>
                </a:cubicBezTo>
                <a:cubicBezTo>
                  <a:pt x="464" y="251"/>
                  <a:pt x="443" y="272"/>
                  <a:pt x="416" y="272"/>
                </a:cubicBezTo>
                <a:cubicBezTo>
                  <a:pt x="389" y="272"/>
                  <a:pt x="368" y="251"/>
                  <a:pt x="368" y="224"/>
                </a:cubicBezTo>
                <a:close/>
              </a:path>
              <a:path w="640" h="512">
                <a:moveTo>
                  <a:pt x="64" y="224"/>
                </a:moveTo>
                <a:cubicBezTo>
                  <a:pt x="64" y="206"/>
                  <a:pt x="50" y="192"/>
                  <a:pt x="32" y="192"/>
                </a:cubicBezTo>
                <a:cubicBezTo>
                  <a:pt x="14" y="192"/>
                  <a:pt x="0" y="206"/>
                  <a:pt x="0" y="224"/>
                </a:cubicBezTo>
                <a:lnTo>
                  <a:pt x="0" y="320"/>
                </a:lnTo>
                <a:cubicBezTo>
                  <a:pt x="0" y="338"/>
                  <a:pt x="14" y="352"/>
                  <a:pt x="32" y="352"/>
                </a:cubicBezTo>
                <a:cubicBezTo>
                  <a:pt x="50" y="352"/>
                  <a:pt x="64" y="338"/>
                  <a:pt x="64" y="320"/>
                </a:cubicBezTo>
                <a:lnTo>
                  <a:pt x="64" y="224"/>
                </a:lnTo>
                <a:close/>
              </a:path>
              <a:path w="640" h="512">
                <a:moveTo>
                  <a:pt x="608" y="192"/>
                </a:moveTo>
                <a:cubicBezTo>
                  <a:pt x="590" y="192"/>
                  <a:pt x="576" y="206"/>
                  <a:pt x="576" y="224"/>
                </a:cubicBezTo>
                <a:lnTo>
                  <a:pt x="576" y="320"/>
                </a:lnTo>
                <a:cubicBezTo>
                  <a:pt x="576" y="338"/>
                  <a:pt x="590" y="352"/>
                  <a:pt x="608" y="352"/>
                </a:cubicBezTo>
                <a:cubicBezTo>
                  <a:pt x="626" y="352"/>
                  <a:pt x="640" y="338"/>
                  <a:pt x="640" y="320"/>
                </a:cubicBezTo>
                <a:lnTo>
                  <a:pt x="640" y="224"/>
                </a:lnTo>
                <a:cubicBezTo>
                  <a:pt x="640" y="206"/>
                  <a:pt x="626" y="192"/>
                  <a:pt x="608" y="192"/>
                </a:cubicBezTo>
                <a:close/>
              </a:path>
            </a:pathLst>
          </a:custGeom>
          <a:solidFill>
            <a:srgbClr val="3D6BFF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9" name="f1-title"/>
          <p:cNvSpPr txBox="1"/>
          <p:nvPr/>
        </p:nvSpPr>
        <p:spPr>
          <a:xfrm>
            <a:off x="1168400" y="3810000"/>
            <a:ext cx="55118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50" b="1">
                <a:solidFill>
                  <a:srgbClr val="F5F5F7"/>
                </a:solidFill>
                <a:latin typeface="MiSans"/>
                <a:ea typeface="MiSans"/>
              </a:rPr>
              <a:t>Собственная AI-технология</a:t>
            </a:r>
            <a:endParaRPr lang="en-US" sz="1450"/>
          </a:p>
        </p:txBody>
      </p:sp>
      <p:sp>
        <p:nvSpPr>
          <p:cNvPr id="10" name="f1-desc"/>
          <p:cNvSpPr txBox="1"/>
          <p:nvPr/>
        </p:nvSpPr>
        <p:spPr>
          <a:xfrm>
            <a:off x="1168400" y="4114800"/>
            <a:ext cx="55118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ru-RU" sz="1200" dirty="0">
                <a:solidFill>
                  <a:srgbClr val="9A9AA8"/>
                </a:solidFill>
                <a:latin typeface="MiSans"/>
                <a:ea typeface="MiSans"/>
              </a:rPr>
              <a:t>217</a:t>
            </a:r>
            <a:r>
              <a:rPr lang="en-US" sz="12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200" dirty="0" err="1">
                <a:solidFill>
                  <a:srgbClr val="9A9AA8"/>
                </a:solidFill>
                <a:latin typeface="MiSans"/>
                <a:ea typeface="MiSans"/>
              </a:rPr>
              <a:t>специализированных</a:t>
            </a:r>
            <a:r>
              <a:rPr lang="en-US" sz="1200" dirty="0">
                <a:solidFill>
                  <a:srgbClr val="9A9AA8"/>
                </a:solidFill>
                <a:latin typeface="MiSans"/>
                <a:ea typeface="MiSans"/>
              </a:rPr>
              <a:t> ИИ-</a:t>
            </a:r>
            <a:r>
              <a:rPr lang="en-US" sz="1200" dirty="0" err="1">
                <a:solidFill>
                  <a:srgbClr val="9A9AA8"/>
                </a:solidFill>
                <a:latin typeface="MiSans"/>
                <a:ea typeface="MiSans"/>
              </a:rPr>
              <a:t>модулей</a:t>
            </a:r>
            <a:r>
              <a:rPr lang="en-US" sz="12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200" dirty="0" err="1">
                <a:solidFill>
                  <a:srgbClr val="9A9AA8"/>
                </a:solidFill>
                <a:latin typeface="MiSans"/>
                <a:ea typeface="MiSans"/>
              </a:rPr>
              <a:t>работают</a:t>
            </a:r>
            <a:r>
              <a:rPr lang="en-US" sz="12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200" dirty="0" err="1">
                <a:solidFill>
                  <a:srgbClr val="9A9AA8"/>
                </a:solidFill>
                <a:latin typeface="MiSans"/>
                <a:ea typeface="MiSans"/>
              </a:rPr>
              <a:t>как</a:t>
            </a:r>
            <a:r>
              <a:rPr lang="en-US" sz="12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200" dirty="0" err="1">
                <a:solidFill>
                  <a:srgbClr val="9A9AA8"/>
                </a:solidFill>
                <a:latin typeface="MiSans"/>
                <a:ea typeface="MiSans"/>
              </a:rPr>
              <a:t>единая</a:t>
            </a:r>
            <a:r>
              <a:rPr lang="en-US" sz="12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200" dirty="0" err="1">
                <a:solidFill>
                  <a:srgbClr val="9A9AA8"/>
                </a:solidFill>
                <a:latin typeface="MiSans"/>
                <a:ea typeface="MiSans"/>
              </a:rPr>
              <a:t>команда</a:t>
            </a:r>
            <a:r>
              <a:rPr lang="en-US" sz="12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200" dirty="0" err="1">
                <a:solidFill>
                  <a:srgbClr val="9A9AA8"/>
                </a:solidFill>
                <a:latin typeface="MiSans"/>
                <a:ea typeface="MiSans"/>
              </a:rPr>
              <a:t>специалистов</a:t>
            </a:r>
            <a:endParaRPr lang="en-US" sz="1200" dirty="0"/>
          </a:p>
        </p:txBody>
      </p:sp>
      <p:sp>
        <p:nvSpPr>
          <p:cNvPr id="11" name="f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eyJpY29uTmFtZSI6ImZhczpidWxsc2V5ZSJ9</pptd:icon>
              </p:ext>
            </p:extLst>
          </p:nvPr>
        </p:nvSpPr>
        <p:spPr>
          <a:xfrm>
            <a:off x="711200" y="48260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0" y="256"/>
                </a:moveTo>
                <a:cubicBezTo>
                  <a:pt x="0" y="115"/>
                  <a:pt x="115" y="0"/>
                  <a:pt x="256" y="0"/>
                </a:cubicBezTo>
                <a:cubicBezTo>
                  <a:pt x="397" y="0"/>
                  <a:pt x="512" y="115"/>
                  <a:pt x="512" y="256"/>
                </a:cubicBezTo>
                <a:cubicBezTo>
                  <a:pt x="512" y="397"/>
                  <a:pt x="397" y="512"/>
                  <a:pt x="256" y="512"/>
                </a:cubicBezTo>
                <a:cubicBezTo>
                  <a:pt x="115" y="512"/>
                  <a:pt x="0" y="397"/>
                  <a:pt x="0" y="256"/>
                </a:cubicBezTo>
                <a:close/>
                <a:moveTo>
                  <a:pt x="448" y="256"/>
                </a:moveTo>
                <a:cubicBezTo>
                  <a:pt x="448" y="150"/>
                  <a:pt x="362" y="64"/>
                  <a:pt x="256" y="64"/>
                </a:cubicBezTo>
                <a:cubicBezTo>
                  <a:pt x="150" y="64"/>
                  <a:pt x="64" y="150"/>
                  <a:pt x="64" y="256"/>
                </a:cubicBezTo>
                <a:cubicBezTo>
                  <a:pt x="64" y="362"/>
                  <a:pt x="150" y="448"/>
                  <a:pt x="256" y="448"/>
                </a:cubicBezTo>
                <a:cubicBezTo>
                  <a:pt x="362" y="448"/>
                  <a:pt x="448" y="362"/>
                  <a:pt x="448" y="256"/>
                </a:cubicBezTo>
                <a:close/>
              </a:path>
              <a:path w="512" h="512">
                <a:moveTo>
                  <a:pt x="256" y="112"/>
                </a:moveTo>
                <a:cubicBezTo>
                  <a:pt x="336" y="112"/>
                  <a:pt x="400" y="176"/>
                  <a:pt x="400" y="256"/>
                </a:cubicBezTo>
                <a:cubicBezTo>
                  <a:pt x="400" y="336"/>
                  <a:pt x="336" y="400"/>
                  <a:pt x="256" y="400"/>
                </a:cubicBezTo>
                <a:cubicBezTo>
                  <a:pt x="176" y="400"/>
                  <a:pt x="112" y="336"/>
                  <a:pt x="112" y="256"/>
                </a:cubicBezTo>
                <a:cubicBezTo>
                  <a:pt x="112" y="176"/>
                  <a:pt x="176" y="112"/>
                  <a:pt x="256" y="112"/>
                </a:cubicBezTo>
                <a:close/>
                <a:moveTo>
                  <a:pt x="256" y="336"/>
                </a:moveTo>
                <a:cubicBezTo>
                  <a:pt x="300" y="336"/>
                  <a:pt x="336" y="300"/>
                  <a:pt x="336" y="256"/>
                </a:cubicBezTo>
                <a:cubicBezTo>
                  <a:pt x="336" y="212"/>
                  <a:pt x="300" y="176"/>
                  <a:pt x="256" y="176"/>
                </a:cubicBezTo>
                <a:cubicBezTo>
                  <a:pt x="212" y="176"/>
                  <a:pt x="176" y="212"/>
                  <a:pt x="176" y="256"/>
                </a:cubicBezTo>
                <a:cubicBezTo>
                  <a:pt x="176" y="300"/>
                  <a:pt x="212" y="336"/>
                  <a:pt x="256" y="336"/>
                </a:cubicBezTo>
                <a:close/>
              </a:path>
              <a:path w="512" h="512">
                <a:moveTo>
                  <a:pt x="224" y="256"/>
                </a:moveTo>
                <a:cubicBezTo>
                  <a:pt x="224" y="238"/>
                  <a:pt x="238" y="224"/>
                  <a:pt x="256" y="224"/>
                </a:cubicBezTo>
                <a:cubicBezTo>
                  <a:pt x="274" y="224"/>
                  <a:pt x="288" y="238"/>
                  <a:pt x="288" y="256"/>
                </a:cubicBezTo>
                <a:cubicBezTo>
                  <a:pt x="288" y="274"/>
                  <a:pt x="274" y="288"/>
                  <a:pt x="256" y="288"/>
                </a:cubicBezTo>
                <a:cubicBezTo>
                  <a:pt x="238" y="288"/>
                  <a:pt x="224" y="274"/>
                  <a:pt x="224" y="256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12" name="f2-title"/>
          <p:cNvSpPr txBox="1"/>
          <p:nvPr/>
        </p:nvSpPr>
        <p:spPr>
          <a:xfrm>
            <a:off x="1168400" y="4826000"/>
            <a:ext cx="55118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50" b="1">
                <a:solidFill>
                  <a:srgbClr val="F5F5F7"/>
                </a:solidFill>
                <a:latin typeface="MiSans"/>
                <a:ea typeface="MiSans"/>
              </a:rPr>
              <a:t>Фокус на нейровыдаче (GEO)</a:t>
            </a:r>
            <a:endParaRPr lang="en-US" sz="1450"/>
          </a:p>
        </p:txBody>
      </p:sp>
      <p:sp>
        <p:nvSpPr>
          <p:cNvPr id="13" name="f2-desc"/>
          <p:cNvSpPr txBox="1"/>
          <p:nvPr/>
        </p:nvSpPr>
        <p:spPr>
          <a:xfrm>
            <a:off x="1168400" y="5130800"/>
            <a:ext cx="55118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 dirty="0" err="1">
                <a:solidFill>
                  <a:srgbClr val="9A9AA8"/>
                </a:solidFill>
                <a:latin typeface="MiSans"/>
                <a:ea typeface="MiSans"/>
              </a:rPr>
              <a:t>Одни</a:t>
            </a:r>
            <a:r>
              <a:rPr lang="en-US" sz="12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200" dirty="0" err="1">
                <a:solidFill>
                  <a:srgbClr val="9A9AA8"/>
                </a:solidFill>
                <a:latin typeface="MiSans"/>
                <a:ea typeface="MiSans"/>
              </a:rPr>
              <a:t>из</a:t>
            </a:r>
            <a:r>
              <a:rPr lang="en-US" sz="12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200" dirty="0" err="1">
                <a:solidFill>
                  <a:srgbClr val="9A9AA8"/>
                </a:solidFill>
                <a:latin typeface="MiSans"/>
                <a:ea typeface="MiSans"/>
              </a:rPr>
              <a:t>первых</a:t>
            </a:r>
            <a:r>
              <a:rPr lang="en-US" sz="12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200" dirty="0" err="1">
                <a:solidFill>
                  <a:srgbClr val="9A9AA8"/>
                </a:solidFill>
                <a:latin typeface="MiSans"/>
                <a:ea typeface="MiSans"/>
              </a:rPr>
              <a:t>на</a:t>
            </a:r>
            <a:r>
              <a:rPr lang="en-US" sz="12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200" dirty="0" err="1">
                <a:solidFill>
                  <a:srgbClr val="9A9AA8"/>
                </a:solidFill>
                <a:latin typeface="MiSans"/>
                <a:ea typeface="MiSans"/>
              </a:rPr>
              <a:t>рынке</a:t>
            </a:r>
            <a:r>
              <a:rPr lang="en-US" sz="12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200" dirty="0" err="1">
                <a:solidFill>
                  <a:srgbClr val="9A9AA8"/>
                </a:solidFill>
                <a:latin typeface="MiSans"/>
                <a:ea typeface="MiSans"/>
              </a:rPr>
              <a:t>делаем</a:t>
            </a:r>
            <a:r>
              <a:rPr lang="en-US" sz="12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200" dirty="0" err="1">
                <a:solidFill>
                  <a:srgbClr val="9A9AA8"/>
                </a:solidFill>
                <a:latin typeface="MiSans"/>
                <a:ea typeface="MiSans"/>
              </a:rPr>
              <a:t>бизнес</a:t>
            </a:r>
            <a:r>
              <a:rPr lang="en-US" sz="12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200" dirty="0" err="1">
                <a:solidFill>
                  <a:srgbClr val="9A9AA8"/>
                </a:solidFill>
                <a:latin typeface="MiSans"/>
                <a:ea typeface="MiSans"/>
              </a:rPr>
              <a:t>видимым</a:t>
            </a:r>
            <a:r>
              <a:rPr lang="en-US" sz="12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200" dirty="0" err="1">
                <a:solidFill>
                  <a:srgbClr val="9A9AA8"/>
                </a:solidFill>
                <a:latin typeface="MiSans"/>
                <a:ea typeface="MiSans"/>
              </a:rPr>
              <a:t>для</a:t>
            </a:r>
            <a:r>
              <a:rPr lang="en-US" sz="12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200" dirty="0" err="1">
                <a:solidFill>
                  <a:srgbClr val="9A9AA8"/>
                </a:solidFill>
                <a:latin typeface="MiSans"/>
                <a:ea typeface="MiSans"/>
              </a:rPr>
              <a:t>нейросетей</a:t>
            </a:r>
            <a:r>
              <a:rPr lang="en-US" sz="1200" dirty="0">
                <a:solidFill>
                  <a:srgbClr val="9A9AA8"/>
                </a:solidFill>
                <a:latin typeface="MiSans"/>
                <a:ea typeface="MiSans"/>
              </a:rPr>
              <a:t> и ИИ-</a:t>
            </a:r>
            <a:r>
              <a:rPr lang="en-US" sz="1200" dirty="0" err="1">
                <a:solidFill>
                  <a:srgbClr val="9A9AA8"/>
                </a:solidFill>
                <a:latin typeface="MiSans"/>
                <a:ea typeface="MiSans"/>
              </a:rPr>
              <a:t>ассистентов</a:t>
            </a:r>
            <a:endParaRPr lang="en-US" sz="1200" dirty="0"/>
          </a:p>
        </p:txBody>
      </p:sp>
      <p:sp>
        <p:nvSpPr>
          <p:cNvPr id="16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9AA8"/>
                </a:solidFill>
                <a:latin typeface="MiSans"/>
                <a:ea typeface="MiSans"/>
              </a:rPr>
              <a:t>02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813800" y="304800"/>
            <a:ext cx="2667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9AA8"/>
                </a:solidFill>
                <a:latin typeface="MiSans"/>
                <a:ea typeface="MiSans"/>
              </a:rPr>
              <a:t>ПРОМПТЕР · О КОМПАНИИ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08000"/>
            <a:ext cx="107696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400" b="1">
                <a:solidFill>
                  <a:srgbClr val="F5F5F7"/>
                </a:solidFill>
                <a:latin typeface="MiSans"/>
                <a:ea typeface="MiSans"/>
              </a:rPr>
              <a:t>РЫНОК ИЗМЕНИЛСЯ:</a:t>
            </a:r>
            <a:endParaRPr lang="en-US" sz="2400"/>
          </a:p>
          <a:p>
            <a:pPr algn="l">
              <a:lnSpc>
                <a:spcPct val="125000"/>
              </a:lnSpc>
            </a:pPr>
            <a:r>
              <a:rPr lang="en-US" sz="2400" b="1">
                <a:solidFill>
                  <a:srgbClr val="F5F5F7"/>
                </a:solidFill>
                <a:latin typeface="MiSans"/>
                <a:ea typeface="MiSans"/>
              </a:rPr>
              <a:t>КЛИЕНТОВ ИЩУТ </a:t>
            </a:r>
            <a:r>
              <a:rPr lang="en-US" sz="2400" b="1">
                <a:solidFill>
                  <a:srgbClr val="3D6BFF"/>
                </a:solidFill>
                <a:latin typeface="MiSans"/>
                <a:ea typeface="MiSans"/>
              </a:rPr>
              <a:t>НЕЙРОСЕТИ</a:t>
            </a:r>
            <a:endParaRPr lang="en-US" sz="2400"/>
          </a:p>
        </p:txBody>
      </p:sp>
      <p:sp>
        <p:nvSpPr>
          <p:cNvPr id="4" name="title-rule"/>
          <p:cNvSpPr/>
          <p:nvPr/>
        </p:nvSpPr>
        <p:spPr>
          <a:xfrm>
            <a:off x="711200" y="1422400"/>
            <a:ext cx="609600" cy="25400"/>
          </a:xfrm>
          <a:prstGeom prst="rect">
            <a:avLst/>
          </a:prstGeom>
          <a:solidFill>
            <a:srgbClr val="E8453C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5" name="intro"/>
          <p:cNvSpPr txBox="1"/>
          <p:nvPr/>
        </p:nvSpPr>
        <p:spPr>
          <a:xfrm>
            <a:off x="711200" y="1600200"/>
            <a:ext cx="107696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9A9AA8"/>
                </a:solidFill>
                <a:latin typeface="MiSans"/>
                <a:ea typeface="MiSans"/>
              </a:rPr>
              <a:t>Классическое SEO дорожает и теряет эффективность — решения о покупке всё чаще принимают ИИ-ассистенты</a:t>
            </a:r>
            <a:endParaRPr lang="en-US" sz="1300"/>
          </a:p>
        </p:txBody>
      </p:sp>
      <p:sp>
        <p:nvSpPr>
          <p:cNvPr id="6" name="p1-title"/>
          <p:cNvSpPr txBox="1"/>
          <p:nvPr/>
        </p:nvSpPr>
        <p:spPr>
          <a:xfrm>
            <a:off x="711200" y="2159000"/>
            <a:ext cx="51308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b="1" kern="0" spc="200">
                <a:solidFill>
                  <a:srgbClr val="9A9AA8"/>
                </a:solidFill>
                <a:latin typeface="MiSans"/>
                <a:ea typeface="MiSans"/>
              </a:rPr>
              <a:t>РАНЬШЕ</a:t>
            </a:r>
            <a:endParaRPr lang="en-US" sz="1200"/>
          </a:p>
        </p:txBody>
      </p:sp>
      <p:sp>
        <p:nvSpPr>
          <p:cNvPr id="7" name="p1-box"/>
          <p:cNvSpPr/>
          <p:nvPr/>
        </p:nvSpPr>
        <p:spPr>
          <a:xfrm>
            <a:off x="711200" y="2489200"/>
            <a:ext cx="5130800" cy="1905000"/>
          </a:xfrm>
          <a:prstGeom prst="rect">
            <a:avLst/>
          </a:prstGeom>
          <a:solidFill>
            <a:srgbClr val="13131B"/>
          </a:solidFill>
          <a:ln w="12700">
            <a:solidFill>
              <a:srgbClr val="262635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8" name="p1-list"/>
          <p:cNvSpPr txBox="1"/>
          <p:nvPr/>
        </p:nvSpPr>
        <p:spPr>
          <a:xfrm>
            <a:off x="1016000" y="2743200"/>
            <a:ext cx="4521200" cy="142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70000"/>
              </a:lnSpc>
            </a:pPr>
            <a:r>
              <a:rPr lang="en-US" sz="1250">
                <a:solidFill>
                  <a:srgbClr val="9A9AA8"/>
                </a:solidFill>
                <a:latin typeface="MiSans"/>
                <a:ea typeface="MiSans"/>
              </a:rPr>
              <a:t>· Человек ищет в поисковике сам</a:t>
            </a:r>
            <a:endParaRPr lang="en-US" sz="1250"/>
          </a:p>
          <a:p>
            <a:pPr algn="l">
              <a:lnSpc>
                <a:spcPct val="170000"/>
              </a:lnSpc>
            </a:pPr>
            <a:r>
              <a:rPr lang="en-US" sz="1250">
                <a:solidFill>
                  <a:srgbClr val="9A9AA8"/>
                </a:solidFill>
                <a:latin typeface="MiSans"/>
                <a:ea typeface="MiSans"/>
              </a:rPr>
              <a:t>· Листает десятки ссылок</a:t>
            </a:r>
            <a:endParaRPr lang="en-US" sz="1250"/>
          </a:p>
          <a:p>
            <a:pPr algn="l">
              <a:lnSpc>
                <a:spcPct val="170000"/>
              </a:lnSpc>
            </a:pPr>
            <a:r>
              <a:rPr lang="en-US" sz="1250">
                <a:solidFill>
                  <a:srgbClr val="9A9AA8"/>
                </a:solidFill>
                <a:latin typeface="MiSans"/>
                <a:ea typeface="MiSans"/>
              </a:rPr>
              <a:t>· Сравнивает сайты вручную</a:t>
            </a:r>
            <a:endParaRPr lang="en-US" sz="1250"/>
          </a:p>
          <a:p>
            <a:pPr algn="l">
              <a:lnSpc>
                <a:spcPct val="170000"/>
              </a:lnSpc>
            </a:pPr>
            <a:r>
              <a:rPr lang="en-US" sz="1250">
                <a:solidFill>
                  <a:srgbClr val="9A9AA8"/>
                </a:solidFill>
                <a:latin typeface="MiSans"/>
                <a:ea typeface="MiSans"/>
              </a:rPr>
              <a:t>· Выбирает по рекламе и отзывам</a:t>
            </a:r>
            <a:endParaRPr lang="en-US" sz="1250"/>
          </a:p>
        </p:txBody>
      </p:sp>
      <p:sp>
        <p:nvSpPr>
          <p:cNvPr id="9" name="p2-title"/>
          <p:cNvSpPr txBox="1"/>
          <p:nvPr/>
        </p:nvSpPr>
        <p:spPr>
          <a:xfrm>
            <a:off x="6350000" y="2159000"/>
            <a:ext cx="51308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b="1" kern="0" spc="200">
                <a:solidFill>
                  <a:srgbClr val="3D6BFF"/>
                </a:solidFill>
                <a:latin typeface="MiSans"/>
                <a:ea typeface="MiSans"/>
              </a:rPr>
              <a:t>СЕЙЧАС</a:t>
            </a:r>
            <a:endParaRPr lang="en-US" sz="1200"/>
          </a:p>
        </p:txBody>
      </p:sp>
      <p:sp>
        <p:nvSpPr>
          <p:cNvPr id="10" name="p2-box"/>
          <p:cNvSpPr/>
          <p:nvPr/>
        </p:nvSpPr>
        <p:spPr>
          <a:xfrm>
            <a:off x="6350000" y="2489200"/>
            <a:ext cx="5130800" cy="1905000"/>
          </a:xfrm>
          <a:prstGeom prst="rect">
            <a:avLst/>
          </a:prstGeom>
          <a:solidFill>
            <a:srgbClr val="13131B"/>
          </a:solidFill>
          <a:ln w="19050">
            <a:solidFill>
              <a:srgbClr val="3D6BFF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11" name="p2-list"/>
          <p:cNvSpPr txBox="1"/>
          <p:nvPr/>
        </p:nvSpPr>
        <p:spPr>
          <a:xfrm>
            <a:off x="6654800" y="2743200"/>
            <a:ext cx="4521200" cy="142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70000"/>
              </a:lnSpc>
            </a:pPr>
            <a:r>
              <a:rPr lang="en-US" sz="1250">
                <a:solidFill>
                  <a:srgbClr val="C9C9D4"/>
                </a:solidFill>
                <a:latin typeface="MiSans"/>
                <a:ea typeface="MiSans"/>
              </a:rPr>
              <a:t>· Человек спрашивает нейросеть</a:t>
            </a:r>
            <a:endParaRPr lang="en-US" sz="1250"/>
          </a:p>
          <a:p>
            <a:pPr algn="l">
              <a:lnSpc>
                <a:spcPct val="170000"/>
              </a:lnSpc>
            </a:pPr>
            <a:r>
              <a:rPr lang="en-US" sz="1250">
                <a:solidFill>
                  <a:srgbClr val="C9C9D4"/>
                </a:solidFill>
                <a:latin typeface="MiSans"/>
                <a:ea typeface="MiSans"/>
              </a:rPr>
              <a:t>· Получает 2–3 готовых ответа</a:t>
            </a:r>
            <a:endParaRPr lang="en-US" sz="1250"/>
          </a:p>
          <a:p>
            <a:pPr algn="l">
              <a:lnSpc>
                <a:spcPct val="170000"/>
              </a:lnSpc>
            </a:pPr>
            <a:r>
              <a:rPr lang="en-US" sz="1250">
                <a:solidFill>
                  <a:srgbClr val="C9C9D4"/>
                </a:solidFill>
                <a:latin typeface="MiSans"/>
                <a:ea typeface="MiSans"/>
              </a:rPr>
              <a:t>· Доверяет рекомендации ИИ</a:t>
            </a:r>
            <a:endParaRPr lang="en-US" sz="1250"/>
          </a:p>
          <a:p>
            <a:pPr algn="l">
              <a:lnSpc>
                <a:spcPct val="170000"/>
              </a:lnSpc>
            </a:pPr>
            <a:r>
              <a:rPr lang="en-US" sz="1250">
                <a:solidFill>
                  <a:srgbClr val="C9C9D4"/>
                </a:solidFill>
                <a:latin typeface="MiSans"/>
                <a:ea typeface="MiSans"/>
              </a:rPr>
              <a:t>· Выбирает тех, кого назвала нейросеть</a:t>
            </a:r>
            <a:endParaRPr lang="en-US" sz="1250"/>
          </a:p>
        </p:txBody>
      </p:sp>
      <p:sp>
        <p:nvSpPr>
          <p:cNvPr id="12" name="conclusion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eyJpY29uTmFtZSI6ImZhczphcnJvdy10cmVuZC11cCJ9</pptd:icon>
              </p:ext>
            </p:extLst>
          </p:nvPr>
        </p:nvSpPr>
        <p:spPr>
          <a:xfrm>
            <a:off x="711200" y="5471682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384" y="160"/>
                </a:moveTo>
                <a:cubicBezTo>
                  <a:pt x="366" y="160"/>
                  <a:pt x="352" y="146"/>
                  <a:pt x="352" y="128"/>
                </a:cubicBezTo>
                <a:cubicBezTo>
                  <a:pt x="352" y="110"/>
                  <a:pt x="366" y="96"/>
                  <a:pt x="384" y="96"/>
                </a:cubicBezTo>
                <a:lnTo>
                  <a:pt x="544" y="96"/>
                </a:lnTo>
                <a:cubicBezTo>
                  <a:pt x="562" y="96"/>
                  <a:pt x="576" y="110"/>
                  <a:pt x="576" y="128"/>
                </a:cubicBezTo>
                <a:lnTo>
                  <a:pt x="576" y="288"/>
                </a:lnTo>
                <a:cubicBezTo>
                  <a:pt x="576" y="306"/>
                  <a:pt x="562" y="320"/>
                  <a:pt x="544" y="320"/>
                </a:cubicBezTo>
                <a:cubicBezTo>
                  <a:pt x="526" y="320"/>
                  <a:pt x="512" y="306"/>
                  <a:pt x="512" y="288"/>
                </a:cubicBezTo>
                <a:lnTo>
                  <a:pt x="512" y="205"/>
                </a:lnTo>
                <a:lnTo>
                  <a:pt x="343" y="375"/>
                </a:lnTo>
                <a:cubicBezTo>
                  <a:pt x="330" y="387"/>
                  <a:pt x="310" y="387"/>
                  <a:pt x="297" y="375"/>
                </a:cubicBezTo>
                <a:lnTo>
                  <a:pt x="192" y="269"/>
                </a:lnTo>
                <a:lnTo>
                  <a:pt x="55" y="407"/>
                </a:lnTo>
                <a:cubicBezTo>
                  <a:pt x="42" y="419"/>
                  <a:pt x="22" y="419"/>
                  <a:pt x="9" y="407"/>
                </a:cubicBezTo>
                <a:cubicBezTo>
                  <a:pt x="-3" y="394"/>
                  <a:pt x="-3" y="374"/>
                  <a:pt x="9" y="361"/>
                </a:cubicBezTo>
                <a:lnTo>
                  <a:pt x="169" y="201"/>
                </a:lnTo>
                <a:cubicBezTo>
                  <a:pt x="182" y="189"/>
                  <a:pt x="202" y="189"/>
                  <a:pt x="215" y="201"/>
                </a:cubicBezTo>
                <a:lnTo>
                  <a:pt x="320" y="307"/>
                </a:lnTo>
                <a:lnTo>
                  <a:pt x="467" y="160"/>
                </a:lnTo>
                <a:lnTo>
                  <a:pt x="384" y="160"/>
                </a:lnTo>
                <a:close/>
              </a:path>
            </a:pathLst>
          </a:custGeom>
          <a:solidFill>
            <a:srgbClr val="E8453C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13" name="conclusion"/>
          <p:cNvSpPr txBox="1"/>
          <p:nvPr/>
        </p:nvSpPr>
        <p:spPr>
          <a:xfrm>
            <a:off x="1193800" y="5435600"/>
            <a:ext cx="10287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400" b="1" dirty="0" err="1">
                <a:solidFill>
                  <a:srgbClr val="E8453C"/>
                </a:solidFill>
                <a:latin typeface="MiSans"/>
                <a:ea typeface="MiSans"/>
              </a:rPr>
              <a:t>Вывод</a:t>
            </a:r>
            <a:r>
              <a:rPr lang="en-US" sz="1400" b="1" dirty="0">
                <a:solidFill>
                  <a:srgbClr val="E8453C"/>
                </a:solidFill>
                <a:latin typeface="MiSans"/>
                <a:ea typeface="MiSans"/>
              </a:rPr>
              <a:t>:</a:t>
            </a:r>
            <a:r>
              <a:rPr lang="en-US" sz="1400" dirty="0">
                <a:solidFill>
                  <a:srgbClr val="F5F5F7"/>
                </a:solidFill>
                <a:latin typeface="MiSans"/>
                <a:ea typeface="MiSans"/>
              </a:rPr>
              <a:t> </a:t>
            </a:r>
            <a:r>
              <a:rPr lang="en-US" sz="1400" dirty="0" err="1">
                <a:solidFill>
                  <a:srgbClr val="F5F5F7"/>
                </a:solidFill>
                <a:latin typeface="MiSans"/>
                <a:ea typeface="MiSans"/>
              </a:rPr>
              <a:t>бизнесу</a:t>
            </a:r>
            <a:r>
              <a:rPr lang="en-US" sz="1400" dirty="0">
                <a:solidFill>
                  <a:srgbClr val="F5F5F7"/>
                </a:solidFill>
                <a:latin typeface="MiSans"/>
                <a:ea typeface="MiSans"/>
              </a:rPr>
              <a:t> </a:t>
            </a:r>
            <a:r>
              <a:rPr lang="en-US" sz="1400" dirty="0" err="1">
                <a:solidFill>
                  <a:srgbClr val="F5F5F7"/>
                </a:solidFill>
                <a:latin typeface="MiSans"/>
                <a:ea typeface="MiSans"/>
              </a:rPr>
              <a:t>больше</a:t>
            </a:r>
            <a:r>
              <a:rPr lang="en-US" sz="1400" dirty="0">
                <a:solidFill>
                  <a:srgbClr val="F5F5F7"/>
                </a:solidFill>
                <a:latin typeface="MiSans"/>
                <a:ea typeface="MiSans"/>
              </a:rPr>
              <a:t> </a:t>
            </a:r>
            <a:r>
              <a:rPr lang="en-US" sz="1400" dirty="0" err="1">
                <a:solidFill>
                  <a:srgbClr val="F5F5F7"/>
                </a:solidFill>
                <a:latin typeface="MiSans"/>
                <a:ea typeface="MiSans"/>
              </a:rPr>
              <a:t>не</a:t>
            </a:r>
            <a:r>
              <a:rPr lang="en-US" sz="1400" dirty="0">
                <a:solidFill>
                  <a:srgbClr val="F5F5F7"/>
                </a:solidFill>
                <a:latin typeface="MiSans"/>
                <a:ea typeface="MiSans"/>
              </a:rPr>
              <a:t> </a:t>
            </a:r>
            <a:r>
              <a:rPr lang="en-US" sz="1400" dirty="0" err="1">
                <a:solidFill>
                  <a:srgbClr val="F5F5F7"/>
                </a:solidFill>
                <a:latin typeface="MiSans"/>
                <a:ea typeface="MiSans"/>
              </a:rPr>
              <a:t>нужно</a:t>
            </a:r>
            <a:r>
              <a:rPr lang="en-US" sz="1400" dirty="0">
                <a:solidFill>
                  <a:srgbClr val="F5F5F7"/>
                </a:solidFill>
                <a:latin typeface="MiSans"/>
                <a:ea typeface="MiSans"/>
              </a:rPr>
              <a:t> </a:t>
            </a:r>
            <a:r>
              <a:rPr lang="en-US" sz="1400" dirty="0" err="1">
                <a:solidFill>
                  <a:srgbClr val="F5F5F7"/>
                </a:solidFill>
                <a:latin typeface="MiSans"/>
                <a:ea typeface="MiSans"/>
              </a:rPr>
              <a:t>быть</a:t>
            </a:r>
            <a:r>
              <a:rPr lang="en-US" sz="1400" dirty="0">
                <a:solidFill>
                  <a:srgbClr val="F5F5F7"/>
                </a:solidFill>
                <a:latin typeface="MiSans"/>
                <a:ea typeface="MiSans"/>
              </a:rPr>
              <a:t> «</a:t>
            </a:r>
            <a:r>
              <a:rPr lang="en-US" sz="1400" dirty="0" err="1">
                <a:solidFill>
                  <a:srgbClr val="F5F5F7"/>
                </a:solidFill>
                <a:latin typeface="MiSans"/>
                <a:ea typeface="MiSans"/>
              </a:rPr>
              <a:t>первым</a:t>
            </a:r>
            <a:r>
              <a:rPr lang="en-US" sz="1400" dirty="0">
                <a:solidFill>
                  <a:srgbClr val="F5F5F7"/>
                </a:solidFill>
                <a:latin typeface="MiSans"/>
                <a:ea typeface="MiSans"/>
              </a:rPr>
              <a:t> в </a:t>
            </a:r>
            <a:r>
              <a:rPr lang="en-US" sz="1400" dirty="0" err="1">
                <a:solidFill>
                  <a:srgbClr val="F5F5F7"/>
                </a:solidFill>
                <a:latin typeface="MiSans"/>
                <a:ea typeface="MiSans"/>
              </a:rPr>
              <a:t>поиске</a:t>
            </a:r>
            <a:r>
              <a:rPr lang="en-US" sz="1400" dirty="0">
                <a:solidFill>
                  <a:srgbClr val="F5F5F7"/>
                </a:solidFill>
                <a:latin typeface="MiSans"/>
                <a:ea typeface="MiSans"/>
              </a:rPr>
              <a:t>» — </a:t>
            </a:r>
            <a:r>
              <a:rPr lang="en-US" sz="1400" dirty="0" err="1">
                <a:solidFill>
                  <a:srgbClr val="F5F5F7"/>
                </a:solidFill>
                <a:latin typeface="MiSans"/>
                <a:ea typeface="MiSans"/>
              </a:rPr>
              <a:t>нужно</a:t>
            </a:r>
            <a:r>
              <a:rPr lang="en-US" sz="1400" dirty="0">
                <a:solidFill>
                  <a:srgbClr val="F5F5F7"/>
                </a:solidFill>
                <a:latin typeface="MiSans"/>
                <a:ea typeface="MiSans"/>
              </a:rPr>
              <a:t> </a:t>
            </a:r>
            <a:r>
              <a:rPr lang="en-US" sz="1400" dirty="0" err="1">
                <a:solidFill>
                  <a:srgbClr val="F5F5F7"/>
                </a:solidFill>
                <a:latin typeface="MiSans"/>
                <a:ea typeface="MiSans"/>
              </a:rPr>
              <a:t>быть</a:t>
            </a:r>
            <a:r>
              <a:rPr lang="en-US" sz="1400" dirty="0">
                <a:solidFill>
                  <a:srgbClr val="F5F5F7"/>
                </a:solidFill>
                <a:latin typeface="MiSans"/>
                <a:ea typeface="MiSans"/>
              </a:rPr>
              <a:t> </a:t>
            </a:r>
            <a:r>
              <a:rPr lang="en-US" sz="1400" dirty="0" err="1">
                <a:solidFill>
                  <a:srgbClr val="F5F5F7"/>
                </a:solidFill>
                <a:latin typeface="MiSans"/>
                <a:ea typeface="MiSans"/>
              </a:rPr>
              <a:t>тем</a:t>
            </a:r>
            <a:r>
              <a:rPr lang="en-US" sz="1400" dirty="0">
                <a:solidFill>
                  <a:srgbClr val="F5F5F7"/>
                </a:solidFill>
                <a:latin typeface="MiSans"/>
                <a:ea typeface="MiSans"/>
              </a:rPr>
              <a:t>, </a:t>
            </a:r>
            <a:r>
              <a:rPr lang="en-US" sz="1400" dirty="0" err="1">
                <a:solidFill>
                  <a:srgbClr val="F5F5F7"/>
                </a:solidFill>
                <a:latin typeface="MiSans"/>
                <a:ea typeface="MiSans"/>
              </a:rPr>
              <a:t>кого</a:t>
            </a:r>
            <a:r>
              <a:rPr lang="en-US" sz="1400" dirty="0">
                <a:solidFill>
                  <a:srgbClr val="F5F5F7"/>
                </a:solidFill>
                <a:latin typeface="MiSans"/>
                <a:ea typeface="MiSans"/>
              </a:rPr>
              <a:t> </a:t>
            </a:r>
            <a:r>
              <a:rPr lang="en-US" sz="1400" b="1" dirty="0" err="1">
                <a:solidFill>
                  <a:srgbClr val="F5F5F7"/>
                </a:solidFill>
                <a:latin typeface="MiSans"/>
                <a:ea typeface="MiSans"/>
              </a:rPr>
              <a:t>называет</a:t>
            </a:r>
            <a:r>
              <a:rPr lang="en-US" sz="1400" b="1" dirty="0">
                <a:solidFill>
                  <a:srgbClr val="F5F5F7"/>
                </a:solidFill>
                <a:latin typeface="MiSans"/>
                <a:ea typeface="MiSans"/>
              </a:rPr>
              <a:t> </a:t>
            </a:r>
            <a:r>
              <a:rPr lang="en-US" sz="1400" b="1" dirty="0" err="1">
                <a:solidFill>
                  <a:srgbClr val="F5F5F7"/>
                </a:solidFill>
                <a:latin typeface="MiSans"/>
                <a:ea typeface="MiSans"/>
              </a:rPr>
              <a:t>нейросеть</a:t>
            </a:r>
            <a:r>
              <a:rPr lang="en-US" sz="1400" dirty="0">
                <a:solidFill>
                  <a:srgbClr val="F5F5F7"/>
                </a:solidFill>
                <a:latin typeface="MiSans"/>
                <a:ea typeface="MiSans"/>
              </a:rPr>
              <a:t>. </a:t>
            </a:r>
            <a:br>
              <a:rPr lang="ru-RU" sz="1400" dirty="0">
                <a:solidFill>
                  <a:srgbClr val="F5F5F7"/>
                </a:solidFill>
                <a:latin typeface="MiSans"/>
                <a:ea typeface="MiSans"/>
              </a:rPr>
            </a:br>
            <a:r>
              <a:rPr lang="en-US" sz="1400" dirty="0" err="1">
                <a:solidFill>
                  <a:srgbClr val="F5F5F7"/>
                </a:solidFill>
                <a:latin typeface="MiSans"/>
                <a:ea typeface="MiSans"/>
              </a:rPr>
              <a:t>Именно</a:t>
            </a:r>
            <a:r>
              <a:rPr lang="ru-RU" sz="1400" dirty="0">
                <a:solidFill>
                  <a:srgbClr val="F5F5F7"/>
                </a:solidFill>
                <a:latin typeface="MiSans"/>
                <a:ea typeface="MiSans"/>
              </a:rPr>
              <a:t> с этой задачей успешно справляется </a:t>
            </a:r>
            <a:r>
              <a:rPr lang="ru-RU" sz="1400" dirty="0" err="1">
                <a:solidFill>
                  <a:srgbClr val="F5F5F7"/>
                </a:solidFill>
                <a:latin typeface="MiSans"/>
                <a:ea typeface="MiSans"/>
              </a:rPr>
              <a:t>промптер</a:t>
            </a:r>
            <a:endParaRPr lang="en-US" sz="1400" dirty="0"/>
          </a:p>
        </p:txBody>
      </p:sp>
      <p:sp>
        <p:nvSpPr>
          <p:cNvPr id="16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9AA8"/>
                </a:solidFill>
                <a:latin typeface="MiSans"/>
                <a:ea typeface="MiSans"/>
              </a:rPr>
              <a:t>03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813800" y="304800"/>
            <a:ext cx="2667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9AA8"/>
                </a:solidFill>
                <a:latin typeface="MiSans"/>
                <a:ea typeface="MiSans"/>
              </a:rPr>
              <a:t>ПРОМПТЕР · О КОМПАНИИ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482600"/>
            <a:ext cx="107696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500" b="1" dirty="0">
                <a:solidFill>
                  <a:srgbClr val="F5F5F7"/>
                </a:solidFill>
                <a:latin typeface="MiSans"/>
                <a:ea typeface="MiSans"/>
              </a:rPr>
              <a:t>ПРОДУКТ: </a:t>
            </a:r>
            <a:r>
              <a:rPr lang="ru-RU" sz="2500" b="1" dirty="0">
                <a:solidFill>
                  <a:srgbClr val="E8453C"/>
                </a:solidFill>
                <a:latin typeface="MiSans"/>
                <a:ea typeface="MiSans"/>
              </a:rPr>
              <a:t>КОМПЛЕКСНАЯ ПОМОЩЬ </a:t>
            </a:r>
            <a:r>
              <a:rPr lang="ru-RU" sz="2500" b="1" dirty="0">
                <a:solidFill>
                  <a:schemeClr val="bg1"/>
                </a:solidFill>
                <a:latin typeface="MiSans"/>
                <a:ea typeface="MiSans"/>
              </a:rPr>
              <a:t>БИЗНЕСУ</a:t>
            </a:r>
            <a:r>
              <a:rPr lang="en-US" sz="2500" b="1" dirty="0">
                <a:solidFill>
                  <a:srgbClr val="F5F5F7"/>
                </a:solidFill>
                <a:latin typeface="MiSans"/>
                <a:ea typeface="MiSans"/>
              </a:rPr>
              <a:t> В ОДНОЙ СИСТЕМЕ</a:t>
            </a:r>
            <a:endParaRPr lang="en-US" sz="2500" dirty="0"/>
          </a:p>
        </p:txBody>
      </p:sp>
      <p:sp>
        <p:nvSpPr>
          <p:cNvPr id="4" name="subtitle"/>
          <p:cNvSpPr txBox="1"/>
          <p:nvPr/>
        </p:nvSpPr>
        <p:spPr>
          <a:xfrm>
            <a:off x="711200" y="990600"/>
            <a:ext cx="107696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300" dirty="0" err="1">
                <a:solidFill>
                  <a:srgbClr val="9A9AA8"/>
                </a:solidFill>
                <a:latin typeface="MiSans"/>
                <a:ea typeface="MiSans"/>
              </a:rPr>
              <a:t>Каждый</a:t>
            </a:r>
            <a:r>
              <a:rPr lang="en-US" sz="13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300" dirty="0" err="1">
                <a:solidFill>
                  <a:srgbClr val="9A9AA8"/>
                </a:solidFill>
                <a:latin typeface="MiSans"/>
                <a:ea typeface="MiSans"/>
              </a:rPr>
              <a:t>модуль</a:t>
            </a:r>
            <a:r>
              <a:rPr lang="en-US" sz="13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300" dirty="0" err="1">
                <a:solidFill>
                  <a:srgbClr val="9A9AA8"/>
                </a:solidFill>
                <a:latin typeface="MiSans"/>
                <a:ea typeface="MiSans"/>
              </a:rPr>
              <a:t>решает</a:t>
            </a:r>
            <a:r>
              <a:rPr lang="en-US" sz="13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300" dirty="0" err="1">
                <a:solidFill>
                  <a:srgbClr val="9A9AA8"/>
                </a:solidFill>
                <a:latin typeface="MiSans"/>
                <a:ea typeface="MiSans"/>
              </a:rPr>
              <a:t>свою</a:t>
            </a:r>
            <a:r>
              <a:rPr lang="en-US" sz="13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300" dirty="0" err="1">
                <a:solidFill>
                  <a:srgbClr val="9A9AA8"/>
                </a:solidFill>
                <a:latin typeface="MiSans"/>
                <a:ea typeface="MiSans"/>
              </a:rPr>
              <a:t>задачу</a:t>
            </a:r>
            <a:r>
              <a:rPr lang="en-US" sz="1300" dirty="0">
                <a:solidFill>
                  <a:srgbClr val="9A9AA8"/>
                </a:solidFill>
                <a:latin typeface="MiSans"/>
                <a:ea typeface="MiSans"/>
              </a:rPr>
              <a:t>, а </a:t>
            </a:r>
            <a:r>
              <a:rPr lang="en-US" sz="1300" dirty="0" err="1">
                <a:solidFill>
                  <a:srgbClr val="9A9AA8"/>
                </a:solidFill>
                <a:latin typeface="MiSans"/>
                <a:ea typeface="MiSans"/>
              </a:rPr>
              <a:t>вместе</a:t>
            </a:r>
            <a:r>
              <a:rPr lang="en-US" sz="13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300" dirty="0" err="1">
                <a:solidFill>
                  <a:srgbClr val="9A9AA8"/>
                </a:solidFill>
                <a:latin typeface="MiSans"/>
                <a:ea typeface="MiSans"/>
              </a:rPr>
              <a:t>они</a:t>
            </a:r>
            <a:r>
              <a:rPr lang="en-US" sz="13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300" dirty="0" err="1">
                <a:solidFill>
                  <a:srgbClr val="9A9AA8"/>
                </a:solidFill>
                <a:latin typeface="MiSans"/>
                <a:ea typeface="MiSans"/>
              </a:rPr>
              <a:t>работают</a:t>
            </a:r>
            <a:r>
              <a:rPr lang="en-US" sz="13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300" dirty="0" err="1">
                <a:solidFill>
                  <a:srgbClr val="9A9AA8"/>
                </a:solidFill>
                <a:latin typeface="MiSans"/>
                <a:ea typeface="MiSans"/>
              </a:rPr>
              <a:t>как</a:t>
            </a:r>
            <a:r>
              <a:rPr lang="en-US" sz="13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300" dirty="0" err="1">
                <a:solidFill>
                  <a:srgbClr val="9A9AA8"/>
                </a:solidFill>
                <a:latin typeface="MiSans"/>
                <a:ea typeface="MiSans"/>
              </a:rPr>
              <a:t>полноценное</a:t>
            </a:r>
            <a:r>
              <a:rPr lang="en-US" sz="1300" dirty="0">
                <a:solidFill>
                  <a:srgbClr val="9A9AA8"/>
                </a:solidFill>
                <a:latin typeface="MiSans"/>
                <a:ea typeface="MiSans"/>
              </a:rPr>
              <a:t> digital-</a:t>
            </a:r>
            <a:r>
              <a:rPr lang="en-US" sz="1300" dirty="0" err="1">
                <a:solidFill>
                  <a:srgbClr val="9A9AA8"/>
                </a:solidFill>
                <a:latin typeface="MiSans"/>
                <a:ea typeface="MiSans"/>
              </a:rPr>
              <a:t>агентство</a:t>
            </a:r>
            <a:r>
              <a:rPr lang="en-US" sz="1300" dirty="0">
                <a:solidFill>
                  <a:srgbClr val="9A9AA8"/>
                </a:solidFill>
                <a:latin typeface="MiSans"/>
                <a:ea typeface="MiSans"/>
              </a:rPr>
              <a:t> — </a:t>
            </a:r>
            <a:r>
              <a:rPr lang="en-US" sz="1300" dirty="0" err="1">
                <a:solidFill>
                  <a:srgbClr val="9A9AA8"/>
                </a:solidFill>
                <a:latin typeface="MiSans"/>
                <a:ea typeface="MiSans"/>
              </a:rPr>
              <a:t>только</a:t>
            </a:r>
            <a:r>
              <a:rPr lang="en-US" sz="13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300" dirty="0" err="1">
                <a:solidFill>
                  <a:srgbClr val="9A9AA8"/>
                </a:solidFill>
                <a:latin typeface="MiSans"/>
                <a:ea typeface="MiSans"/>
              </a:rPr>
              <a:t>быстрее</a:t>
            </a:r>
            <a:r>
              <a:rPr lang="en-US" sz="1300" dirty="0">
                <a:solidFill>
                  <a:srgbClr val="9A9AA8"/>
                </a:solidFill>
                <a:latin typeface="MiSans"/>
                <a:ea typeface="MiSans"/>
              </a:rPr>
              <a:t> и </a:t>
            </a:r>
            <a:r>
              <a:rPr lang="en-US" sz="1300" dirty="0" err="1">
                <a:solidFill>
                  <a:srgbClr val="9A9AA8"/>
                </a:solidFill>
                <a:latin typeface="MiSans"/>
                <a:ea typeface="MiSans"/>
              </a:rPr>
              <a:t>дешевле</a:t>
            </a:r>
            <a:endParaRPr lang="en-US" sz="1300" dirty="0"/>
          </a:p>
        </p:txBody>
      </p:sp>
      <p:sp>
        <p:nvSpPr>
          <p:cNvPr id="5" name="uniq-box"/>
          <p:cNvSpPr/>
          <p:nvPr/>
        </p:nvSpPr>
        <p:spPr>
          <a:xfrm>
            <a:off x="711200" y="1574800"/>
            <a:ext cx="10769600" cy="431800"/>
          </a:xfrm>
          <a:prstGeom prst="rect">
            <a:avLst/>
          </a:prstGeom>
          <a:solidFill>
            <a:srgbClr val="E8453C">
              <a:alpha val="7843"/>
            </a:srgbClr>
          </a:solidFill>
          <a:ln w="12700">
            <a:solidFill>
              <a:srgbClr val="E8453C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6" name="uniq-text"/>
          <p:cNvSpPr txBox="1"/>
          <p:nvPr/>
        </p:nvSpPr>
        <p:spPr>
          <a:xfrm>
            <a:off x="711200" y="1574800"/>
            <a:ext cx="107696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50" b="1" kern="0" spc="100">
                <a:solidFill>
                  <a:srgbClr val="F5F5F7"/>
                </a:solidFill>
                <a:latin typeface="MiSans"/>
                <a:ea typeface="MiSans"/>
              </a:rPr>
              <a:t>УНИКАЛЬНОСТЬ: ПЛАТФОРМА НЕ ТОЛЬКО ГЕНЕРИРУЕТ КОНТЕНТ — ОНА САМА ЕГО ПУБЛИКУЕТ</a:t>
            </a:r>
            <a:endParaRPr lang="en-US" sz="1250"/>
          </a:p>
        </p:txBody>
      </p:sp>
      <p:sp>
        <p:nvSpPr>
          <p:cNvPr id="7" name="c1"/>
          <p:cNvSpPr/>
          <p:nvPr/>
        </p:nvSpPr>
        <p:spPr>
          <a:xfrm>
            <a:off x="711200" y="2209800"/>
            <a:ext cx="3454400" cy="1625600"/>
          </a:xfrm>
          <a:prstGeom prst="rect">
            <a:avLst/>
          </a:prstGeom>
          <a:solidFill>
            <a:srgbClr val="13131B"/>
          </a:solidFill>
          <a:ln w="12700">
            <a:solidFill>
              <a:srgbClr val="262635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8" name="c1-bar"/>
          <p:cNvSpPr/>
          <p:nvPr/>
        </p:nvSpPr>
        <p:spPr>
          <a:xfrm>
            <a:off x="711200" y="2209800"/>
            <a:ext cx="38100" cy="1625600"/>
          </a:xfrm>
          <a:prstGeom prst="rect">
            <a:avLst/>
          </a:prstGeom>
          <a:solidFill>
            <a:srgbClr val="3D6BFF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9" name="c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eyJpY29uTmFtZSI6ImZhczpwZW4tbmliIn0</pptd:icon>
              </p:ext>
            </p:extLst>
          </p:nvPr>
        </p:nvSpPr>
        <p:spPr>
          <a:xfrm>
            <a:off x="965200" y="24130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369" y="18"/>
                </a:moveTo>
                <a:lnTo>
                  <a:pt x="318" y="68"/>
                </a:lnTo>
                <a:lnTo>
                  <a:pt x="444" y="194"/>
                </a:lnTo>
                <a:lnTo>
                  <a:pt x="494" y="144"/>
                </a:lnTo>
                <a:cubicBezTo>
                  <a:pt x="516" y="122"/>
                  <a:pt x="516" y="86"/>
                  <a:pt x="494" y="64"/>
                </a:cubicBezTo>
                <a:lnTo>
                  <a:pt x="448" y="18"/>
                </a:lnTo>
                <a:cubicBezTo>
                  <a:pt x="426" y="-4"/>
                  <a:pt x="390" y="-4"/>
                  <a:pt x="369" y="18"/>
                </a:cubicBezTo>
                <a:close/>
                <a:moveTo>
                  <a:pt x="279" y="97"/>
                </a:moveTo>
                <a:lnTo>
                  <a:pt x="279" y="97"/>
                </a:lnTo>
                <a:lnTo>
                  <a:pt x="135" y="141"/>
                </a:lnTo>
                <a:cubicBezTo>
                  <a:pt x="115" y="147"/>
                  <a:pt x="99" y="162"/>
                  <a:pt x="92" y="182"/>
                </a:cubicBezTo>
                <a:lnTo>
                  <a:pt x="4" y="446"/>
                </a:lnTo>
                <a:cubicBezTo>
                  <a:pt x="1" y="455"/>
                  <a:pt x="2" y="464"/>
                  <a:pt x="6" y="472"/>
                </a:cubicBezTo>
                <a:lnTo>
                  <a:pt x="162" y="316"/>
                </a:lnTo>
                <a:cubicBezTo>
                  <a:pt x="161" y="312"/>
                  <a:pt x="160" y="308"/>
                  <a:pt x="160" y="304"/>
                </a:cubicBezTo>
                <a:cubicBezTo>
                  <a:pt x="160" y="278"/>
                  <a:pt x="182" y="256"/>
                  <a:pt x="208" y="256"/>
                </a:cubicBezTo>
                <a:cubicBezTo>
                  <a:pt x="235" y="256"/>
                  <a:pt x="256" y="278"/>
                  <a:pt x="256" y="304"/>
                </a:cubicBezTo>
                <a:cubicBezTo>
                  <a:pt x="256" y="331"/>
                  <a:pt x="235" y="352"/>
                  <a:pt x="208" y="352"/>
                </a:cubicBezTo>
                <a:cubicBezTo>
                  <a:pt x="204" y="352"/>
                  <a:pt x="200" y="351"/>
                  <a:pt x="196" y="350"/>
                </a:cubicBezTo>
                <a:lnTo>
                  <a:pt x="40" y="506"/>
                </a:lnTo>
                <a:cubicBezTo>
                  <a:pt x="48" y="510"/>
                  <a:pt x="58" y="511"/>
                  <a:pt x="66" y="508"/>
                </a:cubicBezTo>
                <a:lnTo>
                  <a:pt x="331" y="420"/>
                </a:lnTo>
                <a:cubicBezTo>
                  <a:pt x="350" y="413"/>
                  <a:pt x="366" y="397"/>
                  <a:pt x="372" y="377"/>
                </a:cubicBezTo>
                <a:lnTo>
                  <a:pt x="415" y="233"/>
                </a:lnTo>
                <a:lnTo>
                  <a:pt x="415" y="233"/>
                </a:lnTo>
                <a:lnTo>
                  <a:pt x="279" y="97"/>
                </a:lnTo>
                <a:close/>
              </a:path>
            </a:pathLst>
          </a:custGeom>
          <a:solidFill>
            <a:srgbClr val="3D6BFF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10" name="c1-title"/>
          <p:cNvSpPr txBox="1"/>
          <p:nvPr/>
        </p:nvSpPr>
        <p:spPr>
          <a:xfrm>
            <a:off x="1397000" y="24384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F5F5F7"/>
                </a:solidFill>
                <a:latin typeface="MiSans"/>
                <a:ea typeface="MiSans"/>
              </a:rPr>
              <a:t>AI-КОПИРАЙТЕР</a:t>
            </a:r>
            <a:endParaRPr lang="en-US" sz="1350"/>
          </a:p>
        </p:txBody>
      </p:sp>
      <p:sp>
        <p:nvSpPr>
          <p:cNvPr id="11" name="c1-desc"/>
          <p:cNvSpPr txBox="1"/>
          <p:nvPr/>
        </p:nvSpPr>
        <p:spPr>
          <a:xfrm>
            <a:off x="965200" y="28956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Создаёт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экспертный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контент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о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продукте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клиента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в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его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tone of voice</a:t>
            </a:r>
            <a:endParaRPr lang="en-US" sz="1100" dirty="0"/>
          </a:p>
        </p:txBody>
      </p:sp>
      <p:sp>
        <p:nvSpPr>
          <p:cNvPr id="12" name="c2"/>
          <p:cNvSpPr/>
          <p:nvPr/>
        </p:nvSpPr>
        <p:spPr>
          <a:xfrm>
            <a:off x="4368800" y="2209800"/>
            <a:ext cx="3454400" cy="1625600"/>
          </a:xfrm>
          <a:prstGeom prst="rect">
            <a:avLst/>
          </a:prstGeom>
          <a:solidFill>
            <a:srgbClr val="13131B"/>
          </a:solidFill>
          <a:ln w="12700">
            <a:solidFill>
              <a:srgbClr val="262635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13" name="c2-bar"/>
          <p:cNvSpPr/>
          <p:nvPr/>
        </p:nvSpPr>
        <p:spPr>
          <a:xfrm>
            <a:off x="4368800" y="2209800"/>
            <a:ext cx="38100" cy="1625600"/>
          </a:xfrm>
          <a:prstGeom prst="rect">
            <a:avLst/>
          </a:prstGeom>
          <a:solidFill>
            <a:srgbClr val="3D6BFF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14" name="c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eyJpY29uTmFtZSI6ImZhczpzaGllbGQtaGFsdmVkIn0</pptd:icon>
              </p:ext>
            </p:extLst>
          </p:nvPr>
        </p:nvSpPr>
        <p:spPr>
          <a:xfrm>
            <a:off x="4622800" y="24130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256" y="0"/>
                </a:moveTo>
                <a:cubicBezTo>
                  <a:pt x="261" y="0"/>
                  <a:pt x="265" y="1"/>
                  <a:pt x="269" y="3"/>
                </a:cubicBezTo>
                <a:lnTo>
                  <a:pt x="458" y="83"/>
                </a:lnTo>
                <a:cubicBezTo>
                  <a:pt x="480" y="92"/>
                  <a:pt x="496" y="114"/>
                  <a:pt x="496" y="140"/>
                </a:cubicBezTo>
                <a:cubicBezTo>
                  <a:pt x="496" y="239"/>
                  <a:pt x="455" y="421"/>
                  <a:pt x="283" y="503"/>
                </a:cubicBezTo>
                <a:cubicBezTo>
                  <a:pt x="266" y="511"/>
                  <a:pt x="246" y="511"/>
                  <a:pt x="230" y="503"/>
                </a:cubicBezTo>
                <a:cubicBezTo>
                  <a:pt x="57" y="421"/>
                  <a:pt x="17" y="239"/>
                  <a:pt x="16" y="140"/>
                </a:cubicBezTo>
                <a:cubicBezTo>
                  <a:pt x="16" y="114"/>
                  <a:pt x="32" y="92"/>
                  <a:pt x="54" y="83"/>
                </a:cubicBezTo>
                <a:lnTo>
                  <a:pt x="243" y="3"/>
                </a:lnTo>
                <a:cubicBezTo>
                  <a:pt x="247" y="1"/>
                  <a:pt x="251" y="0"/>
                  <a:pt x="256" y="0"/>
                </a:cubicBezTo>
                <a:close/>
                <a:moveTo>
                  <a:pt x="256" y="67"/>
                </a:moveTo>
                <a:lnTo>
                  <a:pt x="256" y="445"/>
                </a:lnTo>
                <a:cubicBezTo>
                  <a:pt x="394" y="378"/>
                  <a:pt x="431" y="230"/>
                  <a:pt x="432" y="142"/>
                </a:cubicBezTo>
                <a:lnTo>
                  <a:pt x="256" y="67"/>
                </a:lnTo>
                <a:lnTo>
                  <a:pt x="256" y="67"/>
                </a:lnTo>
                <a:close/>
              </a:path>
            </a:pathLst>
          </a:custGeom>
          <a:solidFill>
            <a:srgbClr val="3D6BFF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15" name="c2-title"/>
          <p:cNvSpPr txBox="1"/>
          <p:nvPr/>
        </p:nvSpPr>
        <p:spPr>
          <a:xfrm>
            <a:off x="5054600" y="24384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F5F5F7"/>
                </a:solidFill>
                <a:latin typeface="MiSans"/>
                <a:ea typeface="MiSans"/>
              </a:rPr>
              <a:t>AI-МОДЕРАТОР</a:t>
            </a:r>
            <a:endParaRPr lang="en-US" sz="1350"/>
          </a:p>
        </p:txBody>
      </p:sp>
      <p:sp>
        <p:nvSpPr>
          <p:cNvPr id="16" name="c2-desc"/>
          <p:cNvSpPr txBox="1"/>
          <p:nvPr/>
        </p:nvSpPr>
        <p:spPr>
          <a:xfrm>
            <a:off x="4622800" y="28956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Проверяет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каждый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материал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перед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публикацией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и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формирует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контент-план</a:t>
            </a:r>
            <a:endParaRPr lang="en-US" sz="1100" dirty="0"/>
          </a:p>
        </p:txBody>
      </p:sp>
      <p:sp>
        <p:nvSpPr>
          <p:cNvPr id="17" name="c3"/>
          <p:cNvSpPr/>
          <p:nvPr/>
        </p:nvSpPr>
        <p:spPr>
          <a:xfrm>
            <a:off x="8026400" y="2209800"/>
            <a:ext cx="3454400" cy="1625600"/>
          </a:xfrm>
          <a:prstGeom prst="rect">
            <a:avLst/>
          </a:prstGeom>
          <a:solidFill>
            <a:srgbClr val="13131B"/>
          </a:solidFill>
          <a:ln w="12700">
            <a:solidFill>
              <a:srgbClr val="262635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18" name="c3-bar"/>
          <p:cNvSpPr/>
          <p:nvPr/>
        </p:nvSpPr>
        <p:spPr>
          <a:xfrm>
            <a:off x="8026400" y="2209800"/>
            <a:ext cx="38100" cy="1625600"/>
          </a:xfrm>
          <a:prstGeom prst="rect">
            <a:avLst/>
          </a:prstGeom>
          <a:solidFill>
            <a:srgbClr val="3D6BFF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19" name="c3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eyJpY29uTmFtZSI6ImZhczpjaGVzcyJ9</pptd:icon>
              </p:ext>
            </p:extLst>
          </p:nvPr>
        </p:nvSpPr>
        <p:spPr>
          <a:xfrm>
            <a:off x="8280400" y="24130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168" y="56"/>
                </a:moveTo>
                <a:lnTo>
                  <a:pt x="168" y="96"/>
                </a:lnTo>
                <a:lnTo>
                  <a:pt x="90" y="96"/>
                </a:lnTo>
                <a:cubicBezTo>
                  <a:pt x="76" y="96"/>
                  <a:pt x="64" y="108"/>
                  <a:pt x="64" y="122"/>
                </a:cubicBezTo>
                <a:cubicBezTo>
                  <a:pt x="64" y="126"/>
                  <a:pt x="65" y="130"/>
                  <a:pt x="67" y="134"/>
                </a:cubicBezTo>
                <a:lnTo>
                  <a:pt x="100" y="200"/>
                </a:lnTo>
                <a:cubicBezTo>
                  <a:pt x="89" y="202"/>
                  <a:pt x="80" y="212"/>
                  <a:pt x="80" y="224"/>
                </a:cubicBezTo>
                <a:cubicBezTo>
                  <a:pt x="80" y="237"/>
                  <a:pt x="91" y="248"/>
                  <a:pt x="104" y="248"/>
                </a:cubicBezTo>
                <a:lnTo>
                  <a:pt x="109" y="248"/>
                </a:lnTo>
                <a:lnTo>
                  <a:pt x="96" y="384"/>
                </a:lnTo>
                <a:lnTo>
                  <a:pt x="40" y="454"/>
                </a:lnTo>
                <a:cubicBezTo>
                  <a:pt x="35" y="461"/>
                  <a:pt x="32" y="468"/>
                  <a:pt x="32" y="477"/>
                </a:cubicBezTo>
                <a:cubicBezTo>
                  <a:pt x="32" y="496"/>
                  <a:pt x="48" y="512"/>
                  <a:pt x="67" y="512"/>
                </a:cubicBezTo>
                <a:lnTo>
                  <a:pt x="316" y="512"/>
                </a:lnTo>
                <a:cubicBezTo>
                  <a:pt x="336" y="512"/>
                  <a:pt x="352" y="496"/>
                  <a:pt x="352" y="477"/>
                </a:cubicBezTo>
                <a:cubicBezTo>
                  <a:pt x="352" y="468"/>
                  <a:pt x="349" y="461"/>
                  <a:pt x="344" y="454"/>
                </a:cubicBezTo>
                <a:lnTo>
                  <a:pt x="288" y="384"/>
                </a:lnTo>
                <a:lnTo>
                  <a:pt x="274" y="248"/>
                </a:lnTo>
                <a:lnTo>
                  <a:pt x="280" y="248"/>
                </a:lnTo>
                <a:cubicBezTo>
                  <a:pt x="293" y="248"/>
                  <a:pt x="304" y="237"/>
                  <a:pt x="304" y="224"/>
                </a:cubicBezTo>
                <a:cubicBezTo>
                  <a:pt x="304" y="212"/>
                  <a:pt x="295" y="202"/>
                  <a:pt x="284" y="200"/>
                </a:cubicBezTo>
                <a:lnTo>
                  <a:pt x="317" y="134"/>
                </a:lnTo>
                <a:cubicBezTo>
                  <a:pt x="319" y="130"/>
                  <a:pt x="320" y="126"/>
                  <a:pt x="320" y="122"/>
                </a:cubicBezTo>
                <a:cubicBezTo>
                  <a:pt x="320" y="108"/>
                  <a:pt x="308" y="96"/>
                  <a:pt x="294" y="96"/>
                </a:cubicBezTo>
                <a:lnTo>
                  <a:pt x="216" y="96"/>
                </a:lnTo>
                <a:lnTo>
                  <a:pt x="216" y="56"/>
                </a:lnTo>
                <a:lnTo>
                  <a:pt x="232" y="56"/>
                </a:lnTo>
                <a:cubicBezTo>
                  <a:pt x="245" y="56"/>
                  <a:pt x="256" y="45"/>
                  <a:pt x="256" y="32"/>
                </a:cubicBezTo>
                <a:cubicBezTo>
                  <a:pt x="256" y="19"/>
                  <a:pt x="245" y="8"/>
                  <a:pt x="232" y="8"/>
                </a:cubicBezTo>
                <a:lnTo>
                  <a:pt x="216" y="8"/>
                </a:lnTo>
                <a:lnTo>
                  <a:pt x="216" y="-8"/>
                </a:lnTo>
                <a:cubicBezTo>
                  <a:pt x="216" y="-21"/>
                  <a:pt x="205" y="-32"/>
                  <a:pt x="192" y="-32"/>
                </a:cubicBezTo>
                <a:cubicBezTo>
                  <a:pt x="179" y="-32"/>
                  <a:pt x="168" y="-21"/>
                  <a:pt x="168" y="-8"/>
                </a:cubicBezTo>
                <a:lnTo>
                  <a:pt x="168" y="8"/>
                </a:lnTo>
                <a:lnTo>
                  <a:pt x="152" y="8"/>
                </a:lnTo>
                <a:cubicBezTo>
                  <a:pt x="139" y="8"/>
                  <a:pt x="128" y="19"/>
                  <a:pt x="128" y="32"/>
                </a:cubicBezTo>
                <a:cubicBezTo>
                  <a:pt x="128" y="45"/>
                  <a:pt x="139" y="56"/>
                  <a:pt x="152" y="56"/>
                </a:cubicBezTo>
                <a:lnTo>
                  <a:pt x="168" y="56"/>
                </a:lnTo>
                <a:close/>
                <a:moveTo>
                  <a:pt x="326" y="280"/>
                </a:moveTo>
                <a:lnTo>
                  <a:pt x="334" y="365"/>
                </a:lnTo>
                <a:lnTo>
                  <a:pt x="382" y="424"/>
                </a:lnTo>
                <a:lnTo>
                  <a:pt x="386" y="430"/>
                </a:lnTo>
                <a:cubicBezTo>
                  <a:pt x="395" y="444"/>
                  <a:pt x="400" y="460"/>
                  <a:pt x="400" y="477"/>
                </a:cubicBezTo>
                <a:cubicBezTo>
                  <a:pt x="400" y="489"/>
                  <a:pt x="397" y="501"/>
                  <a:pt x="392" y="512"/>
                </a:cubicBezTo>
                <a:lnTo>
                  <a:pt x="475" y="512"/>
                </a:lnTo>
                <a:cubicBezTo>
                  <a:pt x="496" y="512"/>
                  <a:pt x="512" y="496"/>
                  <a:pt x="512" y="475"/>
                </a:cubicBezTo>
                <a:cubicBezTo>
                  <a:pt x="512" y="468"/>
                  <a:pt x="510" y="461"/>
                  <a:pt x="506" y="455"/>
                </a:cubicBezTo>
                <a:lnTo>
                  <a:pt x="480" y="416"/>
                </a:lnTo>
                <a:lnTo>
                  <a:pt x="480" y="352"/>
                </a:lnTo>
                <a:lnTo>
                  <a:pt x="493" y="339"/>
                </a:lnTo>
                <a:cubicBezTo>
                  <a:pt x="505" y="327"/>
                  <a:pt x="512" y="311"/>
                  <a:pt x="512" y="294"/>
                </a:cubicBezTo>
                <a:lnTo>
                  <a:pt x="512" y="192"/>
                </a:lnTo>
                <a:cubicBezTo>
                  <a:pt x="512" y="174"/>
                  <a:pt x="498" y="160"/>
                  <a:pt x="480" y="160"/>
                </a:cubicBezTo>
                <a:cubicBezTo>
                  <a:pt x="462" y="160"/>
                  <a:pt x="448" y="174"/>
                  <a:pt x="448" y="192"/>
                </a:cubicBezTo>
                <a:lnTo>
                  <a:pt x="448" y="208"/>
                </a:lnTo>
                <a:lnTo>
                  <a:pt x="416" y="208"/>
                </a:lnTo>
                <a:lnTo>
                  <a:pt x="416" y="192"/>
                </a:lnTo>
                <a:cubicBezTo>
                  <a:pt x="416" y="174"/>
                  <a:pt x="402" y="160"/>
                  <a:pt x="384" y="160"/>
                </a:cubicBezTo>
                <a:cubicBezTo>
                  <a:pt x="366" y="160"/>
                  <a:pt x="352" y="174"/>
                  <a:pt x="352" y="192"/>
                </a:cubicBezTo>
                <a:lnTo>
                  <a:pt x="352" y="224"/>
                </a:lnTo>
                <a:cubicBezTo>
                  <a:pt x="352" y="246"/>
                  <a:pt x="342" y="266"/>
                  <a:pt x="326" y="280"/>
                </a:cubicBezTo>
                <a:close/>
              </a:path>
            </a:pathLst>
          </a:custGeom>
          <a:solidFill>
            <a:srgbClr val="3D6BFF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20" name="c3-title"/>
          <p:cNvSpPr txBox="1"/>
          <p:nvPr/>
        </p:nvSpPr>
        <p:spPr>
          <a:xfrm>
            <a:off x="8712200" y="24384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F5F5F7"/>
                </a:solidFill>
                <a:latin typeface="MiSans"/>
                <a:ea typeface="MiSans"/>
              </a:rPr>
              <a:t>AI-СТРАТЕГ</a:t>
            </a:r>
            <a:endParaRPr lang="en-US" sz="1350"/>
          </a:p>
        </p:txBody>
      </p:sp>
      <p:sp>
        <p:nvSpPr>
          <p:cNvPr id="21" name="c3-desc"/>
          <p:cNvSpPr txBox="1"/>
          <p:nvPr/>
        </p:nvSpPr>
        <p:spPr>
          <a:xfrm>
            <a:off x="8280400" y="28956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Строит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стратегию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продвижения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в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нейровыдаче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под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нишу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клиента</a:t>
            </a:r>
            <a:endParaRPr lang="en-US" sz="1100" dirty="0"/>
          </a:p>
        </p:txBody>
      </p:sp>
      <p:sp>
        <p:nvSpPr>
          <p:cNvPr id="22" name="c4"/>
          <p:cNvSpPr/>
          <p:nvPr/>
        </p:nvSpPr>
        <p:spPr>
          <a:xfrm>
            <a:off x="711200" y="4038600"/>
            <a:ext cx="3454400" cy="1625600"/>
          </a:xfrm>
          <a:prstGeom prst="rect">
            <a:avLst/>
          </a:prstGeom>
          <a:solidFill>
            <a:srgbClr val="13131B"/>
          </a:solidFill>
          <a:ln w="12700">
            <a:solidFill>
              <a:srgbClr val="262635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23" name="c4-bar"/>
          <p:cNvSpPr/>
          <p:nvPr/>
        </p:nvSpPr>
        <p:spPr>
          <a:xfrm>
            <a:off x="711200" y="4038600"/>
            <a:ext cx="38100" cy="1625600"/>
          </a:xfrm>
          <a:prstGeom prst="rect">
            <a:avLst/>
          </a:prstGeom>
          <a:solidFill>
            <a:srgbClr val="E8453C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24" name="c4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eyJpY29uTmFtZSI6ImZhczpjaGFydC1waWUifQ</pptd:icon>
              </p:ext>
            </p:extLst>
          </p:nvPr>
        </p:nvSpPr>
        <p:spPr>
          <a:xfrm>
            <a:off x="965200" y="42418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512" y="240"/>
                </a:moveTo>
                <a:lnTo>
                  <a:pt x="336" y="240"/>
                </a:lnTo>
                <a:cubicBezTo>
                  <a:pt x="319" y="240"/>
                  <a:pt x="304" y="226"/>
                  <a:pt x="304" y="208"/>
                </a:cubicBezTo>
                <a:lnTo>
                  <a:pt x="304" y="32"/>
                </a:lnTo>
                <a:cubicBezTo>
                  <a:pt x="304" y="14"/>
                  <a:pt x="319" y="0"/>
                  <a:pt x="336" y="2"/>
                </a:cubicBezTo>
                <a:cubicBezTo>
                  <a:pt x="443" y="16"/>
                  <a:pt x="528" y="101"/>
                  <a:pt x="542" y="208"/>
                </a:cubicBezTo>
                <a:cubicBezTo>
                  <a:pt x="545" y="226"/>
                  <a:pt x="530" y="240"/>
                  <a:pt x="512" y="240"/>
                </a:cubicBezTo>
                <a:close/>
              </a:path>
              <a:path w="576" h="512">
                <a:moveTo>
                  <a:pt x="223" y="37"/>
                </a:moveTo>
                <a:cubicBezTo>
                  <a:pt x="241" y="33"/>
                  <a:pt x="256" y="48"/>
                  <a:pt x="256" y="67"/>
                </a:cubicBezTo>
                <a:lnTo>
                  <a:pt x="256" y="264"/>
                </a:lnTo>
                <a:cubicBezTo>
                  <a:pt x="256" y="270"/>
                  <a:pt x="258" y="275"/>
                  <a:pt x="262" y="279"/>
                </a:cubicBezTo>
                <a:lnTo>
                  <a:pt x="394" y="439"/>
                </a:lnTo>
                <a:cubicBezTo>
                  <a:pt x="406" y="453"/>
                  <a:pt x="403" y="474"/>
                  <a:pt x="387" y="483"/>
                </a:cubicBezTo>
                <a:cubicBezTo>
                  <a:pt x="353" y="501"/>
                  <a:pt x="314" y="512"/>
                  <a:pt x="272" y="512"/>
                </a:cubicBezTo>
                <a:cubicBezTo>
                  <a:pt x="140" y="512"/>
                  <a:pt x="32" y="405"/>
                  <a:pt x="32" y="272"/>
                </a:cubicBezTo>
                <a:cubicBezTo>
                  <a:pt x="32" y="157"/>
                  <a:pt x="114" y="60"/>
                  <a:pt x="223" y="37"/>
                </a:cubicBezTo>
                <a:close/>
              </a:path>
              <a:path w="576" h="512">
                <a:moveTo>
                  <a:pt x="478" y="288"/>
                </a:moveTo>
                <a:lnTo>
                  <a:pt x="542" y="288"/>
                </a:lnTo>
                <a:cubicBezTo>
                  <a:pt x="560" y="288"/>
                  <a:pt x="575" y="304"/>
                  <a:pt x="571" y="322"/>
                </a:cubicBezTo>
                <a:cubicBezTo>
                  <a:pt x="561" y="370"/>
                  <a:pt x="536" y="413"/>
                  <a:pt x="502" y="446"/>
                </a:cubicBezTo>
                <a:cubicBezTo>
                  <a:pt x="489" y="458"/>
                  <a:pt x="470" y="455"/>
                  <a:pt x="459" y="442"/>
                </a:cubicBezTo>
                <a:lnTo>
                  <a:pt x="375" y="340"/>
                </a:lnTo>
                <a:cubicBezTo>
                  <a:pt x="358" y="320"/>
                  <a:pt x="373" y="288"/>
                  <a:pt x="400" y="288"/>
                </a:cubicBezTo>
                <a:lnTo>
                  <a:pt x="478" y="288"/>
                </a:lnTo>
                <a:close/>
              </a:path>
            </a:pathLst>
          </a:custGeom>
          <a:solidFill>
            <a:srgbClr val="E8453C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25" name="c4-title"/>
          <p:cNvSpPr txBox="1"/>
          <p:nvPr/>
        </p:nvSpPr>
        <p:spPr>
          <a:xfrm>
            <a:off x="1397000" y="42672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F5F5F7"/>
                </a:solidFill>
                <a:latin typeface="MiSans"/>
                <a:ea typeface="MiSans"/>
              </a:rPr>
              <a:t>МОДУЛЬ АНАЛИТИКИ</a:t>
            </a:r>
            <a:endParaRPr lang="en-US" sz="1350"/>
          </a:p>
        </p:txBody>
      </p:sp>
      <p:sp>
        <p:nvSpPr>
          <p:cNvPr id="26" name="c4-desc"/>
          <p:cNvSpPr txBox="1"/>
          <p:nvPr/>
        </p:nvSpPr>
        <p:spPr>
          <a:xfrm>
            <a:off x="965200" y="47244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Отслеживает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присутствие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бренда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в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нейросетях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и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поисковых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системах</a:t>
            </a:r>
            <a:endParaRPr lang="en-US" sz="1100" dirty="0"/>
          </a:p>
        </p:txBody>
      </p:sp>
      <p:sp>
        <p:nvSpPr>
          <p:cNvPr id="27" name="c5"/>
          <p:cNvSpPr/>
          <p:nvPr/>
        </p:nvSpPr>
        <p:spPr>
          <a:xfrm>
            <a:off x="4368800" y="4038600"/>
            <a:ext cx="3454400" cy="1625600"/>
          </a:xfrm>
          <a:prstGeom prst="rect">
            <a:avLst/>
          </a:prstGeom>
          <a:solidFill>
            <a:srgbClr val="13131B"/>
          </a:solidFill>
          <a:ln w="12700">
            <a:solidFill>
              <a:srgbClr val="262635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28" name="c5-bar"/>
          <p:cNvSpPr/>
          <p:nvPr/>
        </p:nvSpPr>
        <p:spPr>
          <a:xfrm>
            <a:off x="4368800" y="4038600"/>
            <a:ext cx="38100" cy="1625600"/>
          </a:xfrm>
          <a:prstGeom prst="rect">
            <a:avLst/>
          </a:prstGeom>
          <a:solidFill>
            <a:srgbClr val="E8453C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29" name="c5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eyJpY29uTmFtZSI6ImZhczptaWNyb3Njb3BlIn0</pptd:icon>
              </p:ext>
            </p:extLst>
          </p:nvPr>
        </p:nvSpPr>
        <p:spPr>
          <a:xfrm>
            <a:off x="4622800" y="42418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176" y="0"/>
                </a:moveTo>
                <a:cubicBezTo>
                  <a:pt x="150" y="0"/>
                  <a:pt x="128" y="22"/>
                  <a:pt x="128" y="48"/>
                </a:cubicBezTo>
                <a:lnTo>
                  <a:pt x="128" y="256"/>
                </a:lnTo>
                <a:cubicBezTo>
                  <a:pt x="128" y="283"/>
                  <a:pt x="150" y="304"/>
                  <a:pt x="176" y="304"/>
                </a:cubicBezTo>
                <a:lnTo>
                  <a:pt x="240" y="304"/>
                </a:lnTo>
                <a:cubicBezTo>
                  <a:pt x="267" y="304"/>
                  <a:pt x="288" y="283"/>
                  <a:pt x="288" y="256"/>
                </a:cubicBezTo>
                <a:lnTo>
                  <a:pt x="288" y="192"/>
                </a:lnTo>
                <a:lnTo>
                  <a:pt x="320" y="192"/>
                </a:lnTo>
                <a:cubicBezTo>
                  <a:pt x="391" y="192"/>
                  <a:pt x="448" y="249"/>
                  <a:pt x="448" y="320"/>
                </a:cubicBezTo>
                <a:cubicBezTo>
                  <a:pt x="448" y="391"/>
                  <a:pt x="391" y="448"/>
                  <a:pt x="320" y="448"/>
                </a:cubicBezTo>
                <a:lnTo>
                  <a:pt x="32" y="448"/>
                </a:lnTo>
                <a:cubicBezTo>
                  <a:pt x="14" y="448"/>
                  <a:pt x="0" y="462"/>
                  <a:pt x="0" y="480"/>
                </a:cubicBezTo>
                <a:cubicBezTo>
                  <a:pt x="0" y="498"/>
                  <a:pt x="14" y="512"/>
                  <a:pt x="32" y="512"/>
                </a:cubicBezTo>
                <a:lnTo>
                  <a:pt x="480" y="512"/>
                </a:lnTo>
                <a:cubicBezTo>
                  <a:pt x="498" y="512"/>
                  <a:pt x="512" y="498"/>
                  <a:pt x="512" y="480"/>
                </a:cubicBezTo>
                <a:cubicBezTo>
                  <a:pt x="512" y="462"/>
                  <a:pt x="498" y="448"/>
                  <a:pt x="480" y="448"/>
                </a:cubicBezTo>
                <a:lnTo>
                  <a:pt x="463" y="448"/>
                </a:lnTo>
                <a:cubicBezTo>
                  <a:pt x="494" y="414"/>
                  <a:pt x="512" y="369"/>
                  <a:pt x="512" y="320"/>
                </a:cubicBezTo>
                <a:cubicBezTo>
                  <a:pt x="512" y="214"/>
                  <a:pt x="426" y="128"/>
                  <a:pt x="320" y="128"/>
                </a:cubicBezTo>
                <a:lnTo>
                  <a:pt x="288" y="128"/>
                </a:lnTo>
                <a:lnTo>
                  <a:pt x="288" y="48"/>
                </a:lnTo>
                <a:cubicBezTo>
                  <a:pt x="288" y="22"/>
                  <a:pt x="267" y="0"/>
                  <a:pt x="240" y="0"/>
                </a:cubicBezTo>
                <a:lnTo>
                  <a:pt x="176" y="0"/>
                </a:lnTo>
                <a:close/>
                <a:moveTo>
                  <a:pt x="120" y="352"/>
                </a:moveTo>
                <a:cubicBezTo>
                  <a:pt x="107" y="352"/>
                  <a:pt x="96" y="363"/>
                  <a:pt x="96" y="376"/>
                </a:cubicBezTo>
                <a:cubicBezTo>
                  <a:pt x="96" y="389"/>
                  <a:pt x="107" y="400"/>
                  <a:pt x="120" y="400"/>
                </a:cubicBezTo>
                <a:lnTo>
                  <a:pt x="296" y="400"/>
                </a:lnTo>
                <a:cubicBezTo>
                  <a:pt x="309" y="400"/>
                  <a:pt x="320" y="389"/>
                  <a:pt x="320" y="376"/>
                </a:cubicBezTo>
                <a:cubicBezTo>
                  <a:pt x="320" y="363"/>
                  <a:pt x="309" y="352"/>
                  <a:pt x="296" y="352"/>
                </a:cubicBezTo>
                <a:lnTo>
                  <a:pt x="120" y="352"/>
                </a:lnTo>
                <a:close/>
              </a:path>
            </a:pathLst>
          </a:custGeom>
          <a:solidFill>
            <a:srgbClr val="E8453C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30" name="c5-title"/>
          <p:cNvSpPr txBox="1"/>
          <p:nvPr/>
        </p:nvSpPr>
        <p:spPr>
          <a:xfrm>
            <a:off x="5054600" y="42672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F5F5F7"/>
                </a:solidFill>
                <a:latin typeface="MiSans"/>
                <a:ea typeface="MiSans"/>
              </a:rPr>
              <a:t>AI-ИССЛЕДОВАТЕЛЬ</a:t>
            </a:r>
            <a:endParaRPr lang="en-US" sz="1350"/>
          </a:p>
        </p:txBody>
      </p:sp>
      <p:sp>
        <p:nvSpPr>
          <p:cNvPr id="31" name="c5-desc"/>
          <p:cNvSpPr txBox="1"/>
          <p:nvPr/>
        </p:nvSpPr>
        <p:spPr>
          <a:xfrm>
            <a:off x="4622800" y="47244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Анализирует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конкурентов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и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целевую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аудиторию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в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нише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клиента</a:t>
            </a:r>
            <a:endParaRPr lang="en-US" sz="1100" dirty="0"/>
          </a:p>
        </p:txBody>
      </p:sp>
      <p:sp>
        <p:nvSpPr>
          <p:cNvPr id="32" name="c6"/>
          <p:cNvSpPr/>
          <p:nvPr/>
        </p:nvSpPr>
        <p:spPr>
          <a:xfrm>
            <a:off x="8026400" y="4038600"/>
            <a:ext cx="3454400" cy="1625600"/>
          </a:xfrm>
          <a:prstGeom prst="rect">
            <a:avLst/>
          </a:prstGeom>
          <a:solidFill>
            <a:srgbClr val="13131B"/>
          </a:solidFill>
          <a:ln w="12700">
            <a:solidFill>
              <a:srgbClr val="262635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33" name="c6-bar"/>
          <p:cNvSpPr/>
          <p:nvPr/>
        </p:nvSpPr>
        <p:spPr>
          <a:xfrm>
            <a:off x="8026400" y="4038600"/>
            <a:ext cx="38100" cy="1625600"/>
          </a:xfrm>
          <a:prstGeom prst="rect">
            <a:avLst/>
          </a:prstGeom>
          <a:solidFill>
            <a:srgbClr val="E8453C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34" name="c6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eyJpY29uTmFtZSI6ImZhczpwYWxldHRlIn0</pptd:icon>
              </p:ext>
            </p:extLst>
          </p:nvPr>
        </p:nvSpPr>
        <p:spPr>
          <a:xfrm>
            <a:off x="8280400" y="42418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12" y="256"/>
                </a:moveTo>
                <a:cubicBezTo>
                  <a:pt x="512" y="257"/>
                  <a:pt x="512" y="258"/>
                  <a:pt x="512" y="259"/>
                </a:cubicBezTo>
                <a:cubicBezTo>
                  <a:pt x="512" y="295"/>
                  <a:pt x="478" y="320"/>
                  <a:pt x="442" y="320"/>
                </a:cubicBezTo>
                <a:lnTo>
                  <a:pt x="344" y="320"/>
                </a:lnTo>
                <a:cubicBezTo>
                  <a:pt x="318" y="320"/>
                  <a:pt x="296" y="342"/>
                  <a:pt x="296" y="368"/>
                </a:cubicBezTo>
                <a:cubicBezTo>
                  <a:pt x="296" y="371"/>
                  <a:pt x="296" y="375"/>
                  <a:pt x="297" y="378"/>
                </a:cubicBezTo>
                <a:cubicBezTo>
                  <a:pt x="299" y="388"/>
                  <a:pt x="304" y="398"/>
                  <a:pt x="308" y="408"/>
                </a:cubicBezTo>
                <a:cubicBezTo>
                  <a:pt x="314" y="422"/>
                  <a:pt x="320" y="435"/>
                  <a:pt x="320" y="450"/>
                </a:cubicBezTo>
                <a:cubicBezTo>
                  <a:pt x="320" y="482"/>
                  <a:pt x="298" y="510"/>
                  <a:pt x="267" y="512"/>
                </a:cubicBezTo>
                <a:cubicBezTo>
                  <a:pt x="263" y="512"/>
                  <a:pt x="260" y="512"/>
                  <a:pt x="256" y="512"/>
                </a:cubicBezTo>
                <a:cubicBezTo>
                  <a:pt x="115" y="512"/>
                  <a:pt x="0" y="397"/>
                  <a:pt x="0" y="256"/>
                </a:cubicBezTo>
                <a:cubicBezTo>
                  <a:pt x="0" y="115"/>
                  <a:pt x="115" y="0"/>
                  <a:pt x="256" y="0"/>
                </a:cubicBezTo>
                <a:cubicBezTo>
                  <a:pt x="397" y="0"/>
                  <a:pt x="512" y="115"/>
                  <a:pt x="512" y="256"/>
                </a:cubicBezTo>
                <a:close/>
                <a:moveTo>
                  <a:pt x="128" y="288"/>
                </a:moveTo>
                <a:cubicBezTo>
                  <a:pt x="128" y="270"/>
                  <a:pt x="114" y="256"/>
                  <a:pt x="96" y="256"/>
                </a:cubicBezTo>
                <a:cubicBezTo>
                  <a:pt x="78" y="256"/>
                  <a:pt x="64" y="270"/>
                  <a:pt x="64" y="288"/>
                </a:cubicBezTo>
                <a:cubicBezTo>
                  <a:pt x="64" y="306"/>
                  <a:pt x="78" y="320"/>
                  <a:pt x="96" y="320"/>
                </a:cubicBezTo>
                <a:cubicBezTo>
                  <a:pt x="114" y="320"/>
                  <a:pt x="128" y="306"/>
                  <a:pt x="128" y="288"/>
                </a:cubicBezTo>
                <a:close/>
                <a:moveTo>
                  <a:pt x="128" y="192"/>
                </a:moveTo>
                <a:cubicBezTo>
                  <a:pt x="146" y="192"/>
                  <a:pt x="160" y="178"/>
                  <a:pt x="160" y="160"/>
                </a:cubicBezTo>
                <a:cubicBezTo>
                  <a:pt x="160" y="142"/>
                  <a:pt x="146" y="128"/>
                  <a:pt x="128" y="128"/>
                </a:cubicBezTo>
                <a:cubicBezTo>
                  <a:pt x="110" y="128"/>
                  <a:pt x="96" y="142"/>
                  <a:pt x="96" y="160"/>
                </a:cubicBezTo>
                <a:cubicBezTo>
                  <a:pt x="96" y="178"/>
                  <a:pt x="110" y="192"/>
                  <a:pt x="128" y="192"/>
                </a:cubicBezTo>
                <a:close/>
                <a:moveTo>
                  <a:pt x="288" y="96"/>
                </a:moveTo>
                <a:cubicBezTo>
                  <a:pt x="288" y="78"/>
                  <a:pt x="274" y="64"/>
                  <a:pt x="256" y="64"/>
                </a:cubicBezTo>
                <a:cubicBezTo>
                  <a:pt x="238" y="64"/>
                  <a:pt x="224" y="78"/>
                  <a:pt x="224" y="96"/>
                </a:cubicBezTo>
                <a:cubicBezTo>
                  <a:pt x="224" y="114"/>
                  <a:pt x="238" y="128"/>
                  <a:pt x="256" y="128"/>
                </a:cubicBezTo>
                <a:cubicBezTo>
                  <a:pt x="274" y="128"/>
                  <a:pt x="288" y="114"/>
                  <a:pt x="288" y="96"/>
                </a:cubicBezTo>
                <a:close/>
                <a:moveTo>
                  <a:pt x="384" y="192"/>
                </a:moveTo>
                <a:cubicBezTo>
                  <a:pt x="402" y="192"/>
                  <a:pt x="416" y="178"/>
                  <a:pt x="416" y="160"/>
                </a:cubicBezTo>
                <a:cubicBezTo>
                  <a:pt x="416" y="142"/>
                  <a:pt x="402" y="128"/>
                  <a:pt x="384" y="128"/>
                </a:cubicBezTo>
                <a:cubicBezTo>
                  <a:pt x="366" y="128"/>
                  <a:pt x="352" y="142"/>
                  <a:pt x="352" y="160"/>
                </a:cubicBezTo>
                <a:cubicBezTo>
                  <a:pt x="352" y="178"/>
                  <a:pt x="366" y="192"/>
                  <a:pt x="384" y="192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35" name="c6-title"/>
          <p:cNvSpPr txBox="1"/>
          <p:nvPr/>
        </p:nvSpPr>
        <p:spPr>
          <a:xfrm>
            <a:off x="8712200" y="42672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F5F5F7"/>
                </a:solidFill>
                <a:latin typeface="MiSans"/>
                <a:ea typeface="MiSans"/>
              </a:rPr>
              <a:t>AI-ДИЗАЙНЕР</a:t>
            </a:r>
            <a:endParaRPr lang="en-US" sz="1350"/>
          </a:p>
        </p:txBody>
      </p:sp>
      <p:sp>
        <p:nvSpPr>
          <p:cNvPr id="36" name="c6-desc"/>
          <p:cNvSpPr txBox="1"/>
          <p:nvPr/>
        </p:nvSpPr>
        <p:spPr>
          <a:xfrm>
            <a:off x="8280400" y="47244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Готовит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визуал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,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фирменные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обложки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и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оформление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для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каждой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публикации</a:t>
            </a:r>
            <a:endParaRPr lang="en-US" sz="1100" dirty="0"/>
          </a:p>
        </p:txBody>
      </p:sp>
      <p:sp>
        <p:nvSpPr>
          <p:cNvPr id="37" name="bottom-note"/>
          <p:cNvSpPr txBox="1"/>
          <p:nvPr/>
        </p:nvSpPr>
        <p:spPr>
          <a:xfrm>
            <a:off x="711200" y="5892800"/>
            <a:ext cx="107696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200" i="1" dirty="0" err="1">
                <a:solidFill>
                  <a:srgbClr val="9A9AA8"/>
                </a:solidFill>
                <a:latin typeface="MiSans"/>
                <a:ea typeface="MiSans"/>
              </a:rPr>
              <a:t>Все</a:t>
            </a:r>
            <a:r>
              <a:rPr lang="en-US" sz="1200" i="1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200" i="1" dirty="0" err="1">
                <a:solidFill>
                  <a:srgbClr val="9A9AA8"/>
                </a:solidFill>
                <a:latin typeface="MiSans"/>
                <a:ea typeface="MiSans"/>
              </a:rPr>
              <a:t>модули</a:t>
            </a:r>
            <a:r>
              <a:rPr lang="en-US" sz="1200" i="1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200" i="1" dirty="0" err="1">
                <a:solidFill>
                  <a:srgbClr val="9A9AA8"/>
                </a:solidFill>
                <a:latin typeface="MiSans"/>
                <a:ea typeface="MiSans"/>
              </a:rPr>
              <a:t>работают</a:t>
            </a:r>
            <a:r>
              <a:rPr lang="en-US" sz="1200" i="1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200" i="1" dirty="0" err="1">
                <a:solidFill>
                  <a:srgbClr val="9A9AA8"/>
                </a:solidFill>
                <a:latin typeface="MiSans"/>
                <a:ea typeface="MiSans"/>
              </a:rPr>
              <a:t>как</a:t>
            </a:r>
            <a:r>
              <a:rPr lang="en-US" sz="1200" i="1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200" i="1" dirty="0" err="1">
                <a:solidFill>
                  <a:srgbClr val="9A9AA8"/>
                </a:solidFill>
                <a:latin typeface="MiSans"/>
                <a:ea typeface="MiSans"/>
              </a:rPr>
              <a:t>единая</a:t>
            </a:r>
            <a:r>
              <a:rPr lang="en-US" sz="1200" i="1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200" i="1" dirty="0" err="1">
                <a:solidFill>
                  <a:srgbClr val="9A9AA8"/>
                </a:solidFill>
                <a:latin typeface="MiSans"/>
                <a:ea typeface="MiSans"/>
              </a:rPr>
              <a:t>система</a:t>
            </a:r>
            <a:r>
              <a:rPr lang="en-US" sz="1200" i="1" dirty="0">
                <a:solidFill>
                  <a:srgbClr val="9A9AA8"/>
                </a:solidFill>
                <a:latin typeface="MiSans"/>
                <a:ea typeface="MiSans"/>
              </a:rPr>
              <a:t> — </a:t>
            </a:r>
            <a:r>
              <a:rPr lang="en-US" sz="1200" i="1" dirty="0" err="1">
                <a:solidFill>
                  <a:srgbClr val="9A9AA8"/>
                </a:solidFill>
                <a:latin typeface="MiSans"/>
                <a:ea typeface="MiSans"/>
              </a:rPr>
              <a:t>от</a:t>
            </a:r>
            <a:r>
              <a:rPr lang="en-US" sz="1200" i="1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200" i="1" dirty="0" err="1">
                <a:solidFill>
                  <a:srgbClr val="9A9AA8"/>
                </a:solidFill>
                <a:latin typeface="MiSans"/>
                <a:ea typeface="MiSans"/>
              </a:rPr>
              <a:t>идеи</a:t>
            </a:r>
            <a:r>
              <a:rPr lang="en-US" sz="1200" i="1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200" i="1" dirty="0" err="1">
                <a:solidFill>
                  <a:srgbClr val="9A9AA8"/>
                </a:solidFill>
                <a:latin typeface="MiSans"/>
                <a:ea typeface="MiSans"/>
              </a:rPr>
              <a:t>до</a:t>
            </a:r>
            <a:r>
              <a:rPr lang="en-US" sz="1200" i="1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200" i="1" dirty="0" err="1">
                <a:solidFill>
                  <a:srgbClr val="9A9AA8"/>
                </a:solidFill>
                <a:latin typeface="MiSans"/>
                <a:ea typeface="MiSans"/>
              </a:rPr>
              <a:t>публикации</a:t>
            </a:r>
            <a:r>
              <a:rPr lang="en-US" sz="1200" i="1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200" i="1" dirty="0" err="1">
                <a:solidFill>
                  <a:srgbClr val="9A9AA8"/>
                </a:solidFill>
                <a:latin typeface="MiSans"/>
                <a:ea typeface="MiSans"/>
              </a:rPr>
              <a:t>без</a:t>
            </a:r>
            <a:r>
              <a:rPr lang="en-US" sz="1200" i="1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200" i="1" dirty="0" err="1">
                <a:solidFill>
                  <a:srgbClr val="9A9AA8"/>
                </a:solidFill>
                <a:latin typeface="MiSans"/>
                <a:ea typeface="MiSans"/>
              </a:rPr>
              <a:t>участия</a:t>
            </a:r>
            <a:r>
              <a:rPr lang="en-US" sz="1200" i="1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200" i="1" dirty="0" err="1">
                <a:solidFill>
                  <a:srgbClr val="9A9AA8"/>
                </a:solidFill>
                <a:latin typeface="MiSans"/>
                <a:ea typeface="MiSans"/>
              </a:rPr>
              <a:t>клиента</a:t>
            </a:r>
            <a:endParaRPr lang="en-US" sz="1200" dirty="0"/>
          </a:p>
        </p:txBody>
      </p:sp>
      <p:sp>
        <p:nvSpPr>
          <p:cNvPr id="38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9AA8"/>
                </a:solidFill>
                <a:latin typeface="MiSans"/>
                <a:ea typeface="MiSans"/>
              </a:rPr>
              <a:t>04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2A1210"/>
            </a:gs>
            <a:gs pos="50000">
              <a:srgbClr val="0A0A0E"/>
            </a:gs>
            <a:gs pos="100000">
              <a:srgbClr val="101A45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813800" y="304800"/>
            <a:ext cx="2667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9AA8"/>
                </a:solidFill>
                <a:latin typeface="MiSans"/>
                <a:ea typeface="MiSans"/>
              </a:rPr>
              <a:t>ПРОМПТЕР · О КОМПАНИИ</a:t>
            </a:r>
            <a:endParaRPr lang="en-US" sz="900"/>
          </a:p>
        </p:txBody>
      </p:sp>
      <p:sp>
        <p:nvSpPr>
          <p:cNvPr id="3" name="kicker"/>
          <p:cNvSpPr txBox="1"/>
          <p:nvPr/>
        </p:nvSpPr>
        <p:spPr>
          <a:xfrm>
            <a:off x="711200" y="711200"/>
            <a:ext cx="635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b="1" kern="0" spc="400">
                <a:solidFill>
                  <a:srgbClr val="E8453C"/>
                </a:solidFill>
                <a:latin typeface="MiSans"/>
                <a:ea typeface="MiSans"/>
              </a:rPr>
              <a:t>КЛЮЧЕВАЯ ТЕХНОЛОГИЯ</a:t>
            </a:r>
            <a:endParaRPr lang="en-US" sz="1200"/>
          </a:p>
        </p:txBody>
      </p:sp>
      <p:sp>
        <p:nvSpPr>
          <p:cNvPr id="4" name="bigtitle"/>
          <p:cNvSpPr txBox="1"/>
          <p:nvPr/>
        </p:nvSpPr>
        <p:spPr>
          <a:xfrm>
            <a:off x="711200" y="1066800"/>
            <a:ext cx="8128000" cy="132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18000"/>
              </a:lnSpc>
            </a:pPr>
            <a:r>
              <a:rPr lang="en-US" sz="3800" b="1">
                <a:solidFill>
                  <a:srgbClr val="F5F5F7"/>
                </a:solidFill>
                <a:latin typeface="MiSans"/>
                <a:ea typeface="MiSans"/>
              </a:rPr>
              <a:t>НЕ ПРОСТО ГЕНЕРИРУЕТ —</a:t>
            </a:r>
            <a:endParaRPr lang="en-US" sz="3800"/>
          </a:p>
          <a:p>
            <a:pPr algn="l">
              <a:lnSpc>
                <a:spcPct val="118000"/>
              </a:lnSpc>
            </a:pPr>
            <a:r>
              <a:rPr lang="en-US" sz="3800" b="1">
                <a:solidFill>
                  <a:srgbClr val="3D6BFF"/>
                </a:solidFill>
                <a:latin typeface="MiSans"/>
                <a:ea typeface="MiSans"/>
              </a:rPr>
              <a:t>САМА ПУБЛИКУЕТ</a:t>
            </a:r>
            <a:endParaRPr lang="en-US" sz="3800"/>
          </a:p>
        </p:txBody>
      </p:sp>
      <p:sp>
        <p:nvSpPr>
          <p:cNvPr id="5" name="title-rule"/>
          <p:cNvSpPr/>
          <p:nvPr/>
        </p:nvSpPr>
        <p:spPr>
          <a:xfrm>
            <a:off x="711200" y="2540000"/>
            <a:ext cx="609600" cy="25400"/>
          </a:xfrm>
          <a:prstGeom prst="rect">
            <a:avLst/>
          </a:prstGeom>
          <a:solidFill>
            <a:srgbClr val="E8453C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6" name="body"/>
          <p:cNvSpPr txBox="1"/>
          <p:nvPr/>
        </p:nvSpPr>
        <p:spPr>
          <a:xfrm>
            <a:off x="711200" y="2768600"/>
            <a:ext cx="7112000" cy="121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5000"/>
              </a:lnSpc>
            </a:pPr>
            <a:r>
              <a:rPr lang="en-US" sz="1400">
                <a:solidFill>
                  <a:srgbClr val="C9C9D4"/>
                </a:solidFill>
                <a:latin typeface="MiSans"/>
                <a:ea typeface="MiSans"/>
              </a:rPr>
              <a:t>Технология Промптера берёт на себя полный цикл GEO- и SEO-продвижения: создаёт контент о бизнесе клиента и автоматически публикует его на отечественных площадках. Цифровой след наращивается каждый день — его считывают нейросети и поисковики.</a:t>
            </a:r>
            <a:endParaRPr lang="en-US" sz="1400"/>
          </a:p>
        </p:txBody>
      </p:sp>
      <p:sp>
        <p:nvSpPr>
          <p:cNvPr id="9" name="chip1"/>
          <p:cNvSpPr/>
          <p:nvPr/>
        </p:nvSpPr>
        <p:spPr>
          <a:xfrm>
            <a:off x="711200" y="4724400"/>
            <a:ext cx="2489200" cy="736600"/>
          </a:xfrm>
          <a:prstGeom prst="rect">
            <a:avLst/>
          </a:prstGeom>
          <a:solidFill>
            <a:srgbClr val="13131B">
              <a:alpha val="80000"/>
            </a:srgbClr>
          </a:solidFill>
          <a:ln w="12700">
            <a:solidFill>
              <a:srgbClr val="262635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10" name="chip1-num"/>
          <p:cNvSpPr txBox="1"/>
          <p:nvPr/>
        </p:nvSpPr>
        <p:spPr>
          <a:xfrm>
            <a:off x="9144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>
                <a:solidFill>
                  <a:srgbClr val="9A9AA8"/>
                </a:solidFill>
                <a:latin typeface="MiSans"/>
                <a:ea typeface="MiSans"/>
              </a:rPr>
              <a:t>01</a:t>
            </a:r>
            <a:endParaRPr lang="en-US" sz="1000"/>
          </a:p>
        </p:txBody>
      </p:sp>
      <p:sp>
        <p:nvSpPr>
          <p:cNvPr id="11" name="chip1-text"/>
          <p:cNvSpPr txBox="1"/>
          <p:nvPr/>
        </p:nvSpPr>
        <p:spPr>
          <a:xfrm>
            <a:off x="914400" y="5080000"/>
            <a:ext cx="2108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>
                <a:solidFill>
                  <a:srgbClr val="F5F5F7"/>
                </a:solidFill>
                <a:latin typeface="MiSans"/>
                <a:ea typeface="MiSans"/>
              </a:rPr>
              <a:t>Генерация контента</a:t>
            </a:r>
            <a:endParaRPr lang="en-US" sz="1250"/>
          </a:p>
        </p:txBody>
      </p:sp>
      <p:sp>
        <p:nvSpPr>
          <p:cNvPr id="12" name="arrow1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eyJpY29uTmFtZSI6ImZhczphcnJvdy1yaWdodCJ9</pptd:icon>
              </p:ext>
            </p:extLst>
          </p:nvPr>
        </p:nvSpPr>
        <p:spPr>
          <a:xfrm>
            <a:off x="3327400" y="4978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03" y="279"/>
                </a:moveTo>
                <a:cubicBezTo>
                  <a:pt x="515" y="266"/>
                  <a:pt x="515" y="246"/>
                  <a:pt x="503" y="233"/>
                </a:cubicBezTo>
                <a:lnTo>
                  <a:pt x="343" y="73"/>
                </a:lnTo>
                <a:cubicBezTo>
                  <a:pt x="330" y="61"/>
                  <a:pt x="310" y="61"/>
                  <a:pt x="297" y="73"/>
                </a:cubicBezTo>
                <a:cubicBezTo>
                  <a:pt x="285" y="86"/>
                  <a:pt x="285" y="106"/>
                  <a:pt x="297" y="119"/>
                </a:cubicBezTo>
                <a:lnTo>
                  <a:pt x="403" y="224"/>
                </a:lnTo>
                <a:lnTo>
                  <a:pt x="32" y="224"/>
                </a:lnTo>
                <a:cubicBezTo>
                  <a:pt x="14" y="224"/>
                  <a:pt x="0" y="238"/>
                  <a:pt x="0" y="256"/>
                </a:cubicBezTo>
                <a:cubicBezTo>
                  <a:pt x="0" y="274"/>
                  <a:pt x="14" y="288"/>
                  <a:pt x="32" y="288"/>
                </a:cubicBezTo>
                <a:lnTo>
                  <a:pt x="403" y="288"/>
                </a:lnTo>
                <a:lnTo>
                  <a:pt x="297" y="393"/>
                </a:lnTo>
                <a:cubicBezTo>
                  <a:pt x="285" y="406"/>
                  <a:pt x="285" y="426"/>
                  <a:pt x="297" y="439"/>
                </a:cubicBezTo>
                <a:cubicBezTo>
                  <a:pt x="310" y="451"/>
                  <a:pt x="330" y="451"/>
                  <a:pt x="343" y="439"/>
                </a:cubicBezTo>
                <a:lnTo>
                  <a:pt x="503" y="279"/>
                </a:lnTo>
                <a:close/>
              </a:path>
            </a:pathLst>
          </a:custGeom>
          <a:solidFill>
            <a:srgbClr val="9A9AA8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13" name="chip2"/>
          <p:cNvSpPr/>
          <p:nvPr/>
        </p:nvSpPr>
        <p:spPr>
          <a:xfrm>
            <a:off x="3683000" y="4724400"/>
            <a:ext cx="2489200" cy="736600"/>
          </a:xfrm>
          <a:prstGeom prst="rect">
            <a:avLst/>
          </a:prstGeom>
          <a:solidFill>
            <a:srgbClr val="13131B">
              <a:alpha val="80000"/>
            </a:srgbClr>
          </a:solidFill>
          <a:ln w="12700">
            <a:solidFill>
              <a:srgbClr val="262635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14" name="chip2-num"/>
          <p:cNvSpPr txBox="1"/>
          <p:nvPr/>
        </p:nvSpPr>
        <p:spPr>
          <a:xfrm>
            <a:off x="38862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>
                <a:solidFill>
                  <a:srgbClr val="9A9AA8"/>
                </a:solidFill>
                <a:latin typeface="MiSans"/>
                <a:ea typeface="MiSans"/>
              </a:rPr>
              <a:t>02</a:t>
            </a:r>
            <a:endParaRPr lang="en-US" sz="1000"/>
          </a:p>
        </p:txBody>
      </p:sp>
      <p:sp>
        <p:nvSpPr>
          <p:cNvPr id="15" name="chip2-text"/>
          <p:cNvSpPr txBox="1"/>
          <p:nvPr/>
        </p:nvSpPr>
        <p:spPr>
          <a:xfrm>
            <a:off x="3886200" y="5080000"/>
            <a:ext cx="2108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>
                <a:solidFill>
                  <a:srgbClr val="F5F5F7"/>
                </a:solidFill>
                <a:latin typeface="MiSans"/>
                <a:ea typeface="MiSans"/>
              </a:rPr>
              <a:t>Модерация ИИ</a:t>
            </a:r>
            <a:endParaRPr lang="en-US" sz="1250"/>
          </a:p>
        </p:txBody>
      </p:sp>
      <p:sp>
        <p:nvSpPr>
          <p:cNvPr id="16" name="arrow2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eyJpY29uTmFtZSI6ImZhczphcnJvdy1yaWdodCJ9</pptd:icon>
              </p:ext>
            </p:extLst>
          </p:nvPr>
        </p:nvSpPr>
        <p:spPr>
          <a:xfrm>
            <a:off x="6299200" y="4978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03" y="279"/>
                </a:moveTo>
                <a:cubicBezTo>
                  <a:pt x="515" y="266"/>
                  <a:pt x="515" y="246"/>
                  <a:pt x="503" y="233"/>
                </a:cubicBezTo>
                <a:lnTo>
                  <a:pt x="343" y="73"/>
                </a:lnTo>
                <a:cubicBezTo>
                  <a:pt x="330" y="61"/>
                  <a:pt x="310" y="61"/>
                  <a:pt x="297" y="73"/>
                </a:cubicBezTo>
                <a:cubicBezTo>
                  <a:pt x="285" y="86"/>
                  <a:pt x="285" y="106"/>
                  <a:pt x="297" y="119"/>
                </a:cubicBezTo>
                <a:lnTo>
                  <a:pt x="403" y="224"/>
                </a:lnTo>
                <a:lnTo>
                  <a:pt x="32" y="224"/>
                </a:lnTo>
                <a:cubicBezTo>
                  <a:pt x="14" y="224"/>
                  <a:pt x="0" y="238"/>
                  <a:pt x="0" y="256"/>
                </a:cubicBezTo>
                <a:cubicBezTo>
                  <a:pt x="0" y="274"/>
                  <a:pt x="14" y="288"/>
                  <a:pt x="32" y="288"/>
                </a:cubicBezTo>
                <a:lnTo>
                  <a:pt x="403" y="288"/>
                </a:lnTo>
                <a:lnTo>
                  <a:pt x="297" y="393"/>
                </a:lnTo>
                <a:cubicBezTo>
                  <a:pt x="285" y="406"/>
                  <a:pt x="285" y="426"/>
                  <a:pt x="297" y="439"/>
                </a:cubicBezTo>
                <a:cubicBezTo>
                  <a:pt x="310" y="451"/>
                  <a:pt x="330" y="451"/>
                  <a:pt x="343" y="439"/>
                </a:cubicBezTo>
                <a:lnTo>
                  <a:pt x="503" y="279"/>
                </a:lnTo>
                <a:close/>
              </a:path>
            </a:pathLst>
          </a:custGeom>
          <a:solidFill>
            <a:srgbClr val="9A9AA8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17" name="chip3"/>
          <p:cNvSpPr/>
          <p:nvPr/>
        </p:nvSpPr>
        <p:spPr>
          <a:xfrm>
            <a:off x="6654800" y="4724400"/>
            <a:ext cx="2489200" cy="736600"/>
          </a:xfrm>
          <a:prstGeom prst="rect">
            <a:avLst/>
          </a:prstGeom>
          <a:solidFill>
            <a:srgbClr val="E8453C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18" name="chip3-num"/>
          <p:cNvSpPr txBox="1"/>
          <p:nvPr/>
        </p:nvSpPr>
        <p:spPr>
          <a:xfrm>
            <a:off x="68580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>
                <a:solidFill>
                  <a:srgbClr val="FFFFFF">
                    <a:alpha val="70196"/>
                  </a:srgbClr>
                </a:solidFill>
                <a:latin typeface="MiSans"/>
                <a:ea typeface="MiSans"/>
              </a:rPr>
              <a:t>03</a:t>
            </a:r>
            <a:endParaRPr lang="en-US" sz="1000"/>
          </a:p>
        </p:txBody>
      </p:sp>
      <p:sp>
        <p:nvSpPr>
          <p:cNvPr id="19" name="chip3-text"/>
          <p:cNvSpPr txBox="1"/>
          <p:nvPr/>
        </p:nvSpPr>
        <p:spPr>
          <a:xfrm>
            <a:off x="6858000" y="5080000"/>
            <a:ext cx="2108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>
                <a:solidFill>
                  <a:srgbClr val="F5F5F7"/>
                </a:solidFill>
                <a:latin typeface="MiSans"/>
                <a:ea typeface="MiSans"/>
              </a:rPr>
              <a:t>АВТОПУБЛИКАЦИЯ</a:t>
            </a:r>
            <a:endParaRPr lang="en-US" sz="1250"/>
          </a:p>
        </p:txBody>
      </p:sp>
      <p:sp>
        <p:nvSpPr>
          <p:cNvPr id="20" name="arrow3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eyJpY29uTmFtZSI6ImZhczphcnJvdy1yaWdodCJ9</pptd:icon>
              </p:ext>
            </p:extLst>
          </p:nvPr>
        </p:nvSpPr>
        <p:spPr>
          <a:xfrm>
            <a:off x="9271000" y="4978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03" y="279"/>
                </a:moveTo>
                <a:cubicBezTo>
                  <a:pt x="515" y="266"/>
                  <a:pt x="515" y="246"/>
                  <a:pt x="503" y="233"/>
                </a:cubicBezTo>
                <a:lnTo>
                  <a:pt x="343" y="73"/>
                </a:lnTo>
                <a:cubicBezTo>
                  <a:pt x="330" y="61"/>
                  <a:pt x="310" y="61"/>
                  <a:pt x="297" y="73"/>
                </a:cubicBezTo>
                <a:cubicBezTo>
                  <a:pt x="285" y="86"/>
                  <a:pt x="285" y="106"/>
                  <a:pt x="297" y="119"/>
                </a:cubicBezTo>
                <a:lnTo>
                  <a:pt x="403" y="224"/>
                </a:lnTo>
                <a:lnTo>
                  <a:pt x="32" y="224"/>
                </a:lnTo>
                <a:cubicBezTo>
                  <a:pt x="14" y="224"/>
                  <a:pt x="0" y="238"/>
                  <a:pt x="0" y="256"/>
                </a:cubicBezTo>
                <a:cubicBezTo>
                  <a:pt x="0" y="274"/>
                  <a:pt x="14" y="288"/>
                  <a:pt x="32" y="288"/>
                </a:cubicBezTo>
                <a:lnTo>
                  <a:pt x="403" y="288"/>
                </a:lnTo>
                <a:lnTo>
                  <a:pt x="297" y="393"/>
                </a:lnTo>
                <a:cubicBezTo>
                  <a:pt x="285" y="406"/>
                  <a:pt x="285" y="426"/>
                  <a:pt x="297" y="439"/>
                </a:cubicBezTo>
                <a:cubicBezTo>
                  <a:pt x="310" y="451"/>
                  <a:pt x="330" y="451"/>
                  <a:pt x="343" y="439"/>
                </a:cubicBezTo>
                <a:lnTo>
                  <a:pt x="503" y="279"/>
                </a:lnTo>
                <a:close/>
              </a:path>
            </a:pathLst>
          </a:custGeom>
          <a:solidFill>
            <a:srgbClr val="9A9AA8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21" name="chip4"/>
          <p:cNvSpPr/>
          <p:nvPr/>
        </p:nvSpPr>
        <p:spPr>
          <a:xfrm>
            <a:off x="9626600" y="4724400"/>
            <a:ext cx="2489200" cy="736600"/>
          </a:xfrm>
          <a:prstGeom prst="rect">
            <a:avLst/>
          </a:prstGeom>
          <a:solidFill>
            <a:srgbClr val="13131B">
              <a:alpha val="80000"/>
            </a:srgbClr>
          </a:solidFill>
          <a:ln w="12700">
            <a:solidFill>
              <a:srgbClr val="262635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22" name="chip4-num"/>
          <p:cNvSpPr txBox="1"/>
          <p:nvPr/>
        </p:nvSpPr>
        <p:spPr>
          <a:xfrm>
            <a:off x="98298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>
                <a:solidFill>
                  <a:srgbClr val="9A9AA8"/>
                </a:solidFill>
                <a:latin typeface="MiSans"/>
                <a:ea typeface="MiSans"/>
              </a:rPr>
              <a:t>04</a:t>
            </a:r>
            <a:endParaRPr lang="en-US" sz="1000"/>
          </a:p>
        </p:txBody>
      </p:sp>
      <p:sp>
        <p:nvSpPr>
          <p:cNvPr id="23" name="chip4-text"/>
          <p:cNvSpPr txBox="1"/>
          <p:nvPr/>
        </p:nvSpPr>
        <p:spPr>
          <a:xfrm>
            <a:off x="9829800" y="5080000"/>
            <a:ext cx="2159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>
                <a:solidFill>
                  <a:srgbClr val="F5F5F7"/>
                </a:solidFill>
                <a:latin typeface="MiSans"/>
                <a:ea typeface="MiSans"/>
              </a:rPr>
              <a:t>Рост в нейровыдаче</a:t>
            </a:r>
            <a:endParaRPr lang="en-US" sz="1250"/>
          </a:p>
        </p:txBody>
      </p:sp>
      <p:sp>
        <p:nvSpPr>
          <p:cNvPr id="24" name="bottom-note"/>
          <p:cNvSpPr txBox="1"/>
          <p:nvPr/>
        </p:nvSpPr>
        <p:spPr>
          <a:xfrm>
            <a:off x="711200" y="5867400"/>
            <a:ext cx="889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i="1">
                <a:solidFill>
                  <a:srgbClr val="9A9AA8"/>
                </a:solidFill>
                <a:latin typeface="MiSans"/>
                <a:ea typeface="MiSans"/>
              </a:rPr>
              <a:t>Ежедневное присутствие — без ежедневных усилий команды клиента</a:t>
            </a:r>
            <a:endParaRPr lang="en-US" sz="1200"/>
          </a:p>
        </p:txBody>
      </p:sp>
      <p:sp>
        <p:nvSpPr>
          <p:cNvPr id="25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9AA8"/>
                </a:solidFill>
                <a:latin typeface="MiSans"/>
                <a:ea typeface="MiSans"/>
              </a:rPr>
              <a:t>05 / 09</a:t>
            </a:r>
            <a:endParaRPr lang="en-US" sz="900"/>
          </a:p>
        </p:txBody>
      </p:sp>
      <p:pic>
        <p:nvPicPr>
          <p:cNvPr id="26" name="Рисунок 25" descr="preview">
            <a:extLst>
              <a:ext uri="{FF2B5EF4-FFF2-40B4-BE49-F238E27FC236}">
                <a16:creationId xmlns:a16="http://schemas.microsoft.com/office/drawing/2014/main" id="{C9D0F1FF-55FF-FD1A-22B1-D3F2105234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85300" y="1329524"/>
            <a:ext cx="2365955" cy="2547952"/>
          </a:xfrm>
          <a:prstGeom prst="rect">
            <a:avLst/>
          </a:prstGeom>
        </p:spPr>
      </p:pic>
    </p:spTree>
  </p:cSld>
  <p:clrMapOvr>
    <a:masterClrMapping/>
  </p:clrMapOvr>
  <p:transition>
    <p:checker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813800" y="304800"/>
            <a:ext cx="2667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9AA8"/>
                </a:solidFill>
                <a:latin typeface="MiSans"/>
                <a:ea typeface="MiSans"/>
              </a:rPr>
              <a:t>ПРОМПТЕР · О КОМПАНИИ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08000"/>
            <a:ext cx="8128000" cy="482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700" b="1">
                <a:solidFill>
                  <a:srgbClr val="F5F5F7"/>
                </a:solidFill>
                <a:latin typeface="MiSans"/>
                <a:ea typeface="MiSans"/>
              </a:rPr>
              <a:t>КАК ЭТО РАБОТАЕТ?</a:t>
            </a:r>
            <a:endParaRPr lang="en-US" sz="2700"/>
          </a:p>
        </p:txBody>
      </p:sp>
      <p:sp>
        <p:nvSpPr>
          <p:cNvPr id="4" name="title-rule"/>
          <p:cNvSpPr/>
          <p:nvPr/>
        </p:nvSpPr>
        <p:spPr>
          <a:xfrm>
            <a:off x="711200" y="1143000"/>
            <a:ext cx="609600" cy="25400"/>
          </a:xfrm>
          <a:prstGeom prst="rect">
            <a:avLst/>
          </a:prstGeom>
          <a:solidFill>
            <a:srgbClr val="3D6BFF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5" name="subtitle"/>
          <p:cNvSpPr txBox="1"/>
          <p:nvPr/>
        </p:nvSpPr>
        <p:spPr>
          <a:xfrm>
            <a:off x="711200" y="1295400"/>
            <a:ext cx="9652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9A9AA8"/>
                </a:solidFill>
                <a:latin typeface="MiSans"/>
                <a:ea typeface="MiSans"/>
              </a:rPr>
              <a:t>От первого текста до клиентов — полный цикл без участия заказчика</a:t>
            </a:r>
            <a:endParaRPr lang="en-US" sz="1300"/>
          </a:p>
        </p:txBody>
      </p:sp>
      <p:sp>
        <p:nvSpPr>
          <p:cNvPr id="6" name="s1-num"/>
          <p:cNvSpPr txBox="1"/>
          <p:nvPr/>
        </p:nvSpPr>
        <p:spPr>
          <a:xfrm>
            <a:off x="7112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3D6BFF"/>
                </a:solidFill>
                <a:latin typeface="MiSans"/>
                <a:ea typeface="MiSans"/>
              </a:rPr>
              <a:t>01</a:t>
            </a:r>
            <a:endParaRPr lang="en-US" sz="3400"/>
          </a:p>
        </p:txBody>
      </p:sp>
      <p:sp>
        <p:nvSpPr>
          <p:cNvPr id="7" name="s1-line"/>
          <p:cNvSpPr/>
          <p:nvPr/>
        </p:nvSpPr>
        <p:spPr>
          <a:xfrm>
            <a:off x="711200" y="2514600"/>
            <a:ext cx="508000" cy="25400"/>
          </a:xfrm>
          <a:prstGeom prst="rect">
            <a:avLst/>
          </a:prstGeom>
          <a:solidFill>
            <a:srgbClr val="3D6BFF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8" name="s1-title"/>
          <p:cNvSpPr txBox="1"/>
          <p:nvPr/>
        </p:nvSpPr>
        <p:spPr>
          <a:xfrm>
            <a:off x="7112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 dirty="0">
                <a:solidFill>
                  <a:srgbClr val="F5F5F7"/>
                </a:solidFill>
                <a:latin typeface="MiSans"/>
                <a:ea typeface="MiSans"/>
              </a:rPr>
              <a:t>КОНТЕНТ</a:t>
            </a:r>
            <a:endParaRPr lang="en-US" sz="1450" dirty="0"/>
          </a:p>
        </p:txBody>
      </p:sp>
      <p:sp>
        <p:nvSpPr>
          <p:cNvPr id="9" name="s1-desc"/>
          <p:cNvSpPr txBox="1"/>
          <p:nvPr/>
        </p:nvSpPr>
        <p:spPr>
          <a:xfrm>
            <a:off x="711200" y="32512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Платформа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изучает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продукт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,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нишу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и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аудиторию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клиента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,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создаёт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тексты</a:t>
            </a:r>
            <a:r>
              <a:rPr lang="ru-RU" sz="1100" dirty="0">
                <a:solidFill>
                  <a:srgbClr val="9A9AA8"/>
                </a:solidFill>
                <a:latin typeface="MiSans"/>
                <a:ea typeface="MiSans"/>
              </a:rPr>
              <a:t>, карточки, видео.</a:t>
            </a:r>
            <a:endParaRPr lang="en-US" sz="1100" dirty="0"/>
          </a:p>
        </p:txBody>
      </p:sp>
      <p:sp>
        <p:nvSpPr>
          <p:cNvPr id="10" name="s2-num"/>
          <p:cNvSpPr txBox="1"/>
          <p:nvPr/>
        </p:nvSpPr>
        <p:spPr>
          <a:xfrm>
            <a:off x="29464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E8453C"/>
                </a:solidFill>
                <a:latin typeface="MiSans"/>
                <a:ea typeface="MiSans"/>
              </a:rPr>
              <a:t>02</a:t>
            </a:r>
            <a:endParaRPr lang="en-US" sz="3400"/>
          </a:p>
        </p:txBody>
      </p:sp>
      <p:sp>
        <p:nvSpPr>
          <p:cNvPr id="11" name="s2-line"/>
          <p:cNvSpPr/>
          <p:nvPr/>
        </p:nvSpPr>
        <p:spPr>
          <a:xfrm>
            <a:off x="2946400" y="2514600"/>
            <a:ext cx="508000" cy="25400"/>
          </a:xfrm>
          <a:prstGeom prst="rect">
            <a:avLst/>
          </a:prstGeom>
          <a:solidFill>
            <a:srgbClr val="E8453C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12" name="s2-title"/>
          <p:cNvSpPr txBox="1"/>
          <p:nvPr/>
        </p:nvSpPr>
        <p:spPr>
          <a:xfrm>
            <a:off x="29464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E8453C"/>
                </a:solidFill>
                <a:latin typeface="MiSans"/>
                <a:ea typeface="MiSans"/>
              </a:rPr>
              <a:t>АВТО-ПУБЛИКАЦИЯ</a:t>
            </a:r>
            <a:endParaRPr lang="en-US" sz="1450"/>
          </a:p>
        </p:txBody>
      </p:sp>
      <p:sp>
        <p:nvSpPr>
          <p:cNvPr id="13" name="s2-desc"/>
          <p:cNvSpPr txBox="1"/>
          <p:nvPr/>
        </p:nvSpPr>
        <p:spPr>
          <a:xfrm>
            <a:off x="29464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9A9AA8"/>
                </a:solidFill>
                <a:latin typeface="MiSans"/>
                <a:ea typeface="MiSans"/>
              </a:rPr>
              <a:t>Материалы автоматически выходят на отечественных площадках 5 дней в неделю</a:t>
            </a:r>
            <a:endParaRPr lang="en-US" sz="1100"/>
          </a:p>
        </p:txBody>
      </p:sp>
      <p:sp>
        <p:nvSpPr>
          <p:cNvPr id="14" name="s3-num"/>
          <p:cNvSpPr txBox="1"/>
          <p:nvPr/>
        </p:nvSpPr>
        <p:spPr>
          <a:xfrm>
            <a:off x="51816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3D6BFF"/>
                </a:solidFill>
                <a:latin typeface="MiSans"/>
                <a:ea typeface="MiSans"/>
              </a:rPr>
              <a:t>03</a:t>
            </a:r>
            <a:endParaRPr lang="en-US" sz="3400"/>
          </a:p>
        </p:txBody>
      </p:sp>
      <p:sp>
        <p:nvSpPr>
          <p:cNvPr id="15" name="s3-line"/>
          <p:cNvSpPr/>
          <p:nvPr/>
        </p:nvSpPr>
        <p:spPr>
          <a:xfrm>
            <a:off x="5181600" y="2514600"/>
            <a:ext cx="508000" cy="25400"/>
          </a:xfrm>
          <a:prstGeom prst="rect">
            <a:avLst/>
          </a:prstGeom>
          <a:solidFill>
            <a:srgbClr val="3D6BFF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16" name="s3-title"/>
          <p:cNvSpPr txBox="1"/>
          <p:nvPr/>
        </p:nvSpPr>
        <p:spPr>
          <a:xfrm>
            <a:off x="51816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F5F5F7"/>
                </a:solidFill>
                <a:latin typeface="MiSans"/>
                <a:ea typeface="MiSans"/>
              </a:rPr>
              <a:t>ИНДЕКСАЦИЯ</a:t>
            </a:r>
            <a:endParaRPr lang="en-US" sz="1450"/>
          </a:p>
        </p:txBody>
      </p:sp>
      <p:sp>
        <p:nvSpPr>
          <p:cNvPr id="17" name="s3-desc"/>
          <p:cNvSpPr txBox="1"/>
          <p:nvPr/>
        </p:nvSpPr>
        <p:spPr>
          <a:xfrm>
            <a:off x="51816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9A9AA8"/>
                </a:solidFill>
                <a:latin typeface="MiSans"/>
                <a:ea typeface="MiSans"/>
              </a:rPr>
              <a:t>Поисковики и нейросети фиксируют новый контент о бизнесе клиента</a:t>
            </a:r>
            <a:endParaRPr lang="en-US" sz="1100"/>
          </a:p>
        </p:txBody>
      </p:sp>
      <p:sp>
        <p:nvSpPr>
          <p:cNvPr id="18" name="s4-num"/>
          <p:cNvSpPr txBox="1"/>
          <p:nvPr/>
        </p:nvSpPr>
        <p:spPr>
          <a:xfrm>
            <a:off x="74168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3D6BFF"/>
                </a:solidFill>
                <a:latin typeface="MiSans"/>
                <a:ea typeface="MiSans"/>
              </a:rPr>
              <a:t>04</a:t>
            </a:r>
            <a:endParaRPr lang="en-US" sz="3400"/>
          </a:p>
        </p:txBody>
      </p:sp>
      <p:sp>
        <p:nvSpPr>
          <p:cNvPr id="19" name="s4-line"/>
          <p:cNvSpPr/>
          <p:nvPr/>
        </p:nvSpPr>
        <p:spPr>
          <a:xfrm>
            <a:off x="7416800" y="2514600"/>
            <a:ext cx="508000" cy="25400"/>
          </a:xfrm>
          <a:prstGeom prst="rect">
            <a:avLst/>
          </a:prstGeom>
          <a:solidFill>
            <a:srgbClr val="3D6BFF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20" name="s4-title"/>
          <p:cNvSpPr txBox="1"/>
          <p:nvPr/>
        </p:nvSpPr>
        <p:spPr>
          <a:xfrm>
            <a:off x="74168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F5F5F7"/>
                </a:solidFill>
                <a:latin typeface="MiSans"/>
                <a:ea typeface="MiSans"/>
              </a:rPr>
              <a:t>ПРИСУТСТВИЕ</a:t>
            </a:r>
            <a:endParaRPr lang="en-US" sz="1450"/>
          </a:p>
        </p:txBody>
      </p:sp>
      <p:sp>
        <p:nvSpPr>
          <p:cNvPr id="21" name="s4-desc"/>
          <p:cNvSpPr txBox="1"/>
          <p:nvPr/>
        </p:nvSpPr>
        <p:spPr>
          <a:xfrm>
            <a:off x="74168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9A9AA8"/>
                </a:solidFill>
                <a:latin typeface="MiSans"/>
                <a:ea typeface="MiSans"/>
              </a:rPr>
              <a:t>Бренд появляется в ответах нейровыдачи и в выдаче поисковых систем</a:t>
            </a:r>
            <a:endParaRPr lang="en-US" sz="1100"/>
          </a:p>
        </p:txBody>
      </p:sp>
      <p:sp>
        <p:nvSpPr>
          <p:cNvPr id="22" name="s5-num"/>
          <p:cNvSpPr txBox="1"/>
          <p:nvPr/>
        </p:nvSpPr>
        <p:spPr>
          <a:xfrm>
            <a:off x="96520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3D6BFF"/>
                </a:solidFill>
                <a:latin typeface="MiSans"/>
                <a:ea typeface="MiSans"/>
              </a:rPr>
              <a:t>05</a:t>
            </a:r>
            <a:endParaRPr lang="en-US" sz="3400"/>
          </a:p>
        </p:txBody>
      </p:sp>
      <p:sp>
        <p:nvSpPr>
          <p:cNvPr id="23" name="s5-line"/>
          <p:cNvSpPr/>
          <p:nvPr/>
        </p:nvSpPr>
        <p:spPr>
          <a:xfrm>
            <a:off x="9652000" y="2514600"/>
            <a:ext cx="508000" cy="25400"/>
          </a:xfrm>
          <a:prstGeom prst="rect">
            <a:avLst/>
          </a:prstGeom>
          <a:solidFill>
            <a:srgbClr val="3D6BFF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24" name="s5-title"/>
          <p:cNvSpPr txBox="1"/>
          <p:nvPr/>
        </p:nvSpPr>
        <p:spPr>
          <a:xfrm>
            <a:off x="96520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F5F5F7"/>
                </a:solidFill>
                <a:latin typeface="MiSans"/>
                <a:ea typeface="MiSans"/>
              </a:rPr>
              <a:t>ДОВЕРИЕ И ПРОДАЖИ</a:t>
            </a:r>
            <a:endParaRPr lang="en-US" sz="1450"/>
          </a:p>
        </p:txBody>
      </p:sp>
      <p:sp>
        <p:nvSpPr>
          <p:cNvPr id="25" name="s5-desc"/>
          <p:cNvSpPr txBox="1"/>
          <p:nvPr/>
        </p:nvSpPr>
        <p:spPr>
          <a:xfrm>
            <a:off x="96520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9A9AA8"/>
                </a:solidFill>
                <a:latin typeface="MiSans"/>
                <a:ea typeface="MiSans"/>
              </a:rPr>
              <a:t>Клиенты находят компанию, доверяют рекомендации нейросети и приходят</a:t>
            </a:r>
            <a:endParaRPr lang="en-US" sz="1100"/>
          </a:p>
        </p:txBody>
      </p:sp>
      <p:sp>
        <p:nvSpPr>
          <p:cNvPr id="26" name="strip"/>
          <p:cNvSpPr/>
          <p:nvPr/>
        </p:nvSpPr>
        <p:spPr>
          <a:xfrm>
            <a:off x="711200" y="5689600"/>
            <a:ext cx="10769600" cy="584200"/>
          </a:xfrm>
          <a:prstGeom prst="rect">
            <a:avLst/>
          </a:prstGeom>
          <a:solidFill>
            <a:srgbClr val="E8453C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27" name="strip-text"/>
          <p:cNvSpPr txBox="1"/>
          <p:nvPr/>
        </p:nvSpPr>
        <p:spPr>
          <a:xfrm>
            <a:off x="711200" y="5689600"/>
            <a:ext cx="10769600" cy="584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b="1" dirty="0" err="1">
                <a:solidFill>
                  <a:srgbClr val="F5F5F7"/>
                </a:solidFill>
                <a:latin typeface="MiSans"/>
                <a:ea typeface="MiSans"/>
              </a:rPr>
              <a:t>Система</a:t>
            </a:r>
            <a:r>
              <a:rPr lang="en-US" sz="1400" b="1" dirty="0">
                <a:solidFill>
                  <a:srgbClr val="F5F5F7"/>
                </a:solidFill>
                <a:latin typeface="MiSans"/>
                <a:ea typeface="MiSans"/>
              </a:rPr>
              <a:t> </a:t>
            </a:r>
            <a:r>
              <a:rPr lang="en-US" sz="1400" b="1" dirty="0" err="1">
                <a:solidFill>
                  <a:srgbClr val="F5F5F7"/>
                </a:solidFill>
                <a:latin typeface="MiSans"/>
                <a:ea typeface="MiSans"/>
              </a:rPr>
              <a:t>работает</a:t>
            </a:r>
            <a:r>
              <a:rPr lang="en-US" sz="1400" b="1" dirty="0">
                <a:solidFill>
                  <a:srgbClr val="F5F5F7"/>
                </a:solidFill>
                <a:latin typeface="MiSans"/>
                <a:ea typeface="MiSans"/>
              </a:rPr>
              <a:t> 24/7</a:t>
            </a:r>
            <a:r>
              <a:rPr lang="ru-RU" sz="1400" b="1" dirty="0">
                <a:solidFill>
                  <a:srgbClr val="F5F5F7"/>
                </a:solidFill>
                <a:latin typeface="MiSans"/>
                <a:ea typeface="MiSans"/>
              </a:rPr>
              <a:t> без отпусков и больничных) </a:t>
            </a:r>
            <a:r>
              <a:rPr lang="en-US" sz="1400" b="1" dirty="0">
                <a:solidFill>
                  <a:srgbClr val="F5F5F7"/>
                </a:solidFill>
                <a:latin typeface="MiSans"/>
                <a:ea typeface="MiSans"/>
              </a:rPr>
              <a:t>: </a:t>
            </a:r>
            <a:r>
              <a:rPr lang="en-US" sz="1400" b="1" dirty="0" err="1">
                <a:solidFill>
                  <a:srgbClr val="F5F5F7"/>
                </a:solidFill>
                <a:latin typeface="MiSans"/>
                <a:ea typeface="MiSans"/>
              </a:rPr>
              <a:t>клиент</a:t>
            </a:r>
            <a:r>
              <a:rPr lang="en-US" sz="1400" b="1" dirty="0">
                <a:solidFill>
                  <a:srgbClr val="F5F5F7"/>
                </a:solidFill>
                <a:latin typeface="MiSans"/>
                <a:ea typeface="MiSans"/>
              </a:rPr>
              <a:t> </a:t>
            </a:r>
            <a:r>
              <a:rPr lang="en-US" sz="1400" b="1" dirty="0" err="1">
                <a:solidFill>
                  <a:srgbClr val="F5F5F7"/>
                </a:solidFill>
                <a:latin typeface="MiSans"/>
                <a:ea typeface="MiSans"/>
              </a:rPr>
              <a:t>занимается</a:t>
            </a:r>
            <a:r>
              <a:rPr lang="en-US" sz="1400" b="1" dirty="0">
                <a:solidFill>
                  <a:srgbClr val="F5F5F7"/>
                </a:solidFill>
                <a:latin typeface="MiSans"/>
                <a:ea typeface="MiSans"/>
              </a:rPr>
              <a:t> </a:t>
            </a:r>
            <a:r>
              <a:rPr lang="en-US" sz="1400" b="1" dirty="0" err="1">
                <a:solidFill>
                  <a:srgbClr val="F5F5F7"/>
                </a:solidFill>
                <a:latin typeface="MiSans"/>
                <a:ea typeface="MiSans"/>
              </a:rPr>
              <a:t>бизнесом</a:t>
            </a:r>
            <a:r>
              <a:rPr lang="en-US" sz="1400" b="1" dirty="0">
                <a:solidFill>
                  <a:srgbClr val="F5F5F7"/>
                </a:solidFill>
                <a:latin typeface="MiSans"/>
                <a:ea typeface="MiSans"/>
              </a:rPr>
              <a:t> — </a:t>
            </a:r>
            <a:r>
              <a:rPr lang="en-US" sz="1400" b="1" dirty="0" err="1">
                <a:solidFill>
                  <a:srgbClr val="F5F5F7"/>
                </a:solidFill>
                <a:latin typeface="MiSans"/>
                <a:ea typeface="MiSans"/>
              </a:rPr>
              <a:t>Промптер</a:t>
            </a:r>
            <a:r>
              <a:rPr lang="en-US" sz="1400" b="1" dirty="0">
                <a:solidFill>
                  <a:srgbClr val="F5F5F7"/>
                </a:solidFill>
                <a:latin typeface="MiSans"/>
                <a:ea typeface="MiSans"/>
              </a:rPr>
              <a:t> </a:t>
            </a:r>
            <a:r>
              <a:rPr lang="en-US" sz="1400" b="1" dirty="0" err="1">
                <a:solidFill>
                  <a:srgbClr val="F5F5F7"/>
                </a:solidFill>
                <a:latin typeface="MiSans"/>
                <a:ea typeface="MiSans"/>
              </a:rPr>
              <a:t>занимается</a:t>
            </a:r>
            <a:r>
              <a:rPr lang="en-US" sz="1400" b="1" dirty="0">
                <a:solidFill>
                  <a:srgbClr val="F5F5F7"/>
                </a:solidFill>
                <a:latin typeface="MiSans"/>
                <a:ea typeface="MiSans"/>
              </a:rPr>
              <a:t> </a:t>
            </a:r>
            <a:r>
              <a:rPr lang="en-US" sz="1400" b="1" dirty="0" err="1">
                <a:solidFill>
                  <a:srgbClr val="F5F5F7"/>
                </a:solidFill>
                <a:latin typeface="MiSans"/>
                <a:ea typeface="MiSans"/>
              </a:rPr>
              <a:t>продвижением</a:t>
            </a:r>
            <a:endParaRPr lang="en-US" sz="1400" dirty="0"/>
          </a:p>
        </p:txBody>
      </p:sp>
      <p:sp>
        <p:nvSpPr>
          <p:cNvPr id="28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9AA8"/>
                </a:solidFill>
                <a:latin typeface="MiSans"/>
                <a:ea typeface="MiSans"/>
              </a:rPr>
              <a:t>06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813800" y="304800"/>
            <a:ext cx="2667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9AA8"/>
                </a:solidFill>
                <a:latin typeface="MiSans"/>
                <a:ea typeface="MiSans"/>
              </a:rPr>
              <a:t>ПРОМПТЕР · О КОМПАНИИ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33400"/>
            <a:ext cx="1076960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500" b="1">
                <a:solidFill>
                  <a:srgbClr val="F5F5F7"/>
                </a:solidFill>
                <a:latin typeface="MiSans"/>
                <a:ea typeface="MiSans"/>
              </a:rPr>
              <a:t>ДЛЯ КОГО РАБОТАЕТ ПРОМПТЕР</a:t>
            </a:r>
            <a:endParaRPr lang="en-US" sz="2500"/>
          </a:p>
        </p:txBody>
      </p:sp>
      <p:sp>
        <p:nvSpPr>
          <p:cNvPr id="4" name="title-rule"/>
          <p:cNvSpPr/>
          <p:nvPr/>
        </p:nvSpPr>
        <p:spPr>
          <a:xfrm>
            <a:off x="711200" y="1143000"/>
            <a:ext cx="609600" cy="25400"/>
          </a:xfrm>
          <a:prstGeom prst="rect">
            <a:avLst/>
          </a:prstGeom>
          <a:solidFill>
            <a:srgbClr val="E8453C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5" name="subtitle"/>
          <p:cNvSpPr txBox="1"/>
          <p:nvPr/>
        </p:nvSpPr>
        <p:spPr>
          <a:xfrm>
            <a:off x="711200" y="1295400"/>
            <a:ext cx="107696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9A9AA8"/>
                </a:solidFill>
                <a:latin typeface="MiSans"/>
                <a:ea typeface="MiSans"/>
              </a:rPr>
              <a:t>Платформа универсальна, но особенно эффективна в локальном бизнесе с высокой конкуренцией</a:t>
            </a:r>
            <a:endParaRPr lang="en-US" sz="1300"/>
          </a:p>
        </p:txBody>
      </p:sp>
      <p:sp>
        <p:nvSpPr>
          <p:cNvPr id="6" name="n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eyJpY29uTmFtZSI6ImZhczp1dGVuc2lscyJ9</pptd:icon>
              </p:ext>
            </p:extLst>
          </p:nvPr>
        </p:nvSpPr>
        <p:spPr>
          <a:xfrm>
            <a:off x="965200" y="19812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64" y="14"/>
                </a:moveTo>
                <a:cubicBezTo>
                  <a:pt x="63" y="6"/>
                  <a:pt x="56" y="0"/>
                  <a:pt x="48" y="0"/>
                </a:cubicBezTo>
                <a:cubicBezTo>
                  <a:pt x="40" y="0"/>
                  <a:pt x="33" y="6"/>
                  <a:pt x="32" y="14"/>
                </a:cubicBezTo>
                <a:lnTo>
                  <a:pt x="18" y="150"/>
                </a:lnTo>
                <a:cubicBezTo>
                  <a:pt x="17" y="156"/>
                  <a:pt x="16" y="162"/>
                  <a:pt x="16" y="168"/>
                </a:cubicBezTo>
                <a:cubicBezTo>
                  <a:pt x="16" y="214"/>
                  <a:pt x="51" y="251"/>
                  <a:pt x="96" y="256"/>
                </a:cubicBezTo>
                <a:lnTo>
                  <a:pt x="96" y="480"/>
                </a:lnTo>
                <a:cubicBezTo>
                  <a:pt x="96" y="498"/>
                  <a:pt x="110" y="512"/>
                  <a:pt x="128" y="512"/>
                </a:cubicBezTo>
                <a:cubicBezTo>
                  <a:pt x="146" y="512"/>
                  <a:pt x="160" y="498"/>
                  <a:pt x="160" y="480"/>
                </a:cubicBezTo>
                <a:lnTo>
                  <a:pt x="160" y="256"/>
                </a:lnTo>
                <a:cubicBezTo>
                  <a:pt x="205" y="252"/>
                  <a:pt x="240" y="214"/>
                  <a:pt x="240" y="168"/>
                </a:cubicBezTo>
                <a:cubicBezTo>
                  <a:pt x="240" y="162"/>
                  <a:pt x="239" y="156"/>
                  <a:pt x="238" y="150"/>
                </a:cubicBezTo>
                <a:lnTo>
                  <a:pt x="224" y="14"/>
                </a:lnTo>
                <a:cubicBezTo>
                  <a:pt x="223" y="6"/>
                  <a:pt x="216" y="0"/>
                  <a:pt x="208" y="0"/>
                </a:cubicBezTo>
                <a:cubicBezTo>
                  <a:pt x="200" y="0"/>
                  <a:pt x="193" y="6"/>
                  <a:pt x="192" y="14"/>
                </a:cubicBezTo>
                <a:lnTo>
                  <a:pt x="179" y="150"/>
                </a:lnTo>
                <a:cubicBezTo>
                  <a:pt x="178" y="156"/>
                  <a:pt x="173" y="160"/>
                  <a:pt x="167" y="160"/>
                </a:cubicBezTo>
                <a:cubicBezTo>
                  <a:pt x="162" y="160"/>
                  <a:pt x="157" y="156"/>
                  <a:pt x="156" y="150"/>
                </a:cubicBezTo>
                <a:lnTo>
                  <a:pt x="144" y="15"/>
                </a:lnTo>
                <a:cubicBezTo>
                  <a:pt x="143" y="6"/>
                  <a:pt x="136" y="0"/>
                  <a:pt x="128" y="0"/>
                </a:cubicBezTo>
                <a:cubicBezTo>
                  <a:pt x="120" y="0"/>
                  <a:pt x="113" y="6"/>
                  <a:pt x="112" y="15"/>
                </a:cubicBezTo>
                <a:lnTo>
                  <a:pt x="100" y="150"/>
                </a:lnTo>
                <a:cubicBezTo>
                  <a:pt x="99" y="156"/>
                  <a:pt x="94" y="160"/>
                  <a:pt x="89" y="160"/>
                </a:cubicBezTo>
                <a:cubicBezTo>
                  <a:pt x="83" y="160"/>
                  <a:pt x="78" y="156"/>
                  <a:pt x="78" y="150"/>
                </a:cubicBezTo>
                <a:lnTo>
                  <a:pt x="64" y="14"/>
                </a:lnTo>
                <a:close/>
                <a:moveTo>
                  <a:pt x="448" y="0"/>
                </a:moveTo>
                <a:cubicBezTo>
                  <a:pt x="432" y="0"/>
                  <a:pt x="320" y="32"/>
                  <a:pt x="320" y="176"/>
                </a:cubicBezTo>
                <a:lnTo>
                  <a:pt x="320" y="288"/>
                </a:lnTo>
                <a:cubicBezTo>
                  <a:pt x="320" y="323"/>
                  <a:pt x="349" y="352"/>
                  <a:pt x="384" y="352"/>
                </a:cubicBezTo>
                <a:lnTo>
                  <a:pt x="416" y="352"/>
                </a:lnTo>
                <a:lnTo>
                  <a:pt x="416" y="480"/>
                </a:lnTo>
                <a:cubicBezTo>
                  <a:pt x="416" y="498"/>
                  <a:pt x="430" y="512"/>
                  <a:pt x="448" y="512"/>
                </a:cubicBezTo>
                <a:cubicBezTo>
                  <a:pt x="466" y="512"/>
                  <a:pt x="480" y="498"/>
                  <a:pt x="480" y="480"/>
                </a:cubicBezTo>
                <a:lnTo>
                  <a:pt x="480" y="32"/>
                </a:lnTo>
                <a:cubicBezTo>
                  <a:pt x="480" y="14"/>
                  <a:pt x="466" y="0"/>
                  <a:pt x="448" y="0"/>
                </a:cubicBezTo>
                <a:close/>
              </a:path>
            </a:pathLst>
          </a:custGeom>
          <a:solidFill>
            <a:srgbClr val="3D6BFF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7" name="n1-title"/>
          <p:cNvSpPr txBox="1"/>
          <p:nvPr/>
        </p:nvSpPr>
        <p:spPr>
          <a:xfrm>
            <a:off x="1498600" y="1981200"/>
            <a:ext cx="41910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b="1">
                <a:solidFill>
                  <a:srgbClr val="F5F5F7"/>
                </a:solidFill>
                <a:latin typeface="MiSans"/>
                <a:ea typeface="MiSans"/>
              </a:rPr>
              <a:t>HoReCa</a:t>
            </a:r>
            <a:endParaRPr lang="en-US" sz="1600"/>
          </a:p>
        </p:txBody>
      </p:sp>
      <p:sp>
        <p:nvSpPr>
          <p:cNvPr id="8" name="n1-desc"/>
          <p:cNvSpPr txBox="1"/>
          <p:nvPr/>
        </p:nvSpPr>
        <p:spPr>
          <a:xfrm>
            <a:off x="1498600" y="2336800"/>
            <a:ext cx="41910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50">
                <a:solidFill>
                  <a:srgbClr val="9A9AA8"/>
                </a:solidFill>
                <a:latin typeface="MiSans"/>
                <a:ea typeface="MiSans"/>
              </a:rPr>
              <a:t>Отели, рестораны и кафе — гости выбирают по рекомендациям нейросети</a:t>
            </a:r>
            <a:endParaRPr lang="en-US" sz="1150"/>
          </a:p>
        </p:txBody>
      </p:sp>
      <p:sp>
        <p:nvSpPr>
          <p:cNvPr id="9" name="l1"/>
          <p:cNvSpPr/>
          <p:nvPr/>
        </p:nvSpPr>
        <p:spPr>
          <a:xfrm>
            <a:off x="711200" y="3048000"/>
            <a:ext cx="4978400" cy="12700"/>
          </a:xfrm>
          <a:prstGeom prst="rect">
            <a:avLst/>
          </a:prstGeom>
          <a:solidFill>
            <a:srgbClr val="262635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10" name="n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eyJpY29uTmFtZSI6ImZhczpzcGEifQ</pptd:icon>
              </p:ext>
            </p:extLst>
          </p:nvPr>
        </p:nvSpPr>
        <p:spPr>
          <a:xfrm>
            <a:off x="965200" y="33274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170" y="228"/>
                </a:moveTo>
                <a:cubicBezTo>
                  <a:pt x="204" y="246"/>
                  <a:pt x="234" y="272"/>
                  <a:pt x="259" y="302"/>
                </a:cubicBezTo>
                <a:cubicBezTo>
                  <a:pt x="270" y="316"/>
                  <a:pt x="280" y="331"/>
                  <a:pt x="288" y="347"/>
                </a:cubicBezTo>
                <a:cubicBezTo>
                  <a:pt x="296" y="331"/>
                  <a:pt x="306" y="316"/>
                  <a:pt x="317" y="302"/>
                </a:cubicBezTo>
                <a:cubicBezTo>
                  <a:pt x="342" y="272"/>
                  <a:pt x="372" y="246"/>
                  <a:pt x="406" y="228"/>
                </a:cubicBezTo>
                <a:cubicBezTo>
                  <a:pt x="448" y="205"/>
                  <a:pt x="496" y="192"/>
                  <a:pt x="546" y="192"/>
                </a:cubicBezTo>
                <a:lnTo>
                  <a:pt x="556" y="192"/>
                </a:lnTo>
                <a:cubicBezTo>
                  <a:pt x="567" y="192"/>
                  <a:pt x="576" y="201"/>
                  <a:pt x="576" y="212"/>
                </a:cubicBezTo>
                <a:cubicBezTo>
                  <a:pt x="576" y="360"/>
                  <a:pt x="456" y="480"/>
                  <a:pt x="308" y="480"/>
                </a:cubicBezTo>
                <a:lnTo>
                  <a:pt x="268" y="480"/>
                </a:lnTo>
                <a:cubicBezTo>
                  <a:pt x="120" y="480"/>
                  <a:pt x="0" y="360"/>
                  <a:pt x="0" y="212"/>
                </a:cubicBezTo>
                <a:cubicBezTo>
                  <a:pt x="0" y="201"/>
                  <a:pt x="9" y="192"/>
                  <a:pt x="20" y="192"/>
                </a:cubicBezTo>
                <a:lnTo>
                  <a:pt x="30" y="192"/>
                </a:lnTo>
                <a:cubicBezTo>
                  <a:pt x="80" y="192"/>
                  <a:pt x="128" y="205"/>
                  <a:pt x="170" y="228"/>
                </a:cubicBezTo>
                <a:close/>
                <a:moveTo>
                  <a:pt x="304" y="38"/>
                </a:moveTo>
                <a:cubicBezTo>
                  <a:pt x="321" y="54"/>
                  <a:pt x="365" y="101"/>
                  <a:pt x="393" y="180"/>
                </a:cubicBezTo>
                <a:cubicBezTo>
                  <a:pt x="353" y="201"/>
                  <a:pt x="317" y="229"/>
                  <a:pt x="288" y="262"/>
                </a:cubicBezTo>
                <a:cubicBezTo>
                  <a:pt x="259" y="228"/>
                  <a:pt x="223" y="201"/>
                  <a:pt x="183" y="180"/>
                </a:cubicBezTo>
                <a:cubicBezTo>
                  <a:pt x="211" y="101"/>
                  <a:pt x="255" y="54"/>
                  <a:pt x="272" y="38"/>
                </a:cubicBezTo>
                <a:cubicBezTo>
                  <a:pt x="276" y="34"/>
                  <a:pt x="282" y="32"/>
                  <a:pt x="288" y="32"/>
                </a:cubicBezTo>
                <a:cubicBezTo>
                  <a:pt x="294" y="32"/>
                  <a:pt x="300" y="34"/>
                  <a:pt x="304" y="38"/>
                </a:cubicBezTo>
                <a:close/>
              </a:path>
            </a:pathLst>
          </a:custGeom>
          <a:solidFill>
            <a:srgbClr val="3D6BFF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11" name="n2-title"/>
          <p:cNvSpPr txBox="1"/>
          <p:nvPr/>
        </p:nvSpPr>
        <p:spPr>
          <a:xfrm>
            <a:off x="1498600" y="3327400"/>
            <a:ext cx="41910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b="1">
                <a:solidFill>
                  <a:srgbClr val="F5F5F7"/>
                </a:solidFill>
                <a:latin typeface="MiSans"/>
                <a:ea typeface="MiSans"/>
              </a:rPr>
              <a:t>Салоны красоты</a:t>
            </a:r>
            <a:endParaRPr lang="en-US" sz="1600"/>
          </a:p>
        </p:txBody>
      </p:sp>
      <p:sp>
        <p:nvSpPr>
          <p:cNvPr id="12" name="n2-desc"/>
          <p:cNvSpPr txBox="1"/>
          <p:nvPr/>
        </p:nvSpPr>
        <p:spPr>
          <a:xfrm>
            <a:off x="1498600" y="3683000"/>
            <a:ext cx="41910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50">
                <a:solidFill>
                  <a:srgbClr val="9A9AA8"/>
                </a:solidFill>
                <a:latin typeface="MiSans"/>
                <a:ea typeface="MiSans"/>
              </a:rPr>
              <a:t>Студии и косметологии — клиентки записываются к тем, кого назовёт ИИ</a:t>
            </a:r>
            <a:endParaRPr lang="en-US" sz="1150"/>
          </a:p>
        </p:txBody>
      </p:sp>
      <p:sp>
        <p:nvSpPr>
          <p:cNvPr id="13" name="l2"/>
          <p:cNvSpPr/>
          <p:nvPr/>
        </p:nvSpPr>
        <p:spPr>
          <a:xfrm>
            <a:off x="711200" y="4394200"/>
            <a:ext cx="4978400" cy="12700"/>
          </a:xfrm>
          <a:prstGeom prst="rect">
            <a:avLst/>
          </a:prstGeom>
          <a:solidFill>
            <a:srgbClr val="262635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14" name="n3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eyJpY29uTmFtZSI6ImZhczp0b290aCJ9</pptd:icon>
              </p:ext>
            </p:extLst>
          </p:nvPr>
        </p:nvSpPr>
        <p:spPr>
          <a:xfrm>
            <a:off x="965200" y="46736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145" y="6"/>
                </a:moveTo>
                <a:lnTo>
                  <a:pt x="224" y="32"/>
                </a:lnTo>
                <a:lnTo>
                  <a:pt x="303" y="6"/>
                </a:lnTo>
                <a:cubicBezTo>
                  <a:pt x="314" y="2"/>
                  <a:pt x="326" y="0"/>
                  <a:pt x="338" y="0"/>
                </a:cubicBezTo>
                <a:cubicBezTo>
                  <a:pt x="399" y="0"/>
                  <a:pt x="448" y="49"/>
                  <a:pt x="448" y="110"/>
                </a:cubicBezTo>
                <a:lnTo>
                  <a:pt x="448" y="179"/>
                </a:lnTo>
                <a:cubicBezTo>
                  <a:pt x="448" y="208"/>
                  <a:pt x="439" y="237"/>
                  <a:pt x="421" y="260"/>
                </a:cubicBezTo>
                <a:lnTo>
                  <a:pt x="420" y="262"/>
                </a:lnTo>
                <a:cubicBezTo>
                  <a:pt x="407" y="279"/>
                  <a:pt x="398" y="299"/>
                  <a:pt x="395" y="320"/>
                </a:cubicBezTo>
                <a:lnTo>
                  <a:pt x="374" y="472"/>
                </a:lnTo>
                <a:cubicBezTo>
                  <a:pt x="370" y="495"/>
                  <a:pt x="351" y="512"/>
                  <a:pt x="328" y="512"/>
                </a:cubicBezTo>
                <a:cubicBezTo>
                  <a:pt x="305" y="512"/>
                  <a:pt x="285" y="496"/>
                  <a:pt x="282" y="473"/>
                </a:cubicBezTo>
                <a:lnTo>
                  <a:pt x="261" y="352"/>
                </a:lnTo>
                <a:cubicBezTo>
                  <a:pt x="258" y="333"/>
                  <a:pt x="243" y="320"/>
                  <a:pt x="224" y="320"/>
                </a:cubicBezTo>
                <a:cubicBezTo>
                  <a:pt x="206" y="320"/>
                  <a:pt x="190" y="333"/>
                  <a:pt x="187" y="352"/>
                </a:cubicBezTo>
                <a:lnTo>
                  <a:pt x="167" y="473"/>
                </a:lnTo>
                <a:cubicBezTo>
                  <a:pt x="163" y="496"/>
                  <a:pt x="143" y="512"/>
                  <a:pt x="121" y="512"/>
                </a:cubicBezTo>
                <a:cubicBezTo>
                  <a:pt x="97" y="512"/>
                  <a:pt x="78" y="495"/>
                  <a:pt x="74" y="472"/>
                </a:cubicBezTo>
                <a:lnTo>
                  <a:pt x="53" y="321"/>
                </a:lnTo>
                <a:cubicBezTo>
                  <a:pt x="50" y="299"/>
                  <a:pt x="41" y="279"/>
                  <a:pt x="28" y="262"/>
                </a:cubicBezTo>
                <a:lnTo>
                  <a:pt x="27" y="260"/>
                </a:lnTo>
                <a:cubicBezTo>
                  <a:pt x="10" y="237"/>
                  <a:pt x="0" y="208"/>
                  <a:pt x="0" y="179"/>
                </a:cubicBezTo>
                <a:lnTo>
                  <a:pt x="0" y="110"/>
                </a:lnTo>
                <a:cubicBezTo>
                  <a:pt x="0" y="49"/>
                  <a:pt x="49" y="0"/>
                  <a:pt x="110" y="0"/>
                </a:cubicBezTo>
                <a:cubicBezTo>
                  <a:pt x="122" y="0"/>
                  <a:pt x="134" y="2"/>
                  <a:pt x="145" y="6"/>
                </a:cubicBezTo>
                <a:close/>
              </a:path>
            </a:pathLst>
          </a:custGeom>
          <a:solidFill>
            <a:srgbClr val="3D6BFF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15" name="n3-title"/>
          <p:cNvSpPr txBox="1"/>
          <p:nvPr/>
        </p:nvSpPr>
        <p:spPr>
          <a:xfrm>
            <a:off x="1498600" y="4673600"/>
            <a:ext cx="41910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b="1">
                <a:solidFill>
                  <a:srgbClr val="F5F5F7"/>
                </a:solidFill>
                <a:latin typeface="MiSans"/>
                <a:ea typeface="MiSans"/>
              </a:rPr>
              <a:t>Стоматология</a:t>
            </a:r>
            <a:endParaRPr lang="en-US" sz="1600"/>
          </a:p>
        </p:txBody>
      </p:sp>
      <p:sp>
        <p:nvSpPr>
          <p:cNvPr id="16" name="n3-desc"/>
          <p:cNvSpPr txBox="1"/>
          <p:nvPr/>
        </p:nvSpPr>
        <p:spPr>
          <a:xfrm>
            <a:off x="1498600" y="5029200"/>
            <a:ext cx="41910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50">
                <a:solidFill>
                  <a:srgbClr val="9A9AA8"/>
                </a:solidFill>
                <a:latin typeface="MiSans"/>
                <a:ea typeface="MiSans"/>
              </a:rPr>
              <a:t>Клиники — пациенты доверяют выбору нейросети как совету врача</a:t>
            </a:r>
            <a:endParaRPr lang="en-US" sz="1150"/>
          </a:p>
        </p:txBody>
      </p:sp>
      <p:sp>
        <p:nvSpPr>
          <p:cNvPr id="17" name="n4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eyJpY29uTmFtZSI6ImZhczpzZWVkbGluZyJ9</pptd:icon>
              </p:ext>
            </p:extLst>
          </p:nvPr>
        </p:nvSpPr>
        <p:spPr>
          <a:xfrm>
            <a:off x="6578600" y="3349536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12" y="32"/>
                </a:moveTo>
                <a:cubicBezTo>
                  <a:pt x="512" y="140"/>
                  <a:pt x="435" y="230"/>
                  <a:pt x="334" y="251"/>
                </a:cubicBezTo>
                <a:cubicBezTo>
                  <a:pt x="326" y="193"/>
                  <a:pt x="300" y="141"/>
                  <a:pt x="261" y="101"/>
                </a:cubicBezTo>
                <a:cubicBezTo>
                  <a:pt x="301" y="40"/>
                  <a:pt x="370" y="0"/>
                  <a:pt x="448" y="0"/>
                </a:cubicBezTo>
                <a:lnTo>
                  <a:pt x="480" y="0"/>
                </a:lnTo>
                <a:cubicBezTo>
                  <a:pt x="498" y="0"/>
                  <a:pt x="512" y="14"/>
                  <a:pt x="512" y="32"/>
                </a:cubicBezTo>
                <a:close/>
                <a:moveTo>
                  <a:pt x="0" y="96"/>
                </a:moveTo>
                <a:cubicBezTo>
                  <a:pt x="0" y="78"/>
                  <a:pt x="14" y="64"/>
                  <a:pt x="32" y="64"/>
                </a:cubicBezTo>
                <a:lnTo>
                  <a:pt x="64" y="64"/>
                </a:lnTo>
                <a:cubicBezTo>
                  <a:pt x="188" y="64"/>
                  <a:pt x="288" y="164"/>
                  <a:pt x="288" y="288"/>
                </a:cubicBezTo>
                <a:lnTo>
                  <a:pt x="288" y="480"/>
                </a:lnTo>
                <a:cubicBezTo>
                  <a:pt x="288" y="498"/>
                  <a:pt x="274" y="512"/>
                  <a:pt x="256" y="512"/>
                </a:cubicBezTo>
                <a:cubicBezTo>
                  <a:pt x="238" y="512"/>
                  <a:pt x="224" y="498"/>
                  <a:pt x="224" y="480"/>
                </a:cubicBezTo>
                <a:lnTo>
                  <a:pt x="224" y="320"/>
                </a:lnTo>
                <a:cubicBezTo>
                  <a:pt x="100" y="320"/>
                  <a:pt x="0" y="220"/>
                  <a:pt x="0" y="96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18" name="n4-title"/>
          <p:cNvSpPr txBox="1"/>
          <p:nvPr/>
        </p:nvSpPr>
        <p:spPr>
          <a:xfrm>
            <a:off x="7112000" y="3349536"/>
            <a:ext cx="41910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b="1" dirty="0" err="1">
                <a:solidFill>
                  <a:srgbClr val="F5F5F7"/>
                </a:solidFill>
                <a:latin typeface="MiSans"/>
                <a:ea typeface="MiSans"/>
              </a:rPr>
              <a:t>Цветочные</a:t>
            </a:r>
            <a:r>
              <a:rPr lang="en-US" sz="1600" b="1" dirty="0">
                <a:solidFill>
                  <a:srgbClr val="F5F5F7"/>
                </a:solidFill>
                <a:latin typeface="MiSans"/>
                <a:ea typeface="MiSans"/>
              </a:rPr>
              <a:t> </a:t>
            </a:r>
            <a:r>
              <a:rPr lang="en-US" sz="1600" b="1" dirty="0" err="1">
                <a:solidFill>
                  <a:srgbClr val="F5F5F7"/>
                </a:solidFill>
                <a:latin typeface="MiSans"/>
                <a:ea typeface="MiSans"/>
              </a:rPr>
              <a:t>салоны</a:t>
            </a:r>
            <a:endParaRPr lang="en-US" sz="1600" dirty="0"/>
          </a:p>
        </p:txBody>
      </p:sp>
      <p:sp>
        <p:nvSpPr>
          <p:cNvPr id="19" name="n4-desc"/>
          <p:cNvSpPr txBox="1"/>
          <p:nvPr/>
        </p:nvSpPr>
        <p:spPr>
          <a:xfrm>
            <a:off x="7112000" y="3683000"/>
            <a:ext cx="43688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50" dirty="0" err="1">
                <a:solidFill>
                  <a:srgbClr val="9A9AA8"/>
                </a:solidFill>
                <a:latin typeface="MiSans"/>
                <a:ea typeface="MiSans"/>
              </a:rPr>
              <a:t>Букеты</a:t>
            </a:r>
            <a:r>
              <a:rPr lang="en-US" sz="1150" dirty="0">
                <a:solidFill>
                  <a:srgbClr val="9A9AA8"/>
                </a:solidFill>
                <a:latin typeface="MiSans"/>
                <a:ea typeface="MiSans"/>
              </a:rPr>
              <a:t> и </a:t>
            </a:r>
            <a:r>
              <a:rPr lang="en-US" sz="1150" dirty="0" err="1">
                <a:solidFill>
                  <a:srgbClr val="9A9AA8"/>
                </a:solidFill>
                <a:latin typeface="MiSans"/>
                <a:ea typeface="MiSans"/>
              </a:rPr>
              <a:t>доставка</a:t>
            </a:r>
            <a:r>
              <a:rPr lang="en-US" sz="1150" dirty="0">
                <a:solidFill>
                  <a:srgbClr val="9A9AA8"/>
                </a:solidFill>
                <a:latin typeface="MiSans"/>
                <a:ea typeface="MiSans"/>
              </a:rPr>
              <a:t> — </a:t>
            </a:r>
            <a:r>
              <a:rPr lang="en-US" sz="1150" dirty="0" err="1">
                <a:solidFill>
                  <a:srgbClr val="9A9AA8"/>
                </a:solidFill>
                <a:latin typeface="MiSans"/>
                <a:ea typeface="MiSans"/>
              </a:rPr>
              <a:t>заказы</a:t>
            </a:r>
            <a:r>
              <a:rPr lang="en-US" sz="115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50" dirty="0" err="1">
                <a:solidFill>
                  <a:srgbClr val="9A9AA8"/>
                </a:solidFill>
                <a:latin typeface="MiSans"/>
                <a:ea typeface="MiSans"/>
              </a:rPr>
              <a:t>уходят</a:t>
            </a:r>
            <a:r>
              <a:rPr lang="en-US" sz="115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50" dirty="0" err="1">
                <a:solidFill>
                  <a:srgbClr val="9A9AA8"/>
                </a:solidFill>
                <a:latin typeface="MiSans"/>
                <a:ea typeface="MiSans"/>
              </a:rPr>
              <a:t>тем</a:t>
            </a:r>
            <a:r>
              <a:rPr lang="en-US" sz="1150" dirty="0">
                <a:solidFill>
                  <a:srgbClr val="9A9AA8"/>
                </a:solidFill>
                <a:latin typeface="MiSans"/>
                <a:ea typeface="MiSans"/>
              </a:rPr>
              <a:t>, </a:t>
            </a:r>
            <a:r>
              <a:rPr lang="en-US" sz="1150" dirty="0" err="1">
                <a:solidFill>
                  <a:srgbClr val="9A9AA8"/>
                </a:solidFill>
                <a:latin typeface="MiSans"/>
                <a:ea typeface="MiSans"/>
              </a:rPr>
              <a:t>кто</a:t>
            </a:r>
            <a:r>
              <a:rPr lang="en-US" sz="115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50" dirty="0" err="1">
                <a:solidFill>
                  <a:srgbClr val="9A9AA8"/>
                </a:solidFill>
                <a:latin typeface="MiSans"/>
                <a:ea typeface="MiSans"/>
              </a:rPr>
              <a:t>первый</a:t>
            </a:r>
            <a:r>
              <a:rPr lang="en-US" sz="1150" dirty="0">
                <a:solidFill>
                  <a:srgbClr val="9A9AA8"/>
                </a:solidFill>
                <a:latin typeface="MiSans"/>
                <a:ea typeface="MiSans"/>
              </a:rPr>
              <a:t> в </a:t>
            </a:r>
            <a:r>
              <a:rPr lang="en-US" sz="1150" dirty="0" err="1">
                <a:solidFill>
                  <a:srgbClr val="9A9AA8"/>
                </a:solidFill>
                <a:latin typeface="MiSans"/>
                <a:ea typeface="MiSans"/>
              </a:rPr>
              <a:t>ответе</a:t>
            </a:r>
            <a:r>
              <a:rPr lang="en-US" sz="115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50" dirty="0" err="1">
                <a:solidFill>
                  <a:srgbClr val="9A9AA8"/>
                </a:solidFill>
                <a:latin typeface="MiSans"/>
                <a:ea typeface="MiSans"/>
              </a:rPr>
              <a:t>нейросети</a:t>
            </a:r>
            <a:endParaRPr lang="en-US" sz="1150" dirty="0"/>
          </a:p>
        </p:txBody>
      </p:sp>
      <p:sp>
        <p:nvSpPr>
          <p:cNvPr id="20" name="l4"/>
          <p:cNvSpPr/>
          <p:nvPr/>
        </p:nvSpPr>
        <p:spPr>
          <a:xfrm>
            <a:off x="6502400" y="3048000"/>
            <a:ext cx="4978400" cy="12700"/>
          </a:xfrm>
          <a:prstGeom prst="rect">
            <a:avLst/>
          </a:prstGeom>
          <a:solidFill>
            <a:srgbClr val="262635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21" name="n5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eyJpY29uTmFtZSI6ImZhczpzdG9yZSJ9</pptd:icon>
              </p:ext>
            </p:extLst>
          </p:nvPr>
        </p:nvSpPr>
        <p:spPr>
          <a:xfrm>
            <a:off x="6578600" y="466814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31" y="72"/>
                </a:moveTo>
                <a:cubicBezTo>
                  <a:pt x="38" y="48"/>
                  <a:pt x="60" y="32"/>
                  <a:pt x="84" y="32"/>
                </a:cubicBezTo>
                <a:lnTo>
                  <a:pt x="428" y="32"/>
                </a:lnTo>
                <a:cubicBezTo>
                  <a:pt x="453" y="32"/>
                  <a:pt x="475" y="48"/>
                  <a:pt x="482" y="72"/>
                </a:cubicBezTo>
                <a:lnTo>
                  <a:pt x="506" y="153"/>
                </a:lnTo>
                <a:cubicBezTo>
                  <a:pt x="518" y="196"/>
                  <a:pt x="485" y="240"/>
                  <a:pt x="440" y="240"/>
                </a:cubicBezTo>
                <a:cubicBezTo>
                  <a:pt x="414" y="240"/>
                  <a:pt x="391" y="225"/>
                  <a:pt x="379" y="203"/>
                </a:cubicBezTo>
                <a:cubicBezTo>
                  <a:pt x="368" y="225"/>
                  <a:pt x="345" y="240"/>
                  <a:pt x="318" y="240"/>
                </a:cubicBezTo>
                <a:cubicBezTo>
                  <a:pt x="291" y="240"/>
                  <a:pt x="268" y="225"/>
                  <a:pt x="257" y="203"/>
                </a:cubicBezTo>
                <a:cubicBezTo>
                  <a:pt x="245" y="225"/>
                  <a:pt x="222" y="240"/>
                  <a:pt x="195" y="240"/>
                </a:cubicBezTo>
                <a:cubicBezTo>
                  <a:pt x="168" y="240"/>
                  <a:pt x="145" y="225"/>
                  <a:pt x="134" y="203"/>
                </a:cubicBezTo>
                <a:cubicBezTo>
                  <a:pt x="122" y="225"/>
                  <a:pt x="99" y="240"/>
                  <a:pt x="73" y="240"/>
                </a:cubicBezTo>
                <a:cubicBezTo>
                  <a:pt x="27" y="240"/>
                  <a:pt x="-5" y="196"/>
                  <a:pt x="7" y="153"/>
                </a:cubicBezTo>
                <a:lnTo>
                  <a:pt x="31" y="72"/>
                </a:lnTo>
                <a:close/>
                <a:moveTo>
                  <a:pt x="96" y="352"/>
                </a:moveTo>
                <a:lnTo>
                  <a:pt x="416" y="352"/>
                </a:lnTo>
                <a:lnTo>
                  <a:pt x="416" y="286"/>
                </a:lnTo>
                <a:cubicBezTo>
                  <a:pt x="424" y="287"/>
                  <a:pt x="432" y="288"/>
                  <a:pt x="440" y="288"/>
                </a:cubicBezTo>
                <a:cubicBezTo>
                  <a:pt x="454" y="288"/>
                  <a:pt x="468" y="285"/>
                  <a:pt x="480" y="281"/>
                </a:cubicBezTo>
                <a:lnTo>
                  <a:pt x="480" y="432"/>
                </a:lnTo>
                <a:cubicBezTo>
                  <a:pt x="480" y="459"/>
                  <a:pt x="459" y="480"/>
                  <a:pt x="432" y="480"/>
                </a:cubicBezTo>
                <a:lnTo>
                  <a:pt x="80" y="480"/>
                </a:lnTo>
                <a:cubicBezTo>
                  <a:pt x="54" y="480"/>
                  <a:pt x="32" y="459"/>
                  <a:pt x="32" y="432"/>
                </a:cubicBezTo>
                <a:lnTo>
                  <a:pt x="32" y="281"/>
                </a:lnTo>
                <a:cubicBezTo>
                  <a:pt x="45" y="285"/>
                  <a:pt x="58" y="288"/>
                  <a:pt x="73" y="288"/>
                </a:cubicBezTo>
                <a:cubicBezTo>
                  <a:pt x="81" y="288"/>
                  <a:pt x="89" y="287"/>
                  <a:pt x="96" y="286"/>
                </a:cubicBezTo>
                <a:lnTo>
                  <a:pt x="96" y="352"/>
                </a:lnTo>
                <a:close/>
              </a:path>
            </a:pathLst>
          </a:custGeom>
          <a:solidFill>
            <a:srgbClr val="E8453C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22" name="n5-title"/>
          <p:cNvSpPr txBox="1"/>
          <p:nvPr/>
        </p:nvSpPr>
        <p:spPr>
          <a:xfrm>
            <a:off x="7112000" y="4693540"/>
            <a:ext cx="41910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b="1" dirty="0" err="1">
                <a:solidFill>
                  <a:srgbClr val="F5F5F7"/>
                </a:solidFill>
                <a:latin typeface="MiSans"/>
                <a:ea typeface="MiSans"/>
              </a:rPr>
              <a:t>Локальная</a:t>
            </a:r>
            <a:r>
              <a:rPr lang="en-US" sz="1600" b="1" dirty="0">
                <a:solidFill>
                  <a:srgbClr val="F5F5F7"/>
                </a:solidFill>
                <a:latin typeface="MiSans"/>
                <a:ea typeface="MiSans"/>
              </a:rPr>
              <a:t> </a:t>
            </a:r>
            <a:r>
              <a:rPr lang="en-US" sz="1600" b="1" dirty="0" err="1">
                <a:solidFill>
                  <a:srgbClr val="F5F5F7"/>
                </a:solidFill>
                <a:latin typeface="MiSans"/>
                <a:ea typeface="MiSans"/>
              </a:rPr>
              <a:t>розница</a:t>
            </a:r>
            <a:r>
              <a:rPr lang="en-US" sz="1600" b="1" dirty="0">
                <a:solidFill>
                  <a:srgbClr val="F5F5F7"/>
                </a:solidFill>
                <a:latin typeface="MiSans"/>
                <a:ea typeface="MiSans"/>
              </a:rPr>
              <a:t> и </a:t>
            </a:r>
            <a:r>
              <a:rPr lang="en-US" sz="1600" b="1" dirty="0" err="1">
                <a:solidFill>
                  <a:srgbClr val="F5F5F7"/>
                </a:solidFill>
                <a:latin typeface="MiSans"/>
                <a:ea typeface="MiSans"/>
              </a:rPr>
              <a:t>услуги</a:t>
            </a:r>
            <a:endParaRPr lang="en-US" sz="1600" dirty="0"/>
          </a:p>
        </p:txBody>
      </p:sp>
      <p:sp>
        <p:nvSpPr>
          <p:cNvPr id="23" name="n5-desc"/>
          <p:cNvSpPr txBox="1"/>
          <p:nvPr/>
        </p:nvSpPr>
        <p:spPr>
          <a:xfrm>
            <a:off x="7112000" y="5029200"/>
            <a:ext cx="41910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50" dirty="0" err="1">
                <a:solidFill>
                  <a:srgbClr val="9A9AA8"/>
                </a:solidFill>
                <a:latin typeface="MiSans"/>
                <a:ea typeface="MiSans"/>
              </a:rPr>
              <a:t>Любой</a:t>
            </a:r>
            <a:r>
              <a:rPr lang="en-US" sz="115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50" dirty="0" err="1">
                <a:solidFill>
                  <a:srgbClr val="9A9AA8"/>
                </a:solidFill>
                <a:latin typeface="MiSans"/>
                <a:ea typeface="MiSans"/>
              </a:rPr>
              <a:t>бизнес</a:t>
            </a:r>
            <a:r>
              <a:rPr lang="en-US" sz="1150" dirty="0">
                <a:solidFill>
                  <a:srgbClr val="9A9AA8"/>
                </a:solidFill>
                <a:latin typeface="MiSans"/>
                <a:ea typeface="MiSans"/>
              </a:rPr>
              <a:t> «</a:t>
            </a:r>
            <a:r>
              <a:rPr lang="en-US" sz="1150" dirty="0" err="1">
                <a:solidFill>
                  <a:srgbClr val="9A9AA8"/>
                </a:solidFill>
                <a:latin typeface="MiSans"/>
                <a:ea typeface="MiSans"/>
              </a:rPr>
              <a:t>рядом</a:t>
            </a:r>
            <a:r>
              <a:rPr lang="en-US" sz="1150" dirty="0">
                <a:solidFill>
                  <a:srgbClr val="9A9AA8"/>
                </a:solidFill>
                <a:latin typeface="MiSans"/>
                <a:ea typeface="MiSans"/>
              </a:rPr>
              <a:t> с </a:t>
            </a:r>
            <a:r>
              <a:rPr lang="en-US" sz="1150" dirty="0" err="1">
                <a:solidFill>
                  <a:srgbClr val="9A9AA8"/>
                </a:solidFill>
                <a:latin typeface="MiSans"/>
                <a:ea typeface="MiSans"/>
              </a:rPr>
              <a:t>клиентом</a:t>
            </a:r>
            <a:r>
              <a:rPr lang="en-US" sz="1150" dirty="0">
                <a:solidFill>
                  <a:srgbClr val="9A9AA8"/>
                </a:solidFill>
                <a:latin typeface="MiSans"/>
                <a:ea typeface="MiSans"/>
              </a:rPr>
              <a:t>» — </a:t>
            </a:r>
            <a:r>
              <a:rPr lang="en-US" sz="1150" dirty="0" err="1">
                <a:solidFill>
                  <a:srgbClr val="9A9AA8"/>
                </a:solidFill>
                <a:latin typeface="MiSans"/>
                <a:ea typeface="MiSans"/>
              </a:rPr>
              <a:t>от</a:t>
            </a:r>
            <a:r>
              <a:rPr lang="en-US" sz="115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50" dirty="0" err="1">
                <a:solidFill>
                  <a:srgbClr val="9A9AA8"/>
                </a:solidFill>
                <a:latin typeface="MiSans"/>
                <a:ea typeface="MiSans"/>
              </a:rPr>
              <a:t>автосервиса</a:t>
            </a:r>
            <a:r>
              <a:rPr lang="en-US" sz="115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50" dirty="0" err="1">
                <a:solidFill>
                  <a:srgbClr val="9A9AA8"/>
                </a:solidFill>
                <a:latin typeface="MiSans"/>
                <a:ea typeface="MiSans"/>
              </a:rPr>
              <a:t>до</a:t>
            </a:r>
            <a:r>
              <a:rPr lang="en-US" sz="115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50" dirty="0" err="1">
                <a:solidFill>
                  <a:srgbClr val="9A9AA8"/>
                </a:solidFill>
                <a:latin typeface="MiSans"/>
                <a:ea typeface="MiSans"/>
              </a:rPr>
              <a:t>фитнеса</a:t>
            </a:r>
            <a:endParaRPr lang="en-US" sz="1150" dirty="0"/>
          </a:p>
        </p:txBody>
      </p:sp>
      <p:sp>
        <p:nvSpPr>
          <p:cNvPr id="26" name="strip"/>
          <p:cNvSpPr/>
          <p:nvPr/>
        </p:nvSpPr>
        <p:spPr>
          <a:xfrm>
            <a:off x="711200" y="5867400"/>
            <a:ext cx="10769600" cy="558800"/>
          </a:xfrm>
          <a:prstGeom prst="rect">
            <a:avLst/>
          </a:prstGeom>
          <a:solidFill>
            <a:srgbClr val="13131B"/>
          </a:solidFill>
          <a:ln w="12700">
            <a:solidFill>
              <a:srgbClr val="262635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27" name="strip-text"/>
          <p:cNvSpPr txBox="1"/>
          <p:nvPr/>
        </p:nvSpPr>
        <p:spPr>
          <a:xfrm>
            <a:off x="711200" y="5867400"/>
            <a:ext cx="10769600" cy="558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300">
                <a:solidFill>
                  <a:srgbClr val="C9C9D4"/>
                </a:solidFill>
                <a:latin typeface="MiSans"/>
                <a:ea typeface="MiSans"/>
              </a:rPr>
              <a:t>Одна технология — готовые решения под каждую нишу. </a:t>
            </a:r>
            <a:r>
              <a:rPr lang="en-US" sz="1300" b="1">
                <a:solidFill>
                  <a:srgbClr val="3D6BFF"/>
                </a:solidFill>
                <a:latin typeface="MiSans"/>
                <a:ea typeface="MiSans"/>
              </a:rPr>
              <a:t>Масштабируемся вместе с рынком.</a:t>
            </a:r>
            <a:endParaRPr lang="en-US" sz="1300"/>
          </a:p>
        </p:txBody>
      </p:sp>
      <p:sp>
        <p:nvSpPr>
          <p:cNvPr id="28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9AA8"/>
                </a:solidFill>
                <a:latin typeface="MiSans"/>
                <a:ea typeface="MiSans"/>
              </a:rPr>
              <a:t>07 / 09</a:t>
            </a:r>
            <a:endParaRPr lang="en-US" sz="900"/>
          </a:p>
        </p:txBody>
      </p:sp>
      <p:sp>
        <p:nvSpPr>
          <p:cNvPr id="30" name="l2">
            <a:extLst>
              <a:ext uri="{FF2B5EF4-FFF2-40B4-BE49-F238E27FC236}">
                <a16:creationId xmlns:a16="http://schemas.microsoft.com/office/drawing/2014/main" id="{B0512B27-0A9C-12B5-D14B-EDF472B0FC69}"/>
              </a:ext>
            </a:extLst>
          </p:cNvPr>
          <p:cNvSpPr/>
          <p:nvPr/>
        </p:nvSpPr>
        <p:spPr>
          <a:xfrm>
            <a:off x="6502400" y="4385892"/>
            <a:ext cx="4978400" cy="12700"/>
          </a:xfrm>
          <a:prstGeom prst="rect">
            <a:avLst/>
          </a:prstGeom>
          <a:solidFill>
            <a:srgbClr val="262635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pic>
        <p:nvPicPr>
          <p:cNvPr id="32" name="Рисунок 31" descr="Дом со сплошной заливкой">
            <a:extLst>
              <a:ext uri="{FF2B5EF4-FFF2-40B4-BE49-F238E27FC236}">
                <a16:creationId xmlns:a16="http://schemas.microsoft.com/office/drawing/2014/main" id="{AAB8E701-B769-FE55-5998-8035D14EDC1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502400" y="2013009"/>
            <a:ext cx="483906" cy="483906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A5A4BC50-0B05-9421-A442-A616044EFB34}"/>
              </a:ext>
            </a:extLst>
          </p:cNvPr>
          <p:cNvSpPr txBox="1"/>
          <p:nvPr/>
        </p:nvSpPr>
        <p:spPr>
          <a:xfrm>
            <a:off x="7112000" y="2060879"/>
            <a:ext cx="37592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1" dirty="0">
                <a:solidFill>
                  <a:srgbClr val="F5F5F7"/>
                </a:solidFill>
                <a:latin typeface="MiSans"/>
              </a:rPr>
              <a:t>Товары для дома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1285FF0-0F1D-6B00-9985-1A5D7371820F}"/>
              </a:ext>
            </a:extLst>
          </p:cNvPr>
          <p:cNvSpPr txBox="1"/>
          <p:nvPr/>
        </p:nvSpPr>
        <p:spPr>
          <a:xfrm>
            <a:off x="7112000" y="2391632"/>
            <a:ext cx="4368800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150" dirty="0">
                <a:solidFill>
                  <a:srgbClr val="9A9AA8"/>
                </a:solidFill>
                <a:latin typeface="MiSans"/>
              </a:rPr>
              <a:t>Магазины мебели, интерьеров, аксессуаров </a:t>
            </a:r>
            <a:r>
              <a:rPr lang="en-US" sz="1150" dirty="0">
                <a:solidFill>
                  <a:srgbClr val="9A9AA8"/>
                </a:solidFill>
              </a:rPr>
              <a:t>—</a:t>
            </a:r>
            <a:r>
              <a:rPr lang="ru-RU" sz="1150" dirty="0">
                <a:solidFill>
                  <a:srgbClr val="9A9AA8"/>
                </a:solidFill>
              </a:rPr>
              <a:t> клиент все чаще выбирает по совету ИИ</a:t>
            </a:r>
            <a:r>
              <a:rPr lang="ru-RU" sz="1150" dirty="0">
                <a:solidFill>
                  <a:srgbClr val="9A9AA8"/>
                </a:solidFill>
                <a:latin typeface="MiSans"/>
              </a:rPr>
              <a:t> </a:t>
            </a:r>
          </a:p>
        </p:txBody>
      </p:sp>
    </p:spTree>
  </p:cSld>
  <p:clrMapOvr>
    <a:masterClrMapping/>
  </p:clrMapOvr>
  <p:transition>
    <p:checker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813800" y="304800"/>
            <a:ext cx="2667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9AA8"/>
                </a:solidFill>
                <a:latin typeface="MiSans"/>
                <a:ea typeface="MiSans"/>
              </a:rPr>
              <a:t>ПРОМПТЕР · О КОМПАНИИ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08000"/>
            <a:ext cx="1076960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500" b="1">
                <a:solidFill>
                  <a:srgbClr val="F5F5F7"/>
                </a:solidFill>
                <a:latin typeface="MiSans"/>
                <a:ea typeface="MiSans"/>
              </a:rPr>
              <a:t>КОМПЛЕКСНОЕ РЕШЕНИЕ ПО ФИКСИРОВАННОЙ ЦЕНЕ</a:t>
            </a:r>
            <a:endParaRPr lang="en-US" sz="2500"/>
          </a:p>
        </p:txBody>
      </p:sp>
      <p:sp>
        <p:nvSpPr>
          <p:cNvPr id="4" name="title-rule"/>
          <p:cNvSpPr/>
          <p:nvPr/>
        </p:nvSpPr>
        <p:spPr>
          <a:xfrm>
            <a:off x="711200" y="1117600"/>
            <a:ext cx="609600" cy="25400"/>
          </a:xfrm>
          <a:prstGeom prst="rect">
            <a:avLst/>
          </a:prstGeom>
          <a:solidFill>
            <a:srgbClr val="E8453C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5" name="price-label"/>
          <p:cNvSpPr txBox="1"/>
          <p:nvPr/>
        </p:nvSpPr>
        <p:spPr>
          <a:xfrm>
            <a:off x="711200" y="1422400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50" b="1" kern="0" spc="300">
                <a:solidFill>
                  <a:srgbClr val="9A9AA8"/>
                </a:solidFill>
                <a:latin typeface="MiSans"/>
                <a:ea typeface="MiSans"/>
              </a:rPr>
              <a:t>СТОИМОСТЬ СЕРВИСА</a:t>
            </a:r>
            <a:endParaRPr lang="en-US" sz="1050"/>
          </a:p>
        </p:txBody>
      </p:sp>
      <p:sp>
        <p:nvSpPr>
          <p:cNvPr id="6" name="price-big"/>
          <p:cNvSpPr txBox="1"/>
          <p:nvPr/>
        </p:nvSpPr>
        <p:spPr>
          <a:xfrm>
            <a:off x="711200" y="1701800"/>
            <a:ext cx="5334000" cy="736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ru-RU" sz="4400" b="1" dirty="0">
                <a:solidFill>
                  <a:srgbClr val="E8453C"/>
                </a:solidFill>
                <a:latin typeface="MiSans"/>
                <a:ea typeface="MiSans"/>
              </a:rPr>
              <a:t>От </a:t>
            </a:r>
            <a:r>
              <a:rPr lang="ru-RU" sz="4400" b="1" u="sng" dirty="0">
                <a:solidFill>
                  <a:srgbClr val="E8453C"/>
                </a:solidFill>
                <a:latin typeface="MiSans"/>
                <a:ea typeface="MiSans"/>
              </a:rPr>
              <a:t>29500</a:t>
            </a:r>
            <a:r>
              <a:rPr lang="ru-RU" sz="4400" b="1" dirty="0">
                <a:solidFill>
                  <a:srgbClr val="E8453C"/>
                </a:solidFill>
                <a:latin typeface="MiSans"/>
                <a:ea typeface="MiSans"/>
              </a:rPr>
              <a:t> </a:t>
            </a:r>
            <a:r>
              <a:rPr lang="en-US" sz="4400" b="1" dirty="0">
                <a:solidFill>
                  <a:srgbClr val="E8453C"/>
                </a:solidFill>
                <a:latin typeface="MiSans"/>
                <a:ea typeface="MiSans"/>
              </a:rPr>
              <a:t>₽</a:t>
            </a:r>
            <a:r>
              <a:rPr lang="en-US" sz="1600" dirty="0">
                <a:solidFill>
                  <a:srgbClr val="9A9AA8"/>
                </a:solidFill>
                <a:latin typeface="MiSans"/>
                <a:ea typeface="MiSans"/>
              </a:rPr>
              <a:t>  /</a:t>
            </a:r>
            <a:r>
              <a:rPr lang="en-US" sz="1600" dirty="0" err="1">
                <a:solidFill>
                  <a:srgbClr val="9A9AA8"/>
                </a:solidFill>
                <a:latin typeface="MiSans"/>
                <a:ea typeface="MiSans"/>
              </a:rPr>
              <a:t>месяц</a:t>
            </a:r>
            <a:endParaRPr lang="en-US" sz="1600" dirty="0"/>
          </a:p>
        </p:txBody>
      </p:sp>
      <p:sp>
        <p:nvSpPr>
          <p:cNvPr id="7" name="price-instead"/>
          <p:cNvSpPr txBox="1"/>
          <p:nvPr/>
        </p:nvSpPr>
        <p:spPr>
          <a:xfrm>
            <a:off x="711200" y="2565400"/>
            <a:ext cx="5334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dirty="0" err="1">
                <a:solidFill>
                  <a:srgbClr val="F5F5F7"/>
                </a:solidFill>
                <a:latin typeface="MiSans"/>
                <a:ea typeface="MiSans"/>
              </a:rPr>
              <a:t>вместо</a:t>
            </a:r>
            <a:r>
              <a:rPr lang="en-US" sz="1400" dirty="0">
                <a:solidFill>
                  <a:srgbClr val="F5F5F7"/>
                </a:solidFill>
                <a:latin typeface="MiSans"/>
                <a:ea typeface="MiSans"/>
              </a:rPr>
              <a:t> </a:t>
            </a:r>
            <a:r>
              <a:rPr lang="ru-RU" sz="1400" b="1" u="sng" dirty="0">
                <a:solidFill>
                  <a:srgbClr val="3D6BFF"/>
                </a:solidFill>
                <a:latin typeface="MiSans"/>
                <a:ea typeface="MiSans"/>
              </a:rPr>
              <a:t>100 000</a:t>
            </a:r>
            <a:r>
              <a:rPr lang="en-US" sz="1400" b="1" u="sng" dirty="0">
                <a:solidFill>
                  <a:srgbClr val="3D6BFF"/>
                </a:solidFill>
                <a:latin typeface="MiSans"/>
                <a:ea typeface="MiSans"/>
              </a:rPr>
              <a:t> </a:t>
            </a:r>
            <a:r>
              <a:rPr lang="en-US" sz="1400" b="1" dirty="0">
                <a:solidFill>
                  <a:srgbClr val="3D6BFF"/>
                </a:solidFill>
                <a:latin typeface="MiSans"/>
                <a:ea typeface="MiSans"/>
              </a:rPr>
              <a:t>₽/</a:t>
            </a:r>
            <a:r>
              <a:rPr lang="en-US" sz="1400" b="1" dirty="0" err="1">
                <a:solidFill>
                  <a:srgbClr val="3D6BFF"/>
                </a:solidFill>
                <a:latin typeface="MiSans"/>
                <a:ea typeface="MiSans"/>
              </a:rPr>
              <a:t>мес</a:t>
            </a:r>
            <a:r>
              <a:rPr lang="en-US" sz="1400" dirty="0">
                <a:solidFill>
                  <a:srgbClr val="F5F5F7"/>
                </a:solidFill>
                <a:latin typeface="MiSans"/>
                <a:ea typeface="MiSans"/>
              </a:rPr>
              <a:t> </a:t>
            </a:r>
            <a:r>
              <a:rPr lang="en-US" sz="1400" dirty="0" err="1">
                <a:solidFill>
                  <a:srgbClr val="F5F5F7"/>
                </a:solidFill>
                <a:latin typeface="MiSans"/>
                <a:ea typeface="MiSans"/>
              </a:rPr>
              <a:t>на</a:t>
            </a:r>
            <a:r>
              <a:rPr lang="ru-RU" sz="1400" dirty="0">
                <a:solidFill>
                  <a:srgbClr val="F5F5F7"/>
                </a:solidFill>
                <a:latin typeface="MiSans"/>
                <a:ea typeface="MiSans"/>
              </a:rPr>
              <a:t> продвижение через</a:t>
            </a:r>
            <a:r>
              <a:rPr lang="en-US" sz="1400" dirty="0">
                <a:solidFill>
                  <a:srgbClr val="F5F5F7"/>
                </a:solidFill>
                <a:latin typeface="MiSans"/>
                <a:ea typeface="MiSans"/>
              </a:rPr>
              <a:t> SEO-</a:t>
            </a:r>
            <a:r>
              <a:rPr lang="en-US" sz="1400" dirty="0" err="1">
                <a:solidFill>
                  <a:srgbClr val="F5F5F7"/>
                </a:solidFill>
                <a:latin typeface="MiSans"/>
                <a:ea typeface="MiSans"/>
              </a:rPr>
              <a:t>агентство</a:t>
            </a:r>
            <a:endParaRPr lang="en-US" sz="1400" dirty="0"/>
          </a:p>
        </p:txBody>
      </p:sp>
      <p:sp>
        <p:nvSpPr>
          <p:cNvPr id="8" name="price-save"/>
          <p:cNvSpPr txBox="1"/>
          <p:nvPr/>
        </p:nvSpPr>
        <p:spPr>
          <a:xfrm>
            <a:off x="711200" y="2946400"/>
            <a:ext cx="5334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dirty="0" err="1">
                <a:solidFill>
                  <a:srgbClr val="F5F5F7"/>
                </a:solidFill>
                <a:latin typeface="MiSans"/>
                <a:ea typeface="MiSans"/>
              </a:rPr>
              <a:t>Экономия</a:t>
            </a:r>
            <a:r>
              <a:rPr lang="en-US" sz="1400" dirty="0">
                <a:solidFill>
                  <a:srgbClr val="F5F5F7"/>
                </a:solidFill>
                <a:latin typeface="MiSans"/>
                <a:ea typeface="MiSans"/>
              </a:rPr>
              <a:t> — </a:t>
            </a:r>
            <a:r>
              <a:rPr lang="en-US" sz="1400" dirty="0" err="1">
                <a:solidFill>
                  <a:srgbClr val="F5F5F7"/>
                </a:solidFill>
                <a:latin typeface="MiSans"/>
                <a:ea typeface="MiSans"/>
              </a:rPr>
              <a:t>не</a:t>
            </a:r>
            <a:r>
              <a:rPr lang="en-US" sz="1400" dirty="0">
                <a:solidFill>
                  <a:srgbClr val="F5F5F7"/>
                </a:solidFill>
                <a:latin typeface="MiSans"/>
                <a:ea typeface="MiSans"/>
              </a:rPr>
              <a:t> </a:t>
            </a:r>
            <a:r>
              <a:rPr lang="en-US" sz="1400" dirty="0" err="1">
                <a:solidFill>
                  <a:srgbClr val="F5F5F7"/>
                </a:solidFill>
                <a:latin typeface="MiSans"/>
                <a:ea typeface="MiSans"/>
              </a:rPr>
              <a:t>менее</a:t>
            </a:r>
            <a:r>
              <a:rPr lang="en-US" sz="1400" dirty="0">
                <a:solidFill>
                  <a:srgbClr val="F5F5F7"/>
                </a:solidFill>
                <a:latin typeface="MiSans"/>
                <a:ea typeface="MiSans"/>
              </a:rPr>
              <a:t> </a:t>
            </a:r>
            <a:r>
              <a:rPr lang="ru-RU" sz="1400" b="1" u="sng" dirty="0">
                <a:solidFill>
                  <a:srgbClr val="3D6BFF"/>
                </a:solidFill>
                <a:latin typeface="MiSans"/>
                <a:ea typeface="MiSans"/>
              </a:rPr>
              <a:t>70 000</a:t>
            </a:r>
            <a:r>
              <a:rPr lang="en-US" sz="1400" b="1" u="sng" dirty="0">
                <a:solidFill>
                  <a:srgbClr val="3D6BFF"/>
                </a:solidFill>
                <a:latin typeface="MiSans"/>
                <a:ea typeface="MiSans"/>
              </a:rPr>
              <a:t> </a:t>
            </a:r>
            <a:r>
              <a:rPr lang="en-US" sz="1400" b="1" dirty="0">
                <a:solidFill>
                  <a:srgbClr val="3D6BFF"/>
                </a:solidFill>
                <a:latin typeface="MiSans"/>
                <a:ea typeface="MiSans"/>
              </a:rPr>
              <a:t>₽/</a:t>
            </a:r>
            <a:r>
              <a:rPr lang="en-US" sz="1400" b="1" dirty="0" err="1">
                <a:solidFill>
                  <a:srgbClr val="3D6BFF"/>
                </a:solidFill>
                <a:latin typeface="MiSans"/>
                <a:ea typeface="MiSans"/>
              </a:rPr>
              <a:t>мес</a:t>
            </a:r>
            <a:endParaRPr lang="en-US" sz="1400" dirty="0"/>
          </a:p>
        </p:txBody>
      </p:sp>
      <p:sp>
        <p:nvSpPr>
          <p:cNvPr id="9" name="cta-btn">
            <a:hlinkClick xmlns:r="http://schemas.openxmlformats.org/officeDocument/2006/relationships" r:id="rId2"/>
          </p:cNvPr>
          <p:cNvSpPr/>
          <p:nvPr/>
        </p:nvSpPr>
        <p:spPr>
          <a:xfrm>
            <a:off x="711200" y="3505200"/>
            <a:ext cx="3098800" cy="584200"/>
          </a:xfrm>
          <a:prstGeom prst="roundRect">
            <a:avLst>
              <a:gd name="adj" fmla="val 50000"/>
            </a:avLst>
          </a:prstGeom>
          <a:solidFill>
            <a:srgbClr val="E8453C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10" name="cta-text">
            <a:hlinkClick xmlns:r="http://schemas.openxmlformats.org/officeDocument/2006/relationships" r:id="rId2"/>
          </p:cNvPr>
          <p:cNvSpPr txBox="1"/>
          <p:nvPr/>
        </p:nvSpPr>
        <p:spPr>
          <a:xfrm>
            <a:off x="711200" y="3505200"/>
            <a:ext cx="3098800" cy="584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ru-RU" sz="1250" b="1" kern="0" spc="200" dirty="0">
                <a:solidFill>
                  <a:schemeClr val="bg1"/>
                </a:solidFill>
                <a:latin typeface="MiSans"/>
                <a:ea typeface="MiSans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ОСТАВИТЬ ЗАЯВКУ</a:t>
            </a:r>
            <a:endParaRPr lang="en-US" sz="1250" dirty="0">
              <a:solidFill>
                <a:schemeClr val="bg1"/>
              </a:solidFill>
            </a:endParaRPr>
          </a:p>
        </p:txBody>
      </p:sp>
      <p:sp>
        <p:nvSpPr>
          <p:cNvPr id="12" name="divider"/>
          <p:cNvSpPr/>
          <p:nvPr/>
        </p:nvSpPr>
        <p:spPr>
          <a:xfrm>
            <a:off x="6299200" y="1346200"/>
            <a:ext cx="12700" cy="3810000"/>
          </a:xfrm>
          <a:prstGeom prst="rect">
            <a:avLst/>
          </a:prstGeom>
          <a:solidFill>
            <a:srgbClr val="262635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13" name="incl-header"/>
          <p:cNvSpPr txBox="1"/>
          <p:nvPr/>
        </p:nvSpPr>
        <p:spPr>
          <a:xfrm>
            <a:off x="6756400" y="1346200"/>
            <a:ext cx="47244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 kern="0" spc="100">
                <a:solidFill>
                  <a:srgbClr val="F5F5F7"/>
                </a:solidFill>
                <a:latin typeface="MiSans"/>
                <a:ea typeface="MiSans"/>
              </a:rPr>
              <a:t>ЧТО ВХОДИТ В ПОДПИСКУ</a:t>
            </a:r>
            <a:endParaRPr lang="en-US" sz="1500"/>
          </a:p>
        </p:txBody>
      </p:sp>
      <p:sp>
        <p:nvSpPr>
          <p:cNvPr id="14" name="f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eyJpY29uTmFtZSI6ImZhczpjaGVjayJ9</pptd:icon>
              </p:ext>
            </p:extLst>
          </p:nvPr>
        </p:nvSpPr>
        <p:spPr>
          <a:xfrm>
            <a:off x="6756400" y="18542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3D6BFF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15" name="f1-title"/>
          <p:cNvSpPr txBox="1"/>
          <p:nvPr/>
        </p:nvSpPr>
        <p:spPr>
          <a:xfrm>
            <a:off x="7137400" y="18288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F5F5F7"/>
                </a:solidFill>
                <a:latin typeface="MiSans"/>
                <a:ea typeface="MiSans"/>
              </a:rPr>
              <a:t>Полный AI-цикл</a:t>
            </a:r>
            <a:endParaRPr lang="en-US" sz="1350"/>
          </a:p>
        </p:txBody>
      </p:sp>
      <p:sp>
        <p:nvSpPr>
          <p:cNvPr id="16" name="f1-desc"/>
          <p:cNvSpPr txBox="1"/>
          <p:nvPr/>
        </p:nvSpPr>
        <p:spPr>
          <a:xfrm>
            <a:off x="7137400" y="21082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9AA8"/>
                </a:solidFill>
                <a:latin typeface="MiSans"/>
                <a:ea typeface="MiSans"/>
              </a:rPr>
              <a:t>Создание, модерация и автоматическая публикация контента</a:t>
            </a:r>
            <a:endParaRPr lang="en-US" sz="1150"/>
          </a:p>
        </p:txBody>
      </p:sp>
      <p:sp>
        <p:nvSpPr>
          <p:cNvPr id="17" name="f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eyJpY29uTmFtZSI6ImZhczpjaGVjayJ9</pptd:icon>
              </p:ext>
            </p:extLst>
          </p:nvPr>
        </p:nvSpPr>
        <p:spPr>
          <a:xfrm>
            <a:off x="6756400" y="27178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3D6BFF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18" name="f2-title"/>
          <p:cNvSpPr txBox="1"/>
          <p:nvPr/>
        </p:nvSpPr>
        <p:spPr>
          <a:xfrm>
            <a:off x="7137400" y="26924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F5F5F7"/>
                </a:solidFill>
                <a:latin typeface="MiSans"/>
                <a:ea typeface="MiSans"/>
              </a:rPr>
              <a:t>Публикации 5 дней в неделю</a:t>
            </a:r>
            <a:endParaRPr lang="en-US" sz="1350"/>
          </a:p>
        </p:txBody>
      </p:sp>
      <p:sp>
        <p:nvSpPr>
          <p:cNvPr id="19" name="f2-desc"/>
          <p:cNvSpPr txBox="1"/>
          <p:nvPr/>
        </p:nvSpPr>
        <p:spPr>
          <a:xfrm>
            <a:off x="7137400" y="29718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9AA8"/>
                </a:solidFill>
                <a:latin typeface="MiSans"/>
                <a:ea typeface="MiSans"/>
              </a:rPr>
              <a:t>Регулярный поток материалов без участия клиента</a:t>
            </a:r>
            <a:endParaRPr lang="en-US" sz="1150"/>
          </a:p>
        </p:txBody>
      </p:sp>
      <p:sp>
        <p:nvSpPr>
          <p:cNvPr id="20" name="f3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eyJpY29uTmFtZSI6ImZhczpjaGVjayJ9</pptd:icon>
              </p:ext>
            </p:extLst>
          </p:nvPr>
        </p:nvSpPr>
        <p:spPr>
          <a:xfrm>
            <a:off x="6756400" y="3581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3D6BFF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21" name="f3-title"/>
          <p:cNvSpPr txBox="1"/>
          <p:nvPr/>
        </p:nvSpPr>
        <p:spPr>
          <a:xfrm>
            <a:off x="7137400" y="35560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F5F5F7"/>
                </a:solidFill>
                <a:latin typeface="MiSans"/>
                <a:ea typeface="MiSans"/>
              </a:rPr>
              <a:t>2 полноценные статьи в неделю</a:t>
            </a:r>
            <a:endParaRPr lang="en-US" sz="1350"/>
          </a:p>
        </p:txBody>
      </p:sp>
      <p:sp>
        <p:nvSpPr>
          <p:cNvPr id="22" name="f3-desc"/>
          <p:cNvSpPr txBox="1"/>
          <p:nvPr/>
        </p:nvSpPr>
        <p:spPr>
          <a:xfrm>
            <a:off x="7137400" y="38354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9AA8"/>
                </a:solidFill>
                <a:latin typeface="MiSans"/>
                <a:ea typeface="MiSans"/>
              </a:rPr>
              <a:t>Экспертный контент о продукте, команде и событиях компании</a:t>
            </a:r>
            <a:endParaRPr lang="en-US" sz="1150"/>
          </a:p>
        </p:txBody>
      </p:sp>
      <p:sp>
        <p:nvSpPr>
          <p:cNvPr id="23" name="f4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eyJpY29uTmFtZSI6ImZhczpjaGVjayJ9</pptd:icon>
              </p:ext>
            </p:extLst>
          </p:nvPr>
        </p:nvSpPr>
        <p:spPr>
          <a:xfrm>
            <a:off x="6756400" y="44450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3D6BFF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24" name="f4-title"/>
          <p:cNvSpPr txBox="1"/>
          <p:nvPr/>
        </p:nvSpPr>
        <p:spPr>
          <a:xfrm>
            <a:off x="7137400" y="44196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 dirty="0">
                <a:solidFill>
                  <a:srgbClr val="F5F5F7"/>
                </a:solidFill>
                <a:latin typeface="MiSans"/>
                <a:ea typeface="MiSans"/>
              </a:rPr>
              <a:t>4 отечественные площадки</a:t>
            </a:r>
            <a:r>
              <a:rPr lang="ru-RU" sz="1350" b="1" dirty="0">
                <a:solidFill>
                  <a:srgbClr val="F5F5F7"/>
                </a:solidFill>
                <a:latin typeface="MiSans"/>
                <a:ea typeface="MiSans"/>
              </a:rPr>
              <a:t> с автоматической публикацией</a:t>
            </a:r>
            <a:endParaRPr lang="en-US" sz="1350" dirty="0"/>
          </a:p>
        </p:txBody>
      </p:sp>
      <p:sp>
        <p:nvSpPr>
          <p:cNvPr id="25" name="f4-desc"/>
          <p:cNvSpPr txBox="1"/>
          <p:nvPr/>
        </p:nvSpPr>
        <p:spPr>
          <a:xfrm>
            <a:off x="7137400" y="4699000"/>
            <a:ext cx="4343400" cy="939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 dirty="0">
                <a:solidFill>
                  <a:srgbClr val="9A9AA8"/>
                </a:solidFill>
                <a:latin typeface="MiSans"/>
                <a:ea typeface="MiSans"/>
              </a:rPr>
              <a:t>VK, </a:t>
            </a:r>
            <a:r>
              <a:rPr lang="ru-RU" sz="1150" dirty="0">
                <a:solidFill>
                  <a:srgbClr val="9A9AA8"/>
                </a:solidFill>
                <a:latin typeface="MiSans"/>
                <a:ea typeface="MiSans"/>
              </a:rPr>
              <a:t>Яндекс Дзен, ОК, Мах. </a:t>
            </a:r>
            <a:br>
              <a:rPr lang="ru-RU" sz="1150" dirty="0">
                <a:solidFill>
                  <a:srgbClr val="9A9AA8"/>
                </a:solidFill>
                <a:latin typeface="MiSans"/>
                <a:ea typeface="MiSans"/>
              </a:rPr>
            </a:br>
            <a:r>
              <a:rPr lang="en-US" sz="1150" dirty="0" err="1">
                <a:solidFill>
                  <a:srgbClr val="9A9AA8"/>
                </a:solidFill>
                <a:latin typeface="MiSans"/>
                <a:ea typeface="MiSans"/>
              </a:rPr>
              <a:t>Размещение</a:t>
            </a:r>
            <a:r>
              <a:rPr lang="en-US" sz="115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50" dirty="0" err="1">
                <a:solidFill>
                  <a:srgbClr val="9A9AA8"/>
                </a:solidFill>
                <a:latin typeface="MiSans"/>
                <a:ea typeface="MiSans"/>
              </a:rPr>
              <a:t>там</a:t>
            </a:r>
            <a:r>
              <a:rPr lang="en-US" sz="1150" dirty="0">
                <a:solidFill>
                  <a:srgbClr val="9A9AA8"/>
                </a:solidFill>
                <a:latin typeface="MiSans"/>
                <a:ea typeface="MiSans"/>
              </a:rPr>
              <a:t>, </a:t>
            </a:r>
            <a:r>
              <a:rPr lang="en-US" sz="1150" dirty="0" err="1">
                <a:solidFill>
                  <a:srgbClr val="9A9AA8"/>
                </a:solidFill>
                <a:latin typeface="MiSans"/>
                <a:ea typeface="MiSans"/>
              </a:rPr>
              <a:t>где</a:t>
            </a:r>
            <a:r>
              <a:rPr lang="en-US" sz="115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50" dirty="0" err="1">
                <a:solidFill>
                  <a:srgbClr val="9A9AA8"/>
                </a:solidFill>
                <a:latin typeface="MiSans"/>
                <a:ea typeface="MiSans"/>
              </a:rPr>
              <a:t>контент</a:t>
            </a:r>
            <a:r>
              <a:rPr lang="en-US" sz="115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50" dirty="0" err="1">
                <a:solidFill>
                  <a:srgbClr val="9A9AA8"/>
                </a:solidFill>
                <a:latin typeface="MiSans"/>
                <a:ea typeface="MiSans"/>
              </a:rPr>
              <a:t>считывают</a:t>
            </a:r>
            <a:r>
              <a:rPr lang="en-US" sz="115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50" dirty="0" err="1">
                <a:solidFill>
                  <a:srgbClr val="9A9AA8"/>
                </a:solidFill>
                <a:latin typeface="MiSans"/>
                <a:ea typeface="MiSans"/>
              </a:rPr>
              <a:t>нейросети</a:t>
            </a:r>
            <a:r>
              <a:rPr lang="en-US" sz="1150" dirty="0">
                <a:solidFill>
                  <a:srgbClr val="9A9AA8"/>
                </a:solidFill>
                <a:latin typeface="MiSans"/>
                <a:ea typeface="MiSans"/>
              </a:rPr>
              <a:t> и </a:t>
            </a:r>
            <a:r>
              <a:rPr lang="en-US" sz="1150" dirty="0" err="1">
                <a:solidFill>
                  <a:srgbClr val="9A9AA8"/>
                </a:solidFill>
                <a:latin typeface="MiSans"/>
                <a:ea typeface="MiSans"/>
              </a:rPr>
              <a:t>поисковики</a:t>
            </a:r>
            <a:r>
              <a:rPr lang="ru-RU" sz="1150" dirty="0">
                <a:solidFill>
                  <a:srgbClr val="9A9AA8"/>
                </a:solidFill>
                <a:latin typeface="MiSans"/>
                <a:ea typeface="MiSans"/>
              </a:rPr>
              <a:t>.</a:t>
            </a:r>
            <a:br>
              <a:rPr lang="ru-RU" sz="1150" dirty="0">
                <a:solidFill>
                  <a:srgbClr val="9A9AA8"/>
                </a:solidFill>
                <a:latin typeface="MiSans"/>
                <a:ea typeface="MiSans"/>
              </a:rPr>
            </a:br>
            <a:r>
              <a:rPr lang="ru-RU" sz="1150" dirty="0">
                <a:solidFill>
                  <a:srgbClr val="9A9AA8"/>
                </a:solidFill>
                <a:latin typeface="MiSans"/>
                <a:ea typeface="MiSans"/>
              </a:rPr>
              <a:t>На зарубежных площадках (</a:t>
            </a:r>
            <a:r>
              <a:rPr lang="en-US" sz="1150" dirty="0" err="1">
                <a:solidFill>
                  <a:srgbClr val="9A9AA8"/>
                </a:solidFill>
                <a:latin typeface="MiSans"/>
                <a:ea typeface="MiSans"/>
              </a:rPr>
              <a:t>instag</a:t>
            </a:r>
            <a:r>
              <a:rPr lang="en-US" sz="1150" dirty="0">
                <a:solidFill>
                  <a:srgbClr val="9A9AA8"/>
                </a:solidFill>
                <a:latin typeface="MiSans"/>
                <a:ea typeface="MiSans"/>
              </a:rPr>
              <a:t>, </a:t>
            </a:r>
            <a:r>
              <a:rPr lang="en-US" sz="1150" dirty="0" err="1">
                <a:solidFill>
                  <a:srgbClr val="9A9AA8"/>
                </a:solidFill>
                <a:latin typeface="MiSans"/>
                <a:ea typeface="MiSans"/>
              </a:rPr>
              <a:t>tg</a:t>
            </a:r>
            <a:r>
              <a:rPr lang="en-US" sz="1150" dirty="0">
                <a:solidFill>
                  <a:srgbClr val="9A9AA8"/>
                </a:solidFill>
                <a:latin typeface="MiSans"/>
                <a:ea typeface="MiSans"/>
              </a:rPr>
              <a:t>, </a:t>
            </a:r>
            <a:r>
              <a:rPr lang="en-US" sz="1150" dirty="0" err="1">
                <a:solidFill>
                  <a:srgbClr val="9A9AA8"/>
                </a:solidFill>
                <a:latin typeface="MiSans"/>
                <a:ea typeface="MiSans"/>
              </a:rPr>
              <a:t>whatsapp,youtube</a:t>
            </a:r>
            <a:r>
              <a:rPr lang="en-US" sz="115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ru-RU" sz="1150" dirty="0">
                <a:solidFill>
                  <a:srgbClr val="9A9AA8"/>
                </a:solidFill>
                <a:latin typeface="MiSans"/>
                <a:ea typeface="MiSans"/>
              </a:rPr>
              <a:t>и т. д</a:t>
            </a:r>
            <a:r>
              <a:rPr lang="en-US" sz="1150" dirty="0">
                <a:solidFill>
                  <a:srgbClr val="9A9AA8"/>
                </a:solidFill>
                <a:latin typeface="MiSans"/>
                <a:ea typeface="MiSans"/>
              </a:rPr>
              <a:t>.) </a:t>
            </a:r>
            <a:r>
              <a:rPr lang="ru-RU" sz="1150" dirty="0">
                <a:solidFill>
                  <a:srgbClr val="9A9AA8"/>
                </a:solidFill>
                <a:latin typeface="MiSans"/>
                <a:ea typeface="MiSans"/>
              </a:rPr>
              <a:t> вы сами публикуете контент сгенерированный </a:t>
            </a:r>
            <a:r>
              <a:rPr lang="ru-RU" sz="1150" dirty="0" err="1">
                <a:solidFill>
                  <a:srgbClr val="9A9AA8"/>
                </a:solidFill>
                <a:latin typeface="MiSans"/>
                <a:ea typeface="MiSans"/>
              </a:rPr>
              <a:t>Промптер</a:t>
            </a:r>
            <a:endParaRPr lang="ru-RU" sz="1150" dirty="0">
              <a:solidFill>
                <a:srgbClr val="9A9AA8"/>
              </a:solidFill>
              <a:latin typeface="MiSans"/>
              <a:ea typeface="MiSans"/>
            </a:endParaRPr>
          </a:p>
          <a:p>
            <a:pPr>
              <a:lnSpc>
                <a:spcPct val="135000"/>
              </a:lnSpc>
            </a:pPr>
            <a:endParaRPr lang="ru-RU" sz="1150" dirty="0">
              <a:solidFill>
                <a:srgbClr val="9A9AA8"/>
              </a:solidFill>
              <a:latin typeface="MiSans"/>
            </a:endParaRPr>
          </a:p>
          <a:p>
            <a:pPr>
              <a:lnSpc>
                <a:spcPct val="135000"/>
              </a:lnSpc>
            </a:pPr>
            <a:endParaRPr lang="en-US" sz="1150" dirty="0"/>
          </a:p>
        </p:txBody>
      </p:sp>
      <p:sp>
        <p:nvSpPr>
          <p:cNvPr id="26" name="footnote-line"/>
          <p:cNvSpPr/>
          <p:nvPr/>
        </p:nvSpPr>
        <p:spPr>
          <a:xfrm>
            <a:off x="711200" y="5740400"/>
            <a:ext cx="10769600" cy="12700"/>
          </a:xfrm>
          <a:prstGeom prst="rect">
            <a:avLst/>
          </a:prstGeom>
          <a:solidFill>
            <a:srgbClr val="262635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27" name="footnote"/>
          <p:cNvSpPr txBox="1"/>
          <p:nvPr/>
        </p:nvSpPr>
        <p:spPr>
          <a:xfrm>
            <a:off x="711200" y="5892800"/>
            <a:ext cx="107696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050" i="1">
                <a:solidFill>
                  <a:srgbClr val="9A9AA8"/>
                </a:solidFill>
                <a:latin typeface="MiSans"/>
                <a:ea typeface="MiSans"/>
              </a:rPr>
              <a:t>* Все работы выполняются в строгом соответствии с законодательством Российской Федерации. Договор и закрывающие документы предоставляются.</a:t>
            </a:r>
            <a:endParaRPr lang="en-US" sz="1050"/>
          </a:p>
        </p:txBody>
      </p:sp>
      <p:sp>
        <p:nvSpPr>
          <p:cNvPr id="28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9AA8"/>
                </a:solidFill>
                <a:latin typeface="MiSans"/>
                <a:ea typeface="MiSans"/>
              </a:rPr>
              <a:t>08 / 09</a:t>
            </a:r>
            <a:endParaRPr lang="en-US" sz="90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81B6D24-25E8-6E28-6A4A-18E2B58B2C72}"/>
              </a:ext>
            </a:extLst>
          </p:cNvPr>
          <p:cNvSpPr txBox="1"/>
          <p:nvPr/>
        </p:nvSpPr>
        <p:spPr>
          <a:xfrm>
            <a:off x="711200" y="4568195"/>
            <a:ext cx="4762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b="1" i="1" dirty="0">
                <a:solidFill>
                  <a:srgbClr val="9A9AA8"/>
                </a:solidFill>
                <a:latin typeface="MiSans"/>
              </a:rPr>
              <a:t>За подробностями и </a:t>
            </a:r>
            <a:r>
              <a:rPr lang="ru-RU" sz="1200" b="1" i="1" dirty="0" err="1">
                <a:solidFill>
                  <a:srgbClr val="9A9AA8"/>
                </a:solidFill>
                <a:latin typeface="MiSans"/>
              </a:rPr>
              <a:t>подключеним</a:t>
            </a:r>
            <a:r>
              <a:rPr lang="ru-RU" sz="1200" b="1" i="1" dirty="0">
                <a:solidFill>
                  <a:srgbClr val="9A9AA8"/>
                </a:solidFill>
                <a:latin typeface="MiSans"/>
              </a:rPr>
              <a:t> резидентов Москвы и МО  обращайтесь по телефону +79067587777 .</a:t>
            </a:r>
          </a:p>
        </p:txBody>
      </p:sp>
    </p:spTree>
  </p:cSld>
  <p:clrMapOvr>
    <a:masterClrMapping/>
  </p:clrMapOvr>
  <p:transition>
    <p:checker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813800" y="304800"/>
            <a:ext cx="2667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9AA8"/>
                </a:solidFill>
                <a:latin typeface="MiSans"/>
                <a:ea typeface="MiSans"/>
              </a:rPr>
              <a:t>ПРОМПТЕР · О КОМПАНИИ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609600"/>
            <a:ext cx="6604000" cy="939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500" b="1" dirty="0">
                <a:solidFill>
                  <a:srgbClr val="F5F5F7"/>
                </a:solidFill>
                <a:latin typeface="MiSans"/>
                <a:ea typeface="MiSans"/>
              </a:rPr>
              <a:t>КОМАНДА</a:t>
            </a:r>
            <a:r>
              <a:rPr lang="ru-RU" sz="2500" b="1" dirty="0">
                <a:solidFill>
                  <a:srgbClr val="F5F5F7"/>
                </a:solidFill>
                <a:latin typeface="MiSans"/>
                <a:ea typeface="MiSans"/>
              </a:rPr>
              <a:t> МОСКВЫ</a:t>
            </a:r>
            <a:r>
              <a:rPr lang="en-US" sz="2500" b="1" dirty="0">
                <a:solidFill>
                  <a:srgbClr val="F5F5F7"/>
                </a:solidFill>
                <a:latin typeface="MiSans"/>
                <a:ea typeface="MiSans"/>
              </a:rPr>
              <a:t> </a:t>
            </a:r>
            <a:r>
              <a:rPr lang="ru-RU" sz="2500" b="1" dirty="0">
                <a:solidFill>
                  <a:srgbClr val="F5F5F7"/>
                </a:solidFill>
                <a:latin typeface="MiSans"/>
                <a:ea typeface="MiSans"/>
              </a:rPr>
              <a:t>ПО</a:t>
            </a:r>
            <a:r>
              <a:rPr lang="en-US" sz="2500" b="1" dirty="0">
                <a:solidFill>
                  <a:srgbClr val="F5F5F7"/>
                </a:solidFill>
                <a:latin typeface="MiSans"/>
                <a:ea typeface="MiSans"/>
              </a:rPr>
              <a:t> СОПРОВОЖДЕНИ</a:t>
            </a:r>
            <a:r>
              <a:rPr lang="ru-RU" sz="2500" b="1" dirty="0">
                <a:solidFill>
                  <a:srgbClr val="F5F5F7"/>
                </a:solidFill>
                <a:latin typeface="MiSans"/>
                <a:ea typeface="MiSans"/>
              </a:rPr>
              <a:t>Ю</a:t>
            </a:r>
            <a:endParaRPr lang="en-US" sz="2500" dirty="0"/>
          </a:p>
          <a:p>
            <a:pPr algn="l">
              <a:lnSpc>
                <a:spcPct val="125000"/>
              </a:lnSpc>
            </a:pPr>
            <a:r>
              <a:rPr lang="en-US" sz="2500" b="1" dirty="0">
                <a:solidFill>
                  <a:srgbClr val="F5F5F7"/>
                </a:solidFill>
                <a:latin typeface="MiSans"/>
                <a:ea typeface="MiSans"/>
              </a:rPr>
              <a:t>КЛИЕНТОВ ПРОМПТЕРА</a:t>
            </a:r>
            <a:endParaRPr lang="en-US" sz="2500" dirty="0"/>
          </a:p>
        </p:txBody>
      </p:sp>
      <p:sp>
        <p:nvSpPr>
          <p:cNvPr id="4" name="title-rule"/>
          <p:cNvSpPr/>
          <p:nvPr/>
        </p:nvSpPr>
        <p:spPr>
          <a:xfrm>
            <a:off x="711200" y="1549400"/>
            <a:ext cx="609600" cy="25400"/>
          </a:xfrm>
          <a:prstGeom prst="rect">
            <a:avLst/>
          </a:prstGeom>
          <a:solidFill>
            <a:srgbClr val="3D6BFF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5" name="subtitle"/>
          <p:cNvSpPr txBox="1"/>
          <p:nvPr/>
        </p:nvSpPr>
        <p:spPr>
          <a:xfrm>
            <a:off x="711200" y="1701800"/>
            <a:ext cx="6350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300" dirty="0" err="1">
                <a:solidFill>
                  <a:srgbClr val="9A9AA8"/>
                </a:solidFill>
                <a:latin typeface="MiSans"/>
                <a:ea typeface="MiSans"/>
              </a:rPr>
              <a:t>Мы</a:t>
            </a:r>
            <a:r>
              <a:rPr lang="en-US" sz="13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300" dirty="0" err="1">
                <a:solidFill>
                  <a:srgbClr val="9A9AA8"/>
                </a:solidFill>
                <a:latin typeface="MiSans"/>
                <a:ea typeface="MiSans"/>
              </a:rPr>
              <a:t>не</a:t>
            </a:r>
            <a:r>
              <a:rPr lang="en-US" sz="13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300" dirty="0" err="1">
                <a:solidFill>
                  <a:srgbClr val="9A9AA8"/>
                </a:solidFill>
                <a:latin typeface="MiSans"/>
                <a:ea typeface="MiSans"/>
              </a:rPr>
              <a:t>просто</a:t>
            </a:r>
            <a:r>
              <a:rPr lang="en-US" sz="13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300" dirty="0" err="1">
                <a:solidFill>
                  <a:srgbClr val="9A9AA8"/>
                </a:solidFill>
                <a:latin typeface="MiSans"/>
                <a:ea typeface="MiSans"/>
              </a:rPr>
              <a:t>запускаем</a:t>
            </a:r>
            <a:r>
              <a:rPr lang="en-US" sz="13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300" dirty="0" err="1">
                <a:solidFill>
                  <a:srgbClr val="9A9AA8"/>
                </a:solidFill>
                <a:latin typeface="MiSans"/>
                <a:ea typeface="MiSans"/>
              </a:rPr>
              <a:t>систему</a:t>
            </a:r>
            <a:r>
              <a:rPr lang="en-US" sz="1300" dirty="0">
                <a:solidFill>
                  <a:srgbClr val="9A9AA8"/>
                </a:solidFill>
                <a:latin typeface="MiSans"/>
                <a:ea typeface="MiSans"/>
              </a:rPr>
              <a:t> — </a:t>
            </a:r>
            <a:r>
              <a:rPr lang="en-US" sz="1300" dirty="0" err="1">
                <a:solidFill>
                  <a:srgbClr val="9A9AA8"/>
                </a:solidFill>
                <a:latin typeface="MiSans"/>
                <a:ea typeface="MiSans"/>
              </a:rPr>
              <a:t>наша</a:t>
            </a:r>
            <a:r>
              <a:rPr lang="en-US" sz="13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300" dirty="0" err="1">
                <a:solidFill>
                  <a:srgbClr val="9A9AA8"/>
                </a:solidFill>
                <a:latin typeface="MiSans"/>
                <a:ea typeface="MiSans"/>
              </a:rPr>
              <a:t>команда</a:t>
            </a:r>
            <a:r>
              <a:rPr lang="en-US" sz="13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300" dirty="0" err="1">
                <a:solidFill>
                  <a:srgbClr val="9A9AA8"/>
                </a:solidFill>
                <a:latin typeface="MiSans"/>
                <a:ea typeface="MiSans"/>
              </a:rPr>
              <a:t>остаётся</a:t>
            </a:r>
            <a:r>
              <a:rPr lang="en-US" sz="13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300" dirty="0" err="1">
                <a:solidFill>
                  <a:srgbClr val="9A9AA8"/>
                </a:solidFill>
                <a:latin typeface="MiSans"/>
                <a:ea typeface="MiSans"/>
              </a:rPr>
              <a:t>рядом</a:t>
            </a:r>
            <a:r>
              <a:rPr lang="en-US" sz="1300" dirty="0">
                <a:solidFill>
                  <a:srgbClr val="9A9AA8"/>
                </a:solidFill>
                <a:latin typeface="MiSans"/>
                <a:ea typeface="MiSans"/>
              </a:rPr>
              <a:t> и </a:t>
            </a:r>
            <a:r>
              <a:rPr lang="en-US" sz="1300" dirty="0" err="1">
                <a:solidFill>
                  <a:srgbClr val="9A9AA8"/>
                </a:solidFill>
                <a:latin typeface="MiSans"/>
                <a:ea typeface="MiSans"/>
              </a:rPr>
              <a:t>работает</a:t>
            </a:r>
            <a:r>
              <a:rPr lang="en-US" sz="13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300" dirty="0" err="1">
                <a:solidFill>
                  <a:srgbClr val="9A9AA8"/>
                </a:solidFill>
                <a:latin typeface="MiSans"/>
                <a:ea typeface="MiSans"/>
              </a:rPr>
              <a:t>на</a:t>
            </a:r>
            <a:r>
              <a:rPr lang="en-US" sz="13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300" dirty="0" err="1">
                <a:solidFill>
                  <a:srgbClr val="9A9AA8"/>
                </a:solidFill>
                <a:latin typeface="MiSans"/>
                <a:ea typeface="MiSans"/>
              </a:rPr>
              <a:t>результат</a:t>
            </a:r>
            <a:r>
              <a:rPr lang="en-US" sz="13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300" dirty="0" err="1">
                <a:solidFill>
                  <a:srgbClr val="9A9AA8"/>
                </a:solidFill>
                <a:latin typeface="MiSans"/>
                <a:ea typeface="MiSans"/>
              </a:rPr>
              <a:t>клиента</a:t>
            </a:r>
            <a:endParaRPr lang="en-US" sz="1300" dirty="0"/>
          </a:p>
        </p:txBody>
      </p:sp>
      <p:sp>
        <p:nvSpPr>
          <p:cNvPr id="6" name="p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eyJpY29uTmFtZSI6ImZhczpoZWFkc2V0In0</pptd:icon>
              </p:ext>
            </p:extLst>
          </p:nvPr>
        </p:nvSpPr>
        <p:spPr>
          <a:xfrm>
            <a:off x="711200" y="24384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224" y="64"/>
                </a:moveTo>
                <a:cubicBezTo>
                  <a:pt x="145" y="64"/>
                  <a:pt x="79" y="121"/>
                  <a:pt x="66" y="197"/>
                </a:cubicBezTo>
                <a:cubicBezTo>
                  <a:pt x="76" y="194"/>
                  <a:pt x="86" y="192"/>
                  <a:pt x="96" y="192"/>
                </a:cubicBezTo>
                <a:lnTo>
                  <a:pt x="112" y="192"/>
                </a:lnTo>
                <a:cubicBezTo>
                  <a:pt x="139" y="192"/>
                  <a:pt x="160" y="214"/>
                  <a:pt x="160" y="240"/>
                </a:cubicBezTo>
                <a:lnTo>
                  <a:pt x="160" y="336"/>
                </a:lnTo>
                <a:cubicBezTo>
                  <a:pt x="160" y="363"/>
                  <a:pt x="139" y="384"/>
                  <a:pt x="112" y="384"/>
                </a:cubicBezTo>
                <a:lnTo>
                  <a:pt x="96" y="384"/>
                </a:lnTo>
                <a:cubicBezTo>
                  <a:pt x="43" y="384"/>
                  <a:pt x="0" y="341"/>
                  <a:pt x="0" y="288"/>
                </a:cubicBezTo>
                <a:lnTo>
                  <a:pt x="0" y="224"/>
                </a:lnTo>
                <a:cubicBezTo>
                  <a:pt x="0" y="100"/>
                  <a:pt x="100" y="0"/>
                  <a:pt x="224" y="0"/>
                </a:cubicBezTo>
                <a:cubicBezTo>
                  <a:pt x="348" y="0"/>
                  <a:pt x="448" y="100"/>
                  <a:pt x="448" y="224"/>
                </a:cubicBezTo>
                <a:lnTo>
                  <a:pt x="448" y="392"/>
                </a:lnTo>
                <a:cubicBezTo>
                  <a:pt x="448" y="458"/>
                  <a:pt x="394" y="512"/>
                  <a:pt x="328" y="512"/>
                </a:cubicBezTo>
                <a:lnTo>
                  <a:pt x="240" y="512"/>
                </a:lnTo>
                <a:lnTo>
                  <a:pt x="208" y="512"/>
                </a:lnTo>
                <a:cubicBezTo>
                  <a:pt x="181" y="512"/>
                  <a:pt x="160" y="491"/>
                  <a:pt x="160" y="464"/>
                </a:cubicBezTo>
                <a:cubicBezTo>
                  <a:pt x="160" y="438"/>
                  <a:pt x="181" y="416"/>
                  <a:pt x="208" y="416"/>
                </a:cubicBezTo>
                <a:lnTo>
                  <a:pt x="240" y="416"/>
                </a:lnTo>
                <a:cubicBezTo>
                  <a:pt x="267" y="416"/>
                  <a:pt x="288" y="438"/>
                  <a:pt x="288" y="464"/>
                </a:cubicBezTo>
                <a:lnTo>
                  <a:pt x="288" y="464"/>
                </a:lnTo>
                <a:lnTo>
                  <a:pt x="328" y="464"/>
                </a:lnTo>
                <a:cubicBezTo>
                  <a:pt x="368" y="464"/>
                  <a:pt x="400" y="432"/>
                  <a:pt x="400" y="392"/>
                </a:cubicBezTo>
                <a:lnTo>
                  <a:pt x="400" y="371"/>
                </a:lnTo>
                <a:cubicBezTo>
                  <a:pt x="386" y="379"/>
                  <a:pt x="370" y="384"/>
                  <a:pt x="352" y="384"/>
                </a:cubicBezTo>
                <a:lnTo>
                  <a:pt x="336" y="384"/>
                </a:lnTo>
                <a:cubicBezTo>
                  <a:pt x="310" y="384"/>
                  <a:pt x="288" y="362"/>
                  <a:pt x="288" y="336"/>
                </a:cubicBezTo>
                <a:lnTo>
                  <a:pt x="288" y="240"/>
                </a:lnTo>
                <a:cubicBezTo>
                  <a:pt x="288" y="213"/>
                  <a:pt x="310" y="192"/>
                  <a:pt x="336" y="192"/>
                </a:cubicBezTo>
                <a:lnTo>
                  <a:pt x="352" y="192"/>
                </a:lnTo>
                <a:cubicBezTo>
                  <a:pt x="362" y="192"/>
                  <a:pt x="372" y="194"/>
                  <a:pt x="382" y="197"/>
                </a:cubicBezTo>
                <a:cubicBezTo>
                  <a:pt x="369" y="121"/>
                  <a:pt x="303" y="64"/>
                  <a:pt x="224" y="64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7" name="p1-title"/>
          <p:cNvSpPr txBox="1"/>
          <p:nvPr/>
        </p:nvSpPr>
        <p:spPr>
          <a:xfrm>
            <a:off x="1219200" y="2438400"/>
            <a:ext cx="5994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 dirty="0" err="1">
                <a:solidFill>
                  <a:srgbClr val="F5F5F7"/>
                </a:solidFill>
                <a:latin typeface="MiSans"/>
                <a:ea typeface="MiSans"/>
              </a:rPr>
              <a:t>Постоянный</a:t>
            </a:r>
            <a:r>
              <a:rPr lang="en-US" sz="1500" b="1" dirty="0">
                <a:solidFill>
                  <a:srgbClr val="F5F5F7"/>
                </a:solidFill>
                <a:latin typeface="MiSans"/>
                <a:ea typeface="MiSans"/>
              </a:rPr>
              <a:t> </a:t>
            </a:r>
            <a:r>
              <a:rPr lang="en-US" sz="1500" b="1" dirty="0" err="1">
                <a:solidFill>
                  <a:srgbClr val="F5F5F7"/>
                </a:solidFill>
                <a:latin typeface="MiSans"/>
                <a:ea typeface="MiSans"/>
              </a:rPr>
              <a:t>мониторинг</a:t>
            </a:r>
            <a:endParaRPr lang="en-US" sz="1500" dirty="0"/>
          </a:p>
        </p:txBody>
      </p:sp>
      <p:sp>
        <p:nvSpPr>
          <p:cNvPr id="8" name="p1-desc"/>
          <p:cNvSpPr txBox="1"/>
          <p:nvPr/>
        </p:nvSpPr>
        <p:spPr>
          <a:xfrm>
            <a:off x="1219200" y="2743200"/>
            <a:ext cx="59944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9AA8"/>
                </a:solidFill>
                <a:latin typeface="MiSans"/>
                <a:ea typeface="MiSans"/>
              </a:rPr>
              <a:t>Регулярно отслеживаем присутствие бренда в нейровыдаче и корректируем стратегию под цели клиента</a:t>
            </a:r>
            <a:endParaRPr lang="en-US" sz="1200"/>
          </a:p>
        </p:txBody>
      </p:sp>
      <p:sp>
        <p:nvSpPr>
          <p:cNvPr id="9" name="p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eyJpY29uTmFtZSI6ImZhczpjb21tZW50cyJ9</pptd:icon>
              </p:ext>
            </p:extLst>
          </p:nvPr>
        </p:nvSpPr>
        <p:spPr>
          <a:xfrm>
            <a:off x="711200" y="34798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384" y="144"/>
                </a:moveTo>
                <a:cubicBezTo>
                  <a:pt x="384" y="241"/>
                  <a:pt x="298" y="320"/>
                  <a:pt x="192" y="320"/>
                </a:cubicBezTo>
                <a:cubicBezTo>
                  <a:pt x="165" y="320"/>
                  <a:pt x="140" y="315"/>
                  <a:pt x="117" y="306"/>
                </a:cubicBezTo>
                <a:lnTo>
                  <a:pt x="35" y="349"/>
                </a:lnTo>
                <a:cubicBezTo>
                  <a:pt x="26" y="354"/>
                  <a:pt x="15" y="352"/>
                  <a:pt x="7" y="345"/>
                </a:cubicBezTo>
                <a:cubicBezTo>
                  <a:pt x="0" y="338"/>
                  <a:pt x="-2" y="326"/>
                  <a:pt x="3" y="317"/>
                </a:cubicBezTo>
                <a:lnTo>
                  <a:pt x="38" y="250"/>
                </a:lnTo>
                <a:cubicBezTo>
                  <a:pt x="14" y="220"/>
                  <a:pt x="0" y="184"/>
                  <a:pt x="0" y="144"/>
                </a:cubicBezTo>
                <a:cubicBezTo>
                  <a:pt x="0" y="47"/>
                  <a:pt x="86" y="-32"/>
                  <a:pt x="192" y="-32"/>
                </a:cubicBezTo>
                <a:cubicBezTo>
                  <a:pt x="298" y="-32"/>
                  <a:pt x="384" y="47"/>
                  <a:pt x="384" y="144"/>
                </a:cubicBezTo>
                <a:close/>
                <a:moveTo>
                  <a:pt x="384" y="512"/>
                </a:moveTo>
                <a:cubicBezTo>
                  <a:pt x="290" y="512"/>
                  <a:pt x="212" y="450"/>
                  <a:pt x="195" y="368"/>
                </a:cubicBezTo>
                <a:cubicBezTo>
                  <a:pt x="315" y="367"/>
                  <a:pt x="420" y="281"/>
                  <a:pt x="431" y="165"/>
                </a:cubicBezTo>
                <a:cubicBezTo>
                  <a:pt x="514" y="185"/>
                  <a:pt x="576" y="254"/>
                  <a:pt x="576" y="336"/>
                </a:cubicBezTo>
                <a:cubicBezTo>
                  <a:pt x="576" y="376"/>
                  <a:pt x="562" y="412"/>
                  <a:pt x="538" y="442"/>
                </a:cubicBezTo>
                <a:lnTo>
                  <a:pt x="573" y="509"/>
                </a:lnTo>
                <a:cubicBezTo>
                  <a:pt x="578" y="518"/>
                  <a:pt x="576" y="530"/>
                  <a:pt x="569" y="537"/>
                </a:cubicBezTo>
                <a:cubicBezTo>
                  <a:pt x="562" y="545"/>
                  <a:pt x="550" y="546"/>
                  <a:pt x="541" y="541"/>
                </a:cubicBezTo>
                <a:lnTo>
                  <a:pt x="459" y="498"/>
                </a:lnTo>
                <a:cubicBezTo>
                  <a:pt x="436" y="507"/>
                  <a:pt x="411" y="512"/>
                  <a:pt x="384" y="512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10" name="p2-title"/>
          <p:cNvSpPr txBox="1"/>
          <p:nvPr/>
        </p:nvSpPr>
        <p:spPr>
          <a:xfrm>
            <a:off x="1219200" y="3479800"/>
            <a:ext cx="5994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5F5F7"/>
                </a:solidFill>
                <a:latin typeface="MiSans"/>
                <a:ea typeface="MiSans"/>
              </a:rPr>
              <a:t>Живая команда на связи</a:t>
            </a:r>
            <a:endParaRPr lang="en-US" sz="1500"/>
          </a:p>
        </p:txBody>
      </p:sp>
      <p:sp>
        <p:nvSpPr>
          <p:cNvPr id="11" name="p2-desc"/>
          <p:cNvSpPr txBox="1"/>
          <p:nvPr/>
        </p:nvSpPr>
        <p:spPr>
          <a:xfrm>
            <a:off x="1219200" y="3784600"/>
            <a:ext cx="59944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9AA8"/>
                </a:solidFill>
                <a:latin typeface="MiSans"/>
                <a:ea typeface="MiSans"/>
              </a:rPr>
              <a:t>Помогаем с контентом и площадками — вы не останетесь один на один с алгоритмами</a:t>
            </a:r>
            <a:endParaRPr lang="en-US" sz="1200"/>
          </a:p>
        </p:txBody>
      </p:sp>
      <p:sp>
        <p:nvSpPr>
          <p:cNvPr id="12" name="p3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eyJpY29uTmFtZSI6ImZhczpyb2NrZXQifQ</pptd:icon>
              </p:ext>
            </p:extLst>
          </p:nvPr>
        </p:nvSpPr>
        <p:spPr>
          <a:xfrm>
            <a:off x="711200" y="45212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128" y="320"/>
                </a:moveTo>
                <a:lnTo>
                  <a:pt x="25" y="320"/>
                </a:lnTo>
                <a:cubicBezTo>
                  <a:pt x="0" y="320"/>
                  <a:pt x="-16" y="293"/>
                  <a:pt x="-3" y="272"/>
                </a:cubicBezTo>
                <a:lnTo>
                  <a:pt x="50" y="183"/>
                </a:lnTo>
                <a:cubicBezTo>
                  <a:pt x="59" y="169"/>
                  <a:pt x="74" y="160"/>
                  <a:pt x="91" y="160"/>
                </a:cubicBezTo>
                <a:lnTo>
                  <a:pt x="186" y="160"/>
                </a:lnTo>
                <a:cubicBezTo>
                  <a:pt x="262" y="31"/>
                  <a:pt x="376" y="25"/>
                  <a:pt x="452" y="36"/>
                </a:cubicBezTo>
                <a:cubicBezTo>
                  <a:pt x="465" y="38"/>
                  <a:pt x="475" y="48"/>
                  <a:pt x="476" y="60"/>
                </a:cubicBezTo>
                <a:cubicBezTo>
                  <a:pt x="487" y="136"/>
                  <a:pt x="481" y="250"/>
                  <a:pt x="352" y="326"/>
                </a:cubicBezTo>
                <a:lnTo>
                  <a:pt x="352" y="421"/>
                </a:lnTo>
                <a:cubicBezTo>
                  <a:pt x="352" y="438"/>
                  <a:pt x="343" y="453"/>
                  <a:pt x="329" y="462"/>
                </a:cubicBezTo>
                <a:lnTo>
                  <a:pt x="241" y="515"/>
                </a:lnTo>
                <a:cubicBezTo>
                  <a:pt x="219" y="528"/>
                  <a:pt x="192" y="512"/>
                  <a:pt x="192" y="488"/>
                </a:cubicBezTo>
                <a:lnTo>
                  <a:pt x="192" y="384"/>
                </a:lnTo>
                <a:cubicBezTo>
                  <a:pt x="192" y="349"/>
                  <a:pt x="163" y="320"/>
                  <a:pt x="128" y="320"/>
                </a:cubicBezTo>
                <a:lnTo>
                  <a:pt x="128" y="320"/>
                </a:lnTo>
                <a:close/>
                <a:moveTo>
                  <a:pt x="400" y="160"/>
                </a:moveTo>
                <a:cubicBezTo>
                  <a:pt x="400" y="133"/>
                  <a:pt x="379" y="112"/>
                  <a:pt x="352" y="112"/>
                </a:cubicBezTo>
                <a:cubicBezTo>
                  <a:pt x="325" y="112"/>
                  <a:pt x="304" y="133"/>
                  <a:pt x="304" y="160"/>
                </a:cubicBezTo>
                <a:cubicBezTo>
                  <a:pt x="304" y="187"/>
                  <a:pt x="325" y="208"/>
                  <a:pt x="352" y="208"/>
                </a:cubicBezTo>
                <a:cubicBezTo>
                  <a:pt x="379" y="208"/>
                  <a:pt x="400" y="187"/>
                  <a:pt x="400" y="160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13" name="p3-title"/>
          <p:cNvSpPr txBox="1"/>
          <p:nvPr/>
        </p:nvSpPr>
        <p:spPr>
          <a:xfrm>
            <a:off x="1219200" y="4521200"/>
            <a:ext cx="5994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5F5F7"/>
                </a:solidFill>
                <a:latin typeface="MiSans"/>
                <a:ea typeface="MiSans"/>
              </a:rPr>
              <a:t>Развитие вместе с рынком</a:t>
            </a:r>
            <a:endParaRPr lang="en-US" sz="1500"/>
          </a:p>
        </p:txBody>
      </p:sp>
      <p:sp>
        <p:nvSpPr>
          <p:cNvPr id="14" name="p3-desc"/>
          <p:cNvSpPr txBox="1"/>
          <p:nvPr/>
        </p:nvSpPr>
        <p:spPr>
          <a:xfrm>
            <a:off x="1219200" y="4826000"/>
            <a:ext cx="59944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9AA8"/>
                </a:solidFill>
                <a:latin typeface="MiSans"/>
                <a:ea typeface="MiSans"/>
              </a:rPr>
              <a:t>Платформа обновляется следом за алгоритмами нейросетей — клиенты всегда на шаг впереди</a:t>
            </a:r>
            <a:endParaRPr lang="en-US" sz="1200"/>
          </a:p>
        </p:txBody>
      </p:sp>
      <p:sp>
        <p:nvSpPr>
          <p:cNvPr id="16" name="photo-caption"/>
          <p:cNvSpPr txBox="1"/>
          <p:nvPr/>
        </p:nvSpPr>
        <p:spPr>
          <a:xfrm>
            <a:off x="7670800" y="3581400"/>
            <a:ext cx="381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30000"/>
              </a:lnSpc>
            </a:pPr>
            <a:r>
              <a:rPr lang="en-US" sz="1050" i="1" dirty="0" err="1">
                <a:solidFill>
                  <a:srgbClr val="9A9AA8"/>
                </a:solidFill>
                <a:latin typeface="MiSans"/>
                <a:ea typeface="MiSans"/>
              </a:rPr>
              <a:t>Команда</a:t>
            </a:r>
            <a:r>
              <a:rPr lang="en-US" sz="1050" i="1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050" i="1" dirty="0" err="1">
                <a:solidFill>
                  <a:srgbClr val="9A9AA8"/>
                </a:solidFill>
                <a:latin typeface="MiSans"/>
                <a:ea typeface="MiSans"/>
              </a:rPr>
              <a:t>Промптера</a:t>
            </a:r>
            <a:r>
              <a:rPr lang="en-US" sz="1050" i="1" dirty="0">
                <a:solidFill>
                  <a:srgbClr val="9A9AA8"/>
                </a:solidFill>
                <a:latin typeface="MiSans"/>
                <a:ea typeface="MiSans"/>
              </a:rPr>
              <a:t>: </a:t>
            </a:r>
            <a:r>
              <a:rPr lang="en-US" sz="1050" i="1" dirty="0" err="1">
                <a:solidFill>
                  <a:srgbClr val="9A9AA8"/>
                </a:solidFill>
                <a:latin typeface="MiSans"/>
                <a:ea typeface="MiSans"/>
              </a:rPr>
              <a:t>технологии</a:t>
            </a:r>
            <a:r>
              <a:rPr lang="en-US" sz="1050" i="1" dirty="0">
                <a:solidFill>
                  <a:srgbClr val="9A9AA8"/>
                </a:solidFill>
                <a:latin typeface="MiSans"/>
                <a:ea typeface="MiSans"/>
              </a:rPr>
              <a:t> ИИ + </a:t>
            </a:r>
            <a:r>
              <a:rPr lang="en-US" sz="1050" i="1" dirty="0" err="1">
                <a:solidFill>
                  <a:srgbClr val="9A9AA8"/>
                </a:solidFill>
                <a:latin typeface="MiSans"/>
                <a:ea typeface="MiSans"/>
              </a:rPr>
              <a:t>живое</a:t>
            </a:r>
            <a:r>
              <a:rPr lang="en-US" sz="1050" i="1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050" i="1" dirty="0" err="1">
                <a:solidFill>
                  <a:srgbClr val="9A9AA8"/>
                </a:solidFill>
                <a:latin typeface="MiSans"/>
                <a:ea typeface="MiSans"/>
              </a:rPr>
              <a:t>сопровождение</a:t>
            </a:r>
            <a:r>
              <a:rPr lang="en-US" sz="1050" i="1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050" i="1" dirty="0" err="1">
                <a:solidFill>
                  <a:srgbClr val="9A9AA8"/>
                </a:solidFill>
                <a:latin typeface="MiSans"/>
                <a:ea typeface="MiSans"/>
              </a:rPr>
              <a:t>клиентов</a:t>
            </a:r>
            <a:endParaRPr lang="en-US" sz="1050" dirty="0"/>
          </a:p>
        </p:txBody>
      </p:sp>
      <p:sp>
        <p:nvSpPr>
          <p:cNvPr id="17" name="contacts-panel"/>
          <p:cNvSpPr/>
          <p:nvPr/>
        </p:nvSpPr>
        <p:spPr>
          <a:xfrm>
            <a:off x="711200" y="5562600"/>
            <a:ext cx="10769600" cy="787400"/>
          </a:xfrm>
          <a:prstGeom prst="rect">
            <a:avLst/>
          </a:prstGeom>
          <a:solidFill>
            <a:srgbClr val="13131B"/>
          </a:solidFill>
          <a:ln w="12700">
            <a:solidFill>
              <a:srgbClr val="262635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18" name="contacts-accent"/>
          <p:cNvSpPr/>
          <p:nvPr/>
        </p:nvSpPr>
        <p:spPr>
          <a:xfrm>
            <a:off x="711200" y="5562600"/>
            <a:ext cx="38100" cy="787400"/>
          </a:xfrm>
          <a:prstGeom prst="rect">
            <a:avLst/>
          </a:prstGeom>
          <a:solidFill>
            <a:srgbClr val="E8453C"/>
          </a:solidFill>
          <a:ln>
            <a:noFill/>
          </a:ln>
        </p:spPr>
        <p:txBody>
          <a:bodyPr/>
          <a:lstStyle/>
          <a:p>
            <a:endParaRPr lang="ru-RU">
              <a:solidFill>
                <a:schemeClr val="bg1"/>
              </a:solidFill>
            </a:endParaRPr>
          </a:p>
        </p:txBody>
      </p:sp>
      <p:sp>
        <p:nvSpPr>
          <p:cNvPr id="19" name="contacts-label"/>
          <p:cNvSpPr txBox="1"/>
          <p:nvPr/>
        </p:nvSpPr>
        <p:spPr>
          <a:xfrm>
            <a:off x="1016000" y="5562600"/>
            <a:ext cx="17272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b="1" kern="0" spc="100" dirty="0">
                <a:solidFill>
                  <a:schemeClr val="bg1"/>
                </a:solidFill>
                <a:latin typeface="MiSans"/>
                <a:ea typeface="MiSans"/>
              </a:rPr>
              <a:t>КОНТАКТЫ</a:t>
            </a:r>
            <a:endParaRPr lang="en-US" sz="1300" dirty="0">
              <a:solidFill>
                <a:schemeClr val="bg1"/>
              </a:solidFill>
            </a:endParaRPr>
          </a:p>
        </p:txBody>
      </p:sp>
      <p:sp>
        <p:nvSpPr>
          <p:cNvPr id="20" name="contact-phone"/>
          <p:cNvSpPr txBox="1"/>
          <p:nvPr/>
        </p:nvSpPr>
        <p:spPr>
          <a:xfrm>
            <a:off x="2819400" y="5548120"/>
            <a:ext cx="2794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300" dirty="0" err="1">
                <a:solidFill>
                  <a:schemeClr val="bg1"/>
                </a:solidFill>
                <a:latin typeface="MiSans"/>
              </a:rPr>
              <a:t>Телефон</a:t>
            </a:r>
            <a:r>
              <a:rPr lang="en-US" sz="1300" dirty="0">
                <a:solidFill>
                  <a:schemeClr val="bg1"/>
                </a:solidFill>
                <a:latin typeface="MiSans"/>
              </a:rPr>
              <a:t>: </a:t>
            </a:r>
            <a:r>
              <a:rPr lang="ru-RU" sz="1300" dirty="0">
                <a:solidFill>
                  <a:schemeClr val="bg1"/>
                </a:solidFill>
                <a:latin typeface="MiSans"/>
              </a:rPr>
              <a:t>+79067587777 </a:t>
            </a:r>
            <a:endParaRPr lang="en-US" sz="1300" dirty="0">
              <a:solidFill>
                <a:schemeClr val="bg1"/>
              </a:solidFill>
              <a:latin typeface="MiSans"/>
            </a:endParaRPr>
          </a:p>
        </p:txBody>
      </p:sp>
      <p:sp>
        <p:nvSpPr>
          <p:cNvPr id="21" name="contact-mail"/>
          <p:cNvSpPr txBox="1"/>
          <p:nvPr/>
        </p:nvSpPr>
        <p:spPr>
          <a:xfrm>
            <a:off x="8534400" y="5538387"/>
            <a:ext cx="2794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dirty="0">
                <a:solidFill>
                  <a:schemeClr val="bg1"/>
                </a:solidFill>
                <a:latin typeface="MiSans"/>
                <a:ea typeface="MiSans"/>
              </a:rPr>
              <a:t>E-mail: </a:t>
            </a:r>
            <a:r>
              <a:rPr lang="en-US" sz="1300" dirty="0">
                <a:solidFill>
                  <a:schemeClr val="bg1"/>
                </a:solidFill>
                <a:latin typeface="MiSans"/>
              </a:rPr>
              <a:t>Methodmos@mail.ru</a:t>
            </a:r>
          </a:p>
        </p:txBody>
      </p:sp>
      <p:sp>
        <p:nvSpPr>
          <p:cNvPr id="23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9AA8"/>
                </a:solidFill>
                <a:latin typeface="MiSans"/>
                <a:ea typeface="MiSans"/>
              </a:rPr>
              <a:t>09 / 09</a:t>
            </a:r>
            <a:endParaRPr lang="en-US" sz="900"/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9B13B29C-656E-5C78-8FD9-1E11366C86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1463" y="914400"/>
            <a:ext cx="3711535" cy="2565400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C38CF235-0817-4190-4B3F-164600FB9C97}"/>
              </a:ext>
            </a:extLst>
          </p:cNvPr>
          <p:cNvSpPr txBox="1"/>
          <p:nvPr/>
        </p:nvSpPr>
        <p:spPr>
          <a:xfrm>
            <a:off x="5689600" y="5822806"/>
            <a:ext cx="2329204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00" dirty="0">
                <a:solidFill>
                  <a:schemeClr val="bg1"/>
                </a:solidFill>
                <a:latin typeface="MiSans"/>
              </a:rPr>
              <a:t>Telegram: @METHODmos</a:t>
            </a:r>
            <a:endParaRPr lang="ru-RU" sz="1300" dirty="0">
              <a:solidFill>
                <a:schemeClr val="bg1"/>
              </a:solidFill>
              <a:latin typeface="MiSans"/>
            </a:endParaRPr>
          </a:p>
        </p:txBody>
      </p:sp>
    </p:spTree>
  </p:cSld>
  <p:clrMapOvr>
    <a:masterClrMapping/>
  </p:clrMapOvr>
  <p:transition>
    <p:checker/>
  </p:transition>
</p:sld>
</file>

<file path=ppt/theme/theme1.xml><?xml version="1.0" encoding="utf-8"?>
<a:theme xmlns:a="http://schemas.openxmlformats.org/drawingml/2006/main" name="PPTD">
  <a:themeElements>
    <a:clrScheme name="PPTD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PTD">
      <a:majorFont>
        <a:latin typeface="MiSans"/>
        <a:ea typeface="MiSans"/>
        <a:cs typeface="MiSans"/>
      </a:majorFont>
      <a:minorFont>
        <a:latin typeface="MiSans"/>
        <a:ea typeface="MiSans"/>
        <a:cs typeface="MiSans"/>
      </a:minorFont>
    </a:fontScheme>
    <a:fmtScheme name="PPTD">
      <a:fillStyleLst>
        <a:solidFill>
          <a:schemeClr val="accent1"/>
        </a:solidFill>
        <a:solidFill>
          <a:schemeClr val="accent2"/>
        </a:solidFill>
        <a:solidFill>
          <a:schemeClr val="accent3"/>
        </a:solidFill>
      </a:fillStyleLst>
      <a:lnStyleLst>
        <a:ln w="6350" cap="flat" cmpd="sng" algn="ctr">
          <a:solidFill>
            <a:schemeClr val="accent1"/>
          </a:solidFill>
          <a:prstDash val="solid"/>
        </a:ln>
        <a:ln w="12700" cap="flat" cmpd="sng" algn="ctr">
          <a:solidFill>
            <a:schemeClr val="accent1"/>
          </a:solidFill>
          <a:prstDash val="solid"/>
        </a:ln>
        <a:ln w="19050" cap="flat" cmpd="sng" algn="ctr">
          <a:solidFill>
            <a:schemeClr val="accent1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2"/>
        </a:solidFill>
        <a:solidFill>
          <a:schemeClr val="dk1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112</TotalTime>
  <Words>886</Words>
  <Application>Microsoft Office PowerPoint</Application>
  <PresentationFormat>Широкоэкранный</PresentationFormat>
  <Paragraphs>134</Paragraphs>
  <Slides>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1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1" baseType="lpstr">
      <vt:lpstr>MiSans</vt:lpstr>
      <vt:lpstr>PPTD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Промптер — представление компании</dc:title>
  <dc:subject>Промптер — представление компании</dc:subject>
  <dc:creator>Kimi</dc:creator>
  <cp:lastModifiedBy>Пупкин Толя</cp:lastModifiedBy>
  <cp:revision>4</cp:revision>
  <dcterms:modified xsi:type="dcterms:W3CDTF">2026-08-05T12:55:48Z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{"Label":"Промптер — представление компании","ContentProducer":"001191110108MACG2KBH8F10000","ProduceID":"19f9002e-0f52-87c7-8000-00006034c46f","ReservedCode1":"","ContentPropagator":"001191110108MACG2KBH8F20000","PropagateID":"19f73adb-8c92-8708-8000-09088e4502a4","ReservedCode2":""}</vt:lpwstr>
  </property>
</Properties>
</file>