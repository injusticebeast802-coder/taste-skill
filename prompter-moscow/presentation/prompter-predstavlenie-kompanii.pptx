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A0E"/>
    <a:srgbClr val="E845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ompter-ai.moscow/zayavka.html?from=presentation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A0E">
                  <a:alpha val="92157"/>
                </a:srgbClr>
              </a:gs>
              <a:gs pos="50000">
                <a:srgbClr val="0A0A0E">
                  <a:alpha val="80000"/>
                </a:srgbClr>
              </a:gs>
              <a:gs pos="100000">
                <a:srgbClr val="0A0A0E">
                  <a:alpha val="2000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brand"/>
          <p:cNvSpPr txBox="1"/>
          <p:nvPr/>
        </p:nvSpPr>
        <p:spPr>
          <a:xfrm>
            <a:off x="1422400" y="711200"/>
            <a:ext cx="3302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kern="0" spc="600">
                <a:solidFill>
                  <a:srgbClr val="F5F5F7"/>
                </a:solidFill>
                <a:latin typeface="MiSans"/>
                <a:ea typeface="MiSans"/>
              </a:rPr>
              <a:t>ПРОМПТЕР</a:t>
            </a:r>
            <a:endParaRPr lang="en-US" sz="1900"/>
          </a:p>
        </p:txBody>
      </p:sp>
      <p:sp>
        <p:nvSpPr>
          <p:cNvPr id="5" name="brand-sub"/>
          <p:cNvSpPr txBox="1"/>
          <p:nvPr/>
        </p:nvSpPr>
        <p:spPr>
          <a:xfrm>
            <a:off x="1422400" y="1066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kern="0" spc="200">
                <a:solidFill>
                  <a:srgbClr val="9A9AA8"/>
                </a:solidFill>
                <a:latin typeface="MiSans"/>
                <a:ea typeface="MiSans"/>
              </a:rPr>
              <a:t>AI-ПЛАТФОРМА ЦИФРОВОГО ПРОДВИЖЕНИЯ</a:t>
            </a:r>
            <a:endParaRPr lang="en-US" sz="900"/>
          </a:p>
        </p:txBody>
      </p:sp>
      <p:sp>
        <p:nvSpPr>
          <p:cNvPr id="6" name="kicker"/>
          <p:cNvSpPr txBox="1"/>
          <p:nvPr/>
        </p:nvSpPr>
        <p:spPr>
          <a:xfrm>
            <a:off x="711200" y="17907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400" dirty="0">
                <a:solidFill>
                  <a:srgbClr val="E8453C"/>
                </a:solidFill>
                <a:latin typeface="MiSans"/>
                <a:ea typeface="MiSans"/>
              </a:rPr>
              <a:t>ПРЕДСТАВЛЕНИЕ КОМПАНИИ</a:t>
            </a:r>
            <a:endParaRPr lang="en-US" sz="1200" dirty="0"/>
          </a:p>
        </p:txBody>
      </p:sp>
      <p:sp>
        <p:nvSpPr>
          <p:cNvPr id="7" name="title"/>
          <p:cNvSpPr txBox="1"/>
          <p:nvPr/>
        </p:nvSpPr>
        <p:spPr>
          <a:xfrm>
            <a:off x="711200" y="2483502"/>
            <a:ext cx="8937475" cy="21922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4000" b="1" dirty="0">
                <a:solidFill>
                  <a:srgbClr val="F5F5F7"/>
                </a:solidFill>
                <a:latin typeface="MiSans"/>
              </a:rPr>
              <a:t>Комплексное </a:t>
            </a:r>
            <a:r>
              <a:rPr lang="en-US" sz="4000" b="1" dirty="0">
                <a:solidFill>
                  <a:srgbClr val="F5F5F7"/>
                </a:solidFill>
                <a:latin typeface="MiSans"/>
              </a:rPr>
              <a:t>GEO- </a:t>
            </a:r>
            <a:r>
              <a:rPr lang="ru-RU" sz="4000" b="1" dirty="0">
                <a:solidFill>
                  <a:srgbClr val="F5F5F7"/>
                </a:solidFill>
                <a:latin typeface="MiSans"/>
              </a:rPr>
              <a:t>и </a:t>
            </a:r>
            <a:r>
              <a:rPr lang="en-US" sz="4000" b="1" dirty="0">
                <a:solidFill>
                  <a:srgbClr val="F5F5F7"/>
                </a:solidFill>
                <a:latin typeface="MiSans"/>
              </a:rPr>
              <a:t>SEO-</a:t>
            </a:r>
            <a:r>
              <a:rPr lang="ru-RU" sz="4000" b="1" dirty="0">
                <a:solidFill>
                  <a:srgbClr val="F5F5F7"/>
                </a:solidFill>
                <a:latin typeface="MiSans"/>
              </a:rPr>
              <a:t>продвижение бизнеса с сервисом </a:t>
            </a:r>
            <a:r>
              <a:rPr lang="ru-RU" sz="4000" b="1" dirty="0" err="1">
                <a:solidFill>
                  <a:srgbClr val="F5F5F7"/>
                </a:solidFill>
                <a:latin typeface="MiSans"/>
              </a:rPr>
              <a:t>Промптер</a:t>
            </a:r>
            <a:endParaRPr lang="ru-RU" sz="4000" b="1" dirty="0">
              <a:solidFill>
                <a:srgbClr val="F5F5F7"/>
              </a:solidFill>
              <a:latin typeface="MiSans"/>
            </a:endParaRPr>
          </a:p>
          <a:p>
            <a:pPr algn="l">
              <a:lnSpc>
                <a:spcPct val="120000"/>
              </a:lnSpc>
            </a:pP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711199" y="4419600"/>
            <a:ext cx="8458437" cy="9984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Промптер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—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автономная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платформа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GEO- и SEO-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продвижения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: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создаёт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контент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о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вашем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бизнесе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сама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публикует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его</a:t>
            </a:r>
            <a:r>
              <a:rPr lang="ru-RU" sz="1500" dirty="0">
                <a:solidFill>
                  <a:srgbClr val="9A9AA8"/>
                </a:solidFill>
                <a:latin typeface="MiSans"/>
                <a:ea typeface="MiSans"/>
              </a:rPr>
              <a:t>. </a:t>
            </a:r>
            <a:r>
              <a:rPr lang="ru-RU" sz="1500" dirty="0">
                <a:solidFill>
                  <a:srgbClr val="9A9AA8"/>
                </a:solidFill>
                <a:latin typeface="MiSans"/>
              </a:rPr>
              <a:t>Делаем ваш бизнес заметным в </a:t>
            </a:r>
            <a:r>
              <a:rPr lang="ru-RU" sz="1500" dirty="0" err="1">
                <a:solidFill>
                  <a:srgbClr val="9A9AA8"/>
                </a:solidFill>
                <a:latin typeface="MiSans"/>
              </a:rPr>
              <a:t>нейровыдаче</a:t>
            </a:r>
            <a:r>
              <a:rPr lang="ru-RU" sz="1500" dirty="0">
                <a:solidFill>
                  <a:srgbClr val="9A9AA8"/>
                </a:solidFill>
                <a:latin typeface="MiSans"/>
              </a:rPr>
              <a:t> </a:t>
            </a:r>
            <a:r>
              <a:rPr lang="ru-RU" sz="1500" dirty="0">
                <a:solidFill>
                  <a:srgbClr val="9A9AA8"/>
                </a:solidFill>
              </a:rPr>
              <a:t>и поисковых системах</a:t>
            </a:r>
            <a:endParaRPr lang="en-US" sz="1500" dirty="0">
              <a:solidFill>
                <a:srgbClr val="9A9AA8"/>
              </a:solidFill>
              <a:latin typeface="MiSans"/>
            </a:endParaRPr>
          </a:p>
        </p:txBody>
      </p:sp>
      <p:pic>
        <p:nvPicPr>
          <p:cNvPr id="13" name="Рисунок 12" descr="preview">
            <a:extLst>
              <a:ext uri="{FF2B5EF4-FFF2-40B4-BE49-F238E27FC236}">
                <a16:creationId xmlns:a16="http://schemas.microsoft.com/office/drawing/2014/main" id="{0608E8DD-4211-16CA-E499-FFFAE3068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9" y="639292"/>
            <a:ext cx="774343" cy="83390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2D57932-6AD8-5817-EB54-9A01BC3F1837}"/>
              </a:ext>
            </a:extLst>
          </p:cNvPr>
          <p:cNvSpPr/>
          <p:nvPr/>
        </p:nvSpPr>
        <p:spPr>
          <a:xfrm>
            <a:off x="85458" y="6434983"/>
            <a:ext cx="774343" cy="308124"/>
          </a:xfrm>
          <a:prstGeom prst="rect">
            <a:avLst/>
          </a:prstGeom>
          <a:solidFill>
            <a:srgbClr val="09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i-img"/>
          <p:cNvPicPr/>
          <p:nvPr/>
        </p:nvPicPr>
        <p:blipFill>
          <a:blip r:embed="rId2"/>
          <a:srcRect l="25309" r="25309"/>
          <a:stretch>
            <a:fillRect/>
          </a:stretch>
        </p:blipFill>
        <p:spPr>
          <a:xfrm>
            <a:off x="7112000" y="0"/>
            <a:ext cx="5080000" cy="6858000"/>
          </a:xfrm>
          <a:prstGeom prst="rect">
            <a:avLst/>
          </a:prstGeom>
          <a:ln>
            <a:noFill/>
          </a:ln>
        </p:spPr>
      </p:pic>
      <p:sp>
        <p:nvSpPr>
          <p:cNvPr id="3" name="ai-overlay"/>
          <p:cNvSpPr/>
          <p:nvPr/>
        </p:nvSpPr>
        <p:spPr>
          <a:xfrm>
            <a:off x="7112000" y="0"/>
            <a:ext cx="5080000" cy="6858000"/>
          </a:xfrm>
          <a:prstGeom prst="rect">
            <a:avLst/>
          </a:prstGeom>
          <a:gradFill rotWithShape="1">
            <a:gsLst>
              <a:gs pos="0">
                <a:srgbClr val="0A0A0E">
                  <a:alpha val="94902"/>
                </a:srgbClr>
              </a:gs>
              <a:gs pos="50000">
                <a:srgbClr val="0A0A0E">
                  <a:alpha val="40000"/>
                </a:srgbClr>
              </a:gs>
              <a:gs pos="100000">
                <a:srgbClr val="0A0A0E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brandmark"/>
          <p:cNvSpPr txBox="1"/>
          <p:nvPr/>
        </p:nvSpPr>
        <p:spPr>
          <a:xfrm>
            <a:off x="7112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5" name="title"/>
          <p:cNvSpPr txBox="1"/>
          <p:nvPr/>
        </p:nvSpPr>
        <p:spPr>
          <a:xfrm>
            <a:off x="711200" y="8128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2000"/>
              </a:lnSpc>
            </a:pPr>
            <a:r>
              <a:rPr lang="ru-RU" sz="2700" b="1" dirty="0">
                <a:solidFill>
                  <a:srgbClr val="C00000"/>
                </a:solidFill>
                <a:latin typeface="MiSans"/>
                <a:ea typeface="MiSans"/>
              </a:rPr>
              <a:t>О</a:t>
            </a:r>
            <a:r>
              <a:rPr lang="ru-RU" sz="2700" b="1" dirty="0">
                <a:solidFill>
                  <a:srgbClr val="F5F5F7"/>
                </a:solidFill>
                <a:latin typeface="MiSans"/>
                <a:ea typeface="MiSans"/>
              </a:rPr>
              <a:t> КОМПАНИИ</a:t>
            </a:r>
            <a:endParaRPr lang="en-US" sz="2700" dirty="0"/>
          </a:p>
        </p:txBody>
      </p:sp>
      <p:sp>
        <p:nvSpPr>
          <p:cNvPr id="6" name="title-rule"/>
          <p:cNvSpPr/>
          <p:nvPr/>
        </p:nvSpPr>
        <p:spPr>
          <a:xfrm>
            <a:off x="711200" y="1778000"/>
            <a:ext cx="609600" cy="254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body"/>
          <p:cNvSpPr txBox="1"/>
          <p:nvPr/>
        </p:nvSpPr>
        <p:spPr>
          <a:xfrm>
            <a:off x="711200" y="2006600"/>
            <a:ext cx="5969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Промптер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—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технологическая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компания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на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стыке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искусственного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интеллекта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и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маркетинга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.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Мы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создали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автономную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платформу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цифрового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продвижения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,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которая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берёт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на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себя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весь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цикл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работы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с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контентом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—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от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идеи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до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публикации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.</a:t>
            </a:r>
            <a:endParaRPr lang="en-US" sz="1350" dirty="0"/>
          </a:p>
        </p:txBody>
      </p:sp>
      <p:sp>
        <p:nvSpPr>
          <p:cNvPr id="8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eyJpY29uTmFtZSI6ImZhczpyb2JvdCJ9</pptd:icon>
              </p:ext>
            </p:extLst>
          </p:nvPr>
        </p:nvSpPr>
        <p:spPr>
          <a:xfrm>
            <a:off x="711200" y="3810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" name="f1-title"/>
          <p:cNvSpPr txBox="1"/>
          <p:nvPr/>
        </p:nvSpPr>
        <p:spPr>
          <a:xfrm>
            <a:off x="1168400" y="3810000"/>
            <a:ext cx="5511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>
                <a:solidFill>
                  <a:srgbClr val="F5F5F7"/>
                </a:solidFill>
                <a:latin typeface="MiSans"/>
                <a:ea typeface="MiSans"/>
              </a:rPr>
              <a:t>Собственная AI-технология</a:t>
            </a:r>
            <a:endParaRPr lang="en-US" sz="1450"/>
          </a:p>
        </p:txBody>
      </p:sp>
      <p:sp>
        <p:nvSpPr>
          <p:cNvPr id="10" name="f1-desc"/>
          <p:cNvSpPr txBox="1"/>
          <p:nvPr/>
        </p:nvSpPr>
        <p:spPr>
          <a:xfrm>
            <a:off x="1168400" y="4114800"/>
            <a:ext cx="551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ru-RU" sz="1200" dirty="0">
                <a:solidFill>
                  <a:srgbClr val="9A9AA8"/>
                </a:solidFill>
                <a:latin typeface="MiSans"/>
                <a:ea typeface="MiSans"/>
              </a:rPr>
              <a:t>217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специализированных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ИИ-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модулей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работают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как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единая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команда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специалистов</a:t>
            </a:r>
            <a:endParaRPr lang="en-US" sz="1200" dirty="0"/>
          </a:p>
        </p:txBody>
      </p:sp>
      <p:sp>
        <p:nvSpPr>
          <p:cNvPr id="11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eyJpY29uTmFtZSI6ImZhczpidWxsc2V5ZSJ9</pptd:icon>
              </p:ext>
            </p:extLst>
          </p:nvPr>
        </p:nvSpPr>
        <p:spPr>
          <a:xfrm>
            <a:off x="711200" y="482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448" y="256"/>
                </a:moveTo>
                <a:cubicBezTo>
                  <a:pt x="448" y="150"/>
                  <a:pt x="362" y="64"/>
                  <a:pt x="256" y="64"/>
                </a:cubicBezTo>
                <a:cubicBezTo>
                  <a:pt x="150" y="64"/>
                  <a:pt x="64" y="150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362" y="448"/>
                  <a:pt x="448" y="362"/>
                  <a:pt x="448" y="256"/>
                </a:cubicBezTo>
                <a:close/>
              </a:path>
              <a:path w="512" h="512">
                <a:moveTo>
                  <a:pt x="256" y="112"/>
                </a:moveTo>
                <a:cubicBezTo>
                  <a:pt x="336" y="112"/>
                  <a:pt x="400" y="176"/>
                  <a:pt x="400" y="256"/>
                </a:cubicBezTo>
                <a:cubicBezTo>
                  <a:pt x="400" y="336"/>
                  <a:pt x="336" y="400"/>
                  <a:pt x="256" y="400"/>
                </a:cubicBezTo>
                <a:cubicBezTo>
                  <a:pt x="176" y="400"/>
                  <a:pt x="112" y="336"/>
                  <a:pt x="112" y="256"/>
                </a:cubicBezTo>
                <a:cubicBezTo>
                  <a:pt x="112" y="176"/>
                  <a:pt x="176" y="112"/>
                  <a:pt x="256" y="112"/>
                </a:cubicBezTo>
                <a:close/>
                <a:moveTo>
                  <a:pt x="256" y="336"/>
                </a:moveTo>
                <a:cubicBezTo>
                  <a:pt x="300" y="336"/>
                  <a:pt x="336" y="300"/>
                  <a:pt x="336" y="256"/>
                </a:cubicBezTo>
                <a:cubicBezTo>
                  <a:pt x="336" y="212"/>
                  <a:pt x="300" y="176"/>
                  <a:pt x="256" y="176"/>
                </a:cubicBezTo>
                <a:cubicBezTo>
                  <a:pt x="212" y="176"/>
                  <a:pt x="176" y="212"/>
                  <a:pt x="176" y="256"/>
                </a:cubicBezTo>
                <a:cubicBezTo>
                  <a:pt x="176" y="300"/>
                  <a:pt x="212" y="336"/>
                  <a:pt x="256" y="33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cubicBezTo>
                  <a:pt x="274" y="224"/>
                  <a:pt x="288" y="238"/>
                  <a:pt x="288" y="256"/>
                </a:cubicBezTo>
                <a:cubicBezTo>
                  <a:pt x="288" y="274"/>
                  <a:pt x="274" y="288"/>
                  <a:pt x="256" y="288"/>
                </a:cubicBezTo>
                <a:cubicBezTo>
                  <a:pt x="238" y="288"/>
                  <a:pt x="224" y="274"/>
                  <a:pt x="224" y="256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" name="f2-title"/>
          <p:cNvSpPr txBox="1"/>
          <p:nvPr/>
        </p:nvSpPr>
        <p:spPr>
          <a:xfrm>
            <a:off x="1168400" y="4826000"/>
            <a:ext cx="5511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>
                <a:solidFill>
                  <a:srgbClr val="F5F5F7"/>
                </a:solidFill>
                <a:latin typeface="MiSans"/>
                <a:ea typeface="MiSans"/>
              </a:rPr>
              <a:t>Фокус на нейровыдаче (GEO)</a:t>
            </a:r>
            <a:endParaRPr lang="en-US" sz="1450"/>
          </a:p>
        </p:txBody>
      </p:sp>
      <p:sp>
        <p:nvSpPr>
          <p:cNvPr id="13" name="f2-desc"/>
          <p:cNvSpPr txBox="1"/>
          <p:nvPr/>
        </p:nvSpPr>
        <p:spPr>
          <a:xfrm>
            <a:off x="1168400" y="5130800"/>
            <a:ext cx="551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Одни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из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первых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на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рынке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делаем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бизнес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видимым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для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нейросетей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и ИИ-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ассистентов</a:t>
            </a:r>
            <a:endParaRPr lang="en-US" sz="1200" dirty="0"/>
          </a:p>
        </p:txBody>
      </p:sp>
      <p:sp>
        <p:nvSpPr>
          <p:cNvPr id="1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02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400" b="1">
                <a:solidFill>
                  <a:srgbClr val="F5F5F7"/>
                </a:solidFill>
                <a:latin typeface="MiSans"/>
                <a:ea typeface="MiSans"/>
              </a:rPr>
              <a:t>РЫНОК ИЗМЕНИЛСЯ:</a:t>
            </a:r>
            <a:endParaRPr lang="en-US" sz="2400"/>
          </a:p>
          <a:p>
            <a:pPr algn="l">
              <a:lnSpc>
                <a:spcPct val="125000"/>
              </a:lnSpc>
            </a:pPr>
            <a:r>
              <a:rPr lang="en-US" sz="2400" b="1">
                <a:solidFill>
                  <a:srgbClr val="F5F5F7"/>
                </a:solidFill>
                <a:latin typeface="MiSans"/>
                <a:ea typeface="MiSans"/>
              </a:rPr>
              <a:t>КЛИЕНТОВ ИЩУТ </a:t>
            </a:r>
            <a:r>
              <a:rPr lang="en-US" sz="2400" b="1">
                <a:solidFill>
                  <a:srgbClr val="3D6BFF"/>
                </a:solidFill>
                <a:latin typeface="MiSans"/>
                <a:ea typeface="MiSans"/>
              </a:rPr>
              <a:t>НЕЙРОСЕТИ</a:t>
            </a:r>
            <a:endParaRPr lang="en-US" sz="2400"/>
          </a:p>
        </p:txBody>
      </p:sp>
      <p:sp>
        <p:nvSpPr>
          <p:cNvPr id="4" name="title-rule"/>
          <p:cNvSpPr/>
          <p:nvPr/>
        </p:nvSpPr>
        <p:spPr>
          <a:xfrm>
            <a:off x="711200" y="1422400"/>
            <a:ext cx="6096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intro"/>
          <p:cNvSpPr txBox="1"/>
          <p:nvPr/>
        </p:nvSpPr>
        <p:spPr>
          <a:xfrm>
            <a:off x="711200" y="16002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9AA8"/>
                </a:solidFill>
                <a:latin typeface="MiSans"/>
                <a:ea typeface="MiSans"/>
              </a:rPr>
              <a:t>Классическое SEO дорожает и теряет эффективность — решения о покупке всё чаще принимают ИИ-ассистенты</a:t>
            </a:r>
            <a:endParaRPr lang="en-US" sz="1300"/>
          </a:p>
        </p:txBody>
      </p:sp>
      <p:sp>
        <p:nvSpPr>
          <p:cNvPr id="6" name="p1-title"/>
          <p:cNvSpPr txBox="1"/>
          <p:nvPr/>
        </p:nvSpPr>
        <p:spPr>
          <a:xfrm>
            <a:off x="711200" y="2159000"/>
            <a:ext cx="513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>
                <a:solidFill>
                  <a:srgbClr val="9A9AA8"/>
                </a:solidFill>
                <a:latin typeface="MiSans"/>
                <a:ea typeface="MiSans"/>
              </a:rPr>
              <a:t>РАНЬШЕ</a:t>
            </a:r>
            <a:endParaRPr lang="en-US" sz="1200"/>
          </a:p>
        </p:txBody>
      </p:sp>
      <p:sp>
        <p:nvSpPr>
          <p:cNvPr id="7" name="p1-box"/>
          <p:cNvSpPr/>
          <p:nvPr/>
        </p:nvSpPr>
        <p:spPr>
          <a:xfrm>
            <a:off x="711200" y="2489200"/>
            <a:ext cx="5130800" cy="19050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p1-list"/>
          <p:cNvSpPr txBox="1"/>
          <p:nvPr/>
        </p:nvSpPr>
        <p:spPr>
          <a:xfrm>
            <a:off x="1016000" y="2743200"/>
            <a:ext cx="45212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250">
                <a:solidFill>
                  <a:srgbClr val="9A9AA8"/>
                </a:solidFill>
                <a:latin typeface="MiSans"/>
                <a:ea typeface="MiSans"/>
              </a:rPr>
              <a:t>· Человек ищет в поисковике сам</a:t>
            </a:r>
            <a:endParaRPr lang="en-US" sz="1250"/>
          </a:p>
          <a:p>
            <a:pPr algn="l">
              <a:lnSpc>
                <a:spcPct val="170000"/>
              </a:lnSpc>
            </a:pPr>
            <a:r>
              <a:rPr lang="en-US" sz="1250">
                <a:solidFill>
                  <a:srgbClr val="9A9AA8"/>
                </a:solidFill>
                <a:latin typeface="MiSans"/>
                <a:ea typeface="MiSans"/>
              </a:rPr>
              <a:t>· Листает десятки ссылок</a:t>
            </a:r>
            <a:endParaRPr lang="en-US" sz="1250"/>
          </a:p>
          <a:p>
            <a:pPr algn="l">
              <a:lnSpc>
                <a:spcPct val="170000"/>
              </a:lnSpc>
            </a:pPr>
            <a:r>
              <a:rPr lang="en-US" sz="1250">
                <a:solidFill>
                  <a:srgbClr val="9A9AA8"/>
                </a:solidFill>
                <a:latin typeface="MiSans"/>
                <a:ea typeface="MiSans"/>
              </a:rPr>
              <a:t>· Сравнивает сайты вручную</a:t>
            </a:r>
            <a:endParaRPr lang="en-US" sz="1250"/>
          </a:p>
          <a:p>
            <a:pPr algn="l">
              <a:lnSpc>
                <a:spcPct val="170000"/>
              </a:lnSpc>
            </a:pPr>
            <a:r>
              <a:rPr lang="en-US" sz="1250">
                <a:solidFill>
                  <a:srgbClr val="9A9AA8"/>
                </a:solidFill>
                <a:latin typeface="MiSans"/>
                <a:ea typeface="MiSans"/>
              </a:rPr>
              <a:t>· Выбирает по рекламе и отзывам</a:t>
            </a:r>
            <a:endParaRPr lang="en-US" sz="1250"/>
          </a:p>
        </p:txBody>
      </p:sp>
      <p:sp>
        <p:nvSpPr>
          <p:cNvPr id="9" name="p2-title"/>
          <p:cNvSpPr txBox="1"/>
          <p:nvPr/>
        </p:nvSpPr>
        <p:spPr>
          <a:xfrm>
            <a:off x="6350000" y="2159000"/>
            <a:ext cx="513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>
                <a:solidFill>
                  <a:srgbClr val="3D6BFF"/>
                </a:solidFill>
                <a:latin typeface="MiSans"/>
                <a:ea typeface="MiSans"/>
              </a:rPr>
              <a:t>СЕЙЧАС</a:t>
            </a:r>
            <a:endParaRPr lang="en-US" sz="1200"/>
          </a:p>
        </p:txBody>
      </p:sp>
      <p:sp>
        <p:nvSpPr>
          <p:cNvPr id="10" name="p2-box"/>
          <p:cNvSpPr/>
          <p:nvPr/>
        </p:nvSpPr>
        <p:spPr>
          <a:xfrm>
            <a:off x="6350000" y="2489200"/>
            <a:ext cx="5130800" cy="1905000"/>
          </a:xfrm>
          <a:prstGeom prst="rect">
            <a:avLst/>
          </a:prstGeom>
          <a:solidFill>
            <a:srgbClr val="13131B"/>
          </a:solidFill>
          <a:ln w="19050">
            <a:solidFill>
              <a:srgbClr val="3D6BFF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p2-list"/>
          <p:cNvSpPr txBox="1"/>
          <p:nvPr/>
        </p:nvSpPr>
        <p:spPr>
          <a:xfrm>
            <a:off x="6654800" y="2743200"/>
            <a:ext cx="45212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250">
                <a:solidFill>
                  <a:srgbClr val="C9C9D4"/>
                </a:solidFill>
                <a:latin typeface="MiSans"/>
                <a:ea typeface="MiSans"/>
              </a:rPr>
              <a:t>· Человек спрашивает нейросеть</a:t>
            </a:r>
            <a:endParaRPr lang="en-US" sz="1250"/>
          </a:p>
          <a:p>
            <a:pPr algn="l">
              <a:lnSpc>
                <a:spcPct val="170000"/>
              </a:lnSpc>
            </a:pPr>
            <a:r>
              <a:rPr lang="en-US" sz="1250">
                <a:solidFill>
                  <a:srgbClr val="C9C9D4"/>
                </a:solidFill>
                <a:latin typeface="MiSans"/>
                <a:ea typeface="MiSans"/>
              </a:rPr>
              <a:t>· Получает 2–3 готовых ответа</a:t>
            </a:r>
            <a:endParaRPr lang="en-US" sz="1250"/>
          </a:p>
          <a:p>
            <a:pPr algn="l">
              <a:lnSpc>
                <a:spcPct val="170000"/>
              </a:lnSpc>
            </a:pPr>
            <a:r>
              <a:rPr lang="en-US" sz="1250">
                <a:solidFill>
                  <a:srgbClr val="C9C9D4"/>
                </a:solidFill>
                <a:latin typeface="MiSans"/>
                <a:ea typeface="MiSans"/>
              </a:rPr>
              <a:t>· Доверяет рекомендации ИИ</a:t>
            </a:r>
            <a:endParaRPr lang="en-US" sz="1250"/>
          </a:p>
          <a:p>
            <a:pPr algn="l">
              <a:lnSpc>
                <a:spcPct val="170000"/>
              </a:lnSpc>
            </a:pPr>
            <a:r>
              <a:rPr lang="en-US" sz="1250">
                <a:solidFill>
                  <a:srgbClr val="C9C9D4"/>
                </a:solidFill>
                <a:latin typeface="MiSans"/>
                <a:ea typeface="MiSans"/>
              </a:rPr>
              <a:t>· Выбирает тех, кого назвала нейросеть</a:t>
            </a:r>
            <a:endParaRPr lang="en-US" sz="1250"/>
          </a:p>
        </p:txBody>
      </p:sp>
      <p:sp>
        <p:nvSpPr>
          <p:cNvPr id="12" name="conclusion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eyJpY29uTmFtZSI6ImZhczphcnJvdy10cmVuZC11cCJ9</pptd:icon>
              </p:ext>
            </p:extLst>
          </p:nvPr>
        </p:nvSpPr>
        <p:spPr>
          <a:xfrm>
            <a:off x="711200" y="54716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60"/>
                </a:moveTo>
                <a:cubicBezTo>
                  <a:pt x="366" y="160"/>
                  <a:pt x="352" y="146"/>
                  <a:pt x="352" y="128"/>
                </a:cubicBezTo>
                <a:cubicBezTo>
                  <a:pt x="352" y="110"/>
                  <a:pt x="366" y="96"/>
                  <a:pt x="384" y="96"/>
                </a:cubicBezTo>
                <a:lnTo>
                  <a:pt x="544" y="96"/>
                </a:lnTo>
                <a:cubicBezTo>
                  <a:pt x="562" y="96"/>
                  <a:pt x="576" y="110"/>
                  <a:pt x="576" y="128"/>
                </a:cubicBezTo>
                <a:lnTo>
                  <a:pt x="576" y="288"/>
                </a:lnTo>
                <a:cubicBezTo>
                  <a:pt x="576" y="306"/>
                  <a:pt x="562" y="320"/>
                  <a:pt x="544" y="320"/>
                </a:cubicBezTo>
                <a:cubicBezTo>
                  <a:pt x="526" y="320"/>
                  <a:pt x="512" y="306"/>
                  <a:pt x="512" y="288"/>
                </a:cubicBezTo>
                <a:lnTo>
                  <a:pt x="512" y="205"/>
                </a:lnTo>
                <a:lnTo>
                  <a:pt x="343" y="375"/>
                </a:lnTo>
                <a:cubicBezTo>
                  <a:pt x="330" y="387"/>
                  <a:pt x="310" y="387"/>
                  <a:pt x="297" y="375"/>
                </a:cubicBezTo>
                <a:lnTo>
                  <a:pt x="192" y="269"/>
                </a:lnTo>
                <a:lnTo>
                  <a:pt x="55" y="407"/>
                </a:lnTo>
                <a:cubicBezTo>
                  <a:pt x="42" y="419"/>
                  <a:pt x="22" y="419"/>
                  <a:pt x="9" y="407"/>
                </a:cubicBezTo>
                <a:cubicBezTo>
                  <a:pt x="-3" y="394"/>
                  <a:pt x="-3" y="374"/>
                  <a:pt x="9" y="361"/>
                </a:cubicBezTo>
                <a:lnTo>
                  <a:pt x="169" y="201"/>
                </a:lnTo>
                <a:cubicBezTo>
                  <a:pt x="182" y="189"/>
                  <a:pt x="202" y="189"/>
                  <a:pt x="215" y="201"/>
                </a:cubicBezTo>
                <a:lnTo>
                  <a:pt x="320" y="307"/>
                </a:lnTo>
                <a:lnTo>
                  <a:pt x="467" y="160"/>
                </a:lnTo>
                <a:lnTo>
                  <a:pt x="384" y="160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conclusion"/>
          <p:cNvSpPr txBox="1"/>
          <p:nvPr/>
        </p:nvSpPr>
        <p:spPr>
          <a:xfrm>
            <a:off x="1193800" y="5435600"/>
            <a:ext cx="1028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 err="1">
                <a:solidFill>
                  <a:srgbClr val="E8453C"/>
                </a:solidFill>
                <a:latin typeface="MiSans"/>
                <a:ea typeface="MiSans"/>
              </a:rPr>
              <a:t>Вывод</a:t>
            </a:r>
            <a:r>
              <a:rPr lang="en-US" sz="1400" b="1" dirty="0">
                <a:solidFill>
                  <a:srgbClr val="E8453C"/>
                </a:solidFill>
                <a:latin typeface="MiSans"/>
                <a:ea typeface="MiSans"/>
              </a:rPr>
              <a:t>: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бизнесу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больше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не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нужно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быть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«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первым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в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поиске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» —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нужно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быть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тем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,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кого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rgbClr val="F5F5F7"/>
                </a:solidFill>
                <a:latin typeface="MiSans"/>
                <a:ea typeface="MiSans"/>
              </a:rPr>
              <a:t>называет</a:t>
            </a:r>
            <a:r>
              <a:rPr lang="en-US" sz="14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rgbClr val="F5F5F7"/>
                </a:solidFill>
                <a:latin typeface="MiSans"/>
                <a:ea typeface="MiSans"/>
              </a:rPr>
              <a:t>нейросеть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. </a:t>
            </a:r>
            <a:br>
              <a:rPr lang="ru-RU" sz="1400" dirty="0">
                <a:solidFill>
                  <a:srgbClr val="F5F5F7"/>
                </a:solidFill>
                <a:latin typeface="MiSans"/>
                <a:ea typeface="MiSans"/>
              </a:rPr>
            </a:b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Именно</a:t>
            </a:r>
            <a:r>
              <a:rPr lang="ru-RU" sz="1400" dirty="0">
                <a:solidFill>
                  <a:srgbClr val="F5F5F7"/>
                </a:solidFill>
                <a:latin typeface="MiSans"/>
                <a:ea typeface="MiSans"/>
              </a:rPr>
              <a:t> с этой задачей успешно справляется </a:t>
            </a:r>
            <a:r>
              <a:rPr lang="ru-RU" sz="1400" dirty="0" err="1">
                <a:solidFill>
                  <a:srgbClr val="F5F5F7"/>
                </a:solidFill>
                <a:latin typeface="MiSans"/>
                <a:ea typeface="MiSans"/>
              </a:rPr>
              <a:t>промптер</a:t>
            </a:r>
            <a:endParaRPr lang="en-US" sz="1400" dirty="0"/>
          </a:p>
        </p:txBody>
      </p:sp>
      <p:sp>
        <p:nvSpPr>
          <p:cNvPr id="1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03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482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 dirty="0">
                <a:solidFill>
                  <a:srgbClr val="F5F5F7"/>
                </a:solidFill>
                <a:latin typeface="MiSans"/>
                <a:ea typeface="MiSans"/>
              </a:rPr>
              <a:t>ПРОДУКТ: </a:t>
            </a:r>
            <a:r>
              <a:rPr lang="ru-RU" sz="2500" b="1" dirty="0">
                <a:solidFill>
                  <a:srgbClr val="E8453C"/>
                </a:solidFill>
                <a:latin typeface="MiSans"/>
                <a:ea typeface="MiSans"/>
              </a:rPr>
              <a:t>КОМПЛЕКСНАЯ ПОМОЩЬ </a:t>
            </a:r>
            <a:r>
              <a:rPr lang="ru-RU" sz="2500" b="1" dirty="0">
                <a:solidFill>
                  <a:schemeClr val="bg1"/>
                </a:solidFill>
                <a:latin typeface="MiSans"/>
                <a:ea typeface="MiSans"/>
              </a:rPr>
              <a:t>БИЗНЕСУ</a:t>
            </a:r>
            <a:r>
              <a:rPr lang="en-US" sz="2500" b="1" dirty="0">
                <a:solidFill>
                  <a:srgbClr val="F5F5F7"/>
                </a:solidFill>
                <a:latin typeface="MiSans"/>
                <a:ea typeface="MiSans"/>
              </a:rPr>
              <a:t> В ОДНОЙ СИСТЕМЕ</a:t>
            </a:r>
            <a:endParaRPr lang="en-US" sz="2500" dirty="0"/>
          </a:p>
        </p:txBody>
      </p:sp>
      <p:sp>
        <p:nvSpPr>
          <p:cNvPr id="4" name="subtitle"/>
          <p:cNvSpPr txBox="1"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Каждый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модуль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решает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свою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задачу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, а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вместе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они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работают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как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полноценное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digital-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агентство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—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только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быстрее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дешевле</a:t>
            </a:r>
            <a:endParaRPr lang="en-US" sz="1300" dirty="0"/>
          </a:p>
        </p:txBody>
      </p:sp>
      <p:sp>
        <p:nvSpPr>
          <p:cNvPr id="5" name="uniq-box"/>
          <p:cNvSpPr/>
          <p:nvPr/>
        </p:nvSpPr>
        <p:spPr>
          <a:xfrm>
            <a:off x="711200" y="1574800"/>
            <a:ext cx="10769600" cy="431800"/>
          </a:xfrm>
          <a:prstGeom prst="rect">
            <a:avLst/>
          </a:prstGeom>
          <a:solidFill>
            <a:srgbClr val="E8453C">
              <a:alpha val="7843"/>
            </a:srgbClr>
          </a:solidFill>
          <a:ln w="12700">
            <a:solidFill>
              <a:srgbClr val="E8453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uniq-text"/>
          <p:cNvSpPr txBox="1"/>
          <p:nvPr/>
        </p:nvSpPr>
        <p:spPr>
          <a:xfrm>
            <a:off x="711200" y="1574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kern="0" spc="100">
                <a:solidFill>
                  <a:srgbClr val="F5F5F7"/>
                </a:solidFill>
                <a:latin typeface="MiSans"/>
                <a:ea typeface="MiSans"/>
              </a:rPr>
              <a:t>УНИКАЛЬНОСТЬ: ПЛАТФОРМА НЕ ТОЛЬКО ГЕНЕРИРУЕТ КОНТЕНТ — ОНА САМА ЕГО ПУБЛИКУЕТ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711200" y="2209800"/>
            <a:ext cx="3454400" cy="16256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c1-bar"/>
          <p:cNvSpPr/>
          <p:nvPr/>
        </p:nvSpPr>
        <p:spPr>
          <a:xfrm>
            <a:off x="711200" y="2209800"/>
            <a:ext cx="38100" cy="16256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" name="c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eyJpY29uTmFtZSI6ImZhczpwZW4tbmliIn0</pptd:icon>
              </p:ext>
            </p:extLst>
          </p:nvPr>
        </p:nvSpPr>
        <p:spPr>
          <a:xfrm>
            <a:off x="965200" y="241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69" y="18"/>
                </a:moveTo>
                <a:lnTo>
                  <a:pt x="318" y="68"/>
                </a:lnTo>
                <a:lnTo>
                  <a:pt x="444" y="194"/>
                </a:lnTo>
                <a:lnTo>
                  <a:pt x="494" y="144"/>
                </a:lnTo>
                <a:cubicBezTo>
                  <a:pt x="516" y="122"/>
                  <a:pt x="516" y="86"/>
                  <a:pt x="494" y="64"/>
                </a:cubicBezTo>
                <a:lnTo>
                  <a:pt x="448" y="18"/>
                </a:lnTo>
                <a:cubicBezTo>
                  <a:pt x="426" y="-4"/>
                  <a:pt x="390" y="-4"/>
                  <a:pt x="369" y="18"/>
                </a:cubicBezTo>
                <a:close/>
                <a:moveTo>
                  <a:pt x="279" y="97"/>
                </a:moveTo>
                <a:lnTo>
                  <a:pt x="279" y="97"/>
                </a:lnTo>
                <a:lnTo>
                  <a:pt x="135" y="141"/>
                </a:lnTo>
                <a:cubicBezTo>
                  <a:pt x="115" y="147"/>
                  <a:pt x="99" y="162"/>
                  <a:pt x="92" y="182"/>
                </a:cubicBezTo>
                <a:lnTo>
                  <a:pt x="4" y="446"/>
                </a:lnTo>
                <a:cubicBezTo>
                  <a:pt x="1" y="455"/>
                  <a:pt x="2" y="464"/>
                  <a:pt x="6" y="472"/>
                </a:cubicBezTo>
                <a:lnTo>
                  <a:pt x="162" y="316"/>
                </a:lnTo>
                <a:cubicBezTo>
                  <a:pt x="161" y="312"/>
                  <a:pt x="160" y="308"/>
                  <a:pt x="160" y="304"/>
                </a:cubicBezTo>
                <a:cubicBezTo>
                  <a:pt x="160" y="278"/>
                  <a:pt x="182" y="256"/>
                  <a:pt x="208" y="256"/>
                </a:cubicBezTo>
                <a:cubicBezTo>
                  <a:pt x="235" y="256"/>
                  <a:pt x="256" y="278"/>
                  <a:pt x="256" y="304"/>
                </a:cubicBezTo>
                <a:cubicBezTo>
                  <a:pt x="256" y="331"/>
                  <a:pt x="235" y="352"/>
                  <a:pt x="208" y="352"/>
                </a:cubicBezTo>
                <a:cubicBezTo>
                  <a:pt x="204" y="352"/>
                  <a:pt x="200" y="351"/>
                  <a:pt x="196" y="350"/>
                </a:cubicBezTo>
                <a:lnTo>
                  <a:pt x="40" y="506"/>
                </a:lnTo>
                <a:cubicBezTo>
                  <a:pt x="48" y="510"/>
                  <a:pt x="58" y="511"/>
                  <a:pt x="66" y="508"/>
                </a:cubicBezTo>
                <a:lnTo>
                  <a:pt x="331" y="420"/>
                </a:lnTo>
                <a:cubicBezTo>
                  <a:pt x="350" y="413"/>
                  <a:pt x="366" y="397"/>
                  <a:pt x="372" y="377"/>
                </a:cubicBezTo>
                <a:lnTo>
                  <a:pt x="415" y="233"/>
                </a:lnTo>
                <a:lnTo>
                  <a:pt x="415" y="233"/>
                </a:lnTo>
                <a:lnTo>
                  <a:pt x="279" y="9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c1-title"/>
          <p:cNvSpPr txBox="1"/>
          <p:nvPr/>
        </p:nvSpPr>
        <p:spPr>
          <a:xfrm>
            <a:off x="13970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AI-КОПИРАЙТЕР</a:t>
            </a:r>
            <a:endParaRPr lang="en-US" sz="1350"/>
          </a:p>
        </p:txBody>
      </p:sp>
      <p:sp>
        <p:nvSpPr>
          <p:cNvPr id="11" name="c1-desc"/>
          <p:cNvSpPr txBox="1"/>
          <p:nvPr/>
        </p:nvSpPr>
        <p:spPr>
          <a:xfrm>
            <a:off x="965200" y="28956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Создаёт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экспертный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контент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о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продукте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клиента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в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его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tone of voice</a:t>
            </a:r>
            <a:endParaRPr lang="en-US" sz="1100" dirty="0"/>
          </a:p>
        </p:txBody>
      </p:sp>
      <p:sp>
        <p:nvSpPr>
          <p:cNvPr id="12" name="c2"/>
          <p:cNvSpPr/>
          <p:nvPr/>
        </p:nvSpPr>
        <p:spPr>
          <a:xfrm>
            <a:off x="4368800" y="2209800"/>
            <a:ext cx="3454400" cy="16256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c2-bar"/>
          <p:cNvSpPr/>
          <p:nvPr/>
        </p:nvSpPr>
        <p:spPr>
          <a:xfrm>
            <a:off x="4368800" y="2209800"/>
            <a:ext cx="38100" cy="16256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" name="c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4622800" y="241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5" name="c2-title"/>
          <p:cNvSpPr txBox="1"/>
          <p:nvPr/>
        </p:nvSpPr>
        <p:spPr>
          <a:xfrm>
            <a:off x="50546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AI-МОДЕРАТОР</a:t>
            </a:r>
            <a:endParaRPr lang="en-US" sz="1350"/>
          </a:p>
        </p:txBody>
      </p:sp>
      <p:sp>
        <p:nvSpPr>
          <p:cNvPr id="16" name="c2-desc"/>
          <p:cNvSpPr txBox="1"/>
          <p:nvPr/>
        </p:nvSpPr>
        <p:spPr>
          <a:xfrm>
            <a:off x="4622800" y="28956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Проверяет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каждый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материал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перед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публикацией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формирует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контент-план</a:t>
            </a:r>
            <a:endParaRPr lang="en-US" sz="1100" dirty="0"/>
          </a:p>
        </p:txBody>
      </p:sp>
      <p:sp>
        <p:nvSpPr>
          <p:cNvPr id="17" name="c3"/>
          <p:cNvSpPr/>
          <p:nvPr/>
        </p:nvSpPr>
        <p:spPr>
          <a:xfrm>
            <a:off x="8026400" y="2209800"/>
            <a:ext cx="3454400" cy="16256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c3-bar"/>
          <p:cNvSpPr/>
          <p:nvPr/>
        </p:nvSpPr>
        <p:spPr>
          <a:xfrm>
            <a:off x="8026400" y="2209800"/>
            <a:ext cx="38100" cy="16256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9" name="c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eyJpY29uTmFtZSI6ImZhczpjaGVzcyJ9</pptd:icon>
              </p:ext>
            </p:extLst>
          </p:nvPr>
        </p:nvSpPr>
        <p:spPr>
          <a:xfrm>
            <a:off x="8280400" y="241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68" y="56"/>
                </a:moveTo>
                <a:lnTo>
                  <a:pt x="168" y="96"/>
                </a:lnTo>
                <a:lnTo>
                  <a:pt x="90" y="96"/>
                </a:lnTo>
                <a:cubicBezTo>
                  <a:pt x="76" y="96"/>
                  <a:pt x="64" y="108"/>
                  <a:pt x="64" y="122"/>
                </a:cubicBezTo>
                <a:cubicBezTo>
                  <a:pt x="64" y="126"/>
                  <a:pt x="65" y="130"/>
                  <a:pt x="67" y="134"/>
                </a:cubicBezTo>
                <a:lnTo>
                  <a:pt x="100" y="200"/>
                </a:lnTo>
                <a:cubicBezTo>
                  <a:pt x="89" y="202"/>
                  <a:pt x="80" y="212"/>
                  <a:pt x="80" y="224"/>
                </a:cubicBezTo>
                <a:cubicBezTo>
                  <a:pt x="80" y="237"/>
                  <a:pt x="91" y="248"/>
                  <a:pt x="104" y="248"/>
                </a:cubicBezTo>
                <a:lnTo>
                  <a:pt x="109" y="248"/>
                </a:lnTo>
                <a:lnTo>
                  <a:pt x="96" y="384"/>
                </a:lnTo>
                <a:lnTo>
                  <a:pt x="40" y="454"/>
                </a:lnTo>
                <a:cubicBezTo>
                  <a:pt x="35" y="461"/>
                  <a:pt x="32" y="468"/>
                  <a:pt x="32" y="477"/>
                </a:cubicBezTo>
                <a:cubicBezTo>
                  <a:pt x="32" y="496"/>
                  <a:pt x="48" y="512"/>
                  <a:pt x="67" y="512"/>
                </a:cubicBezTo>
                <a:lnTo>
                  <a:pt x="316" y="512"/>
                </a:lnTo>
                <a:cubicBezTo>
                  <a:pt x="336" y="512"/>
                  <a:pt x="352" y="496"/>
                  <a:pt x="352" y="477"/>
                </a:cubicBezTo>
                <a:cubicBezTo>
                  <a:pt x="352" y="468"/>
                  <a:pt x="349" y="461"/>
                  <a:pt x="344" y="454"/>
                </a:cubicBezTo>
                <a:lnTo>
                  <a:pt x="288" y="384"/>
                </a:lnTo>
                <a:lnTo>
                  <a:pt x="274" y="248"/>
                </a:lnTo>
                <a:lnTo>
                  <a:pt x="280" y="248"/>
                </a:lnTo>
                <a:cubicBezTo>
                  <a:pt x="293" y="248"/>
                  <a:pt x="304" y="237"/>
                  <a:pt x="304" y="224"/>
                </a:cubicBezTo>
                <a:cubicBezTo>
                  <a:pt x="304" y="212"/>
                  <a:pt x="295" y="202"/>
                  <a:pt x="284" y="200"/>
                </a:cubicBezTo>
                <a:lnTo>
                  <a:pt x="317" y="134"/>
                </a:lnTo>
                <a:cubicBezTo>
                  <a:pt x="319" y="130"/>
                  <a:pt x="320" y="126"/>
                  <a:pt x="320" y="122"/>
                </a:cubicBezTo>
                <a:cubicBezTo>
                  <a:pt x="320" y="108"/>
                  <a:pt x="308" y="96"/>
                  <a:pt x="294" y="96"/>
                </a:cubicBezTo>
                <a:lnTo>
                  <a:pt x="216" y="96"/>
                </a:lnTo>
                <a:lnTo>
                  <a:pt x="216" y="56"/>
                </a:lnTo>
                <a:lnTo>
                  <a:pt x="232" y="56"/>
                </a:lnTo>
                <a:cubicBezTo>
                  <a:pt x="245" y="56"/>
                  <a:pt x="256" y="45"/>
                  <a:pt x="256" y="32"/>
                </a:cubicBezTo>
                <a:cubicBezTo>
                  <a:pt x="256" y="19"/>
                  <a:pt x="245" y="8"/>
                  <a:pt x="232" y="8"/>
                </a:cubicBezTo>
                <a:lnTo>
                  <a:pt x="216" y="8"/>
                </a:lnTo>
                <a:lnTo>
                  <a:pt x="216" y="-8"/>
                </a:lnTo>
                <a:cubicBezTo>
                  <a:pt x="216" y="-21"/>
                  <a:pt x="205" y="-32"/>
                  <a:pt x="192" y="-32"/>
                </a:cubicBezTo>
                <a:cubicBezTo>
                  <a:pt x="179" y="-32"/>
                  <a:pt x="168" y="-21"/>
                  <a:pt x="168" y="-8"/>
                </a:cubicBezTo>
                <a:lnTo>
                  <a:pt x="168" y="8"/>
                </a:lnTo>
                <a:lnTo>
                  <a:pt x="152" y="8"/>
                </a:lnTo>
                <a:cubicBezTo>
                  <a:pt x="139" y="8"/>
                  <a:pt x="128" y="19"/>
                  <a:pt x="128" y="32"/>
                </a:cubicBezTo>
                <a:cubicBezTo>
                  <a:pt x="128" y="45"/>
                  <a:pt x="139" y="56"/>
                  <a:pt x="152" y="56"/>
                </a:cubicBezTo>
                <a:lnTo>
                  <a:pt x="168" y="56"/>
                </a:lnTo>
                <a:close/>
                <a:moveTo>
                  <a:pt x="326" y="280"/>
                </a:moveTo>
                <a:lnTo>
                  <a:pt x="334" y="365"/>
                </a:lnTo>
                <a:lnTo>
                  <a:pt x="382" y="424"/>
                </a:lnTo>
                <a:lnTo>
                  <a:pt x="386" y="430"/>
                </a:lnTo>
                <a:cubicBezTo>
                  <a:pt x="395" y="444"/>
                  <a:pt x="400" y="460"/>
                  <a:pt x="400" y="477"/>
                </a:cubicBezTo>
                <a:cubicBezTo>
                  <a:pt x="400" y="489"/>
                  <a:pt x="397" y="501"/>
                  <a:pt x="392" y="512"/>
                </a:cubicBezTo>
                <a:lnTo>
                  <a:pt x="475" y="512"/>
                </a:lnTo>
                <a:cubicBezTo>
                  <a:pt x="496" y="512"/>
                  <a:pt x="512" y="496"/>
                  <a:pt x="512" y="475"/>
                </a:cubicBezTo>
                <a:cubicBezTo>
                  <a:pt x="512" y="468"/>
                  <a:pt x="510" y="461"/>
                  <a:pt x="506" y="455"/>
                </a:cubicBezTo>
                <a:lnTo>
                  <a:pt x="480" y="416"/>
                </a:lnTo>
                <a:lnTo>
                  <a:pt x="480" y="352"/>
                </a:lnTo>
                <a:lnTo>
                  <a:pt x="493" y="339"/>
                </a:lnTo>
                <a:cubicBezTo>
                  <a:pt x="505" y="327"/>
                  <a:pt x="512" y="311"/>
                  <a:pt x="512" y="294"/>
                </a:cubicBezTo>
                <a:lnTo>
                  <a:pt x="512" y="192"/>
                </a:lnTo>
                <a:cubicBezTo>
                  <a:pt x="512" y="174"/>
                  <a:pt x="498" y="160"/>
                  <a:pt x="480" y="160"/>
                </a:cubicBezTo>
                <a:cubicBezTo>
                  <a:pt x="462" y="160"/>
                  <a:pt x="448" y="174"/>
                  <a:pt x="448" y="192"/>
                </a:cubicBezTo>
                <a:lnTo>
                  <a:pt x="448" y="208"/>
                </a:lnTo>
                <a:lnTo>
                  <a:pt x="416" y="208"/>
                </a:lnTo>
                <a:lnTo>
                  <a:pt x="416" y="192"/>
                </a:lnTo>
                <a:cubicBezTo>
                  <a:pt x="416" y="174"/>
                  <a:pt x="402" y="160"/>
                  <a:pt x="384" y="160"/>
                </a:cubicBezTo>
                <a:cubicBezTo>
                  <a:pt x="366" y="160"/>
                  <a:pt x="352" y="174"/>
                  <a:pt x="352" y="192"/>
                </a:cubicBezTo>
                <a:lnTo>
                  <a:pt x="352" y="224"/>
                </a:lnTo>
                <a:cubicBezTo>
                  <a:pt x="352" y="246"/>
                  <a:pt x="342" y="266"/>
                  <a:pt x="326" y="28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0" name="c3-title"/>
          <p:cNvSpPr txBox="1"/>
          <p:nvPr/>
        </p:nvSpPr>
        <p:spPr>
          <a:xfrm>
            <a:off x="87122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AI-СТРАТЕГ</a:t>
            </a:r>
            <a:endParaRPr lang="en-US" sz="1350"/>
          </a:p>
        </p:txBody>
      </p:sp>
      <p:sp>
        <p:nvSpPr>
          <p:cNvPr id="21" name="c3-desc"/>
          <p:cNvSpPr txBox="1"/>
          <p:nvPr/>
        </p:nvSpPr>
        <p:spPr>
          <a:xfrm>
            <a:off x="8280400" y="28956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Строит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стратегию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продвижения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в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нейровыдаче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под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нишу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клиента</a:t>
            </a:r>
            <a:endParaRPr lang="en-US" sz="1100" dirty="0"/>
          </a:p>
        </p:txBody>
      </p:sp>
      <p:sp>
        <p:nvSpPr>
          <p:cNvPr id="22" name="c4"/>
          <p:cNvSpPr/>
          <p:nvPr/>
        </p:nvSpPr>
        <p:spPr>
          <a:xfrm>
            <a:off x="711200" y="4038600"/>
            <a:ext cx="3454400" cy="16256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c4-bar"/>
          <p:cNvSpPr/>
          <p:nvPr/>
        </p:nvSpPr>
        <p:spPr>
          <a:xfrm>
            <a:off x="711200" y="4038600"/>
            <a:ext cx="38100" cy="16256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4" name="c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eyJpY29uTmFtZSI6ImZhczpjaGFydC1waWUifQ</pptd:icon>
              </p:ext>
            </p:extLst>
          </p:nvPr>
        </p:nvSpPr>
        <p:spPr>
          <a:xfrm>
            <a:off x="965200" y="4241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5" name="c4-title"/>
          <p:cNvSpPr txBox="1"/>
          <p:nvPr/>
        </p:nvSpPr>
        <p:spPr>
          <a:xfrm>
            <a:off x="13970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МОДУЛЬ АНАЛИТИКИ</a:t>
            </a:r>
            <a:endParaRPr lang="en-US" sz="1350"/>
          </a:p>
        </p:txBody>
      </p:sp>
      <p:sp>
        <p:nvSpPr>
          <p:cNvPr id="26" name="c4-desc"/>
          <p:cNvSpPr txBox="1"/>
          <p:nvPr/>
        </p:nvSpPr>
        <p:spPr>
          <a:xfrm>
            <a:off x="965200" y="47244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Отслеживает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присутствие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бренда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в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нейросетях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поисковых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системах</a:t>
            </a:r>
            <a:endParaRPr lang="en-US" sz="1100" dirty="0"/>
          </a:p>
        </p:txBody>
      </p:sp>
      <p:sp>
        <p:nvSpPr>
          <p:cNvPr id="27" name="c5"/>
          <p:cNvSpPr/>
          <p:nvPr/>
        </p:nvSpPr>
        <p:spPr>
          <a:xfrm>
            <a:off x="4368800" y="4038600"/>
            <a:ext cx="3454400" cy="16256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8" name="c5-bar"/>
          <p:cNvSpPr/>
          <p:nvPr/>
        </p:nvSpPr>
        <p:spPr>
          <a:xfrm>
            <a:off x="4368800" y="4038600"/>
            <a:ext cx="38100" cy="16256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c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eyJpY29uTmFtZSI6ImZhczptaWNyb3Njb3BlIn0</pptd:icon>
              </p:ext>
            </p:extLst>
          </p:nvPr>
        </p:nvSpPr>
        <p:spPr>
          <a:xfrm>
            <a:off x="4622800" y="4241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0"/>
                </a:moveTo>
                <a:cubicBezTo>
                  <a:pt x="150" y="0"/>
                  <a:pt x="128" y="22"/>
                  <a:pt x="128" y="48"/>
                </a:cubicBezTo>
                <a:lnTo>
                  <a:pt x="128" y="256"/>
                </a:lnTo>
                <a:cubicBezTo>
                  <a:pt x="128" y="283"/>
                  <a:pt x="150" y="304"/>
                  <a:pt x="176" y="304"/>
                </a:cubicBezTo>
                <a:lnTo>
                  <a:pt x="240" y="304"/>
                </a:lnTo>
                <a:cubicBezTo>
                  <a:pt x="267" y="304"/>
                  <a:pt x="288" y="283"/>
                  <a:pt x="288" y="256"/>
                </a:cubicBezTo>
                <a:lnTo>
                  <a:pt x="288" y="192"/>
                </a:lnTo>
                <a:lnTo>
                  <a:pt x="320" y="192"/>
                </a:lnTo>
                <a:cubicBezTo>
                  <a:pt x="391" y="192"/>
                  <a:pt x="448" y="249"/>
                  <a:pt x="448" y="320"/>
                </a:cubicBezTo>
                <a:cubicBezTo>
                  <a:pt x="448" y="391"/>
                  <a:pt x="391" y="448"/>
                  <a:pt x="320" y="448"/>
                </a:cubicBezTo>
                <a:lnTo>
                  <a:pt x="32" y="448"/>
                </a:lnTo>
                <a:cubicBezTo>
                  <a:pt x="14" y="448"/>
                  <a:pt x="0" y="462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62"/>
                  <a:pt x="498" y="448"/>
                  <a:pt x="480" y="448"/>
                </a:cubicBezTo>
                <a:lnTo>
                  <a:pt x="463" y="448"/>
                </a:lnTo>
                <a:cubicBezTo>
                  <a:pt x="494" y="414"/>
                  <a:pt x="512" y="369"/>
                  <a:pt x="512" y="320"/>
                </a:cubicBezTo>
                <a:cubicBezTo>
                  <a:pt x="512" y="214"/>
                  <a:pt x="426" y="128"/>
                  <a:pt x="320" y="128"/>
                </a:cubicBezTo>
                <a:lnTo>
                  <a:pt x="288" y="128"/>
                </a:lnTo>
                <a:lnTo>
                  <a:pt x="288" y="48"/>
                </a:lnTo>
                <a:cubicBezTo>
                  <a:pt x="288" y="22"/>
                  <a:pt x="267" y="0"/>
                  <a:pt x="240" y="0"/>
                </a:cubicBezTo>
                <a:lnTo>
                  <a:pt x="176" y="0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96" y="400"/>
                </a:lnTo>
                <a:cubicBezTo>
                  <a:pt x="309" y="400"/>
                  <a:pt x="320" y="389"/>
                  <a:pt x="320" y="376"/>
                </a:cubicBezTo>
                <a:cubicBezTo>
                  <a:pt x="320" y="363"/>
                  <a:pt x="309" y="352"/>
                  <a:pt x="296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0" name="c5-title"/>
          <p:cNvSpPr txBox="1"/>
          <p:nvPr/>
        </p:nvSpPr>
        <p:spPr>
          <a:xfrm>
            <a:off x="50546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AI-ИССЛЕДОВАТЕЛЬ</a:t>
            </a:r>
            <a:endParaRPr lang="en-US" sz="1350"/>
          </a:p>
        </p:txBody>
      </p:sp>
      <p:sp>
        <p:nvSpPr>
          <p:cNvPr id="31" name="c5-desc"/>
          <p:cNvSpPr txBox="1"/>
          <p:nvPr/>
        </p:nvSpPr>
        <p:spPr>
          <a:xfrm>
            <a:off x="4622800" y="47244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Анализирует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конкурентов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целевую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аудиторию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в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нише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клиента</a:t>
            </a:r>
            <a:endParaRPr lang="en-US" sz="1100" dirty="0"/>
          </a:p>
        </p:txBody>
      </p:sp>
      <p:sp>
        <p:nvSpPr>
          <p:cNvPr id="32" name="c6"/>
          <p:cNvSpPr/>
          <p:nvPr/>
        </p:nvSpPr>
        <p:spPr>
          <a:xfrm>
            <a:off x="8026400" y="4038600"/>
            <a:ext cx="3454400" cy="16256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3" name="c6-bar"/>
          <p:cNvSpPr/>
          <p:nvPr/>
        </p:nvSpPr>
        <p:spPr>
          <a:xfrm>
            <a:off x="8026400" y="4038600"/>
            <a:ext cx="38100" cy="16256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4" name="c6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eyJpY29uTmFtZSI6ImZhczpwYWxldHRlIn0</pptd:icon>
              </p:ext>
            </p:extLst>
          </p:nvPr>
        </p:nvSpPr>
        <p:spPr>
          <a:xfrm>
            <a:off x="8280400" y="4241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256"/>
                </a:moveTo>
                <a:cubicBezTo>
                  <a:pt x="512" y="257"/>
                  <a:pt x="512" y="258"/>
                  <a:pt x="512" y="259"/>
                </a:cubicBezTo>
                <a:cubicBezTo>
                  <a:pt x="512" y="295"/>
                  <a:pt x="478" y="320"/>
                  <a:pt x="442" y="320"/>
                </a:cubicBezTo>
                <a:lnTo>
                  <a:pt x="344" y="320"/>
                </a:lnTo>
                <a:cubicBezTo>
                  <a:pt x="318" y="320"/>
                  <a:pt x="296" y="342"/>
                  <a:pt x="296" y="368"/>
                </a:cubicBezTo>
                <a:cubicBezTo>
                  <a:pt x="296" y="371"/>
                  <a:pt x="296" y="375"/>
                  <a:pt x="297" y="378"/>
                </a:cubicBezTo>
                <a:cubicBezTo>
                  <a:pt x="299" y="388"/>
                  <a:pt x="304" y="398"/>
                  <a:pt x="308" y="408"/>
                </a:cubicBezTo>
                <a:cubicBezTo>
                  <a:pt x="314" y="422"/>
                  <a:pt x="320" y="435"/>
                  <a:pt x="320" y="450"/>
                </a:cubicBezTo>
                <a:cubicBezTo>
                  <a:pt x="320" y="482"/>
                  <a:pt x="298" y="510"/>
                  <a:pt x="267" y="512"/>
                </a:cubicBezTo>
                <a:cubicBezTo>
                  <a:pt x="263" y="512"/>
                  <a:pt x="260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lose/>
                <a:moveTo>
                  <a:pt x="128" y="288"/>
                </a:moveTo>
                <a:cubicBezTo>
                  <a:pt x="128" y="270"/>
                  <a:pt x="114" y="256"/>
                  <a:pt x="96" y="256"/>
                </a:cubicBezTo>
                <a:cubicBezTo>
                  <a:pt x="78" y="256"/>
                  <a:pt x="64" y="270"/>
                  <a:pt x="64" y="288"/>
                </a:cubicBezTo>
                <a:cubicBezTo>
                  <a:pt x="64" y="306"/>
                  <a:pt x="78" y="320"/>
                  <a:pt x="96" y="320"/>
                </a:cubicBezTo>
                <a:cubicBezTo>
                  <a:pt x="114" y="320"/>
                  <a:pt x="128" y="306"/>
                  <a:pt x="128" y="288"/>
                </a:cubicBezTo>
                <a:close/>
                <a:moveTo>
                  <a:pt x="128" y="192"/>
                </a:moveTo>
                <a:cubicBezTo>
                  <a:pt x="146" y="192"/>
                  <a:pt x="160" y="178"/>
                  <a:pt x="160" y="160"/>
                </a:cubicBez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384" y="192"/>
                </a:moveTo>
                <a:cubicBezTo>
                  <a:pt x="402" y="192"/>
                  <a:pt x="416" y="178"/>
                  <a:pt x="416" y="160"/>
                </a:cubicBezTo>
                <a:cubicBezTo>
                  <a:pt x="416" y="142"/>
                  <a:pt x="402" y="128"/>
                  <a:pt x="384" y="128"/>
                </a:cubicBezTo>
                <a:cubicBezTo>
                  <a:pt x="366" y="128"/>
                  <a:pt x="352" y="142"/>
                  <a:pt x="352" y="160"/>
                </a:cubicBezTo>
                <a:cubicBezTo>
                  <a:pt x="352" y="178"/>
                  <a:pt x="366" y="192"/>
                  <a:pt x="384" y="192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5" name="c6-title"/>
          <p:cNvSpPr txBox="1"/>
          <p:nvPr/>
        </p:nvSpPr>
        <p:spPr>
          <a:xfrm>
            <a:off x="87122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AI-ДИЗАЙНЕР</a:t>
            </a:r>
            <a:endParaRPr lang="en-US" sz="1350"/>
          </a:p>
        </p:txBody>
      </p:sp>
      <p:sp>
        <p:nvSpPr>
          <p:cNvPr id="36" name="c6-desc"/>
          <p:cNvSpPr txBox="1"/>
          <p:nvPr/>
        </p:nvSpPr>
        <p:spPr>
          <a:xfrm>
            <a:off x="8280400" y="47244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Готовит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визуал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,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фирменные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обложки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оформление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для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каждой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публикации</a:t>
            </a:r>
            <a:endParaRPr lang="en-US" sz="1100" dirty="0"/>
          </a:p>
        </p:txBody>
      </p:sp>
      <p:sp>
        <p:nvSpPr>
          <p:cNvPr id="37" name="bottom-note"/>
          <p:cNvSpPr txBox="1"/>
          <p:nvPr/>
        </p:nvSpPr>
        <p:spPr>
          <a:xfrm>
            <a:off x="711200" y="5892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Все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модули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работают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как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единая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система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—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от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идеи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до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публикации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без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участия</a:t>
            </a:r>
            <a:r>
              <a:rPr lang="en-US" sz="120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клиента</a:t>
            </a:r>
            <a:endParaRPr lang="en-US" sz="1200" dirty="0"/>
          </a:p>
        </p:txBody>
      </p:sp>
      <p:sp>
        <p:nvSpPr>
          <p:cNvPr id="38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04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1210"/>
            </a:gs>
            <a:gs pos="50000">
              <a:srgbClr val="0A0A0E"/>
            </a:gs>
            <a:gs pos="100000">
              <a:srgbClr val="101A4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3" name="kicker"/>
          <p:cNvSpPr txBox="1"/>
          <p:nvPr/>
        </p:nvSpPr>
        <p:spPr>
          <a:xfrm>
            <a:off x="711200" y="71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400">
                <a:solidFill>
                  <a:srgbClr val="E8453C"/>
                </a:solidFill>
                <a:latin typeface="MiSans"/>
                <a:ea typeface="MiSans"/>
              </a:rPr>
              <a:t>КЛЮЧЕВАЯ ТЕХНОЛОГИЯ</a:t>
            </a:r>
            <a:endParaRPr lang="en-US" sz="1200"/>
          </a:p>
        </p:txBody>
      </p:sp>
      <p:sp>
        <p:nvSpPr>
          <p:cNvPr id="4" name="bigtitle"/>
          <p:cNvSpPr txBox="1"/>
          <p:nvPr/>
        </p:nvSpPr>
        <p:spPr>
          <a:xfrm>
            <a:off x="711200" y="10668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>
                <a:solidFill>
                  <a:srgbClr val="F5F5F7"/>
                </a:solidFill>
                <a:latin typeface="MiSans"/>
                <a:ea typeface="MiSans"/>
              </a:rPr>
              <a:t>НЕ ПРОСТО ГЕНЕРИРУЕТ —</a:t>
            </a:r>
            <a:endParaRPr lang="en-US" sz="3800"/>
          </a:p>
          <a:p>
            <a:pPr algn="l">
              <a:lnSpc>
                <a:spcPct val="118000"/>
              </a:lnSpc>
            </a:pPr>
            <a:r>
              <a:rPr lang="en-US" sz="3800" b="1">
                <a:solidFill>
                  <a:srgbClr val="3D6BFF"/>
                </a:solidFill>
                <a:latin typeface="MiSans"/>
                <a:ea typeface="MiSans"/>
              </a:rPr>
              <a:t>САМА ПУБЛИКУЕТ</a:t>
            </a:r>
            <a:endParaRPr lang="en-US" sz="3800"/>
          </a:p>
        </p:txBody>
      </p:sp>
      <p:sp>
        <p:nvSpPr>
          <p:cNvPr id="5" name="title-rule"/>
          <p:cNvSpPr/>
          <p:nvPr/>
        </p:nvSpPr>
        <p:spPr>
          <a:xfrm>
            <a:off x="711200" y="2540000"/>
            <a:ext cx="6096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body"/>
          <p:cNvSpPr txBox="1"/>
          <p:nvPr/>
        </p:nvSpPr>
        <p:spPr>
          <a:xfrm>
            <a:off x="711200" y="27686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C9C9D4"/>
                </a:solidFill>
                <a:latin typeface="MiSans"/>
                <a:ea typeface="MiSans"/>
              </a:rPr>
              <a:t>Технология Промптера берёт на себя полный цикл GEO- и SEO-продвижения: создаёт контент о бизнесе клиента и автоматически публикует его на шести площадках. Цифровой след наращивается каждый день — его считывают нейросети и поисковики.</a:t>
            </a:r>
            <a:endParaRPr lang="en-US" sz="1400"/>
          </a:p>
        </p:txBody>
      </p:sp>
      <p:sp>
        <p:nvSpPr>
          <p:cNvPr id="9" name="chip1"/>
          <p:cNvSpPr/>
          <p:nvPr/>
        </p:nvSpPr>
        <p:spPr>
          <a:xfrm>
            <a:off x="711200" y="4724400"/>
            <a:ext cx="2489200" cy="736600"/>
          </a:xfrm>
          <a:prstGeom prst="rect">
            <a:avLst/>
          </a:prstGeom>
          <a:solidFill>
            <a:srgbClr val="13131B">
              <a:alpha val="80000"/>
            </a:srgbClr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chip1-num"/>
          <p:cNvSpPr txBox="1"/>
          <p:nvPr/>
        </p:nvSpPr>
        <p:spPr>
          <a:xfrm>
            <a:off x="9144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9AA8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11" name="chip1-text"/>
          <p:cNvSpPr txBox="1"/>
          <p:nvPr/>
        </p:nvSpPr>
        <p:spPr>
          <a:xfrm>
            <a:off x="9144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5F5F7"/>
                </a:solidFill>
                <a:latin typeface="MiSans"/>
                <a:ea typeface="MiSans"/>
              </a:rPr>
              <a:t>Генерация контента</a:t>
            </a:r>
            <a:endParaRPr lang="en-US" sz="1250"/>
          </a:p>
        </p:txBody>
      </p:sp>
      <p:sp>
        <p:nvSpPr>
          <p:cNvPr id="12" name="arrow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33274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9AA8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chip2"/>
          <p:cNvSpPr/>
          <p:nvPr/>
        </p:nvSpPr>
        <p:spPr>
          <a:xfrm>
            <a:off x="3683000" y="4724400"/>
            <a:ext cx="2489200" cy="736600"/>
          </a:xfrm>
          <a:prstGeom prst="rect">
            <a:avLst/>
          </a:prstGeom>
          <a:solidFill>
            <a:srgbClr val="13131B">
              <a:alpha val="80000"/>
            </a:srgbClr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chip2-num"/>
          <p:cNvSpPr txBox="1"/>
          <p:nvPr/>
        </p:nvSpPr>
        <p:spPr>
          <a:xfrm>
            <a:off x="38862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9AA8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5" name="chip2-text"/>
          <p:cNvSpPr txBox="1"/>
          <p:nvPr/>
        </p:nvSpPr>
        <p:spPr>
          <a:xfrm>
            <a:off x="38862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5F5F7"/>
                </a:solidFill>
                <a:latin typeface="MiSans"/>
                <a:ea typeface="MiSans"/>
              </a:rPr>
              <a:t>Модерация ИИ</a:t>
            </a:r>
            <a:endParaRPr lang="en-US" sz="1250"/>
          </a:p>
        </p:txBody>
      </p:sp>
      <p:sp>
        <p:nvSpPr>
          <p:cNvPr id="16" name="arrow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62992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9AA8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7" name="chip3"/>
          <p:cNvSpPr/>
          <p:nvPr/>
        </p:nvSpPr>
        <p:spPr>
          <a:xfrm>
            <a:off x="6654800" y="4724400"/>
            <a:ext cx="2489200" cy="7366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8" name="chip3-num"/>
          <p:cNvSpPr txBox="1"/>
          <p:nvPr/>
        </p:nvSpPr>
        <p:spPr>
          <a:xfrm>
            <a:off x="68580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03</a:t>
            </a:r>
            <a:endParaRPr lang="en-US" sz="1000"/>
          </a:p>
        </p:txBody>
      </p:sp>
      <p:sp>
        <p:nvSpPr>
          <p:cNvPr id="19" name="chip3-text"/>
          <p:cNvSpPr txBox="1"/>
          <p:nvPr/>
        </p:nvSpPr>
        <p:spPr>
          <a:xfrm>
            <a:off x="68580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5F5F7"/>
                </a:solidFill>
                <a:latin typeface="MiSans"/>
                <a:ea typeface="MiSans"/>
              </a:rPr>
              <a:t>АВТОПУБЛИКАЦИЯ</a:t>
            </a:r>
            <a:endParaRPr lang="en-US" sz="1250"/>
          </a:p>
        </p:txBody>
      </p:sp>
      <p:sp>
        <p:nvSpPr>
          <p:cNvPr id="20" name="arrow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92710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9AA8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1" name="chip4"/>
          <p:cNvSpPr/>
          <p:nvPr/>
        </p:nvSpPr>
        <p:spPr>
          <a:xfrm>
            <a:off x="9626600" y="4724400"/>
            <a:ext cx="2489200" cy="736600"/>
          </a:xfrm>
          <a:prstGeom prst="rect">
            <a:avLst/>
          </a:prstGeom>
          <a:solidFill>
            <a:srgbClr val="13131B">
              <a:alpha val="80000"/>
            </a:srgbClr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2" name="chip4-num"/>
          <p:cNvSpPr txBox="1"/>
          <p:nvPr/>
        </p:nvSpPr>
        <p:spPr>
          <a:xfrm>
            <a:off x="98298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9AA8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23" name="chip4-text"/>
          <p:cNvSpPr txBox="1"/>
          <p:nvPr/>
        </p:nvSpPr>
        <p:spPr>
          <a:xfrm>
            <a:off x="9829800" y="508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5F5F7"/>
                </a:solidFill>
                <a:latin typeface="MiSans"/>
                <a:ea typeface="MiSans"/>
              </a:rPr>
              <a:t>Рост в нейровыдаче</a:t>
            </a:r>
            <a:endParaRPr lang="en-US" sz="1250"/>
          </a:p>
        </p:txBody>
      </p:sp>
      <p:sp>
        <p:nvSpPr>
          <p:cNvPr id="24" name="bottom-note"/>
          <p:cNvSpPr txBox="1"/>
          <p:nvPr/>
        </p:nvSpPr>
        <p:spPr>
          <a:xfrm>
            <a:off x="711200" y="5867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i="1">
                <a:solidFill>
                  <a:srgbClr val="9A9AA8"/>
                </a:solidFill>
                <a:latin typeface="MiSans"/>
                <a:ea typeface="MiSans"/>
              </a:rPr>
              <a:t>Ежедневное присутствие — без ежедневных усилий команды клиента</a:t>
            </a:r>
            <a:endParaRPr lang="en-US" sz="1200"/>
          </a:p>
        </p:txBody>
      </p:sp>
      <p:sp>
        <p:nvSpPr>
          <p:cNvPr id="25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05 / 09</a:t>
            </a:r>
            <a:endParaRPr lang="en-US" sz="900"/>
          </a:p>
        </p:txBody>
      </p:sp>
      <p:pic>
        <p:nvPicPr>
          <p:cNvPr id="26" name="Рисунок 25" descr="preview">
            <a:extLst>
              <a:ext uri="{FF2B5EF4-FFF2-40B4-BE49-F238E27FC236}">
                <a16:creationId xmlns:a16="http://schemas.microsoft.com/office/drawing/2014/main" id="{C9D0F1FF-55FF-FD1A-22B1-D3F210523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300" y="1329524"/>
            <a:ext cx="2365955" cy="2547952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b="1">
                <a:solidFill>
                  <a:srgbClr val="F5F5F7"/>
                </a:solidFill>
                <a:latin typeface="MiSans"/>
                <a:ea typeface="MiSans"/>
              </a:rPr>
              <a:t>КАК ЭТО РАБОТАЕТ?</a:t>
            </a:r>
            <a:endParaRPr lang="en-US" sz="2700"/>
          </a:p>
        </p:txBody>
      </p:sp>
      <p:sp>
        <p:nvSpPr>
          <p:cNvPr id="4" name="title-rule"/>
          <p:cNvSpPr/>
          <p:nvPr/>
        </p:nvSpPr>
        <p:spPr>
          <a:xfrm>
            <a:off x="711200" y="1143000"/>
            <a:ext cx="609600" cy="254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subtitle"/>
          <p:cNvSpPr txBox="1"/>
          <p:nvPr/>
        </p:nvSpPr>
        <p:spPr>
          <a:xfrm>
            <a:off x="711200" y="12954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9AA8"/>
                </a:solidFill>
                <a:latin typeface="MiSans"/>
                <a:ea typeface="MiSans"/>
              </a:rPr>
              <a:t>От первого текста до клиентов — полный цикл без участия заказчика</a:t>
            </a:r>
            <a:endParaRPr lang="en-US" sz="1300"/>
          </a:p>
        </p:txBody>
      </p:sp>
      <p:sp>
        <p:nvSpPr>
          <p:cNvPr id="6" name="s1-num"/>
          <p:cNvSpPr txBox="1"/>
          <p:nvPr/>
        </p:nvSpPr>
        <p:spPr>
          <a:xfrm>
            <a:off x="7112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3D6BFF"/>
                </a:solidFill>
                <a:latin typeface="MiSans"/>
                <a:ea typeface="MiSans"/>
              </a:rPr>
              <a:t>01</a:t>
            </a:r>
            <a:endParaRPr lang="en-US" sz="3400"/>
          </a:p>
        </p:txBody>
      </p:sp>
      <p:sp>
        <p:nvSpPr>
          <p:cNvPr id="7" name="s1-line"/>
          <p:cNvSpPr/>
          <p:nvPr/>
        </p:nvSpPr>
        <p:spPr>
          <a:xfrm>
            <a:off x="711200" y="2514600"/>
            <a:ext cx="508000" cy="254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8" name="s1-title"/>
          <p:cNvSpPr txBox="1"/>
          <p:nvPr/>
        </p:nvSpPr>
        <p:spPr>
          <a:xfrm>
            <a:off x="7112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 dirty="0">
                <a:solidFill>
                  <a:srgbClr val="F5F5F7"/>
                </a:solidFill>
                <a:latin typeface="MiSans"/>
                <a:ea typeface="MiSans"/>
              </a:rPr>
              <a:t>КОНТЕНТ</a:t>
            </a:r>
            <a:endParaRPr lang="en-US" sz="1450" dirty="0"/>
          </a:p>
        </p:txBody>
      </p:sp>
      <p:sp>
        <p:nvSpPr>
          <p:cNvPr id="9" name="s1-desc"/>
          <p:cNvSpPr txBox="1"/>
          <p:nvPr/>
        </p:nvSpPr>
        <p:spPr>
          <a:xfrm>
            <a:off x="711200" y="32512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Платформа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изучает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продукт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,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нишу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аудиторию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клиента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,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создаёт</a:t>
            </a:r>
            <a:r>
              <a:rPr lang="en-US" sz="11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тексты</a:t>
            </a:r>
            <a:r>
              <a:rPr lang="ru-RU" sz="1100" dirty="0">
                <a:solidFill>
                  <a:srgbClr val="9A9AA8"/>
                </a:solidFill>
                <a:latin typeface="MiSans"/>
                <a:ea typeface="MiSans"/>
              </a:rPr>
              <a:t>, карточки, видео.</a:t>
            </a:r>
            <a:endParaRPr lang="en-US" sz="1100" dirty="0"/>
          </a:p>
        </p:txBody>
      </p:sp>
      <p:sp>
        <p:nvSpPr>
          <p:cNvPr id="10" name="s2-num"/>
          <p:cNvSpPr txBox="1"/>
          <p:nvPr/>
        </p:nvSpPr>
        <p:spPr>
          <a:xfrm>
            <a:off x="29464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3400"/>
          </a:p>
        </p:txBody>
      </p:sp>
      <p:sp>
        <p:nvSpPr>
          <p:cNvPr id="11" name="s2-line"/>
          <p:cNvSpPr/>
          <p:nvPr/>
        </p:nvSpPr>
        <p:spPr>
          <a:xfrm>
            <a:off x="29464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" name="s2-title"/>
          <p:cNvSpPr txBox="1"/>
          <p:nvPr/>
        </p:nvSpPr>
        <p:spPr>
          <a:xfrm>
            <a:off x="29464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E8453C"/>
                </a:solidFill>
                <a:latin typeface="MiSans"/>
                <a:ea typeface="MiSans"/>
              </a:rPr>
              <a:t>АВТО-ПУБЛИКАЦИЯ</a:t>
            </a:r>
            <a:endParaRPr lang="en-US" sz="1450"/>
          </a:p>
        </p:txBody>
      </p:sp>
      <p:sp>
        <p:nvSpPr>
          <p:cNvPr id="13" name="s2-desc"/>
          <p:cNvSpPr txBox="1"/>
          <p:nvPr/>
        </p:nvSpPr>
        <p:spPr>
          <a:xfrm>
            <a:off x="29464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9AA8"/>
                </a:solidFill>
                <a:latin typeface="MiSans"/>
                <a:ea typeface="MiSans"/>
              </a:rPr>
              <a:t>Материалы автоматически выходят на шести площадках 5 дней в неделю</a:t>
            </a:r>
            <a:endParaRPr lang="en-US" sz="1100"/>
          </a:p>
        </p:txBody>
      </p:sp>
      <p:sp>
        <p:nvSpPr>
          <p:cNvPr id="14" name="s3-num"/>
          <p:cNvSpPr txBox="1"/>
          <p:nvPr/>
        </p:nvSpPr>
        <p:spPr>
          <a:xfrm>
            <a:off x="51816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3D6BFF"/>
                </a:solidFill>
                <a:latin typeface="MiSans"/>
                <a:ea typeface="MiSans"/>
              </a:rPr>
              <a:t>03</a:t>
            </a:r>
            <a:endParaRPr lang="en-US" sz="3400"/>
          </a:p>
        </p:txBody>
      </p:sp>
      <p:sp>
        <p:nvSpPr>
          <p:cNvPr id="15" name="s3-line"/>
          <p:cNvSpPr/>
          <p:nvPr/>
        </p:nvSpPr>
        <p:spPr>
          <a:xfrm>
            <a:off x="5181600" y="2514600"/>
            <a:ext cx="508000" cy="254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6" name="s3-title"/>
          <p:cNvSpPr txBox="1"/>
          <p:nvPr/>
        </p:nvSpPr>
        <p:spPr>
          <a:xfrm>
            <a:off x="51816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5F5F7"/>
                </a:solidFill>
                <a:latin typeface="MiSans"/>
                <a:ea typeface="MiSans"/>
              </a:rPr>
              <a:t>ИНДЕКСАЦИЯ</a:t>
            </a:r>
            <a:endParaRPr lang="en-US" sz="1450"/>
          </a:p>
        </p:txBody>
      </p:sp>
      <p:sp>
        <p:nvSpPr>
          <p:cNvPr id="17" name="s3-desc"/>
          <p:cNvSpPr txBox="1"/>
          <p:nvPr/>
        </p:nvSpPr>
        <p:spPr>
          <a:xfrm>
            <a:off x="51816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9AA8"/>
                </a:solidFill>
                <a:latin typeface="MiSans"/>
                <a:ea typeface="MiSans"/>
              </a:rPr>
              <a:t>Поисковики и нейросети фиксируют новый контент о бизнесе клиента</a:t>
            </a:r>
            <a:endParaRPr lang="en-US" sz="1100"/>
          </a:p>
        </p:txBody>
      </p:sp>
      <p:sp>
        <p:nvSpPr>
          <p:cNvPr id="18" name="s4-num"/>
          <p:cNvSpPr txBox="1"/>
          <p:nvPr/>
        </p:nvSpPr>
        <p:spPr>
          <a:xfrm>
            <a:off x="74168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3D6BFF"/>
                </a:solidFill>
                <a:latin typeface="MiSans"/>
                <a:ea typeface="MiSans"/>
              </a:rPr>
              <a:t>04</a:t>
            </a:r>
            <a:endParaRPr lang="en-US" sz="3400"/>
          </a:p>
        </p:txBody>
      </p:sp>
      <p:sp>
        <p:nvSpPr>
          <p:cNvPr id="19" name="s4-line"/>
          <p:cNvSpPr/>
          <p:nvPr/>
        </p:nvSpPr>
        <p:spPr>
          <a:xfrm>
            <a:off x="7416800" y="2514600"/>
            <a:ext cx="508000" cy="254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0" name="s4-title"/>
          <p:cNvSpPr txBox="1"/>
          <p:nvPr/>
        </p:nvSpPr>
        <p:spPr>
          <a:xfrm>
            <a:off x="74168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5F5F7"/>
                </a:solidFill>
                <a:latin typeface="MiSans"/>
                <a:ea typeface="MiSans"/>
              </a:rPr>
              <a:t>ПРИСУТСТВИЕ</a:t>
            </a:r>
            <a:endParaRPr lang="en-US" sz="1450"/>
          </a:p>
        </p:txBody>
      </p:sp>
      <p:sp>
        <p:nvSpPr>
          <p:cNvPr id="21" name="s4-desc"/>
          <p:cNvSpPr txBox="1"/>
          <p:nvPr/>
        </p:nvSpPr>
        <p:spPr>
          <a:xfrm>
            <a:off x="74168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9AA8"/>
                </a:solidFill>
                <a:latin typeface="MiSans"/>
                <a:ea typeface="MiSans"/>
              </a:rPr>
              <a:t>Бренд появляется в ответах нейровыдачи и в выдаче поисковых систем</a:t>
            </a:r>
            <a:endParaRPr lang="en-US" sz="1100"/>
          </a:p>
        </p:txBody>
      </p:sp>
      <p:sp>
        <p:nvSpPr>
          <p:cNvPr id="22" name="s5-num"/>
          <p:cNvSpPr txBox="1"/>
          <p:nvPr/>
        </p:nvSpPr>
        <p:spPr>
          <a:xfrm>
            <a:off x="96520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3D6BFF"/>
                </a:solidFill>
                <a:latin typeface="MiSans"/>
                <a:ea typeface="MiSans"/>
              </a:rPr>
              <a:t>05</a:t>
            </a:r>
            <a:endParaRPr lang="en-US" sz="3400"/>
          </a:p>
        </p:txBody>
      </p:sp>
      <p:sp>
        <p:nvSpPr>
          <p:cNvPr id="23" name="s5-line"/>
          <p:cNvSpPr/>
          <p:nvPr/>
        </p:nvSpPr>
        <p:spPr>
          <a:xfrm>
            <a:off x="9652000" y="2514600"/>
            <a:ext cx="508000" cy="254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4" name="s5-title"/>
          <p:cNvSpPr txBox="1"/>
          <p:nvPr/>
        </p:nvSpPr>
        <p:spPr>
          <a:xfrm>
            <a:off x="96520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5F5F7"/>
                </a:solidFill>
                <a:latin typeface="MiSans"/>
                <a:ea typeface="MiSans"/>
              </a:rPr>
              <a:t>ДОВЕРИЕ И ПРОДАЖИ</a:t>
            </a:r>
            <a:endParaRPr lang="en-US" sz="1450"/>
          </a:p>
        </p:txBody>
      </p:sp>
      <p:sp>
        <p:nvSpPr>
          <p:cNvPr id="25" name="s5-desc"/>
          <p:cNvSpPr txBox="1"/>
          <p:nvPr/>
        </p:nvSpPr>
        <p:spPr>
          <a:xfrm>
            <a:off x="96520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9AA8"/>
                </a:solidFill>
                <a:latin typeface="MiSans"/>
                <a:ea typeface="MiSans"/>
              </a:rPr>
              <a:t>Клиенты находят компанию, доверяют рекомендации нейросети и приходят</a:t>
            </a:r>
            <a:endParaRPr lang="en-US" sz="1100"/>
          </a:p>
        </p:txBody>
      </p:sp>
      <p:sp>
        <p:nvSpPr>
          <p:cNvPr id="26" name="strip"/>
          <p:cNvSpPr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7" name="strip-text"/>
          <p:cNvSpPr txBox="1"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 err="1">
                <a:solidFill>
                  <a:srgbClr val="F5F5F7"/>
                </a:solidFill>
                <a:latin typeface="MiSans"/>
                <a:ea typeface="MiSans"/>
              </a:rPr>
              <a:t>Система</a:t>
            </a:r>
            <a:r>
              <a:rPr lang="en-US" sz="14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rgbClr val="F5F5F7"/>
                </a:solidFill>
                <a:latin typeface="MiSans"/>
                <a:ea typeface="MiSans"/>
              </a:rPr>
              <a:t>работает</a:t>
            </a:r>
            <a:r>
              <a:rPr lang="en-US" sz="1400" b="1" dirty="0">
                <a:solidFill>
                  <a:srgbClr val="F5F5F7"/>
                </a:solidFill>
                <a:latin typeface="MiSans"/>
                <a:ea typeface="MiSans"/>
              </a:rPr>
              <a:t> 24/7</a:t>
            </a:r>
            <a:r>
              <a:rPr lang="ru-RU" sz="1400" b="1" dirty="0">
                <a:solidFill>
                  <a:srgbClr val="F5F5F7"/>
                </a:solidFill>
                <a:latin typeface="MiSans"/>
                <a:ea typeface="MiSans"/>
              </a:rPr>
              <a:t> без отпусков и больничных) </a:t>
            </a:r>
            <a:r>
              <a:rPr lang="en-US" sz="1400" b="1" dirty="0">
                <a:solidFill>
                  <a:srgbClr val="F5F5F7"/>
                </a:solidFill>
                <a:latin typeface="MiSans"/>
                <a:ea typeface="MiSans"/>
              </a:rPr>
              <a:t>: </a:t>
            </a:r>
            <a:r>
              <a:rPr lang="en-US" sz="1400" b="1" dirty="0" err="1">
                <a:solidFill>
                  <a:srgbClr val="F5F5F7"/>
                </a:solidFill>
                <a:latin typeface="MiSans"/>
                <a:ea typeface="MiSans"/>
              </a:rPr>
              <a:t>клиент</a:t>
            </a:r>
            <a:r>
              <a:rPr lang="en-US" sz="14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rgbClr val="F5F5F7"/>
                </a:solidFill>
                <a:latin typeface="MiSans"/>
                <a:ea typeface="MiSans"/>
              </a:rPr>
              <a:t>занимается</a:t>
            </a:r>
            <a:r>
              <a:rPr lang="en-US" sz="14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rgbClr val="F5F5F7"/>
                </a:solidFill>
                <a:latin typeface="MiSans"/>
                <a:ea typeface="MiSans"/>
              </a:rPr>
              <a:t>бизнесом</a:t>
            </a:r>
            <a:r>
              <a:rPr lang="en-US" sz="1400" b="1" dirty="0">
                <a:solidFill>
                  <a:srgbClr val="F5F5F7"/>
                </a:solidFill>
                <a:latin typeface="MiSans"/>
                <a:ea typeface="MiSans"/>
              </a:rPr>
              <a:t> — </a:t>
            </a:r>
            <a:r>
              <a:rPr lang="en-US" sz="1400" b="1" dirty="0" err="1">
                <a:solidFill>
                  <a:srgbClr val="F5F5F7"/>
                </a:solidFill>
                <a:latin typeface="MiSans"/>
                <a:ea typeface="MiSans"/>
              </a:rPr>
              <a:t>Промптер</a:t>
            </a:r>
            <a:r>
              <a:rPr lang="en-US" sz="14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rgbClr val="F5F5F7"/>
                </a:solidFill>
                <a:latin typeface="MiSans"/>
                <a:ea typeface="MiSans"/>
              </a:rPr>
              <a:t>занимается</a:t>
            </a:r>
            <a:r>
              <a:rPr lang="en-US" sz="14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rgbClr val="F5F5F7"/>
                </a:solidFill>
                <a:latin typeface="MiSans"/>
                <a:ea typeface="MiSans"/>
              </a:rPr>
              <a:t>продвижением</a:t>
            </a:r>
            <a:endParaRPr lang="en-US" sz="1400" dirty="0"/>
          </a:p>
        </p:txBody>
      </p:sp>
      <p:sp>
        <p:nvSpPr>
          <p:cNvPr id="28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06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33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F5F5F7"/>
                </a:solidFill>
                <a:latin typeface="MiSans"/>
                <a:ea typeface="MiSans"/>
              </a:rPr>
              <a:t>ДЛЯ КОГО РАБОТАЕТ ПРОМПТЕР</a:t>
            </a:r>
            <a:endParaRPr lang="en-US" sz="2500"/>
          </a:p>
        </p:txBody>
      </p:sp>
      <p:sp>
        <p:nvSpPr>
          <p:cNvPr id="4" name="title-rule"/>
          <p:cNvSpPr/>
          <p:nvPr/>
        </p:nvSpPr>
        <p:spPr>
          <a:xfrm>
            <a:off x="711200" y="1143000"/>
            <a:ext cx="6096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subtitle"/>
          <p:cNvSpPr txBox="1"/>
          <p:nvPr/>
        </p:nvSpPr>
        <p:spPr>
          <a:xfrm>
            <a:off x="711200" y="12954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9AA8"/>
                </a:solidFill>
                <a:latin typeface="MiSans"/>
                <a:ea typeface="MiSans"/>
              </a:rPr>
              <a:t>Платформа универсальна, но особенно эффективна в локальном бизнесе с высокой конкуренцией</a:t>
            </a:r>
            <a:endParaRPr lang="en-US" sz="1300"/>
          </a:p>
        </p:txBody>
      </p:sp>
      <p:sp>
        <p:nvSpPr>
          <p:cNvPr id="6" name="n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eyJpY29uTmFtZSI6ImZhczp1dGVuc2lscyJ9</pptd:icon>
              </p:ext>
            </p:extLst>
          </p:nvPr>
        </p:nvSpPr>
        <p:spPr>
          <a:xfrm>
            <a:off x="965200" y="1981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14"/>
                </a:moveTo>
                <a:cubicBezTo>
                  <a:pt x="63" y="6"/>
                  <a:pt x="56" y="0"/>
                  <a:pt x="48" y="0"/>
                </a:cubicBezTo>
                <a:cubicBezTo>
                  <a:pt x="40" y="0"/>
                  <a:pt x="33" y="6"/>
                  <a:pt x="32" y="14"/>
                </a:cubicBezTo>
                <a:lnTo>
                  <a:pt x="18" y="150"/>
                </a:lnTo>
                <a:cubicBezTo>
                  <a:pt x="17" y="156"/>
                  <a:pt x="16" y="162"/>
                  <a:pt x="16" y="168"/>
                </a:cubicBezTo>
                <a:cubicBezTo>
                  <a:pt x="16" y="214"/>
                  <a:pt x="51" y="251"/>
                  <a:pt x="96" y="256"/>
                </a:cubicBezTo>
                <a:lnTo>
                  <a:pt x="96" y="480"/>
                </a:lnTo>
                <a:cubicBezTo>
                  <a:pt x="96" y="498"/>
                  <a:pt x="110" y="512"/>
                  <a:pt x="128" y="512"/>
                </a:cubicBezTo>
                <a:cubicBezTo>
                  <a:pt x="146" y="512"/>
                  <a:pt x="160" y="498"/>
                  <a:pt x="160" y="480"/>
                </a:cubicBezTo>
                <a:lnTo>
                  <a:pt x="160" y="256"/>
                </a:lnTo>
                <a:cubicBezTo>
                  <a:pt x="205" y="252"/>
                  <a:pt x="240" y="214"/>
                  <a:pt x="240" y="168"/>
                </a:cubicBezTo>
                <a:cubicBezTo>
                  <a:pt x="240" y="162"/>
                  <a:pt x="239" y="156"/>
                  <a:pt x="238" y="150"/>
                </a:cubicBezTo>
                <a:lnTo>
                  <a:pt x="224" y="14"/>
                </a:lnTo>
                <a:cubicBezTo>
                  <a:pt x="223" y="6"/>
                  <a:pt x="216" y="0"/>
                  <a:pt x="208" y="0"/>
                </a:cubicBezTo>
                <a:cubicBezTo>
                  <a:pt x="200" y="0"/>
                  <a:pt x="193" y="6"/>
                  <a:pt x="192" y="14"/>
                </a:cubicBezTo>
                <a:lnTo>
                  <a:pt x="179" y="150"/>
                </a:lnTo>
                <a:cubicBezTo>
                  <a:pt x="178" y="156"/>
                  <a:pt x="173" y="160"/>
                  <a:pt x="167" y="160"/>
                </a:cubicBezTo>
                <a:cubicBezTo>
                  <a:pt x="162" y="160"/>
                  <a:pt x="157" y="156"/>
                  <a:pt x="156" y="150"/>
                </a:cubicBezTo>
                <a:lnTo>
                  <a:pt x="144" y="15"/>
                </a:lnTo>
                <a:cubicBezTo>
                  <a:pt x="143" y="6"/>
                  <a:pt x="136" y="0"/>
                  <a:pt x="128" y="0"/>
                </a:cubicBezTo>
                <a:cubicBezTo>
                  <a:pt x="120" y="0"/>
                  <a:pt x="113" y="6"/>
                  <a:pt x="112" y="15"/>
                </a:cubicBezTo>
                <a:lnTo>
                  <a:pt x="100" y="150"/>
                </a:lnTo>
                <a:cubicBezTo>
                  <a:pt x="99" y="156"/>
                  <a:pt x="94" y="160"/>
                  <a:pt x="89" y="160"/>
                </a:cubicBezTo>
                <a:cubicBezTo>
                  <a:pt x="83" y="160"/>
                  <a:pt x="78" y="156"/>
                  <a:pt x="78" y="150"/>
                </a:cubicBezTo>
                <a:lnTo>
                  <a:pt x="64" y="14"/>
                </a:lnTo>
                <a:close/>
                <a:moveTo>
                  <a:pt x="448" y="0"/>
                </a:moveTo>
                <a:cubicBezTo>
                  <a:pt x="432" y="0"/>
                  <a:pt x="320" y="32"/>
                  <a:pt x="320" y="176"/>
                </a:cubicBezTo>
                <a:lnTo>
                  <a:pt x="320" y="288"/>
                </a:lnTo>
                <a:cubicBezTo>
                  <a:pt x="320" y="323"/>
                  <a:pt x="349" y="352"/>
                  <a:pt x="384" y="352"/>
                </a:cubicBezTo>
                <a:lnTo>
                  <a:pt x="416" y="352"/>
                </a:lnTo>
                <a:lnTo>
                  <a:pt x="416" y="480"/>
                </a:lnTo>
                <a:cubicBezTo>
                  <a:pt x="416" y="498"/>
                  <a:pt x="430" y="512"/>
                  <a:pt x="448" y="512"/>
                </a:cubicBezTo>
                <a:cubicBezTo>
                  <a:pt x="466" y="512"/>
                  <a:pt x="480" y="498"/>
                  <a:pt x="480" y="480"/>
                </a:cubicBezTo>
                <a:lnTo>
                  <a:pt x="480" y="32"/>
                </a:lnTo>
                <a:cubicBezTo>
                  <a:pt x="480" y="14"/>
                  <a:pt x="466" y="0"/>
                  <a:pt x="448" y="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n1-title"/>
          <p:cNvSpPr txBox="1"/>
          <p:nvPr/>
        </p:nvSpPr>
        <p:spPr>
          <a:xfrm>
            <a:off x="1498600" y="19812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F5F5F7"/>
                </a:solidFill>
                <a:latin typeface="MiSans"/>
                <a:ea typeface="MiSans"/>
              </a:rPr>
              <a:t>HoReCa</a:t>
            </a:r>
            <a:endParaRPr lang="en-US" sz="1600"/>
          </a:p>
        </p:txBody>
      </p:sp>
      <p:sp>
        <p:nvSpPr>
          <p:cNvPr id="8" name="n1-desc"/>
          <p:cNvSpPr txBox="1"/>
          <p:nvPr/>
        </p:nvSpPr>
        <p:spPr>
          <a:xfrm>
            <a:off x="1498600" y="23368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9A9AA8"/>
                </a:solidFill>
                <a:latin typeface="MiSans"/>
                <a:ea typeface="MiSans"/>
              </a:rPr>
              <a:t>Отели, рестораны и кафе — гости выбирают по рекомендациям нейросети</a:t>
            </a:r>
            <a:endParaRPr lang="en-US" sz="1150"/>
          </a:p>
        </p:txBody>
      </p:sp>
      <p:sp>
        <p:nvSpPr>
          <p:cNvPr id="9" name="l1"/>
          <p:cNvSpPr/>
          <p:nvPr/>
        </p:nvSpPr>
        <p:spPr>
          <a:xfrm>
            <a:off x="711200" y="3048000"/>
            <a:ext cx="4978400" cy="12700"/>
          </a:xfrm>
          <a:prstGeom prst="rect">
            <a:avLst/>
          </a:prstGeom>
          <a:solidFill>
            <a:srgbClr val="262635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n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eyJpY29uTmFtZSI6ImZhczpzcGEifQ</pptd:icon>
              </p:ext>
            </p:extLst>
          </p:nvPr>
        </p:nvSpPr>
        <p:spPr>
          <a:xfrm>
            <a:off x="965200" y="332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70" y="228"/>
                </a:moveTo>
                <a:cubicBezTo>
                  <a:pt x="204" y="246"/>
                  <a:pt x="234" y="272"/>
                  <a:pt x="259" y="302"/>
                </a:cubicBezTo>
                <a:cubicBezTo>
                  <a:pt x="270" y="316"/>
                  <a:pt x="280" y="331"/>
                  <a:pt x="288" y="347"/>
                </a:cubicBezTo>
                <a:cubicBezTo>
                  <a:pt x="296" y="331"/>
                  <a:pt x="306" y="316"/>
                  <a:pt x="317" y="302"/>
                </a:cubicBezTo>
                <a:cubicBezTo>
                  <a:pt x="342" y="272"/>
                  <a:pt x="372" y="246"/>
                  <a:pt x="406" y="228"/>
                </a:cubicBezTo>
                <a:cubicBezTo>
                  <a:pt x="448" y="205"/>
                  <a:pt x="496" y="192"/>
                  <a:pt x="546" y="192"/>
                </a:cubicBezTo>
                <a:lnTo>
                  <a:pt x="556" y="192"/>
                </a:lnTo>
                <a:cubicBezTo>
                  <a:pt x="567" y="192"/>
                  <a:pt x="576" y="201"/>
                  <a:pt x="576" y="212"/>
                </a:cubicBezTo>
                <a:cubicBezTo>
                  <a:pt x="576" y="360"/>
                  <a:pt x="456" y="480"/>
                  <a:pt x="308" y="480"/>
                </a:cubicBezTo>
                <a:lnTo>
                  <a:pt x="268" y="480"/>
                </a:lnTo>
                <a:cubicBezTo>
                  <a:pt x="120" y="480"/>
                  <a:pt x="0" y="360"/>
                  <a:pt x="0" y="212"/>
                </a:cubicBezTo>
                <a:cubicBezTo>
                  <a:pt x="0" y="201"/>
                  <a:pt x="9" y="192"/>
                  <a:pt x="20" y="192"/>
                </a:cubicBezTo>
                <a:lnTo>
                  <a:pt x="30" y="192"/>
                </a:lnTo>
                <a:cubicBezTo>
                  <a:pt x="80" y="192"/>
                  <a:pt x="128" y="205"/>
                  <a:pt x="170" y="228"/>
                </a:cubicBezTo>
                <a:close/>
                <a:moveTo>
                  <a:pt x="304" y="38"/>
                </a:moveTo>
                <a:cubicBezTo>
                  <a:pt x="321" y="54"/>
                  <a:pt x="365" y="101"/>
                  <a:pt x="393" y="180"/>
                </a:cubicBezTo>
                <a:cubicBezTo>
                  <a:pt x="353" y="201"/>
                  <a:pt x="317" y="229"/>
                  <a:pt x="288" y="262"/>
                </a:cubicBezTo>
                <a:cubicBezTo>
                  <a:pt x="259" y="228"/>
                  <a:pt x="223" y="201"/>
                  <a:pt x="183" y="180"/>
                </a:cubicBezTo>
                <a:cubicBezTo>
                  <a:pt x="211" y="101"/>
                  <a:pt x="255" y="54"/>
                  <a:pt x="272" y="38"/>
                </a:cubicBezTo>
                <a:cubicBezTo>
                  <a:pt x="276" y="34"/>
                  <a:pt x="282" y="32"/>
                  <a:pt x="288" y="32"/>
                </a:cubicBezTo>
                <a:cubicBezTo>
                  <a:pt x="294" y="32"/>
                  <a:pt x="300" y="34"/>
                  <a:pt x="304" y="38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" name="n2-title"/>
          <p:cNvSpPr txBox="1"/>
          <p:nvPr/>
        </p:nvSpPr>
        <p:spPr>
          <a:xfrm>
            <a:off x="1498600" y="33274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F5F5F7"/>
                </a:solidFill>
                <a:latin typeface="MiSans"/>
                <a:ea typeface="MiSans"/>
              </a:rPr>
              <a:t>Салоны красоты</a:t>
            </a:r>
            <a:endParaRPr lang="en-US" sz="1600"/>
          </a:p>
        </p:txBody>
      </p:sp>
      <p:sp>
        <p:nvSpPr>
          <p:cNvPr id="12" name="n2-desc"/>
          <p:cNvSpPr txBox="1"/>
          <p:nvPr/>
        </p:nvSpPr>
        <p:spPr>
          <a:xfrm>
            <a:off x="1498600" y="36830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9A9AA8"/>
                </a:solidFill>
                <a:latin typeface="MiSans"/>
                <a:ea typeface="MiSans"/>
              </a:rPr>
              <a:t>Студии и косметологии — клиентки записываются к тем, кого назовёт ИИ</a:t>
            </a:r>
            <a:endParaRPr lang="en-US" sz="1150"/>
          </a:p>
        </p:txBody>
      </p:sp>
      <p:sp>
        <p:nvSpPr>
          <p:cNvPr id="13" name="l2"/>
          <p:cNvSpPr/>
          <p:nvPr/>
        </p:nvSpPr>
        <p:spPr>
          <a:xfrm>
            <a:off x="711200" y="4394200"/>
            <a:ext cx="4978400" cy="12700"/>
          </a:xfrm>
          <a:prstGeom prst="rect">
            <a:avLst/>
          </a:prstGeom>
          <a:solidFill>
            <a:srgbClr val="262635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" name="n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eyJpY29uTmFtZSI6ImZhczp0b290aCJ9</pptd:icon>
              </p:ext>
            </p:extLst>
          </p:nvPr>
        </p:nvSpPr>
        <p:spPr>
          <a:xfrm>
            <a:off x="965200" y="467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45" y="6"/>
                </a:moveTo>
                <a:lnTo>
                  <a:pt x="224" y="32"/>
                </a:lnTo>
                <a:lnTo>
                  <a:pt x="303" y="6"/>
                </a:lnTo>
                <a:cubicBezTo>
                  <a:pt x="314" y="2"/>
                  <a:pt x="326" y="0"/>
                  <a:pt x="338" y="0"/>
                </a:cubicBezTo>
                <a:cubicBezTo>
                  <a:pt x="399" y="0"/>
                  <a:pt x="448" y="49"/>
                  <a:pt x="448" y="110"/>
                </a:cubicBezTo>
                <a:lnTo>
                  <a:pt x="448" y="179"/>
                </a:lnTo>
                <a:cubicBezTo>
                  <a:pt x="448" y="208"/>
                  <a:pt x="439" y="237"/>
                  <a:pt x="421" y="260"/>
                </a:cubicBezTo>
                <a:lnTo>
                  <a:pt x="420" y="262"/>
                </a:lnTo>
                <a:cubicBezTo>
                  <a:pt x="407" y="279"/>
                  <a:pt x="398" y="299"/>
                  <a:pt x="395" y="320"/>
                </a:cubicBezTo>
                <a:lnTo>
                  <a:pt x="374" y="472"/>
                </a:lnTo>
                <a:cubicBezTo>
                  <a:pt x="370" y="495"/>
                  <a:pt x="351" y="512"/>
                  <a:pt x="328" y="512"/>
                </a:cubicBezTo>
                <a:cubicBezTo>
                  <a:pt x="305" y="512"/>
                  <a:pt x="285" y="496"/>
                  <a:pt x="282" y="473"/>
                </a:cubicBezTo>
                <a:lnTo>
                  <a:pt x="261" y="352"/>
                </a:lnTo>
                <a:cubicBezTo>
                  <a:pt x="258" y="333"/>
                  <a:pt x="243" y="320"/>
                  <a:pt x="224" y="320"/>
                </a:cubicBezTo>
                <a:cubicBezTo>
                  <a:pt x="206" y="320"/>
                  <a:pt x="190" y="333"/>
                  <a:pt x="187" y="352"/>
                </a:cubicBezTo>
                <a:lnTo>
                  <a:pt x="167" y="473"/>
                </a:lnTo>
                <a:cubicBezTo>
                  <a:pt x="163" y="496"/>
                  <a:pt x="143" y="512"/>
                  <a:pt x="121" y="512"/>
                </a:cubicBezTo>
                <a:cubicBezTo>
                  <a:pt x="97" y="512"/>
                  <a:pt x="78" y="495"/>
                  <a:pt x="74" y="472"/>
                </a:cubicBezTo>
                <a:lnTo>
                  <a:pt x="53" y="321"/>
                </a:lnTo>
                <a:cubicBezTo>
                  <a:pt x="50" y="299"/>
                  <a:pt x="41" y="279"/>
                  <a:pt x="28" y="262"/>
                </a:cubicBezTo>
                <a:lnTo>
                  <a:pt x="27" y="260"/>
                </a:lnTo>
                <a:cubicBezTo>
                  <a:pt x="10" y="237"/>
                  <a:pt x="0" y="208"/>
                  <a:pt x="0" y="179"/>
                </a:cubicBezTo>
                <a:lnTo>
                  <a:pt x="0" y="110"/>
                </a:lnTo>
                <a:cubicBezTo>
                  <a:pt x="0" y="49"/>
                  <a:pt x="49" y="0"/>
                  <a:pt x="110" y="0"/>
                </a:cubicBezTo>
                <a:cubicBezTo>
                  <a:pt x="122" y="0"/>
                  <a:pt x="134" y="2"/>
                  <a:pt x="145" y="6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5" name="n3-title"/>
          <p:cNvSpPr txBox="1"/>
          <p:nvPr/>
        </p:nvSpPr>
        <p:spPr>
          <a:xfrm>
            <a:off x="1498600" y="46736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F5F5F7"/>
                </a:solidFill>
                <a:latin typeface="MiSans"/>
                <a:ea typeface="MiSans"/>
              </a:rPr>
              <a:t>Стоматология</a:t>
            </a:r>
            <a:endParaRPr lang="en-US" sz="1600"/>
          </a:p>
        </p:txBody>
      </p:sp>
      <p:sp>
        <p:nvSpPr>
          <p:cNvPr id="16" name="n3-desc"/>
          <p:cNvSpPr txBox="1"/>
          <p:nvPr/>
        </p:nvSpPr>
        <p:spPr>
          <a:xfrm>
            <a:off x="1498600" y="50292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9A9AA8"/>
                </a:solidFill>
                <a:latin typeface="MiSans"/>
                <a:ea typeface="MiSans"/>
              </a:rPr>
              <a:t>Клиники — пациенты доверяют выбору нейросети как совету врача</a:t>
            </a:r>
            <a:endParaRPr lang="en-US" sz="1150"/>
          </a:p>
        </p:txBody>
      </p:sp>
      <p:sp>
        <p:nvSpPr>
          <p:cNvPr id="17" name="n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eyJpY29uTmFtZSI6ImZhczpzZWVkbGluZyJ9</pptd:icon>
              </p:ext>
            </p:extLst>
          </p:nvPr>
        </p:nvSpPr>
        <p:spPr>
          <a:xfrm>
            <a:off x="6578600" y="3349536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8" name="n4-title"/>
          <p:cNvSpPr txBox="1"/>
          <p:nvPr/>
        </p:nvSpPr>
        <p:spPr>
          <a:xfrm>
            <a:off x="7112000" y="33495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 err="1">
                <a:solidFill>
                  <a:srgbClr val="F5F5F7"/>
                </a:solidFill>
                <a:latin typeface="MiSans"/>
                <a:ea typeface="MiSans"/>
              </a:rPr>
              <a:t>Цветочные</a:t>
            </a:r>
            <a:r>
              <a:rPr lang="en-US" sz="16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600" b="1" dirty="0" err="1">
                <a:solidFill>
                  <a:srgbClr val="F5F5F7"/>
                </a:solidFill>
                <a:latin typeface="MiSans"/>
                <a:ea typeface="MiSans"/>
              </a:rPr>
              <a:t>салоны</a:t>
            </a:r>
            <a:endParaRPr lang="en-US" sz="1600" dirty="0"/>
          </a:p>
        </p:txBody>
      </p:sp>
      <p:sp>
        <p:nvSpPr>
          <p:cNvPr id="19" name="n4-desc"/>
          <p:cNvSpPr txBox="1"/>
          <p:nvPr/>
        </p:nvSpPr>
        <p:spPr>
          <a:xfrm>
            <a:off x="7112000" y="3683000"/>
            <a:ext cx="4368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Букеты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доставка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—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заказы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уходят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тем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,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кто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первый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в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ответе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нейросети</a:t>
            </a:r>
            <a:endParaRPr lang="en-US" sz="1150" dirty="0"/>
          </a:p>
        </p:txBody>
      </p:sp>
      <p:sp>
        <p:nvSpPr>
          <p:cNvPr id="20" name="l4"/>
          <p:cNvSpPr/>
          <p:nvPr/>
        </p:nvSpPr>
        <p:spPr>
          <a:xfrm>
            <a:off x="6502400" y="3048000"/>
            <a:ext cx="4978400" cy="12700"/>
          </a:xfrm>
          <a:prstGeom prst="rect">
            <a:avLst/>
          </a:prstGeom>
          <a:solidFill>
            <a:srgbClr val="262635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1" name="n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eyJpY29uTmFtZSI6ImZhczpzdG9yZSJ9</pptd:icon>
              </p:ext>
            </p:extLst>
          </p:nvPr>
        </p:nvSpPr>
        <p:spPr>
          <a:xfrm>
            <a:off x="6578600" y="466814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1" y="72"/>
                </a:moveTo>
                <a:cubicBezTo>
                  <a:pt x="38" y="48"/>
                  <a:pt x="60" y="32"/>
                  <a:pt x="84" y="32"/>
                </a:cubicBezTo>
                <a:lnTo>
                  <a:pt x="428" y="32"/>
                </a:lnTo>
                <a:cubicBezTo>
                  <a:pt x="453" y="32"/>
                  <a:pt x="475" y="48"/>
                  <a:pt x="482" y="72"/>
                </a:cubicBezTo>
                <a:lnTo>
                  <a:pt x="506" y="153"/>
                </a:lnTo>
                <a:cubicBezTo>
                  <a:pt x="518" y="196"/>
                  <a:pt x="485" y="240"/>
                  <a:pt x="440" y="240"/>
                </a:cubicBezTo>
                <a:cubicBezTo>
                  <a:pt x="414" y="240"/>
                  <a:pt x="391" y="225"/>
                  <a:pt x="379" y="203"/>
                </a:cubicBezTo>
                <a:cubicBezTo>
                  <a:pt x="368" y="225"/>
                  <a:pt x="345" y="240"/>
                  <a:pt x="318" y="240"/>
                </a:cubicBezTo>
                <a:cubicBezTo>
                  <a:pt x="291" y="240"/>
                  <a:pt x="268" y="225"/>
                  <a:pt x="257" y="203"/>
                </a:cubicBezTo>
                <a:cubicBezTo>
                  <a:pt x="245" y="225"/>
                  <a:pt x="222" y="240"/>
                  <a:pt x="195" y="240"/>
                </a:cubicBezTo>
                <a:cubicBezTo>
                  <a:pt x="168" y="240"/>
                  <a:pt x="145" y="225"/>
                  <a:pt x="134" y="203"/>
                </a:cubicBezTo>
                <a:cubicBezTo>
                  <a:pt x="122" y="225"/>
                  <a:pt x="99" y="240"/>
                  <a:pt x="73" y="240"/>
                </a:cubicBezTo>
                <a:cubicBezTo>
                  <a:pt x="27" y="240"/>
                  <a:pt x="-5" y="196"/>
                  <a:pt x="7" y="153"/>
                </a:cubicBezTo>
                <a:lnTo>
                  <a:pt x="31" y="72"/>
                </a:lnTo>
                <a:close/>
                <a:moveTo>
                  <a:pt x="96" y="352"/>
                </a:moveTo>
                <a:lnTo>
                  <a:pt x="416" y="352"/>
                </a:lnTo>
                <a:lnTo>
                  <a:pt x="416" y="286"/>
                </a:lnTo>
                <a:cubicBezTo>
                  <a:pt x="424" y="287"/>
                  <a:pt x="432" y="288"/>
                  <a:pt x="440" y="288"/>
                </a:cubicBezTo>
                <a:cubicBezTo>
                  <a:pt x="454" y="288"/>
                  <a:pt x="468" y="285"/>
                  <a:pt x="480" y="281"/>
                </a:cubicBezTo>
                <a:lnTo>
                  <a:pt x="480" y="432"/>
                </a:lnTo>
                <a:cubicBezTo>
                  <a:pt x="480" y="459"/>
                  <a:pt x="459" y="480"/>
                  <a:pt x="432" y="480"/>
                </a:cubicBezTo>
                <a:lnTo>
                  <a:pt x="80" y="480"/>
                </a:lnTo>
                <a:cubicBezTo>
                  <a:pt x="54" y="480"/>
                  <a:pt x="32" y="459"/>
                  <a:pt x="32" y="432"/>
                </a:cubicBezTo>
                <a:lnTo>
                  <a:pt x="32" y="281"/>
                </a:lnTo>
                <a:cubicBezTo>
                  <a:pt x="45" y="285"/>
                  <a:pt x="58" y="288"/>
                  <a:pt x="73" y="288"/>
                </a:cubicBezTo>
                <a:cubicBezTo>
                  <a:pt x="81" y="288"/>
                  <a:pt x="89" y="287"/>
                  <a:pt x="96" y="286"/>
                </a:cubicBezTo>
                <a:lnTo>
                  <a:pt x="96" y="352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2" name="n5-title"/>
          <p:cNvSpPr txBox="1"/>
          <p:nvPr/>
        </p:nvSpPr>
        <p:spPr>
          <a:xfrm>
            <a:off x="7112000" y="469354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 err="1">
                <a:solidFill>
                  <a:srgbClr val="F5F5F7"/>
                </a:solidFill>
                <a:latin typeface="MiSans"/>
                <a:ea typeface="MiSans"/>
              </a:rPr>
              <a:t>Локальная</a:t>
            </a:r>
            <a:r>
              <a:rPr lang="en-US" sz="16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600" b="1" dirty="0" err="1">
                <a:solidFill>
                  <a:srgbClr val="F5F5F7"/>
                </a:solidFill>
                <a:latin typeface="MiSans"/>
                <a:ea typeface="MiSans"/>
              </a:rPr>
              <a:t>розница</a:t>
            </a:r>
            <a:r>
              <a:rPr lang="en-US" sz="1600" b="1" dirty="0">
                <a:solidFill>
                  <a:srgbClr val="F5F5F7"/>
                </a:solidFill>
                <a:latin typeface="MiSans"/>
                <a:ea typeface="MiSans"/>
              </a:rPr>
              <a:t> и </a:t>
            </a:r>
            <a:r>
              <a:rPr lang="en-US" sz="1600" b="1" dirty="0" err="1">
                <a:solidFill>
                  <a:srgbClr val="F5F5F7"/>
                </a:solidFill>
                <a:latin typeface="MiSans"/>
                <a:ea typeface="MiSans"/>
              </a:rPr>
              <a:t>услуги</a:t>
            </a:r>
            <a:endParaRPr lang="en-US" sz="1600" dirty="0"/>
          </a:p>
        </p:txBody>
      </p:sp>
      <p:sp>
        <p:nvSpPr>
          <p:cNvPr id="23" name="n5-desc"/>
          <p:cNvSpPr txBox="1"/>
          <p:nvPr/>
        </p:nvSpPr>
        <p:spPr>
          <a:xfrm>
            <a:off x="7112000" y="50292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Любой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бизнес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«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рядом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с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клиентом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» —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от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автосервиса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до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фитнеса</a:t>
            </a:r>
            <a:endParaRPr lang="en-US" sz="1150" dirty="0"/>
          </a:p>
        </p:txBody>
      </p:sp>
      <p:sp>
        <p:nvSpPr>
          <p:cNvPr id="26" name="strip"/>
          <p:cNvSpPr/>
          <p:nvPr/>
        </p:nvSpPr>
        <p:spPr>
          <a:xfrm>
            <a:off x="711200" y="5867400"/>
            <a:ext cx="10769600" cy="5588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7" name="strip-text"/>
          <p:cNvSpPr txBox="1"/>
          <p:nvPr/>
        </p:nvSpPr>
        <p:spPr>
          <a:xfrm>
            <a:off x="711200" y="5867400"/>
            <a:ext cx="107696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C9C9D4"/>
                </a:solidFill>
                <a:latin typeface="MiSans"/>
                <a:ea typeface="MiSans"/>
              </a:rPr>
              <a:t>Одна технология — готовые решения под каждую нишу. </a:t>
            </a:r>
            <a:r>
              <a:rPr lang="en-US" sz="1300" b="1">
                <a:solidFill>
                  <a:srgbClr val="3D6BFF"/>
                </a:solidFill>
                <a:latin typeface="MiSans"/>
                <a:ea typeface="MiSans"/>
              </a:rPr>
              <a:t>Масштабируемся вместе с рынком.</a:t>
            </a:r>
            <a:endParaRPr lang="en-US" sz="1300"/>
          </a:p>
        </p:txBody>
      </p:sp>
      <p:sp>
        <p:nvSpPr>
          <p:cNvPr id="28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07 / 09</a:t>
            </a:r>
            <a:endParaRPr lang="en-US" sz="900"/>
          </a:p>
        </p:txBody>
      </p:sp>
      <p:sp>
        <p:nvSpPr>
          <p:cNvPr id="30" name="l2">
            <a:extLst>
              <a:ext uri="{FF2B5EF4-FFF2-40B4-BE49-F238E27FC236}">
                <a16:creationId xmlns:a16="http://schemas.microsoft.com/office/drawing/2014/main" id="{B0512B27-0A9C-12B5-D14B-EDF472B0FC69}"/>
              </a:ext>
            </a:extLst>
          </p:cNvPr>
          <p:cNvSpPr/>
          <p:nvPr/>
        </p:nvSpPr>
        <p:spPr>
          <a:xfrm>
            <a:off x="6502400" y="4385892"/>
            <a:ext cx="4978400" cy="12700"/>
          </a:xfrm>
          <a:prstGeom prst="rect">
            <a:avLst/>
          </a:prstGeom>
          <a:solidFill>
            <a:srgbClr val="262635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pic>
        <p:nvPicPr>
          <p:cNvPr id="32" name="Рисунок 31" descr="Дом со сплошной заливкой">
            <a:extLst>
              <a:ext uri="{FF2B5EF4-FFF2-40B4-BE49-F238E27FC236}">
                <a16:creationId xmlns:a16="http://schemas.microsoft.com/office/drawing/2014/main" id="{AAB8E701-B769-FE55-5998-8035D14ED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02400" y="2013009"/>
            <a:ext cx="483906" cy="48390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5A4BC50-0B05-9421-A442-A616044EFB34}"/>
              </a:ext>
            </a:extLst>
          </p:cNvPr>
          <p:cNvSpPr txBox="1"/>
          <p:nvPr/>
        </p:nvSpPr>
        <p:spPr>
          <a:xfrm>
            <a:off x="7112000" y="2060879"/>
            <a:ext cx="375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F5F5F7"/>
                </a:solidFill>
                <a:latin typeface="MiSans"/>
              </a:rPr>
              <a:t>Товары для дома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285FF0-0F1D-6B00-9985-1A5D7371820F}"/>
              </a:ext>
            </a:extLst>
          </p:cNvPr>
          <p:cNvSpPr txBox="1"/>
          <p:nvPr/>
        </p:nvSpPr>
        <p:spPr>
          <a:xfrm>
            <a:off x="7112000" y="2391632"/>
            <a:ext cx="43688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50" dirty="0">
                <a:solidFill>
                  <a:srgbClr val="9A9AA8"/>
                </a:solidFill>
                <a:latin typeface="MiSans"/>
              </a:rPr>
              <a:t>Магазины мебели, интерьеров, аксессуаров </a:t>
            </a:r>
            <a:r>
              <a:rPr lang="en-US" sz="1150" dirty="0">
                <a:solidFill>
                  <a:srgbClr val="9A9AA8"/>
                </a:solidFill>
              </a:rPr>
              <a:t>—</a:t>
            </a:r>
            <a:r>
              <a:rPr lang="ru-RU" sz="1150" dirty="0">
                <a:solidFill>
                  <a:srgbClr val="9A9AA8"/>
                </a:solidFill>
              </a:rPr>
              <a:t> клиент все чаще выбирает по совету ИИ</a:t>
            </a:r>
            <a:r>
              <a:rPr lang="ru-RU" sz="1150" dirty="0">
                <a:solidFill>
                  <a:srgbClr val="9A9AA8"/>
                </a:solidFill>
                <a:latin typeface="MiSans"/>
              </a:rPr>
              <a:t> </a:t>
            </a:r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F5F5F7"/>
                </a:solidFill>
                <a:latin typeface="MiSans"/>
                <a:ea typeface="MiSans"/>
              </a:rPr>
              <a:t>КОМПЛЕКСНОЕ РЕШЕНИЕ ПО ФИКСИРОВАННОЙ ЦЕНЕ</a:t>
            </a:r>
            <a:endParaRPr lang="en-US" sz="2500"/>
          </a:p>
        </p:txBody>
      </p:sp>
      <p:sp>
        <p:nvSpPr>
          <p:cNvPr id="4" name="title-rule"/>
          <p:cNvSpPr/>
          <p:nvPr/>
        </p:nvSpPr>
        <p:spPr>
          <a:xfrm>
            <a:off x="711200" y="1117600"/>
            <a:ext cx="6096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price-label"/>
          <p:cNvSpPr txBox="1"/>
          <p:nvPr/>
        </p:nvSpPr>
        <p:spPr>
          <a:xfrm>
            <a:off x="711200" y="1422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300">
                <a:solidFill>
                  <a:srgbClr val="9A9AA8"/>
                </a:solidFill>
                <a:latin typeface="MiSans"/>
                <a:ea typeface="MiSans"/>
              </a:rPr>
              <a:t>СТОИМОСТЬ СЕРВИСА</a:t>
            </a:r>
            <a:endParaRPr lang="en-US" sz="1050"/>
          </a:p>
        </p:txBody>
      </p:sp>
      <p:sp>
        <p:nvSpPr>
          <p:cNvPr id="6" name="price-big"/>
          <p:cNvSpPr txBox="1"/>
          <p:nvPr/>
        </p:nvSpPr>
        <p:spPr>
          <a:xfrm>
            <a:off x="711200" y="1701800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4400" b="1" dirty="0">
                <a:solidFill>
                  <a:srgbClr val="E8453C"/>
                </a:solidFill>
                <a:latin typeface="MiSans"/>
                <a:ea typeface="MiSans"/>
              </a:rPr>
              <a:t>От </a:t>
            </a:r>
            <a:r>
              <a:rPr lang="ru-RU" sz="4400" b="1" u="sng" dirty="0">
                <a:solidFill>
                  <a:srgbClr val="E8453C"/>
                </a:solidFill>
                <a:latin typeface="MiSans"/>
                <a:ea typeface="MiSans"/>
              </a:rPr>
              <a:t>29500</a:t>
            </a:r>
            <a:r>
              <a:rPr lang="ru-RU" sz="4400" b="1" dirty="0">
                <a:solidFill>
                  <a:srgbClr val="E8453C"/>
                </a:solidFill>
                <a:latin typeface="MiSans"/>
                <a:ea typeface="MiSans"/>
              </a:rPr>
              <a:t> </a:t>
            </a:r>
            <a:r>
              <a:rPr lang="en-US" sz="4400" b="1" dirty="0">
                <a:solidFill>
                  <a:srgbClr val="E8453C"/>
                </a:solidFill>
                <a:latin typeface="MiSans"/>
                <a:ea typeface="MiSans"/>
              </a:rPr>
              <a:t>₽</a:t>
            </a:r>
            <a:r>
              <a:rPr lang="en-US" sz="1600" dirty="0">
                <a:solidFill>
                  <a:srgbClr val="9A9AA8"/>
                </a:solidFill>
                <a:latin typeface="MiSans"/>
                <a:ea typeface="MiSans"/>
              </a:rPr>
              <a:t>  /</a:t>
            </a:r>
            <a:r>
              <a:rPr lang="en-US" sz="1600" dirty="0" err="1">
                <a:solidFill>
                  <a:srgbClr val="9A9AA8"/>
                </a:solidFill>
                <a:latin typeface="MiSans"/>
                <a:ea typeface="MiSans"/>
              </a:rPr>
              <a:t>месяц</a:t>
            </a:r>
            <a:endParaRPr lang="en-US" sz="1600" dirty="0"/>
          </a:p>
        </p:txBody>
      </p:sp>
      <p:sp>
        <p:nvSpPr>
          <p:cNvPr id="7" name="price-instead"/>
          <p:cNvSpPr txBox="1"/>
          <p:nvPr/>
        </p:nvSpPr>
        <p:spPr>
          <a:xfrm>
            <a:off x="711200" y="25654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вместо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ru-RU" sz="1400" b="1" u="sng" dirty="0">
                <a:solidFill>
                  <a:srgbClr val="3D6BFF"/>
                </a:solidFill>
                <a:latin typeface="MiSans"/>
                <a:ea typeface="MiSans"/>
              </a:rPr>
              <a:t>100 000</a:t>
            </a:r>
            <a:r>
              <a:rPr lang="en-US" sz="1400" b="1" u="sng" dirty="0">
                <a:solidFill>
                  <a:srgbClr val="3D6BFF"/>
                </a:solidFill>
                <a:latin typeface="MiSans"/>
                <a:ea typeface="MiSans"/>
              </a:rPr>
              <a:t> </a:t>
            </a:r>
            <a:r>
              <a:rPr lang="en-US" sz="1400" b="1" dirty="0">
                <a:solidFill>
                  <a:srgbClr val="3D6BFF"/>
                </a:solidFill>
                <a:latin typeface="MiSans"/>
                <a:ea typeface="MiSans"/>
              </a:rPr>
              <a:t>₽/</a:t>
            </a:r>
            <a:r>
              <a:rPr lang="en-US" sz="1400" b="1" dirty="0" err="1">
                <a:solidFill>
                  <a:srgbClr val="3D6BFF"/>
                </a:solidFill>
                <a:latin typeface="MiSans"/>
                <a:ea typeface="MiSans"/>
              </a:rPr>
              <a:t>мес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на</a:t>
            </a:r>
            <a:r>
              <a:rPr lang="ru-RU" sz="1400" dirty="0">
                <a:solidFill>
                  <a:srgbClr val="F5F5F7"/>
                </a:solidFill>
                <a:latin typeface="MiSans"/>
                <a:ea typeface="MiSans"/>
              </a:rPr>
              <a:t> продвижение через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SEO-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агентство</a:t>
            </a:r>
            <a:endParaRPr lang="en-US" sz="1400" dirty="0"/>
          </a:p>
        </p:txBody>
      </p:sp>
      <p:sp>
        <p:nvSpPr>
          <p:cNvPr id="8" name="price-save"/>
          <p:cNvSpPr txBox="1"/>
          <p:nvPr/>
        </p:nvSpPr>
        <p:spPr>
          <a:xfrm>
            <a:off x="711200" y="29464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Экономия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—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не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менее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ru-RU" sz="1400" b="1" u="sng" dirty="0">
                <a:solidFill>
                  <a:srgbClr val="3D6BFF"/>
                </a:solidFill>
                <a:latin typeface="MiSans"/>
                <a:ea typeface="MiSans"/>
              </a:rPr>
              <a:t>70 000</a:t>
            </a:r>
            <a:r>
              <a:rPr lang="en-US" sz="1400" b="1" u="sng" dirty="0">
                <a:solidFill>
                  <a:srgbClr val="3D6BFF"/>
                </a:solidFill>
                <a:latin typeface="MiSans"/>
                <a:ea typeface="MiSans"/>
              </a:rPr>
              <a:t> </a:t>
            </a:r>
            <a:r>
              <a:rPr lang="en-US" sz="1400" b="1" dirty="0">
                <a:solidFill>
                  <a:srgbClr val="3D6BFF"/>
                </a:solidFill>
                <a:latin typeface="MiSans"/>
                <a:ea typeface="MiSans"/>
              </a:rPr>
              <a:t>₽/</a:t>
            </a:r>
            <a:r>
              <a:rPr lang="en-US" sz="1400" b="1" dirty="0" err="1">
                <a:solidFill>
                  <a:srgbClr val="3D6BFF"/>
                </a:solidFill>
                <a:latin typeface="MiSans"/>
                <a:ea typeface="MiSans"/>
              </a:rPr>
              <a:t>мес</a:t>
            </a:r>
            <a:endParaRPr lang="en-US" sz="1400" dirty="0"/>
          </a:p>
        </p:txBody>
      </p:sp>
      <p:sp>
        <p:nvSpPr>
          <p:cNvPr id="9" name="cta-btn">
            <a:hlinkClick xmlns:r="http://schemas.openxmlformats.org/officeDocument/2006/relationships" r:id="rId2"/>
          </p:cNvPr>
          <p:cNvSpPr/>
          <p:nvPr/>
        </p:nvSpPr>
        <p:spPr>
          <a:xfrm>
            <a:off x="711200" y="3505200"/>
            <a:ext cx="3098800" cy="584200"/>
          </a:xfrm>
          <a:prstGeom prst="roundRect">
            <a:avLst>
              <a:gd name="adj" fmla="val 50000"/>
            </a:avLst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cta-text">
            <a:hlinkClick xmlns:r="http://schemas.openxmlformats.org/officeDocument/2006/relationships" r:id="rId2"/>
          </p:cNvPr>
          <p:cNvSpPr txBox="1"/>
          <p:nvPr/>
        </p:nvSpPr>
        <p:spPr>
          <a:xfrm>
            <a:off x="711200" y="3505200"/>
            <a:ext cx="3098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50" b="1" kern="0" spc="200" dirty="0">
                <a:solidFill>
                  <a:schemeClr val="bg1"/>
                </a:solidFill>
                <a:latin typeface="MiSans"/>
                <a:ea typeface="Mi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ОСТАВИТЬ ЗАЯВКУ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2" name="divider"/>
          <p:cNvSpPr/>
          <p:nvPr/>
        </p:nvSpPr>
        <p:spPr>
          <a:xfrm>
            <a:off x="6299200" y="1346200"/>
            <a:ext cx="12700" cy="3810000"/>
          </a:xfrm>
          <a:prstGeom prst="rect">
            <a:avLst/>
          </a:prstGeom>
          <a:solidFill>
            <a:srgbClr val="262635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incl-header"/>
          <p:cNvSpPr txBox="1"/>
          <p:nvPr/>
        </p:nvSpPr>
        <p:spPr>
          <a:xfrm>
            <a:off x="6756400" y="1346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kern="0" spc="100">
                <a:solidFill>
                  <a:srgbClr val="F5F5F7"/>
                </a:solidFill>
                <a:latin typeface="MiSans"/>
                <a:ea typeface="MiSans"/>
              </a:rPr>
              <a:t>ЧТО ВХОДИТ В ПОДПИСКУ</a:t>
            </a:r>
            <a:endParaRPr lang="en-US" sz="1500"/>
          </a:p>
        </p:txBody>
      </p:sp>
      <p:sp>
        <p:nvSpPr>
          <p:cNvPr id="14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185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5" name="f1-title"/>
          <p:cNvSpPr txBox="1"/>
          <p:nvPr/>
        </p:nvSpPr>
        <p:spPr>
          <a:xfrm>
            <a:off x="7137400" y="1828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Полный AI-цикл</a:t>
            </a:r>
            <a:endParaRPr lang="en-US" sz="1350"/>
          </a:p>
        </p:txBody>
      </p:sp>
      <p:sp>
        <p:nvSpPr>
          <p:cNvPr id="16" name="f1-desc"/>
          <p:cNvSpPr txBox="1"/>
          <p:nvPr/>
        </p:nvSpPr>
        <p:spPr>
          <a:xfrm>
            <a:off x="7137400" y="21082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9AA8"/>
                </a:solidFill>
                <a:latin typeface="MiSans"/>
                <a:ea typeface="MiSans"/>
              </a:rPr>
              <a:t>Создание, модерация и автоматическая публикация контента</a:t>
            </a:r>
            <a:endParaRPr lang="en-US" sz="1150"/>
          </a:p>
        </p:txBody>
      </p:sp>
      <p:sp>
        <p:nvSpPr>
          <p:cNvPr id="17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8" name="f2-title"/>
          <p:cNvSpPr txBox="1"/>
          <p:nvPr/>
        </p:nvSpPr>
        <p:spPr>
          <a:xfrm>
            <a:off x="7137400" y="2692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Публикации 5 дней в неделю</a:t>
            </a:r>
            <a:endParaRPr lang="en-US" sz="1350"/>
          </a:p>
        </p:txBody>
      </p:sp>
      <p:sp>
        <p:nvSpPr>
          <p:cNvPr id="19" name="f2-desc"/>
          <p:cNvSpPr txBox="1"/>
          <p:nvPr/>
        </p:nvSpPr>
        <p:spPr>
          <a:xfrm>
            <a:off x="7137400" y="29718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9AA8"/>
                </a:solidFill>
                <a:latin typeface="MiSans"/>
                <a:ea typeface="MiSans"/>
              </a:rPr>
              <a:t>Регулярный поток материалов без участия клиента</a:t>
            </a:r>
            <a:endParaRPr lang="en-US" sz="1150"/>
          </a:p>
        </p:txBody>
      </p:sp>
      <p:sp>
        <p:nvSpPr>
          <p:cNvPr id="20" name="f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1" name="f3-title"/>
          <p:cNvSpPr txBox="1"/>
          <p:nvPr/>
        </p:nvSpPr>
        <p:spPr>
          <a:xfrm>
            <a:off x="7137400" y="35560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2 полноценные статьи в неделю</a:t>
            </a:r>
            <a:endParaRPr lang="en-US" sz="1350"/>
          </a:p>
        </p:txBody>
      </p:sp>
      <p:sp>
        <p:nvSpPr>
          <p:cNvPr id="22" name="f3-desc"/>
          <p:cNvSpPr txBox="1"/>
          <p:nvPr/>
        </p:nvSpPr>
        <p:spPr>
          <a:xfrm>
            <a:off x="7137400" y="38354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9AA8"/>
                </a:solidFill>
                <a:latin typeface="MiSans"/>
                <a:ea typeface="MiSans"/>
              </a:rPr>
              <a:t>Экспертный контент о продукте, команде и событиях компании</a:t>
            </a:r>
            <a:endParaRPr lang="en-US" sz="1150"/>
          </a:p>
        </p:txBody>
      </p:sp>
      <p:sp>
        <p:nvSpPr>
          <p:cNvPr id="23" name="f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444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4" name="f4-title"/>
          <p:cNvSpPr txBox="1"/>
          <p:nvPr/>
        </p:nvSpPr>
        <p:spPr>
          <a:xfrm>
            <a:off x="7137400" y="4419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/>
                <a:ea typeface="MiSans"/>
              </a:rPr>
              <a:t>6 площадок для автопубликации</a:t>
            </a:r>
            <a:r>
              <a:rPr lang="ru-RU" sz="1350" b="1" dirty="0">
                <a:solidFill>
                  <a:srgbClr val="F5F5F7"/>
                </a:solidFill>
                <a:latin typeface="MiSans"/>
                <a:ea typeface="MiSans"/>
              </a:rPr>
              <a:t> с автоматической публикацией</a:t>
            </a:r>
            <a:endParaRPr lang="en-US" sz="1350" dirty="0"/>
          </a:p>
        </p:txBody>
      </p:sp>
      <p:sp>
        <p:nvSpPr>
          <p:cNvPr id="25" name="f4-desc"/>
          <p:cNvSpPr txBox="1"/>
          <p:nvPr/>
        </p:nvSpPr>
        <p:spPr>
          <a:xfrm>
            <a:off x="7137400" y="4699000"/>
            <a:ext cx="43434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VK, </a:t>
            </a:r>
            <a:r>
              <a:rPr lang="ru-RU" sz="1150" dirty="0">
                <a:solidFill>
                  <a:srgbClr val="9A9AA8"/>
                </a:solidFill>
                <a:latin typeface="MiSans"/>
                <a:ea typeface="MiSans"/>
              </a:rPr>
              <a:t>Яндекс Дзен, ОК, Мах. </a:t>
            </a:r>
            <a:br>
              <a:rPr lang="ru-RU" sz="1150" dirty="0">
                <a:solidFill>
                  <a:srgbClr val="9A9AA8"/>
                </a:solidFill>
                <a:latin typeface="MiSans"/>
                <a:ea typeface="MiSans"/>
              </a:rPr>
            </a:b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Размещение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там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,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где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контент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считывают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нейросети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поисковики</a:t>
            </a:r>
            <a:r>
              <a:rPr lang="ru-RU" sz="1150" dirty="0">
                <a:solidFill>
                  <a:srgbClr val="9A9AA8"/>
                </a:solidFill>
                <a:latin typeface="MiSans"/>
                <a:ea typeface="MiSans"/>
              </a:rPr>
              <a:t>.</a:t>
            </a:r>
            <a:br>
              <a:rPr lang="ru-RU" sz="1150" dirty="0">
                <a:solidFill>
                  <a:srgbClr val="9A9AA8"/>
                </a:solidFill>
                <a:latin typeface="MiSans"/>
                <a:ea typeface="MiSans"/>
              </a:rPr>
            </a:br>
            <a:r>
              <a:rPr lang="ru-RU" sz="1150" dirty="0">
                <a:solidFill>
                  <a:srgbClr val="9A9AA8"/>
                </a:solidFill>
                <a:latin typeface="MiSans"/>
                <a:ea typeface="MiSans"/>
              </a:rPr>
              <a:t>На других площадках (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whatsapp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,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youtube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, </a:t>
            </a:r>
            <a:r>
              <a:rPr lang="en-US" sz="1150" dirty="0" err="1">
                <a:solidFill>
                  <a:srgbClr val="9A9AA8"/>
                </a:solidFill>
                <a:latin typeface="MiSans"/>
                <a:ea typeface="MiSans"/>
              </a:rPr>
              <a:t>блоги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ru-RU" sz="1150" dirty="0">
                <a:solidFill>
                  <a:srgbClr val="9A9AA8"/>
                </a:solidFill>
                <a:latin typeface="MiSans"/>
                <a:ea typeface="MiSans"/>
              </a:rPr>
              <a:t>и т. д</a:t>
            </a: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.) </a:t>
            </a:r>
            <a:r>
              <a:rPr lang="ru-RU" sz="1150" dirty="0">
                <a:solidFill>
                  <a:srgbClr val="9A9AA8"/>
                </a:solidFill>
                <a:latin typeface="MiSans"/>
                <a:ea typeface="MiSans"/>
              </a:rPr>
              <a:t> вы сами публикуете контент, сгенерированный </a:t>
            </a:r>
            <a:r>
              <a:rPr lang="ru-RU" sz="1150" dirty="0" err="1">
                <a:solidFill>
                  <a:srgbClr val="9A9AA8"/>
                </a:solidFill>
                <a:latin typeface="MiSans"/>
                <a:ea typeface="MiSans"/>
              </a:rPr>
              <a:t>Промптер</a:t>
            </a:r>
            <a:endParaRPr lang="ru-RU" sz="1150" dirty="0">
              <a:solidFill>
                <a:srgbClr val="9A9AA8"/>
              </a:solidFill>
              <a:latin typeface="MiSans"/>
              <a:ea typeface="MiSans"/>
            </a:endParaRPr>
          </a:p>
          <a:p>
            <a:pPr>
              <a:lnSpc>
                <a:spcPct val="135000"/>
              </a:lnSpc>
            </a:pPr>
            <a:endParaRPr lang="ru-RU" sz="1150" dirty="0">
              <a:solidFill>
                <a:srgbClr val="9A9AA8"/>
              </a:solidFill>
              <a:latin typeface="MiSans"/>
            </a:endParaRPr>
          </a:p>
          <a:p>
            <a:pPr>
              <a:lnSpc>
                <a:spcPct val="135000"/>
              </a:lnSpc>
            </a:pPr>
            <a:endParaRPr lang="en-US" sz="1150" dirty="0"/>
          </a:p>
        </p:txBody>
      </p:sp>
      <p:sp>
        <p:nvSpPr>
          <p:cNvPr id="26" name="footnote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262635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7" name="footnote"/>
          <p:cNvSpPr txBox="1"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1">
                <a:solidFill>
                  <a:srgbClr val="9A9AA8"/>
                </a:solidFill>
                <a:latin typeface="MiSans"/>
                <a:ea typeface="MiSans"/>
              </a:rPr>
              <a:t>* Все работы выполняются в строгом соответствии с законодательством Российской Федерации. Договор и закрывающие документы предоставляются. Instagram принадлежит компании Meta, признанной экстремистской организацией и запрещённой на территории Российской Федерации.</a:t>
            </a:r>
            <a:endParaRPr lang="en-US" sz="1050"/>
          </a:p>
        </p:txBody>
      </p:sp>
      <p:sp>
        <p:nvSpPr>
          <p:cNvPr id="28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08 / 09</a:t>
            </a:r>
            <a:endParaRPr lang="en-US" sz="9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1B6D24-25E8-6E28-6A4A-18E2B58B2C72}"/>
              </a:ext>
            </a:extLst>
          </p:cNvPr>
          <p:cNvSpPr txBox="1"/>
          <p:nvPr/>
        </p:nvSpPr>
        <p:spPr>
          <a:xfrm>
            <a:off x="711200" y="4568195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i="1" dirty="0">
                <a:solidFill>
                  <a:srgbClr val="9A9AA8"/>
                </a:solidFill>
                <a:latin typeface="MiSans"/>
              </a:rPr>
              <a:t>За подробностями и </a:t>
            </a:r>
            <a:r>
              <a:rPr lang="ru-RU" sz="1200" b="1" i="1" dirty="0" err="1">
                <a:solidFill>
                  <a:srgbClr val="9A9AA8"/>
                </a:solidFill>
                <a:latin typeface="MiSans"/>
              </a:rPr>
              <a:t>подключеним</a:t>
            </a:r>
            <a:r>
              <a:rPr lang="ru-RU" sz="1200" b="1" i="1" dirty="0">
                <a:solidFill>
                  <a:srgbClr val="9A9AA8"/>
                </a:solidFill>
                <a:latin typeface="MiSans"/>
              </a:rPr>
              <a:t> резидентов Москвы и МО  обращайтесь по телефону +79067587777 .</a:t>
            </a:r>
          </a:p>
        </p:txBody>
      </p:sp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604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 dirty="0">
                <a:solidFill>
                  <a:srgbClr val="F5F5F7"/>
                </a:solidFill>
                <a:latin typeface="MiSans"/>
                <a:ea typeface="MiSans"/>
              </a:rPr>
              <a:t>КОМАНДА</a:t>
            </a:r>
            <a:r>
              <a:rPr lang="ru-RU" sz="2500" b="1" dirty="0">
                <a:solidFill>
                  <a:srgbClr val="F5F5F7"/>
                </a:solidFill>
                <a:latin typeface="MiSans"/>
                <a:ea typeface="MiSans"/>
              </a:rPr>
              <a:t> МОСКВЫ</a:t>
            </a:r>
            <a:r>
              <a:rPr lang="en-US" sz="25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ru-RU" sz="2500" b="1" dirty="0">
                <a:solidFill>
                  <a:srgbClr val="F5F5F7"/>
                </a:solidFill>
                <a:latin typeface="MiSans"/>
                <a:ea typeface="MiSans"/>
              </a:rPr>
              <a:t>ПО</a:t>
            </a:r>
            <a:r>
              <a:rPr lang="en-US" sz="2500" b="1" dirty="0">
                <a:solidFill>
                  <a:srgbClr val="F5F5F7"/>
                </a:solidFill>
                <a:latin typeface="MiSans"/>
                <a:ea typeface="MiSans"/>
              </a:rPr>
              <a:t> СОПРОВОЖДЕНИ</a:t>
            </a:r>
            <a:r>
              <a:rPr lang="ru-RU" sz="2500" b="1" dirty="0">
                <a:solidFill>
                  <a:srgbClr val="F5F5F7"/>
                </a:solidFill>
                <a:latin typeface="MiSans"/>
                <a:ea typeface="MiSans"/>
              </a:rPr>
              <a:t>Ю</a:t>
            </a:r>
            <a:endParaRPr lang="en-US" sz="2500" dirty="0"/>
          </a:p>
          <a:p>
            <a:pPr algn="l">
              <a:lnSpc>
                <a:spcPct val="125000"/>
              </a:lnSpc>
            </a:pPr>
            <a:r>
              <a:rPr lang="en-US" sz="2500" b="1" dirty="0">
                <a:solidFill>
                  <a:srgbClr val="F5F5F7"/>
                </a:solidFill>
                <a:latin typeface="MiSans"/>
                <a:ea typeface="MiSans"/>
              </a:rPr>
              <a:t>КЛИЕНТОВ ПРОМПТЕРА</a:t>
            </a:r>
            <a:endParaRPr lang="en-US" sz="2500" dirty="0"/>
          </a:p>
        </p:txBody>
      </p:sp>
      <p:sp>
        <p:nvSpPr>
          <p:cNvPr id="4" name="title-rule"/>
          <p:cNvSpPr/>
          <p:nvPr/>
        </p:nvSpPr>
        <p:spPr>
          <a:xfrm>
            <a:off x="711200" y="1549400"/>
            <a:ext cx="609600" cy="254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subtitle"/>
          <p:cNvSpPr txBox="1"/>
          <p:nvPr/>
        </p:nvSpPr>
        <p:spPr>
          <a:xfrm>
            <a:off x="711200" y="1701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Мы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не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просто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запускаем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систему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—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наша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команда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остаётся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рядом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работает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на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результат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клиента</a:t>
            </a:r>
            <a:endParaRPr lang="en-US" sz="1300" dirty="0"/>
          </a:p>
        </p:txBody>
      </p:sp>
      <p:sp>
        <p:nvSpPr>
          <p:cNvPr id="6" name="p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eyJpY29uTmFtZSI6ImZhczpoZWFkc2V0In0</pptd:icon>
              </p:ext>
            </p:extLst>
          </p:nvPr>
        </p:nvSpPr>
        <p:spPr>
          <a:xfrm>
            <a:off x="711200" y="243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p1-title"/>
          <p:cNvSpPr txBox="1"/>
          <p:nvPr/>
        </p:nvSpPr>
        <p:spPr>
          <a:xfrm>
            <a:off x="1219200" y="2438400"/>
            <a:ext cx="599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dirty="0" err="1">
                <a:solidFill>
                  <a:srgbClr val="F5F5F7"/>
                </a:solidFill>
                <a:latin typeface="MiSans"/>
                <a:ea typeface="MiSans"/>
              </a:rPr>
              <a:t>Постоянный</a:t>
            </a:r>
            <a:r>
              <a:rPr lang="en-US" sz="15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500" b="1" dirty="0" err="1">
                <a:solidFill>
                  <a:srgbClr val="F5F5F7"/>
                </a:solidFill>
                <a:latin typeface="MiSans"/>
                <a:ea typeface="MiSans"/>
              </a:rPr>
              <a:t>мониторинг</a:t>
            </a:r>
            <a:endParaRPr lang="en-US" sz="1500" dirty="0"/>
          </a:p>
        </p:txBody>
      </p:sp>
      <p:sp>
        <p:nvSpPr>
          <p:cNvPr id="8" name="p1-desc"/>
          <p:cNvSpPr txBox="1"/>
          <p:nvPr/>
        </p:nvSpPr>
        <p:spPr>
          <a:xfrm>
            <a:off x="1219200" y="2743200"/>
            <a:ext cx="5994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9AA8"/>
                </a:solidFill>
                <a:latin typeface="MiSans"/>
                <a:ea typeface="MiSans"/>
              </a:rPr>
              <a:t>Регулярно отслеживаем присутствие бренда в нейровыдаче и корректируем стратегию под цели клиента</a:t>
            </a:r>
            <a:endParaRPr lang="en-US" sz="1200"/>
          </a:p>
        </p:txBody>
      </p:sp>
      <p:sp>
        <p:nvSpPr>
          <p:cNvPr id="9" name="p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eyJpY29uTmFtZSI6ImZhczpjb21tZW50cyJ9</pptd:icon>
              </p:ext>
            </p:extLst>
          </p:nvPr>
        </p:nvSpPr>
        <p:spPr>
          <a:xfrm>
            <a:off x="711200" y="347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p2-title"/>
          <p:cNvSpPr txBox="1"/>
          <p:nvPr/>
        </p:nvSpPr>
        <p:spPr>
          <a:xfrm>
            <a:off x="1219200" y="3479800"/>
            <a:ext cx="599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5F5F7"/>
                </a:solidFill>
                <a:latin typeface="MiSans"/>
                <a:ea typeface="MiSans"/>
              </a:rPr>
              <a:t>Живая команда на связи</a:t>
            </a:r>
            <a:endParaRPr lang="en-US" sz="1500"/>
          </a:p>
        </p:txBody>
      </p:sp>
      <p:sp>
        <p:nvSpPr>
          <p:cNvPr id="11" name="p2-desc"/>
          <p:cNvSpPr txBox="1"/>
          <p:nvPr/>
        </p:nvSpPr>
        <p:spPr>
          <a:xfrm>
            <a:off x="1219200" y="3784600"/>
            <a:ext cx="5994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9AA8"/>
                </a:solidFill>
                <a:latin typeface="MiSans"/>
                <a:ea typeface="MiSans"/>
              </a:rPr>
              <a:t>Помогаем с контентом и площадками — вы не останетесь один на один с алгоритмами</a:t>
            </a:r>
            <a:endParaRPr lang="en-US" sz="1200"/>
          </a:p>
        </p:txBody>
      </p:sp>
      <p:sp>
        <p:nvSpPr>
          <p:cNvPr id="12" name="p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eyJpY29uTmFtZSI6ImZhczpyb2NrZXQifQ</pptd:icon>
              </p:ext>
            </p:extLst>
          </p:nvPr>
        </p:nvSpPr>
        <p:spPr>
          <a:xfrm>
            <a:off x="711200" y="452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320"/>
                </a:moveTo>
                <a:lnTo>
                  <a:pt x="25" y="320"/>
                </a:lnTo>
                <a:cubicBezTo>
                  <a:pt x="0" y="320"/>
                  <a:pt x="-16" y="293"/>
                  <a:pt x="-3" y="272"/>
                </a:cubicBezTo>
                <a:lnTo>
                  <a:pt x="50" y="183"/>
                </a:lnTo>
                <a:cubicBezTo>
                  <a:pt x="59" y="169"/>
                  <a:pt x="74" y="160"/>
                  <a:pt x="91" y="160"/>
                </a:cubicBezTo>
                <a:lnTo>
                  <a:pt x="186" y="160"/>
                </a:lnTo>
                <a:cubicBezTo>
                  <a:pt x="262" y="31"/>
                  <a:pt x="376" y="25"/>
                  <a:pt x="452" y="36"/>
                </a:cubicBezTo>
                <a:cubicBezTo>
                  <a:pt x="465" y="38"/>
                  <a:pt x="475" y="48"/>
                  <a:pt x="476" y="60"/>
                </a:cubicBezTo>
                <a:cubicBezTo>
                  <a:pt x="487" y="136"/>
                  <a:pt x="481" y="250"/>
                  <a:pt x="352" y="326"/>
                </a:cubicBezTo>
                <a:lnTo>
                  <a:pt x="352" y="421"/>
                </a:lnTo>
                <a:cubicBezTo>
                  <a:pt x="352" y="438"/>
                  <a:pt x="343" y="453"/>
                  <a:pt x="329" y="462"/>
                </a:cubicBezTo>
                <a:lnTo>
                  <a:pt x="241" y="515"/>
                </a:lnTo>
                <a:cubicBezTo>
                  <a:pt x="219" y="528"/>
                  <a:pt x="192" y="512"/>
                  <a:pt x="192" y="488"/>
                </a:cubicBezTo>
                <a:lnTo>
                  <a:pt x="192" y="384"/>
                </a:lnTo>
                <a:cubicBezTo>
                  <a:pt x="192" y="349"/>
                  <a:pt x="163" y="320"/>
                  <a:pt x="128" y="320"/>
                </a:cubicBezTo>
                <a:lnTo>
                  <a:pt x="128" y="320"/>
                </a:lnTo>
                <a:close/>
                <a:moveTo>
                  <a:pt x="400" y="160"/>
                </a:moveTo>
                <a:cubicBezTo>
                  <a:pt x="400" y="133"/>
                  <a:pt x="379" y="112"/>
                  <a:pt x="352" y="112"/>
                </a:cubicBezTo>
                <a:cubicBezTo>
                  <a:pt x="325" y="112"/>
                  <a:pt x="304" y="133"/>
                  <a:pt x="304" y="160"/>
                </a:cubicBezTo>
                <a:cubicBezTo>
                  <a:pt x="304" y="187"/>
                  <a:pt x="325" y="208"/>
                  <a:pt x="352" y="208"/>
                </a:cubicBezTo>
                <a:cubicBezTo>
                  <a:pt x="379" y="208"/>
                  <a:pt x="400" y="187"/>
                  <a:pt x="400" y="16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p3-title"/>
          <p:cNvSpPr txBox="1"/>
          <p:nvPr/>
        </p:nvSpPr>
        <p:spPr>
          <a:xfrm>
            <a:off x="1219200" y="4521200"/>
            <a:ext cx="599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5F5F7"/>
                </a:solidFill>
                <a:latin typeface="MiSans"/>
                <a:ea typeface="MiSans"/>
              </a:rPr>
              <a:t>Развитие вместе с рынком</a:t>
            </a:r>
            <a:endParaRPr lang="en-US" sz="1500"/>
          </a:p>
        </p:txBody>
      </p:sp>
      <p:sp>
        <p:nvSpPr>
          <p:cNvPr id="14" name="p3-desc"/>
          <p:cNvSpPr txBox="1"/>
          <p:nvPr/>
        </p:nvSpPr>
        <p:spPr>
          <a:xfrm>
            <a:off x="1219200" y="4826000"/>
            <a:ext cx="5994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9AA8"/>
                </a:solidFill>
                <a:latin typeface="MiSans"/>
                <a:ea typeface="MiSans"/>
              </a:rPr>
              <a:t>Платформа обновляется следом за алгоритмами нейросетей — клиенты всегда на шаг впереди</a:t>
            </a:r>
            <a:endParaRPr lang="en-US" sz="1200"/>
          </a:p>
        </p:txBody>
      </p:sp>
      <p:sp>
        <p:nvSpPr>
          <p:cNvPr id="16" name="photo-caption"/>
          <p:cNvSpPr txBox="1"/>
          <p:nvPr/>
        </p:nvSpPr>
        <p:spPr>
          <a:xfrm>
            <a:off x="7670800" y="3581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Команда</a:t>
            </a:r>
            <a:r>
              <a:rPr lang="en-US" sz="105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Промптера</a:t>
            </a:r>
            <a:r>
              <a:rPr lang="en-US" sz="1050" i="1" dirty="0">
                <a:solidFill>
                  <a:srgbClr val="9A9AA8"/>
                </a:solidFill>
                <a:latin typeface="MiSans"/>
                <a:ea typeface="MiSans"/>
              </a:rPr>
              <a:t>: </a:t>
            </a: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технологии</a:t>
            </a:r>
            <a:r>
              <a:rPr lang="en-US" sz="1050" i="1" dirty="0">
                <a:solidFill>
                  <a:srgbClr val="9A9AA8"/>
                </a:solidFill>
                <a:latin typeface="MiSans"/>
                <a:ea typeface="MiSans"/>
              </a:rPr>
              <a:t> ИИ + </a:t>
            </a: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живое</a:t>
            </a:r>
            <a:r>
              <a:rPr lang="en-US" sz="105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сопровождение</a:t>
            </a:r>
            <a:r>
              <a:rPr lang="en-US" sz="105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клиентов</a:t>
            </a:r>
            <a:endParaRPr lang="en-US" sz="1050" dirty="0"/>
          </a:p>
        </p:txBody>
      </p:sp>
      <p:sp>
        <p:nvSpPr>
          <p:cNvPr id="17" name="contacts-panel"/>
          <p:cNvSpPr/>
          <p:nvPr/>
        </p:nvSpPr>
        <p:spPr>
          <a:xfrm>
            <a:off x="711200" y="5562600"/>
            <a:ext cx="10769600" cy="7874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contacts-accent"/>
          <p:cNvSpPr/>
          <p:nvPr/>
        </p:nvSpPr>
        <p:spPr>
          <a:xfrm>
            <a:off x="711200" y="5562600"/>
            <a:ext cx="38100" cy="7874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19" name="contacts-label"/>
          <p:cNvSpPr txBox="1"/>
          <p:nvPr/>
        </p:nvSpPr>
        <p:spPr>
          <a:xfrm>
            <a:off x="1016000" y="5562600"/>
            <a:ext cx="17272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100" dirty="0">
                <a:solidFill>
                  <a:schemeClr val="bg1"/>
                </a:solidFill>
                <a:latin typeface="MiSans"/>
                <a:ea typeface="MiSans"/>
              </a:rPr>
              <a:t>КОНТАКТЫ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contact-phone"/>
          <p:cNvSpPr txBox="1"/>
          <p:nvPr/>
        </p:nvSpPr>
        <p:spPr>
          <a:xfrm>
            <a:off x="2819400" y="554812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 err="1">
                <a:solidFill>
                  <a:schemeClr val="bg1"/>
                </a:solidFill>
                <a:latin typeface="MiSans"/>
              </a:rPr>
              <a:t>Телефон</a:t>
            </a:r>
            <a:r>
              <a:rPr lang="en-US" sz="1300" dirty="0">
                <a:solidFill>
                  <a:schemeClr val="bg1"/>
                </a:solidFill>
                <a:latin typeface="MiSans"/>
              </a:rPr>
              <a:t>: </a:t>
            </a:r>
            <a:r>
              <a:rPr lang="ru-RU" sz="1300" dirty="0">
                <a:solidFill>
                  <a:schemeClr val="bg1"/>
                </a:solidFill>
                <a:latin typeface="MiSans"/>
              </a:rPr>
              <a:t>+79067587777 </a:t>
            </a:r>
            <a:endParaRPr lang="en-US" sz="1300" dirty="0">
              <a:solidFill>
                <a:schemeClr val="bg1"/>
              </a:solidFill>
              <a:latin typeface="MiSans"/>
            </a:endParaRPr>
          </a:p>
        </p:txBody>
      </p:sp>
      <p:sp>
        <p:nvSpPr>
          <p:cNvPr id="21" name="contact-mail"/>
          <p:cNvSpPr txBox="1"/>
          <p:nvPr/>
        </p:nvSpPr>
        <p:spPr>
          <a:xfrm>
            <a:off x="8534400" y="5538387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chemeClr val="bg1"/>
                </a:solidFill>
                <a:latin typeface="MiSans"/>
                <a:ea typeface="MiSans"/>
              </a:rPr>
              <a:t>E-mail: </a:t>
            </a:r>
            <a:r>
              <a:rPr lang="en-US" sz="1300" dirty="0">
                <a:solidFill>
                  <a:schemeClr val="bg1"/>
                </a:solidFill>
                <a:latin typeface="MiSans"/>
              </a:rPr>
              <a:t>Methodmos@mail.ru</a:t>
            </a:r>
          </a:p>
        </p:txBody>
      </p:sp>
      <p:sp>
        <p:nvSpPr>
          <p:cNvPr id="23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09 / 09</a:t>
            </a:r>
            <a:endParaRPr lang="en-US" sz="90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B13B29C-656E-5C78-8FD9-1E11366C8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463" y="914400"/>
            <a:ext cx="3711535" cy="2565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38CF235-0817-4190-4B3F-164600FB9C97}"/>
              </a:ext>
            </a:extLst>
          </p:cNvPr>
          <p:cNvSpPr txBox="1"/>
          <p:nvPr/>
        </p:nvSpPr>
        <p:spPr>
          <a:xfrm>
            <a:off x="5689600" y="5822806"/>
            <a:ext cx="23292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MiSans"/>
              </a:rPr>
              <a:t>Telegram: @METHODmos</a:t>
            </a:r>
            <a:endParaRPr lang="ru-RU" sz="1300" dirty="0">
              <a:solidFill>
                <a:schemeClr val="bg1"/>
              </a:solidFill>
              <a:latin typeface="MiSans"/>
            </a:endParaRPr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886</Words>
  <Application>Microsoft Office PowerPoint</Application>
  <PresentationFormat>Широкоэкранный</PresentationFormat>
  <Paragraphs>134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Промптер — представление компании</dc:title>
  <dc:subject>Промптер — представление компании</dc:subject>
  <dc:creator>Kimi</dc:creator>
  <cp:lastModifiedBy>Пупкин Толя</cp:lastModifiedBy>
  <cp:revision>4</cp:revision>
  <dcterms:modified xsi:type="dcterms:W3CDTF">2026-08-05T12:55:48Z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{"Label":"Промптер — представление компании","ContentProducer":"001191110108MACG2KBH8F10000","ProduceID":"19f9002e-0f52-87c7-8000-00006034c46f","ReservedCode1":"","ContentPropagator":"001191110108MACG2KBH8F20000","PropagateID":"19f73adb-8c92-8708-8000-09088e4502a4","ReservedCode2":""}</vt:lpwstr>
  </property>
</Properties>
</file>