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0A0E"/>
    <a:srgbClr val="E8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ompter-ai.moscow/zayavka.html?from=presentation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2157"/>
                </a:srgbClr>
              </a:gs>
              <a:gs pos="50000">
                <a:srgbClr val="0A0A0E">
                  <a:alpha val="80000"/>
                </a:srgbClr>
              </a:gs>
              <a:gs pos="100000">
                <a:srgbClr val="0A0A0E">
                  <a:alpha val="2000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"/>
          <p:cNvSpPr txBox="1"/>
          <p:nvPr/>
        </p:nvSpPr>
        <p:spPr>
          <a:xfrm>
            <a:off x="1422400" y="7112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600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22400" y="1066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9A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17907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400" dirty="0">
                <a:solidFill>
                  <a:srgbClr val="E8453C"/>
                </a:solidFill>
                <a:latin typeface="MiSans"/>
                <a:ea typeface="MiSans"/>
              </a:rPr>
              <a:t>ПРЕДСТАВЛЕНИЕ КОМПАНИИ</a:t>
            </a:r>
            <a:endParaRPr lang="en-US" sz="1200" dirty="0"/>
          </a:p>
        </p:txBody>
      </p:sp>
      <p:sp>
        <p:nvSpPr>
          <p:cNvPr id="7" name="title"/>
          <p:cNvSpPr txBox="1"/>
          <p:nvPr/>
        </p:nvSpPr>
        <p:spPr>
          <a:xfrm>
            <a:off x="711200" y="2483502"/>
            <a:ext cx="8937475" cy="21922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4000" b="1" dirty="0">
                <a:solidFill>
                  <a:srgbClr val="F5F5F7"/>
                </a:solidFill>
                <a:latin typeface="MiSans"/>
              </a:rPr>
              <a:t>Комплексное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GEO- 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и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SEO-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продвижение бизнеса с сервисом </a:t>
            </a:r>
            <a:r>
              <a:rPr lang="ru-RU" sz="4000" b="1" dirty="0" err="1">
                <a:solidFill>
                  <a:srgbClr val="F5F5F7"/>
                </a:solidFill>
                <a:latin typeface="MiSans"/>
              </a:rPr>
              <a:t>Промптер</a:t>
            </a:r>
            <a:endParaRPr lang="ru-RU" sz="4000" b="1" dirty="0">
              <a:solidFill>
                <a:srgbClr val="F5F5F7"/>
              </a:solidFill>
              <a:latin typeface="MiSans"/>
            </a:endParaRPr>
          </a:p>
          <a:p>
            <a:pPr algn="l">
              <a:lnSpc>
                <a:spcPct val="120000"/>
              </a:lnSpc>
            </a:pPr>
            <a:endParaRPr lang="en-US" sz="4000" dirty="0"/>
          </a:p>
        </p:txBody>
      </p:sp>
      <p:sp>
        <p:nvSpPr>
          <p:cNvPr id="9" name="subtitle"/>
          <p:cNvSpPr txBox="1"/>
          <p:nvPr/>
        </p:nvSpPr>
        <p:spPr>
          <a:xfrm>
            <a:off x="711199" y="4419600"/>
            <a:ext cx="8458437" cy="998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автономная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GEO- и SEO-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вашем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бизнесе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сама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публикует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ru-RU" sz="1500" dirty="0">
                <a:solidFill>
                  <a:srgbClr val="9A9AA8"/>
                </a:solidFill>
                <a:latin typeface="MiSans"/>
                <a:ea typeface="MiSans"/>
              </a:rPr>
              <a:t>. 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Делаем ваш бизнес заметным в </a:t>
            </a:r>
            <a:r>
              <a:rPr lang="ru-RU" sz="1500" dirty="0" err="1">
                <a:solidFill>
                  <a:srgbClr val="9A9AA8"/>
                </a:solidFill>
                <a:latin typeface="MiSans"/>
              </a:rPr>
              <a:t>нейровыдаче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 </a:t>
            </a:r>
            <a:r>
              <a:rPr lang="ru-RU" sz="1500" dirty="0">
                <a:solidFill>
                  <a:srgbClr val="9A9AA8"/>
                </a:solidFill>
              </a:rPr>
              <a:t>и поисковых системах</a:t>
            </a:r>
            <a:endParaRPr lang="en-US" sz="1500" dirty="0">
              <a:solidFill>
                <a:srgbClr val="9A9AA8"/>
              </a:solidFill>
              <a:latin typeface="MiSans"/>
            </a:endParaRPr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608E8DD-4211-16CA-E499-FFFAE3068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9" y="639292"/>
            <a:ext cx="774343" cy="8339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D57932-6AD8-5817-EB54-9A01BC3F1837}"/>
              </a:ext>
            </a:extLst>
          </p:cNvPr>
          <p:cNvSpPr/>
          <p:nvPr/>
        </p:nvSpPr>
        <p:spPr>
          <a:xfrm>
            <a:off x="85458" y="6434983"/>
            <a:ext cx="774343" cy="308124"/>
          </a:xfrm>
          <a:prstGeom prst="rect">
            <a:avLst/>
          </a:prstGeom>
          <a:solidFill>
            <a:srgbClr val="090A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-img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711200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ai-overlay"/>
          <p:cNvSpPr/>
          <p:nvPr/>
        </p:nvSpPr>
        <p:spPr>
          <a:xfrm>
            <a:off x="711200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4902"/>
                </a:srgbClr>
              </a:gs>
              <a:gs pos="50000">
                <a:srgbClr val="0A0A0E">
                  <a:alpha val="40000"/>
                </a:srgbClr>
              </a:gs>
              <a:gs pos="100000">
                <a:srgbClr val="0A0A0E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mark"/>
          <p:cNvSpPr txBox="1"/>
          <p:nvPr/>
        </p:nvSpPr>
        <p:spPr>
          <a:xfrm>
            <a:off x="7112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711200" y="8128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ru-RU" sz="2700" b="1" dirty="0">
                <a:solidFill>
                  <a:srgbClr val="C00000"/>
                </a:solidFill>
                <a:latin typeface="MiSans"/>
                <a:ea typeface="MiSans"/>
              </a:rPr>
              <a:t>О</a:t>
            </a:r>
            <a:r>
              <a:rPr lang="ru-RU" sz="2700" b="1" dirty="0">
                <a:solidFill>
                  <a:srgbClr val="F5F5F7"/>
                </a:solidFill>
                <a:latin typeface="MiSans"/>
                <a:ea typeface="MiSans"/>
              </a:rPr>
              <a:t> КОМПАНИИ</a:t>
            </a:r>
            <a:endParaRPr lang="en-US" sz="2700" dirty="0"/>
          </a:p>
        </p:txBody>
      </p:sp>
      <p:sp>
        <p:nvSpPr>
          <p:cNvPr id="6" name="title-rule"/>
          <p:cNvSpPr/>
          <p:nvPr/>
        </p:nvSpPr>
        <p:spPr>
          <a:xfrm>
            <a:off x="711200" y="1778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body"/>
          <p:cNvSpPr txBox="1"/>
          <p:nvPr/>
        </p:nvSpPr>
        <p:spPr>
          <a:xfrm>
            <a:off x="711200" y="2006600"/>
            <a:ext cx="5969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Промптер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технологическая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компания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стыке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искусственного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интеллекта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и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маркетинга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создали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автономную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платформу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цифрового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продвижения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,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которая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берёт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себя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весь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цикл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работы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с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контентом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от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идеи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до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публикации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</a:t>
            </a:r>
            <a:endParaRPr lang="en-US" sz="1350" dirty="0"/>
          </a:p>
        </p:txBody>
      </p:sp>
      <p:sp>
        <p:nvSpPr>
          <p:cNvPr id="8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eyJpY29uTmFtZSI6ImZhczpyb2JvdCJ9</pptd:icon>
              </p:ext>
            </p:extLst>
          </p:nvPr>
        </p:nvSpPr>
        <p:spPr>
          <a:xfrm>
            <a:off x="711200" y="3810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52" y="0"/>
                </a:moveTo>
                <a:cubicBezTo>
                  <a:pt x="352" y="-18"/>
                  <a:pt x="338" y="-32"/>
                  <a:pt x="320" y="-32"/>
                </a:cubicBezTo>
                <a:cubicBezTo>
                  <a:pt x="302" y="-32"/>
                  <a:pt x="288" y="-18"/>
                  <a:pt x="288" y="0"/>
                </a:cubicBezTo>
                <a:lnTo>
                  <a:pt x="288" y="64"/>
                </a:lnTo>
                <a:lnTo>
                  <a:pt x="192" y="64"/>
                </a:lnTo>
                <a:cubicBezTo>
                  <a:pt x="139" y="64"/>
                  <a:pt x="96" y="107"/>
                  <a:pt x="96" y="160"/>
                </a:cubicBezTo>
                <a:lnTo>
                  <a:pt x="96" y="384"/>
                </a:lnTo>
                <a:cubicBezTo>
                  <a:pt x="96" y="437"/>
                  <a:pt x="139" y="480"/>
                  <a:pt x="192" y="480"/>
                </a:cubicBezTo>
                <a:lnTo>
                  <a:pt x="448" y="480"/>
                </a:lnTo>
                <a:cubicBezTo>
                  <a:pt x="501" y="480"/>
                  <a:pt x="544" y="437"/>
                  <a:pt x="544" y="384"/>
                </a:cubicBezTo>
                <a:lnTo>
                  <a:pt x="544" y="160"/>
                </a:lnTo>
                <a:cubicBezTo>
                  <a:pt x="544" y="107"/>
                  <a:pt x="501" y="64"/>
                  <a:pt x="448" y="64"/>
                </a:cubicBezTo>
                <a:lnTo>
                  <a:pt x="352" y="64"/>
                </a:lnTo>
                <a:lnTo>
                  <a:pt x="352" y="0"/>
                </a:lnTo>
                <a:close/>
                <a:moveTo>
                  <a:pt x="160" y="368"/>
                </a:moveTo>
                <a:cubicBezTo>
                  <a:pt x="160" y="355"/>
                  <a:pt x="171" y="344"/>
                  <a:pt x="184" y="344"/>
                </a:cubicBezTo>
                <a:lnTo>
                  <a:pt x="216" y="344"/>
                </a:lnTo>
                <a:cubicBezTo>
                  <a:pt x="229" y="344"/>
                  <a:pt x="240" y="355"/>
                  <a:pt x="240" y="368"/>
                </a:cubicBezTo>
                <a:cubicBezTo>
                  <a:pt x="240" y="381"/>
                  <a:pt x="229" y="392"/>
                  <a:pt x="216" y="392"/>
                </a:cubicBezTo>
                <a:lnTo>
                  <a:pt x="184" y="392"/>
                </a:lnTo>
                <a:cubicBezTo>
                  <a:pt x="171" y="392"/>
                  <a:pt x="160" y="381"/>
                  <a:pt x="160" y="368"/>
                </a:cubicBezTo>
                <a:close/>
                <a:moveTo>
                  <a:pt x="280" y="368"/>
                </a:moveTo>
                <a:cubicBezTo>
                  <a:pt x="280" y="355"/>
                  <a:pt x="291" y="344"/>
                  <a:pt x="304" y="344"/>
                </a:cubicBezTo>
                <a:lnTo>
                  <a:pt x="336" y="344"/>
                </a:lnTo>
                <a:cubicBezTo>
                  <a:pt x="349" y="344"/>
                  <a:pt x="360" y="355"/>
                  <a:pt x="360" y="368"/>
                </a:cubicBezTo>
                <a:cubicBezTo>
                  <a:pt x="360" y="381"/>
                  <a:pt x="349" y="392"/>
                  <a:pt x="336" y="392"/>
                </a:cubicBezTo>
                <a:lnTo>
                  <a:pt x="304" y="392"/>
                </a:lnTo>
                <a:cubicBezTo>
                  <a:pt x="291" y="392"/>
                  <a:pt x="280" y="381"/>
                  <a:pt x="280" y="368"/>
                </a:cubicBezTo>
                <a:close/>
                <a:moveTo>
                  <a:pt x="400" y="368"/>
                </a:moveTo>
                <a:cubicBezTo>
                  <a:pt x="400" y="355"/>
                  <a:pt x="411" y="344"/>
                  <a:pt x="424" y="344"/>
                </a:cubicBezTo>
                <a:lnTo>
                  <a:pt x="456" y="344"/>
                </a:lnTo>
                <a:cubicBezTo>
                  <a:pt x="469" y="344"/>
                  <a:pt x="480" y="355"/>
                  <a:pt x="480" y="368"/>
                </a:cubicBezTo>
                <a:cubicBezTo>
                  <a:pt x="480" y="381"/>
                  <a:pt x="469" y="392"/>
                  <a:pt x="456" y="392"/>
                </a:cubicBezTo>
                <a:lnTo>
                  <a:pt x="424" y="392"/>
                </a:lnTo>
                <a:cubicBezTo>
                  <a:pt x="411" y="392"/>
                  <a:pt x="400" y="381"/>
                  <a:pt x="400" y="368"/>
                </a:cubicBezTo>
                <a:close/>
                <a:moveTo>
                  <a:pt x="224" y="176"/>
                </a:moveTo>
                <a:cubicBezTo>
                  <a:pt x="251" y="176"/>
                  <a:pt x="272" y="197"/>
                  <a:pt x="272" y="224"/>
                </a:cubicBezTo>
                <a:cubicBezTo>
                  <a:pt x="272" y="251"/>
                  <a:pt x="251" y="272"/>
                  <a:pt x="224" y="272"/>
                </a:cubicBezTo>
                <a:cubicBezTo>
                  <a:pt x="197" y="272"/>
                  <a:pt x="176" y="251"/>
                  <a:pt x="176" y="224"/>
                </a:cubicBezTo>
                <a:cubicBezTo>
                  <a:pt x="176" y="197"/>
                  <a:pt x="197" y="176"/>
                  <a:pt x="224" y="176"/>
                </a:cubicBezTo>
                <a:close/>
                <a:moveTo>
                  <a:pt x="368" y="224"/>
                </a:moveTo>
                <a:cubicBezTo>
                  <a:pt x="368" y="197"/>
                  <a:pt x="389" y="176"/>
                  <a:pt x="416" y="176"/>
                </a:cubicBezTo>
                <a:cubicBezTo>
                  <a:pt x="443" y="176"/>
                  <a:pt x="464" y="197"/>
                  <a:pt x="464" y="224"/>
                </a:cubicBezTo>
                <a:cubicBezTo>
                  <a:pt x="464" y="251"/>
                  <a:pt x="443" y="272"/>
                  <a:pt x="416" y="272"/>
                </a:cubicBezTo>
                <a:cubicBezTo>
                  <a:pt x="389" y="272"/>
                  <a:pt x="368" y="251"/>
                  <a:pt x="368" y="224"/>
                </a:cubicBezTo>
                <a:close/>
              </a:path>
              <a:path w="640" h="512">
                <a:moveTo>
                  <a:pt x="64" y="224"/>
                </a:moveTo>
                <a:cubicBezTo>
                  <a:pt x="64" y="206"/>
                  <a:pt x="50" y="192"/>
                  <a:pt x="32" y="192"/>
                </a:cubicBezTo>
                <a:cubicBezTo>
                  <a:pt x="14" y="192"/>
                  <a:pt x="0" y="206"/>
                  <a:pt x="0" y="224"/>
                </a:cubicBezTo>
                <a:lnTo>
                  <a:pt x="0" y="320"/>
                </a:lnTo>
                <a:cubicBezTo>
                  <a:pt x="0" y="338"/>
                  <a:pt x="14" y="352"/>
                  <a:pt x="32" y="352"/>
                </a:cubicBezTo>
                <a:cubicBezTo>
                  <a:pt x="50" y="352"/>
                  <a:pt x="64" y="338"/>
                  <a:pt x="64" y="320"/>
                </a:cubicBezTo>
                <a:lnTo>
                  <a:pt x="64" y="224"/>
                </a:lnTo>
                <a:close/>
              </a:path>
              <a:path w="640" h="512">
                <a:moveTo>
                  <a:pt x="608" y="192"/>
                </a:moveTo>
                <a:cubicBezTo>
                  <a:pt x="590" y="192"/>
                  <a:pt x="576" y="206"/>
                  <a:pt x="576" y="224"/>
                </a:cubicBezTo>
                <a:lnTo>
                  <a:pt x="576" y="320"/>
                </a:lnTo>
                <a:cubicBezTo>
                  <a:pt x="576" y="338"/>
                  <a:pt x="590" y="352"/>
                  <a:pt x="608" y="352"/>
                </a:cubicBezTo>
                <a:cubicBezTo>
                  <a:pt x="626" y="352"/>
                  <a:pt x="640" y="338"/>
                  <a:pt x="640" y="320"/>
                </a:cubicBezTo>
                <a:lnTo>
                  <a:pt x="640" y="224"/>
                </a:lnTo>
                <a:cubicBezTo>
                  <a:pt x="640" y="206"/>
                  <a:pt x="626" y="192"/>
                  <a:pt x="608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f1-title"/>
          <p:cNvSpPr txBox="1"/>
          <p:nvPr/>
        </p:nvSpPr>
        <p:spPr>
          <a:xfrm>
            <a:off x="1168400" y="3810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Собственная AI-технология</a:t>
            </a:r>
            <a:endParaRPr lang="en-US" sz="1450"/>
          </a:p>
        </p:txBody>
      </p:sp>
      <p:sp>
        <p:nvSpPr>
          <p:cNvPr id="10" name="f1-desc"/>
          <p:cNvSpPr txBox="1"/>
          <p:nvPr/>
        </p:nvSpPr>
        <p:spPr>
          <a:xfrm>
            <a:off x="1168400" y="4114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ru-RU" sz="1200" dirty="0">
                <a:solidFill>
                  <a:srgbClr val="9A9AA8"/>
                </a:solidFill>
                <a:latin typeface="MiSans"/>
                <a:ea typeface="MiSans"/>
              </a:rPr>
              <a:t>217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специализированных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модулей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специалистов</a:t>
            </a:r>
            <a:endParaRPr lang="en-US" sz="1200" dirty="0"/>
          </a:p>
        </p:txBody>
      </p:sp>
      <p:sp>
        <p:nvSpPr>
          <p:cNvPr id="11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eyJpY29uTmFtZSI6ImZhczpidWxsc2V5ZSJ9</pptd:icon>
              </p:ext>
            </p:extLst>
          </p:nvPr>
        </p:nvSpPr>
        <p:spPr>
          <a:xfrm>
            <a:off x="711200" y="482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f2-title"/>
          <p:cNvSpPr txBox="1"/>
          <p:nvPr/>
        </p:nvSpPr>
        <p:spPr>
          <a:xfrm>
            <a:off x="1168400" y="4826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Фокус на нейровыдаче (GEO)</a:t>
            </a:r>
            <a:endParaRPr lang="en-US" sz="1450"/>
          </a:p>
        </p:txBody>
      </p:sp>
      <p:sp>
        <p:nvSpPr>
          <p:cNvPr id="13" name="f2-desc"/>
          <p:cNvSpPr txBox="1"/>
          <p:nvPr/>
        </p:nvSpPr>
        <p:spPr>
          <a:xfrm>
            <a:off x="1168400" y="5130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Одни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из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первых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рынке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делаем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видимым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нейросетей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ассистентов</a:t>
            </a:r>
            <a:endParaRPr lang="en-US" sz="12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РЫНОК ИЗМЕНИЛСЯ:</a:t>
            </a:r>
            <a:endParaRPr lang="en-US" sz="2400"/>
          </a:p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КЛИЕНТОВ ИЩУТ </a:t>
            </a:r>
            <a:r>
              <a:rPr lang="en-US" sz="2400" b="1">
                <a:solidFill>
                  <a:srgbClr val="3D6BFF"/>
                </a:solidFill>
                <a:latin typeface="MiSans"/>
                <a:ea typeface="MiSans"/>
              </a:rPr>
              <a:t>НЕЙРОСЕТИ</a:t>
            </a:r>
            <a:endParaRPr lang="en-US" sz="2400"/>
          </a:p>
        </p:txBody>
      </p:sp>
      <p:sp>
        <p:nvSpPr>
          <p:cNvPr id="4" name="title-rule"/>
          <p:cNvSpPr/>
          <p:nvPr/>
        </p:nvSpPr>
        <p:spPr>
          <a:xfrm>
            <a:off x="711200" y="14224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intro"/>
          <p:cNvSpPr txBox="1"/>
          <p:nvPr/>
        </p:nvSpPr>
        <p:spPr>
          <a:xfrm>
            <a:off x="711200" y="16002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Классическое SEO дорожает и теряет эффективность — решения о покупке всё чаще принимают ИИ-ассистенты</a:t>
            </a:r>
            <a:endParaRPr lang="en-US" sz="1300"/>
          </a:p>
        </p:txBody>
      </p:sp>
      <p:sp>
        <p:nvSpPr>
          <p:cNvPr id="6" name="p1-title"/>
          <p:cNvSpPr txBox="1"/>
          <p:nvPr/>
        </p:nvSpPr>
        <p:spPr>
          <a:xfrm>
            <a:off x="7112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9A9AA8"/>
                </a:solidFill>
                <a:latin typeface="MiSans"/>
                <a:ea typeface="MiSans"/>
              </a:rPr>
              <a:t>РАНЬШЕ</a:t>
            </a:r>
            <a:endParaRPr lang="en-US" sz="1200"/>
          </a:p>
        </p:txBody>
      </p:sp>
      <p:sp>
        <p:nvSpPr>
          <p:cNvPr id="7" name="p1-box"/>
          <p:cNvSpPr/>
          <p:nvPr/>
        </p:nvSpPr>
        <p:spPr>
          <a:xfrm>
            <a:off x="711200" y="2489200"/>
            <a:ext cx="5130800" cy="19050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p1-list"/>
          <p:cNvSpPr txBox="1"/>
          <p:nvPr/>
        </p:nvSpPr>
        <p:spPr>
          <a:xfrm>
            <a:off x="10160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Человек ищет в поисковике сам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Листает десятки ссылок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Сравнивает сайты вручную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Выбирает по рекламе и отзывам</a:t>
            </a:r>
            <a:endParaRPr lang="en-US" sz="1250"/>
          </a:p>
        </p:txBody>
      </p:sp>
      <p:sp>
        <p:nvSpPr>
          <p:cNvPr id="9" name="p2-title"/>
          <p:cNvSpPr txBox="1"/>
          <p:nvPr/>
        </p:nvSpPr>
        <p:spPr>
          <a:xfrm>
            <a:off x="63500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3D6BFF"/>
                </a:solidFill>
                <a:latin typeface="MiSans"/>
                <a:ea typeface="MiSans"/>
              </a:rPr>
              <a:t>СЕЙЧАС</a:t>
            </a:r>
            <a:endParaRPr lang="en-US" sz="1200"/>
          </a:p>
        </p:txBody>
      </p:sp>
      <p:sp>
        <p:nvSpPr>
          <p:cNvPr id="10" name="p2-box"/>
          <p:cNvSpPr/>
          <p:nvPr/>
        </p:nvSpPr>
        <p:spPr>
          <a:xfrm>
            <a:off x="6350000" y="2489200"/>
            <a:ext cx="5130800" cy="1905000"/>
          </a:xfrm>
          <a:prstGeom prst="rect">
            <a:avLst/>
          </a:prstGeom>
          <a:solidFill>
            <a:srgbClr val="13131B"/>
          </a:solidFill>
          <a:ln w="19050">
            <a:solidFill>
              <a:srgbClr val="3D6BFF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p2-list"/>
          <p:cNvSpPr txBox="1"/>
          <p:nvPr/>
        </p:nvSpPr>
        <p:spPr>
          <a:xfrm>
            <a:off x="66548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Человек спрашивает нейросеть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Получает 2–3 готовых ответа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Доверяет рекомендации ИИ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Выбирает тех, кого назвала нейросеть</a:t>
            </a:r>
            <a:endParaRPr lang="en-US" sz="1250"/>
          </a:p>
        </p:txBody>
      </p:sp>
      <p:sp>
        <p:nvSpPr>
          <p:cNvPr id="12" name="conclusion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eyJpY29uTmFtZSI6ImZhczphcnJvdy10cmVuZC11cCJ9</pptd:icon>
              </p:ext>
            </p:extLst>
          </p:nvPr>
        </p:nvSpPr>
        <p:spPr>
          <a:xfrm>
            <a:off x="711200" y="54716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60"/>
                </a:moveTo>
                <a:cubicBezTo>
                  <a:pt x="366" y="160"/>
                  <a:pt x="352" y="146"/>
                  <a:pt x="352" y="128"/>
                </a:cubicBezTo>
                <a:cubicBezTo>
                  <a:pt x="352" y="110"/>
                  <a:pt x="366" y="96"/>
                  <a:pt x="384" y="96"/>
                </a:cubicBezTo>
                <a:lnTo>
                  <a:pt x="544" y="96"/>
                </a:lnTo>
                <a:cubicBezTo>
                  <a:pt x="562" y="96"/>
                  <a:pt x="576" y="110"/>
                  <a:pt x="576" y="128"/>
                </a:cubicBezTo>
                <a:lnTo>
                  <a:pt x="576" y="288"/>
                </a:lnTo>
                <a:cubicBezTo>
                  <a:pt x="576" y="306"/>
                  <a:pt x="562" y="320"/>
                  <a:pt x="544" y="320"/>
                </a:cubicBezTo>
                <a:cubicBezTo>
                  <a:pt x="526" y="320"/>
                  <a:pt x="512" y="306"/>
                  <a:pt x="512" y="288"/>
                </a:cubicBezTo>
                <a:lnTo>
                  <a:pt x="512" y="205"/>
                </a:lnTo>
                <a:lnTo>
                  <a:pt x="343" y="375"/>
                </a:lnTo>
                <a:cubicBezTo>
                  <a:pt x="330" y="387"/>
                  <a:pt x="310" y="387"/>
                  <a:pt x="297" y="375"/>
                </a:cubicBezTo>
                <a:lnTo>
                  <a:pt x="192" y="269"/>
                </a:lnTo>
                <a:lnTo>
                  <a:pt x="55" y="407"/>
                </a:lnTo>
                <a:cubicBezTo>
                  <a:pt x="42" y="419"/>
                  <a:pt x="22" y="419"/>
                  <a:pt x="9" y="407"/>
                </a:cubicBezTo>
                <a:cubicBezTo>
                  <a:pt x="-3" y="394"/>
                  <a:pt x="-3" y="374"/>
                  <a:pt x="9" y="361"/>
                </a:cubicBezTo>
                <a:lnTo>
                  <a:pt x="169" y="201"/>
                </a:lnTo>
                <a:cubicBezTo>
                  <a:pt x="182" y="189"/>
                  <a:pt x="202" y="189"/>
                  <a:pt x="215" y="201"/>
                </a:cubicBezTo>
                <a:lnTo>
                  <a:pt x="320" y="307"/>
                </a:lnTo>
                <a:lnTo>
                  <a:pt x="467" y="160"/>
                </a:lnTo>
                <a:lnTo>
                  <a:pt x="384" y="160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onclusion"/>
          <p:cNvSpPr txBox="1"/>
          <p:nvPr/>
        </p:nvSpPr>
        <p:spPr>
          <a:xfrm>
            <a:off x="1193800" y="5435600"/>
            <a:ext cx="10287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 err="1">
                <a:solidFill>
                  <a:srgbClr val="E8453C"/>
                </a:solidFill>
                <a:latin typeface="MiSans"/>
                <a:ea typeface="MiSans"/>
              </a:rPr>
              <a:t>Вывод</a:t>
            </a:r>
            <a:r>
              <a:rPr lang="en-US" sz="1400" b="1" dirty="0">
                <a:solidFill>
                  <a:srgbClr val="E8453C"/>
                </a:solidFill>
                <a:latin typeface="MiSans"/>
                <a:ea typeface="MiSans"/>
              </a:rPr>
              <a:t>: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бизнесу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больше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«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первым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в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поиске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»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тем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,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кого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называет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нейросеть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. </a:t>
            </a:r>
            <a:b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</a:b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Именно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с этой задачей успешно справляется </a:t>
            </a:r>
            <a:r>
              <a:rPr lang="ru-RU" sz="1400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ПРОДУКТ: </a:t>
            </a:r>
            <a:r>
              <a:rPr lang="ru-RU" sz="2500" b="1" dirty="0">
                <a:solidFill>
                  <a:srgbClr val="E8453C"/>
                </a:solidFill>
                <a:latin typeface="MiSans"/>
                <a:ea typeface="MiSans"/>
              </a:rPr>
              <a:t>КОМПЛЕКСНАЯ ПОМОЩЬ </a:t>
            </a:r>
            <a:r>
              <a:rPr lang="ru-RU" sz="2500" b="1" dirty="0">
                <a:solidFill>
                  <a:schemeClr val="bg1"/>
                </a:solidFill>
                <a:latin typeface="MiSans"/>
                <a:ea typeface="MiSans"/>
              </a:rPr>
              <a:t>БИЗНЕСУ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В ОДНОЙ СИСТЕМЕ</a:t>
            </a:r>
            <a:endParaRPr lang="en-US" sz="2500" dirty="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модуль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решает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свою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задачу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, а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вместе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они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полноценное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digital-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агентство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только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быстрее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дешевле</a:t>
            </a:r>
            <a:endParaRPr lang="en-US" sz="1300" dirty="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E8453C">
              <a:alpha val="7843"/>
            </a:srgbClr>
          </a:solidFill>
          <a:ln w="12700">
            <a:solidFill>
              <a:srgbClr val="E8453C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F5F5F7"/>
                </a:solidFill>
                <a:latin typeface="MiSans"/>
                <a:ea typeface="MiSans"/>
              </a:rPr>
              <a:t>УНИКАЛЬНОСТЬ: ПЛАТФОРМА НЕ ТОЛЬКО ГЕНЕРИРУЕТ КОНТЕНТ — ОНА САМА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c1-bar"/>
          <p:cNvSpPr/>
          <p:nvPr/>
        </p:nvSpPr>
        <p:spPr>
          <a:xfrm>
            <a:off x="7112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652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652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экспертный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tone of voice</a:t>
            </a:r>
            <a:endParaRPr lang="en-US" sz="1100" dirty="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c2-bar"/>
          <p:cNvSpPr/>
          <p:nvPr/>
        </p:nvSpPr>
        <p:spPr>
          <a:xfrm>
            <a:off x="43688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228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6228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Проверяет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материал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перед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публикацией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формирует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контент-план</a:t>
            </a:r>
            <a:endParaRPr lang="en-US" sz="1100" dirty="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3-bar"/>
          <p:cNvSpPr/>
          <p:nvPr/>
        </p:nvSpPr>
        <p:spPr>
          <a:xfrm>
            <a:off x="80264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804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804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Строит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стратегию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нейровыдаче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c4-bar"/>
          <p:cNvSpPr/>
          <p:nvPr/>
        </p:nvSpPr>
        <p:spPr>
          <a:xfrm>
            <a:off x="7112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652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5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652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Отслеживает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присутствие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бренда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нейросетях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поисковых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системах</a:t>
            </a:r>
            <a:endParaRPr lang="en-US" sz="1100" dirty="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8" name="c5-bar"/>
          <p:cNvSpPr/>
          <p:nvPr/>
        </p:nvSpPr>
        <p:spPr>
          <a:xfrm>
            <a:off x="43688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228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6228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Анализирует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конкурентов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целевую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3" name="c6-bar"/>
          <p:cNvSpPr/>
          <p:nvPr/>
        </p:nvSpPr>
        <p:spPr>
          <a:xfrm>
            <a:off x="80264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804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5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804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Готовит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визуал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фирменные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обложки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оформление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каждой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endParaRPr lang="en-US" sz="1100" dirty="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Все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модули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система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идеи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без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участия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200" dirty="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A1210"/>
            </a:gs>
            <a:gs pos="50000">
              <a:srgbClr val="0A0A0E"/>
            </a:gs>
            <a:gs pos="100000">
              <a:srgbClr val="101A4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400">
                <a:solidFill>
                  <a:srgbClr val="E8453C"/>
                </a:solidFill>
                <a:latin typeface="MiSans"/>
                <a:ea typeface="MiSans"/>
              </a:rPr>
              <a:t>КЛЮЧЕВАЯ ТЕХНОЛОГИЯ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5F5F7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3D6BFF"/>
                </a:solidFill>
                <a:latin typeface="MiSans"/>
                <a:ea typeface="MiSans"/>
              </a:rPr>
              <a:t>САМА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9C9D4"/>
                </a:solidFill>
                <a:latin typeface="MiSans"/>
                <a:ea typeface="MiSans"/>
              </a:rPr>
              <a:t>Технология Промптера берёт на себя полный цикл GEO- и SEO-продвижения: создаёт контент о бизнесе клиента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FFFFF">
                    <a:alpha val="70196"/>
                  </a:srgbClr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9AA8"/>
                </a:solidFill>
                <a:latin typeface="MiSans"/>
                <a:ea typeface="MiSans"/>
              </a:rPr>
              <a:t>Ежедневное присутствие — без ежедневных усилий команды клиента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C9D0F1FF-55FF-FD1A-22B1-D3F210523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300" y="1329524"/>
            <a:ext cx="2365955" cy="2547952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F5F5F7"/>
                </a:solidFill>
                <a:latin typeface="MiSans"/>
                <a:ea typeface="MiSans"/>
              </a:rPr>
              <a:t>КАК ЭТО РАБОТАЕТ?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От первого текста до клиентов — полный цикл без участия заказчика</a:t>
            </a:r>
            <a:endParaRPr lang="en-US" sz="1300"/>
          </a:p>
        </p:txBody>
      </p:sp>
      <p:sp>
        <p:nvSpPr>
          <p:cNvPr id="6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7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8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rgbClr val="F5F5F7"/>
                </a:solidFill>
                <a:latin typeface="MiSans"/>
                <a:ea typeface="MiSans"/>
              </a:rPr>
              <a:t>КОНТЕНТ</a:t>
            </a:r>
            <a:endParaRPr lang="en-US" sz="1450" dirty="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изучает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тексты</a:t>
            </a:r>
            <a:r>
              <a:rPr lang="ru-RU" sz="1100" dirty="0">
                <a:solidFill>
                  <a:srgbClr val="9A9AA8"/>
                </a:solidFill>
                <a:latin typeface="MiSans"/>
                <a:ea typeface="MiSans"/>
              </a:rPr>
              <a:t>, карточки, видео.</a:t>
            </a:r>
            <a:endParaRPr lang="en-US" sz="1100" dirty="0"/>
          </a:p>
        </p:txBody>
      </p:sp>
      <p:sp>
        <p:nvSpPr>
          <p:cNvPr id="10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1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8453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3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4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5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7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Поисковики и нейросети фиксируют новый контент о бизнесе клиента</a:t>
            </a:r>
            <a:endParaRPr lang="en-US" sz="1100"/>
          </a:p>
        </p:txBody>
      </p:sp>
      <p:sp>
        <p:nvSpPr>
          <p:cNvPr id="18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9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1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2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3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5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Клиенты находят компанию, доверяют рекомендации нейросети и приходят</a:t>
            </a:r>
            <a:endParaRPr lang="en-US" sz="1100"/>
          </a:p>
        </p:txBody>
      </p:sp>
      <p:sp>
        <p:nvSpPr>
          <p:cNvPr id="26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24/7</a:t>
            </a:r>
            <a:r>
              <a:rPr lang="ru-RU" sz="1400" b="1" dirty="0">
                <a:solidFill>
                  <a:srgbClr val="F5F5F7"/>
                </a:solidFill>
                <a:latin typeface="MiSans"/>
                <a:ea typeface="MiSans"/>
              </a:rPr>
              <a:t> без отпусков и больничных) 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: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клиент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бизнесом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продвижением</a:t>
            </a:r>
            <a:endParaRPr lang="en-US" sz="140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ДЛЯ КОГО РАБОТАЕТ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Платформа универсальна, но особенно эффективна в локальном бизнесе с высокой конкуренцией</a:t>
            </a:r>
            <a:endParaRPr lang="en-US" sz="1300"/>
          </a:p>
        </p:txBody>
      </p:sp>
      <p:sp>
        <p:nvSpPr>
          <p:cNvPr id="6" name="n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965200" y="1981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n1-title"/>
          <p:cNvSpPr txBox="1"/>
          <p:nvPr/>
        </p:nvSpPr>
        <p:spPr>
          <a:xfrm>
            <a:off x="1498600" y="19812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HoReCa</a:t>
            </a:r>
            <a:endParaRPr lang="en-US" sz="1600"/>
          </a:p>
        </p:txBody>
      </p:sp>
      <p:sp>
        <p:nvSpPr>
          <p:cNvPr id="8" name="n1-desc"/>
          <p:cNvSpPr txBox="1"/>
          <p:nvPr/>
        </p:nvSpPr>
        <p:spPr>
          <a:xfrm>
            <a:off x="1498600" y="23368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Отели, рестораны и кафе — гости выбирают по рекомендациям нейросети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n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eyJpY29uTmFtZSI6ImZhczpzcGEifQ</pptd:icon>
              </p:ext>
            </p:extLst>
          </p:nvPr>
        </p:nvSpPr>
        <p:spPr>
          <a:xfrm>
            <a:off x="965200" y="3327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1" name="n2-title"/>
          <p:cNvSpPr txBox="1"/>
          <p:nvPr/>
        </p:nvSpPr>
        <p:spPr>
          <a:xfrm>
            <a:off x="1498600" y="33274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Салоны красоты</a:t>
            </a:r>
            <a:endParaRPr lang="en-US" sz="1600"/>
          </a:p>
        </p:txBody>
      </p:sp>
      <p:sp>
        <p:nvSpPr>
          <p:cNvPr id="12" name="n2-desc"/>
          <p:cNvSpPr txBox="1"/>
          <p:nvPr/>
        </p:nvSpPr>
        <p:spPr>
          <a:xfrm>
            <a:off x="1498600" y="36830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Студии и косметологии — клиентки записываются к тем, кого назовёт ИИ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3942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n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965200" y="467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n3-title"/>
          <p:cNvSpPr txBox="1"/>
          <p:nvPr/>
        </p:nvSpPr>
        <p:spPr>
          <a:xfrm>
            <a:off x="1498600" y="46736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Стоматология</a:t>
            </a:r>
            <a:endParaRPr lang="en-US" sz="1600"/>
          </a:p>
        </p:txBody>
      </p:sp>
      <p:sp>
        <p:nvSpPr>
          <p:cNvPr id="16" name="n3-desc"/>
          <p:cNvSpPr txBox="1"/>
          <p:nvPr/>
        </p:nvSpPr>
        <p:spPr>
          <a:xfrm>
            <a:off x="14986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Клиники — пациенты доверяют выбору нейросети как совету врача</a:t>
            </a:r>
            <a:endParaRPr lang="en-US" sz="1150"/>
          </a:p>
        </p:txBody>
      </p:sp>
      <p:sp>
        <p:nvSpPr>
          <p:cNvPr id="17" name="n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6578600" y="3349536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n4-title"/>
          <p:cNvSpPr txBox="1"/>
          <p:nvPr/>
        </p:nvSpPr>
        <p:spPr>
          <a:xfrm>
            <a:off x="7112000" y="3349536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Цветочные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салоны</a:t>
            </a:r>
            <a:endParaRPr lang="en-US" sz="1600" dirty="0"/>
          </a:p>
        </p:txBody>
      </p:sp>
      <p:sp>
        <p:nvSpPr>
          <p:cNvPr id="19" name="n4-desc"/>
          <p:cNvSpPr txBox="1"/>
          <p:nvPr/>
        </p:nvSpPr>
        <p:spPr>
          <a:xfrm>
            <a:off x="7112000" y="3683000"/>
            <a:ext cx="436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Букеты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доставка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заказы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уходят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тем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кто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первый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ответе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endParaRPr lang="en-US" sz="1150" dirty="0"/>
          </a:p>
        </p:txBody>
      </p:sp>
      <p:sp>
        <p:nvSpPr>
          <p:cNvPr id="20" name="l4"/>
          <p:cNvSpPr/>
          <p:nvPr/>
        </p:nvSpPr>
        <p:spPr>
          <a:xfrm>
            <a:off x="65024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n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eyJpY29uTmFtZSI6ImZhczpzdG9yZSJ9</pptd:icon>
              </p:ext>
            </p:extLst>
          </p:nvPr>
        </p:nvSpPr>
        <p:spPr>
          <a:xfrm>
            <a:off x="6578600" y="466814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1" y="72"/>
                </a:moveTo>
                <a:cubicBezTo>
                  <a:pt x="38" y="48"/>
                  <a:pt x="60" y="32"/>
                  <a:pt x="84" y="32"/>
                </a:cubicBezTo>
                <a:lnTo>
                  <a:pt x="428" y="32"/>
                </a:lnTo>
                <a:cubicBezTo>
                  <a:pt x="453" y="32"/>
                  <a:pt x="475" y="48"/>
                  <a:pt x="482" y="72"/>
                </a:cubicBezTo>
                <a:lnTo>
                  <a:pt x="506" y="153"/>
                </a:lnTo>
                <a:cubicBezTo>
                  <a:pt x="518" y="196"/>
                  <a:pt x="485" y="240"/>
                  <a:pt x="440" y="240"/>
                </a:cubicBezTo>
                <a:cubicBezTo>
                  <a:pt x="414" y="240"/>
                  <a:pt x="391" y="225"/>
                  <a:pt x="379" y="203"/>
                </a:cubicBezTo>
                <a:cubicBezTo>
                  <a:pt x="368" y="225"/>
                  <a:pt x="345" y="240"/>
                  <a:pt x="318" y="240"/>
                </a:cubicBezTo>
                <a:cubicBezTo>
                  <a:pt x="291" y="240"/>
                  <a:pt x="268" y="225"/>
                  <a:pt x="257" y="203"/>
                </a:cubicBezTo>
                <a:cubicBezTo>
                  <a:pt x="245" y="225"/>
                  <a:pt x="222" y="240"/>
                  <a:pt x="195" y="240"/>
                </a:cubicBezTo>
                <a:cubicBezTo>
                  <a:pt x="168" y="240"/>
                  <a:pt x="145" y="225"/>
                  <a:pt x="134" y="203"/>
                </a:cubicBezTo>
                <a:cubicBezTo>
                  <a:pt x="122" y="225"/>
                  <a:pt x="99" y="240"/>
                  <a:pt x="73" y="240"/>
                </a:cubicBezTo>
                <a:cubicBezTo>
                  <a:pt x="27" y="240"/>
                  <a:pt x="-5" y="196"/>
                  <a:pt x="7" y="153"/>
                </a:cubicBezTo>
                <a:lnTo>
                  <a:pt x="31" y="72"/>
                </a:lnTo>
                <a:close/>
                <a:moveTo>
                  <a:pt x="96" y="352"/>
                </a:moveTo>
                <a:lnTo>
                  <a:pt x="416" y="352"/>
                </a:lnTo>
                <a:lnTo>
                  <a:pt x="416" y="286"/>
                </a:lnTo>
                <a:cubicBezTo>
                  <a:pt x="424" y="287"/>
                  <a:pt x="432" y="288"/>
                  <a:pt x="440" y="288"/>
                </a:cubicBezTo>
                <a:cubicBezTo>
                  <a:pt x="454" y="288"/>
                  <a:pt x="468" y="285"/>
                  <a:pt x="480" y="281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281"/>
                </a:lnTo>
                <a:cubicBezTo>
                  <a:pt x="45" y="285"/>
                  <a:pt x="58" y="288"/>
                  <a:pt x="73" y="288"/>
                </a:cubicBezTo>
                <a:cubicBezTo>
                  <a:pt x="81" y="288"/>
                  <a:pt x="89" y="287"/>
                  <a:pt x="96" y="286"/>
                </a:cubicBezTo>
                <a:lnTo>
                  <a:pt x="96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2" name="n5-title"/>
          <p:cNvSpPr txBox="1"/>
          <p:nvPr/>
        </p:nvSpPr>
        <p:spPr>
          <a:xfrm>
            <a:off x="7112000" y="469354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Локальная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розница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и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услуги</a:t>
            </a:r>
            <a:endParaRPr lang="en-US" sz="1600" dirty="0"/>
          </a:p>
        </p:txBody>
      </p:sp>
      <p:sp>
        <p:nvSpPr>
          <p:cNvPr id="23" name="n5-desc"/>
          <p:cNvSpPr txBox="1"/>
          <p:nvPr/>
        </p:nvSpPr>
        <p:spPr>
          <a:xfrm>
            <a:off x="71120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Любой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«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с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клиентом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»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автосервиса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фитнеса</a:t>
            </a:r>
            <a:endParaRPr lang="en-US" sz="1150" dirty="0"/>
          </a:p>
        </p:txBody>
      </p:sp>
      <p:sp>
        <p:nvSpPr>
          <p:cNvPr id="26" name="strip"/>
          <p:cNvSpPr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C9C9D4"/>
                </a:solidFill>
                <a:latin typeface="MiSans"/>
                <a:ea typeface="MiSans"/>
              </a:rPr>
              <a:t>Одна технология — готовые решения под каждую нишу. </a:t>
            </a:r>
            <a:r>
              <a:rPr lang="en-US" sz="1300" b="1">
                <a:solidFill>
                  <a:srgbClr val="3D6BFF"/>
                </a:solidFill>
                <a:latin typeface="MiSans"/>
                <a:ea typeface="MiSans"/>
              </a:rPr>
              <a:t>Масштабируемся вместе с рынком.</a:t>
            </a:r>
            <a:endParaRPr lang="en-US" sz="13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  <p:sp>
        <p:nvSpPr>
          <p:cNvPr id="30" name="l2">
            <a:extLst>
              <a:ext uri="{FF2B5EF4-FFF2-40B4-BE49-F238E27FC236}">
                <a16:creationId xmlns:a16="http://schemas.microsoft.com/office/drawing/2014/main" id="{B0512B27-0A9C-12B5-D14B-EDF472B0FC69}"/>
              </a:ext>
            </a:extLst>
          </p:cNvPr>
          <p:cNvSpPr/>
          <p:nvPr/>
        </p:nvSpPr>
        <p:spPr>
          <a:xfrm>
            <a:off x="6502400" y="4385892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32" name="Рисунок 31" descr="Дом со сплошной заливкой">
            <a:extLst>
              <a:ext uri="{FF2B5EF4-FFF2-40B4-BE49-F238E27FC236}">
                <a16:creationId xmlns:a16="http://schemas.microsoft.com/office/drawing/2014/main" id="{AAB8E701-B769-FE55-5998-8035D14ED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02400" y="2013009"/>
            <a:ext cx="483906" cy="48390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5A4BC50-0B05-9421-A442-A616044EFB34}"/>
              </a:ext>
            </a:extLst>
          </p:cNvPr>
          <p:cNvSpPr txBox="1"/>
          <p:nvPr/>
        </p:nvSpPr>
        <p:spPr>
          <a:xfrm>
            <a:off x="7112000" y="2060879"/>
            <a:ext cx="3759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F5F5F7"/>
                </a:solidFill>
                <a:latin typeface="MiSans"/>
              </a:rPr>
              <a:t>Товары для дома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285FF0-0F1D-6B00-9985-1A5D7371820F}"/>
              </a:ext>
            </a:extLst>
          </p:cNvPr>
          <p:cNvSpPr txBox="1"/>
          <p:nvPr/>
        </p:nvSpPr>
        <p:spPr>
          <a:xfrm>
            <a:off x="7112000" y="2391632"/>
            <a:ext cx="43688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50" dirty="0">
                <a:solidFill>
                  <a:srgbClr val="9A9AA8"/>
                </a:solidFill>
                <a:latin typeface="MiSans"/>
              </a:rPr>
              <a:t>Магазины мебели, интерьеров, аксессуаров </a:t>
            </a:r>
            <a:r>
              <a:rPr lang="en-US" sz="1150" dirty="0">
                <a:solidFill>
                  <a:srgbClr val="9A9AA8"/>
                </a:solidFill>
              </a:rPr>
              <a:t>—</a:t>
            </a:r>
            <a:r>
              <a:rPr lang="ru-RU" sz="1150" dirty="0">
                <a:solidFill>
                  <a:srgbClr val="9A9AA8"/>
                </a:solidFill>
              </a:rPr>
              <a:t> клиент все чаще выбирает по совету ИИ</a:t>
            </a:r>
            <a:r>
              <a:rPr lang="ru-RU" sz="1150" dirty="0">
                <a:solidFill>
                  <a:srgbClr val="9A9AA8"/>
                </a:solidFill>
                <a:latin typeface="MiSans"/>
              </a:rPr>
              <a:t> </a:t>
            </a:r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9A9AA8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От </a:t>
            </a:r>
            <a:r>
              <a:rPr lang="ru-RU" sz="4400" b="1" u="sng" dirty="0">
                <a:solidFill>
                  <a:srgbClr val="E8453C"/>
                </a:solidFill>
                <a:latin typeface="MiSans"/>
                <a:ea typeface="MiSans"/>
              </a:rPr>
              <a:t>29500</a:t>
            </a: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 </a:t>
            </a:r>
            <a:r>
              <a:rPr lang="en-US" sz="4400" b="1" dirty="0">
                <a:solidFill>
                  <a:srgbClr val="E8453C"/>
                </a:solidFill>
                <a:latin typeface="MiSans"/>
                <a:ea typeface="MiSans"/>
              </a:rPr>
              <a:t>₽</a:t>
            </a:r>
            <a:r>
              <a:rPr lang="en-US" sz="1600" dirty="0">
                <a:solidFill>
                  <a:srgbClr val="9A9A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9A9A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вместо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100 000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на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продвижение через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SEO-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агентство</a:t>
            </a:r>
            <a:endParaRPr lang="en-US" sz="1400" dirty="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Экономия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менее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70 000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endParaRPr lang="en-US" sz="1400" dirty="0"/>
          </a:p>
        </p:txBody>
      </p:sp>
      <p:sp>
        <p:nvSpPr>
          <p:cNvPr id="9" name="cta-btn">
            <a:hlinkClick xmlns:r="http://schemas.openxmlformats.org/officeDocument/2006/relationships" r:id="rId2"/>
          </p:cNvPr>
          <p:cNvSpPr/>
          <p:nvPr/>
        </p:nvSpPr>
        <p:spPr>
          <a:xfrm>
            <a:off x="711200" y="35052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ta-text">
            <a:hlinkClick xmlns:r="http://schemas.openxmlformats.org/officeDocument/2006/relationships" r:id="rId2"/>
          </p:cNvPr>
          <p:cNvSpPr txBox="1"/>
          <p:nvPr/>
        </p:nvSpPr>
        <p:spPr>
          <a:xfrm>
            <a:off x="711200" y="35052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ОСТАВИТЬ ЗАЯВКУ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5F5F7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Регулярный поток материалов без участия клиента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Экспертный контент о продукте, команде и событиях компании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dirty="0">
                <a:solidFill>
                  <a:srgbClr val="F5F5F7"/>
                </a:solidFill>
                <a:latin typeface="MiSans"/>
                <a:ea typeface="MiSans"/>
              </a:rPr>
              <a:t>4 отечественные площадки</a:t>
            </a:r>
            <a:r>
              <a:rPr lang="ru-RU" sz="1350" b="1" dirty="0">
                <a:solidFill>
                  <a:srgbClr val="F5F5F7"/>
                </a:solidFill>
                <a:latin typeface="MiSans"/>
                <a:ea typeface="MiSans"/>
              </a:rPr>
              <a:t> с автоматической публикацией</a:t>
            </a:r>
            <a:endParaRPr lang="en-US" sz="1350" dirty="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VK,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Яндекс Дзен, ОК, Мах. 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Размещение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там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где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считывают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поисковики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.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На зарубежных площадках (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instag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tg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whatsapp,youtube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и т. д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.)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 вы сами публикуете контент сгенерированный </a:t>
            </a:r>
            <a:r>
              <a:rPr lang="ru-RU" sz="115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endParaRPr lang="ru-RU" sz="1150" dirty="0">
              <a:solidFill>
                <a:srgbClr val="9A9AA8"/>
              </a:solidFill>
              <a:latin typeface="MiSans"/>
              <a:ea typeface="MiSans"/>
            </a:endParaRPr>
          </a:p>
          <a:p>
            <a:pPr>
              <a:lnSpc>
                <a:spcPct val="135000"/>
              </a:lnSpc>
            </a:pPr>
            <a:endParaRPr lang="ru-RU" sz="1150" dirty="0">
              <a:solidFill>
                <a:srgbClr val="9A9AA8"/>
              </a:solidFill>
              <a:latin typeface="MiSans"/>
            </a:endParaRPr>
          </a:p>
          <a:p>
            <a:pPr>
              <a:lnSpc>
                <a:spcPct val="135000"/>
              </a:lnSpc>
            </a:pPr>
            <a:endParaRPr lang="en-US" sz="1150" dirty="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9A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1B6D24-25E8-6E28-6A4A-18E2B58B2C72}"/>
              </a:ext>
            </a:extLst>
          </p:cNvPr>
          <p:cNvSpPr txBox="1"/>
          <p:nvPr/>
        </p:nvSpPr>
        <p:spPr>
          <a:xfrm>
            <a:off x="711200" y="4568195"/>
            <a:ext cx="4762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i="1" dirty="0">
                <a:solidFill>
                  <a:srgbClr val="9A9AA8"/>
                </a:solidFill>
                <a:latin typeface="MiSans"/>
              </a:rPr>
              <a:t>За подробностями и </a:t>
            </a:r>
            <a:r>
              <a:rPr lang="ru-RU" sz="1200" b="1" i="1" dirty="0" err="1">
                <a:solidFill>
                  <a:srgbClr val="9A9AA8"/>
                </a:solidFill>
                <a:latin typeface="MiSans"/>
              </a:rPr>
              <a:t>подключеним</a:t>
            </a:r>
            <a:r>
              <a:rPr lang="ru-RU" sz="1200" b="1" i="1" dirty="0">
                <a:solidFill>
                  <a:srgbClr val="9A9AA8"/>
                </a:solidFill>
                <a:latin typeface="MiSans"/>
              </a:rPr>
              <a:t> резидентов Москвы и МО  обращайтесь по телефону +79067587777 .</a:t>
            </a: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КОМАНДА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 МОСКВЫ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ПО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СОПРОВОЖДЕНИ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Ю</a:t>
            </a:r>
            <a:endParaRPr lang="en-US" sz="2500" dirty="0"/>
          </a:p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КЛИЕНТОВ ПРОМПТЕРА</a:t>
            </a:r>
            <a:endParaRPr lang="en-US" sz="2500" dirty="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Мы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просто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запускаем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систему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наша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остаётся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результат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300" dirty="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Постоянный</a:t>
            </a:r>
            <a:r>
              <a:rPr lang="en-US" sz="1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мониторинг</a:t>
            </a:r>
            <a:endParaRPr lang="en-US" sz="1500" dirty="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цели клиента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eyJpY29uTmFtZSI6ImZhczpyb2NrZXQifQ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320"/>
                </a:moveTo>
                <a:lnTo>
                  <a:pt x="25" y="320"/>
                </a:lnTo>
                <a:cubicBezTo>
                  <a:pt x="0" y="320"/>
                  <a:pt x="-16" y="293"/>
                  <a:pt x="-3" y="272"/>
                </a:cubicBezTo>
                <a:lnTo>
                  <a:pt x="50" y="183"/>
                </a:lnTo>
                <a:cubicBezTo>
                  <a:pt x="59" y="169"/>
                  <a:pt x="74" y="160"/>
                  <a:pt x="91" y="160"/>
                </a:cubicBezTo>
                <a:lnTo>
                  <a:pt x="186" y="160"/>
                </a:lnTo>
                <a:cubicBezTo>
                  <a:pt x="262" y="31"/>
                  <a:pt x="376" y="25"/>
                  <a:pt x="452" y="36"/>
                </a:cubicBezTo>
                <a:cubicBezTo>
                  <a:pt x="465" y="38"/>
                  <a:pt x="475" y="48"/>
                  <a:pt x="476" y="60"/>
                </a:cubicBezTo>
                <a:cubicBezTo>
                  <a:pt x="487" y="136"/>
                  <a:pt x="481" y="250"/>
                  <a:pt x="352" y="326"/>
                </a:cubicBezTo>
                <a:lnTo>
                  <a:pt x="352" y="421"/>
                </a:lnTo>
                <a:cubicBezTo>
                  <a:pt x="352" y="438"/>
                  <a:pt x="343" y="453"/>
                  <a:pt x="329" y="462"/>
                </a:cubicBezTo>
                <a:lnTo>
                  <a:pt x="241" y="515"/>
                </a:lnTo>
                <a:cubicBezTo>
                  <a:pt x="219" y="528"/>
                  <a:pt x="192" y="512"/>
                  <a:pt x="192" y="488"/>
                </a:cubicBezTo>
                <a:lnTo>
                  <a:pt x="192" y="384"/>
                </a:lnTo>
                <a:cubicBezTo>
                  <a:pt x="192" y="349"/>
                  <a:pt x="163" y="320"/>
                  <a:pt x="128" y="320"/>
                </a:cubicBezTo>
                <a:lnTo>
                  <a:pt x="128" y="320"/>
                </a:lnTo>
                <a:close/>
                <a:moveTo>
                  <a:pt x="400" y="160"/>
                </a:moveTo>
                <a:cubicBezTo>
                  <a:pt x="400" y="133"/>
                  <a:pt x="379" y="112"/>
                  <a:pt x="352" y="112"/>
                </a:cubicBezTo>
                <a:cubicBezTo>
                  <a:pt x="325" y="112"/>
                  <a:pt x="304" y="133"/>
                  <a:pt x="304" y="160"/>
                </a:cubicBezTo>
                <a:cubicBezTo>
                  <a:pt x="304" y="187"/>
                  <a:pt x="325" y="208"/>
                  <a:pt x="352" y="208"/>
                </a:cubicBezTo>
                <a:cubicBezTo>
                  <a:pt x="379" y="208"/>
                  <a:pt x="400" y="187"/>
                  <a:pt x="400" y="16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Развитие вместе с рынком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Платформа обновляется следом за алгоритмами нейросетей — клиенты всегда на шаг впереди</a:t>
            </a:r>
            <a:endParaRPr lang="en-US" sz="1200"/>
          </a:p>
        </p:txBody>
      </p:sp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Промптера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технологии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ИИ +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живое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сопровождение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клиентов</a:t>
            </a:r>
            <a:endParaRPr lang="en-US" sz="1050" dirty="0"/>
          </a:p>
        </p:txBody>
      </p:sp>
      <p:sp>
        <p:nvSpPr>
          <p:cNvPr id="17" name="contacts-panel"/>
          <p:cNvSpPr/>
          <p:nvPr/>
        </p:nvSpPr>
        <p:spPr>
          <a:xfrm>
            <a:off x="711200" y="5562600"/>
            <a:ext cx="10769600" cy="7874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ontacts-accent"/>
          <p:cNvSpPr/>
          <p:nvPr/>
        </p:nvSpPr>
        <p:spPr>
          <a:xfrm>
            <a:off x="711200" y="5562600"/>
            <a:ext cx="38100" cy="787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9" name="contacts-label"/>
          <p:cNvSpPr txBox="1"/>
          <p:nvPr/>
        </p:nvSpPr>
        <p:spPr>
          <a:xfrm>
            <a:off x="1016000" y="55626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 dirty="0">
                <a:solidFill>
                  <a:schemeClr val="bg1"/>
                </a:solidFill>
                <a:latin typeface="MiSans"/>
                <a:ea typeface="MiSans"/>
              </a:rPr>
              <a:t>КОНТАКТЫ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0" name="contact-phone"/>
          <p:cNvSpPr txBox="1"/>
          <p:nvPr/>
        </p:nvSpPr>
        <p:spPr>
          <a:xfrm>
            <a:off x="2819400" y="554812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00" dirty="0" err="1">
                <a:solidFill>
                  <a:schemeClr val="bg1"/>
                </a:solidFill>
                <a:latin typeface="MiSans"/>
              </a:rPr>
              <a:t>Телефон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: </a:t>
            </a:r>
            <a:r>
              <a:rPr lang="ru-RU" sz="1300" dirty="0">
                <a:solidFill>
                  <a:schemeClr val="bg1"/>
                </a:solidFill>
                <a:latin typeface="MiSans"/>
              </a:rPr>
              <a:t>+79067587777 </a:t>
            </a:r>
            <a:endParaRPr lang="en-US" sz="1300" dirty="0">
              <a:solidFill>
                <a:schemeClr val="bg1"/>
              </a:solidFill>
              <a:latin typeface="MiSans"/>
            </a:endParaRPr>
          </a:p>
        </p:txBody>
      </p:sp>
      <p:sp>
        <p:nvSpPr>
          <p:cNvPr id="21" name="contact-mail"/>
          <p:cNvSpPr txBox="1"/>
          <p:nvPr/>
        </p:nvSpPr>
        <p:spPr>
          <a:xfrm>
            <a:off x="8534400" y="5538387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chemeClr val="bg1"/>
                </a:solidFill>
                <a:latin typeface="MiSans"/>
                <a:ea typeface="MiSans"/>
              </a:rPr>
              <a:t>E-mail: 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Methodmos@mail.ru</a:t>
            </a:r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13B29C-656E-5C78-8FD9-1E11366C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63" y="914400"/>
            <a:ext cx="3711535" cy="2565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38CF235-0817-4190-4B3F-164600FB9C97}"/>
              </a:ext>
            </a:extLst>
          </p:cNvPr>
          <p:cNvSpPr txBox="1"/>
          <p:nvPr/>
        </p:nvSpPr>
        <p:spPr>
          <a:xfrm>
            <a:off x="5689600" y="5822806"/>
            <a:ext cx="232920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MiSans"/>
              </a:rPr>
              <a:t>Telegram: @METHODmos</a:t>
            </a:r>
            <a:endParaRPr lang="ru-RU" sz="1300" dirty="0">
              <a:solidFill>
                <a:schemeClr val="bg1"/>
              </a:solidFill>
              <a:latin typeface="MiSans"/>
            </a:endParaRPr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886</Words>
  <Application>Microsoft Office PowerPoint</Application>
  <PresentationFormat>Широкоэкранный</PresentationFormat>
  <Paragraphs>134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— представление компании</dc:title>
  <dc:subject>Промптер — представление компании</dc:subject>
  <dc:creator>Kimi</dc:creator>
  <cp:lastModifiedBy>Пупкин Толя</cp:lastModifiedBy>
  <cp:revision>4</cp:revision>
  <dcterms:modified xsi:type="dcterms:W3CDTF">2026-08-05T12:55:48Z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— представление компании","ContentProducer":"001191110108MACG2KBH8F10000","ProduceID":"19f9002e-0f52-87c7-8000-00006034c46f","ReservedCode1":"","ContentPropagator":"001191110108MACG2KBH8F20000","PropagateID":"19f73adb-8c92-8708-8000-09088e4502a4","ReservedCode2":""}</vt:lpwstr>
  </property>
</Properties>
</file>