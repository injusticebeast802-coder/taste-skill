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flower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E2B22">
                  <a:alpha val="96078"/>
                </a:srgbClr>
              </a:gs>
              <a:gs pos="50000">
                <a:srgbClr val="1E2B22">
                  <a:alpha val="83922"/>
                </a:srgbClr>
              </a:gs>
              <a:gs pos="78000">
                <a:srgbClr val="1E2B22">
                  <a:alpha val="40000"/>
                </a:srgbClr>
              </a:gs>
              <a:gs pos="100000">
                <a:srgbClr val="1E2B22">
                  <a:alpha val="7843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965200" y="5588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2EBDD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965200" y="914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A3B5A8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5AAB6"/>
                </a:solidFill>
                <a:latin typeface="MiSans"/>
                <a:ea typeface="MiSans"/>
              </a:rPr>
              <a:t>GEO- И SEO-ПРОДВИЖЕНИЕ ДЛЯ ФЛОРИСТИКИ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lang="en-US" sz="3200" b="1" dirty="0">
                <a:solidFill>
                  <a:srgbClr val="F2EBDD"/>
                </a:solidFill>
                <a:latin typeface="MiSans"/>
                <a:ea typeface="MiSans"/>
              </a:rPr>
              <a:t>КОМПЛЕКСНОЕ GEO- И SEO-</a:t>
            </a:r>
            <a:endParaRPr lang="en-US" sz="3200" dirty="0"/>
          </a:p>
          <a:p>
            <a:pPr algn="l">
              <a:lnSpc>
                <a:spcPct val="122000"/>
              </a:lnSpc>
            </a:pPr>
            <a:r>
              <a:rPr lang="en-US" sz="3200" b="1" dirty="0">
                <a:solidFill>
                  <a:srgbClr val="F2EBDD"/>
                </a:solidFill>
                <a:latin typeface="MiSans"/>
                <a:ea typeface="MiSans"/>
              </a:rPr>
              <a:t>ПРОДВИЖЕНИЕ </a:t>
            </a:r>
            <a:r>
              <a:rPr lang="en-US" sz="3200" b="1" dirty="0">
                <a:solidFill>
                  <a:srgbClr val="E5AAB6"/>
                </a:solidFill>
                <a:latin typeface="MiSans"/>
                <a:ea typeface="MiSans"/>
              </a:rPr>
              <a:t>ЦВЕТОЧНЫХ САЛОНОВ</a:t>
            </a:r>
            <a:endParaRPr lang="en-US" sz="3200" dirty="0"/>
          </a:p>
        </p:txBody>
      </p:sp>
      <p:sp>
        <p:nvSpPr>
          <p:cNvPr id="8" name="subtitle"/>
          <p:cNvSpPr txBox="1"/>
          <p:nvPr/>
        </p:nvSpPr>
        <p:spPr>
          <a:xfrm>
            <a:off x="711200" y="4102100"/>
            <a:ext cx="660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Делаем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цветочные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салоны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и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студии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флористики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заметными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в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нейровыдаче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и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поисковых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системах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—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без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рекламных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бюджетов</a:t>
            </a:r>
            <a:r>
              <a:rPr lang="en-US" sz="1500" dirty="0">
                <a:solidFill>
                  <a:srgbClr val="A3B5A8"/>
                </a:solidFill>
                <a:latin typeface="MiSans"/>
                <a:ea typeface="MiSans"/>
              </a:rPr>
              <a:t> и SEO-</a:t>
            </a:r>
            <a:r>
              <a:rPr lang="en-US" sz="1500" dirty="0" err="1">
                <a:solidFill>
                  <a:srgbClr val="A3B5A8"/>
                </a:solidFill>
                <a:latin typeface="MiSans"/>
                <a:ea typeface="MiSans"/>
              </a:rPr>
              <a:t>агентств</a:t>
            </a:r>
            <a:endParaRPr lang="en-US" sz="1500" dirty="0"/>
          </a:p>
        </p:txBody>
      </p:sp>
      <p:sp>
        <p:nvSpPr>
          <p:cNvPr id="9" name="price"/>
          <p:cNvSpPr txBox="1"/>
          <p:nvPr/>
        </p:nvSpPr>
        <p:spPr>
          <a:xfrm>
            <a:off x="711200" y="5051514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 err="1">
                <a:solidFill>
                  <a:srgbClr val="F2EBDD"/>
                </a:solidFill>
                <a:latin typeface="MiSans"/>
                <a:ea typeface="MiSans"/>
              </a:rPr>
              <a:t>Стоимость</a:t>
            </a:r>
            <a:r>
              <a:rPr lang="en-US" sz="1500" dirty="0">
                <a:solidFill>
                  <a:srgbClr val="F2EBDD"/>
                </a:solidFill>
                <a:latin typeface="MiSans"/>
                <a:ea typeface="MiSans"/>
              </a:rPr>
              <a:t>: </a:t>
            </a:r>
            <a:r>
              <a:rPr lang="en-US" sz="1900" b="1" dirty="0" err="1">
                <a:solidFill>
                  <a:srgbClr val="E5AAB6"/>
                </a:solidFill>
                <a:latin typeface="MiSans"/>
                <a:ea typeface="MiSans"/>
              </a:rPr>
              <a:t>от</a:t>
            </a:r>
            <a:r>
              <a:rPr lang="en-US" sz="1900" b="1" dirty="0">
                <a:solidFill>
                  <a:srgbClr val="E5AAB6"/>
                </a:solidFill>
                <a:latin typeface="MiSans"/>
                <a:ea typeface="MiSans"/>
              </a:rPr>
              <a:t> 29500 ₽/</a:t>
            </a:r>
            <a:r>
              <a:rPr lang="en-US" sz="1900" b="1" dirty="0" err="1">
                <a:solidFill>
                  <a:srgbClr val="E5AAB6"/>
                </a:solidFill>
                <a:latin typeface="MiSans"/>
                <a:ea typeface="MiSans"/>
              </a:rPr>
              <a:t>мес</a:t>
            </a:r>
            <a:endParaRPr lang="en-US" sz="1500" dirty="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03B28373-15AD-DCF6-5C54-8DF584E0B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1" y="441776"/>
            <a:ext cx="709258" cy="763816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2EBDD"/>
                </a:solidFill>
                <a:latin typeface="MiSans"/>
                <a:ea typeface="MiSans"/>
              </a:rPr>
              <a:t>ПОЧЕМУ ЦВЕТОЧНЫЕ САЛОНЫ НЕ ДОБИВАЮТСЯ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2EBDD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Большинство цветочных салонов и студий флористики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5AAB6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Покупатели спрашивают у нейросети «где купить букет рядом»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3A5244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5AAB6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Флористы заняты букетами и заказами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3A5244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5AAB6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5AAB6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3A5244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5AAB6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5AAB6"/>
                </a:solidFill>
                <a:latin typeface="MiSans"/>
                <a:ea typeface="MiSans"/>
              </a:rPr>
              <a:t>Вывод:</a:t>
            </a:r>
            <a:r>
              <a:rPr lang="en-US" sz="1400">
                <a:solidFill>
                  <a:srgbClr val="F2EBDD"/>
                </a:solidFill>
                <a:latin typeface="MiSans"/>
                <a:ea typeface="MiSans"/>
              </a:rPr>
              <a:t> салон теряет покупателей ещё до того, как они решили, где заказать букет</a:t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Отсутствие в ответах нейросетей напрямую влияет на заказы, продажи и репутацию салона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Покупатели всё чаще спрашивают «лучший цветочный салон рядом»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Покупатели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Покупатель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Рекомендация ИИ воспринимается как совет флориста — ей доверяют и заказывают букет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Пока вас нет в ответах нейросети, конкуренты забирают ваших покупателей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F2EBDD"/>
          </a:solidFill>
          <a:ln w="19050">
            <a:solidFill>
              <a:srgbClr val="3A5244"/>
            </a:solidFill>
          </a:ln>
          <a:effectLst>
            <a:outerShdw blurRad="228600" dist="1016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7A8A7E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1E2B22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3E5C48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2EBDD"/>
                </a:solidFill>
                <a:latin typeface="MiSans"/>
                <a:ea typeface="MiSans"/>
              </a:rPr>
              <a:t>Где заказать букет с доставкой сегодня?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EBE2D0"/>
          </a:solidFill>
          <a:ln w="12700">
            <a:solidFill>
              <a:srgbClr val="D8CFC0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E2B22"/>
                </a:solidFill>
                <a:latin typeface="MiSans"/>
                <a:ea typeface="MiSans"/>
              </a:rPr>
              <a:t>Вот 3 салона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1E2B22"/>
                </a:solidFill>
                <a:latin typeface="MiSans"/>
                <a:ea typeface="MiSans"/>
              </a:rPr>
              <a:t>1. Студия «Пион»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E2B22"/>
                </a:solidFill>
                <a:latin typeface="MiSans"/>
                <a:ea typeface="MiSans"/>
              </a:rPr>
              <a:t>2. Салон «Цветы и точка»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E2B22"/>
                </a:solidFill>
                <a:latin typeface="MiSans"/>
                <a:ea typeface="MiSans"/>
              </a:rPr>
              <a:t>3. </a:t>
            </a:r>
            <a:r>
              <a:rPr lang="en-US" sz="1150" b="1">
                <a:solidFill>
                  <a:srgbClr val="C98A96"/>
                </a:solidFill>
                <a:latin typeface="MiSans"/>
                <a:ea typeface="MiSans"/>
              </a:rPr>
              <a:t>______________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7A8A7E"/>
                </a:solidFill>
                <a:latin typeface="MiSans"/>
                <a:ea typeface="MiSans"/>
              </a:rPr>
              <a:t>место №3 может занять ваш салон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A3B5A8"/>
                </a:solidFill>
                <a:latin typeface="MiSans"/>
                <a:ea typeface="MiSans"/>
              </a:rPr>
              <a:t>Нейросеть уже отвечает покупателям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2EBDD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5AAB6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цветочные салоны и студии флористики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5" name="uniq-box"/>
          <p:cNvSpPr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solidFill>
            <a:srgbClr val="C98A96">
              <a:alpha val="9412"/>
            </a:srgbClr>
          </a:solidFill>
          <a:ln w="12700">
            <a:solidFill>
              <a:srgbClr val="E5AAB6"/>
            </a:solidFill>
          </a:ln>
        </p:spPr>
      </p:sp>
      <p:sp>
        <p:nvSpPr>
          <p:cNvPr id="6" name="uniq-text"/>
          <p:cNvSpPr txBox="1"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5AAB6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Создаёт тексты о букетах, композициях и доставке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Строит стратегию продвижения в нейровыдаче под формат вашего салона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Анализирует конкурентов и покупателей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2EBDD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A3B5A8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55000">
              <a:srgbClr val="253428"/>
            </a:gs>
            <a:gs pos="100000">
              <a:srgbClr val="3E5C4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5AAB6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F2EBDD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/>
          </a:p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E5AAB6"/>
                </a:solidFill>
                <a:latin typeface="MiSans"/>
                <a:ea typeface="MiSans"/>
              </a:rPr>
              <a:t>САМ ПУБЛИКУЕТ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C8D4CB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салоне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9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27362B">
              <a:alpha val="80000"/>
            </a:srgbClr>
          </a:solidFill>
          <a:ln w="12700">
            <a:solidFill>
              <a:srgbClr val="3A5244"/>
            </a:solidFill>
          </a:ln>
        </p:spPr>
      </p:sp>
      <p:sp>
        <p:nvSpPr>
          <p:cNvPr id="10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A3B5A8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1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2EBDD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2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A3B5A8"/>
          </a:solidFill>
          <a:ln>
            <a:noFill/>
          </a:ln>
        </p:spPr>
      </p:sp>
      <p:sp>
        <p:nvSpPr>
          <p:cNvPr id="13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27362B">
              <a:alpha val="80000"/>
            </a:srgbClr>
          </a:solidFill>
          <a:ln w="12700">
            <a:solidFill>
              <a:srgbClr val="3A5244"/>
            </a:solidFill>
          </a:ln>
        </p:spPr>
      </p:sp>
      <p:sp>
        <p:nvSpPr>
          <p:cNvPr id="14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A3B5A8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5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2EBDD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6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A3B5A8"/>
          </a:solidFill>
          <a:ln>
            <a:noFill/>
          </a:ln>
        </p:spPr>
      </p:sp>
      <p:sp>
        <p:nvSpPr>
          <p:cNvPr id="17" name="chip3"/>
          <p:cNvSpPr/>
          <p:nvPr/>
        </p:nvSpPr>
        <p:spPr>
          <a:xfrm>
            <a:off x="6654800" y="4724400"/>
            <a:ext cx="2489200" cy="736600"/>
          </a:xfrm>
          <a:prstGeom prst="rect">
            <a:avLst/>
          </a:prstGeom>
          <a:solidFill>
            <a:srgbClr val="C98A96"/>
          </a:solidFill>
          <a:ln>
            <a:noFill/>
          </a:ln>
        </p:spPr>
      </p:sp>
      <p:sp>
        <p:nvSpPr>
          <p:cNvPr id="18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1E2B22"/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19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E2B22"/>
                </a:solidFill>
                <a:latin typeface="MiSans"/>
                <a:ea typeface="MiSans"/>
              </a:rPr>
              <a:t>АВТОПУБЛИКАЦИЯ</a:t>
            </a:r>
            <a:endParaRPr lang="en-US" sz="1250"/>
          </a:p>
        </p:txBody>
      </p:sp>
      <p:sp>
        <p:nvSpPr>
          <p:cNvPr id="20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A3B5A8"/>
          </a:solidFill>
          <a:ln>
            <a:noFill/>
          </a:ln>
        </p:spPr>
      </p:sp>
      <p:sp>
        <p:nvSpPr>
          <p:cNvPr id="21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27362B">
              <a:alpha val="80000"/>
            </a:srgbClr>
          </a:solidFill>
          <a:ln w="12700">
            <a:solidFill>
              <a:srgbClr val="3A5244"/>
            </a:solidFill>
          </a:ln>
        </p:spPr>
      </p:sp>
      <p:sp>
        <p:nvSpPr>
          <p:cNvPr id="22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A3B5A8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3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2EBDD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4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A3B5A8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5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2E8DF967-BF16-AF4D-6988-E22CC423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312" y="962268"/>
            <a:ext cx="3048001" cy="3282463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2EBDD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От первого текста до заказов букетов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5AAB6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5AAB6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2EBDD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Платформа изучает ассортимент, стиль и доставку салона,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5AAB6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5AAB6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E5AAB6"/>
                </a:solidFill>
                <a:latin typeface="MiSans"/>
                <a:ea typeface="MiSans"/>
              </a:rPr>
              <a:t>АВТО-ПУБЛИКАЦИЯ</a:t>
            </a:r>
            <a:endParaRPr lang="en-US" sz="1450"/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5AAB6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5AAB6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2EBDD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Поисковики и нейросети фиксируют новый контент о вашем салоне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5AAB6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5AAB6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2EBDD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5AAB6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5AAB6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2EBDD"/>
                </a:solidFill>
                <a:latin typeface="MiSans"/>
                <a:ea typeface="MiSans"/>
              </a:rPr>
              <a:t>ДОВЕРИЕ И ЗАКАЗЫ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A3B5A8"/>
                </a:solidFill>
                <a:latin typeface="MiSans"/>
                <a:ea typeface="MiSans"/>
              </a:rPr>
              <a:t>Покупатели находят вас, доверяют рекомендации нейросети и заказывают букеты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C98A96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E2B22"/>
                </a:solidFill>
                <a:latin typeface="MiSans"/>
                <a:ea typeface="MiSans"/>
              </a:rPr>
              <a:t>Система работает 24/7: вы занимаетесь букетами — Промптер занимается продвижением</a:t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uquet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bouquet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1E2B22">
                  <a:alpha val="7843"/>
                </a:srgbClr>
              </a:gs>
              <a:gs pos="100000">
                <a:srgbClr val="1E2B22">
                  <a:alpha val="90196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ДЛЯ ВАШЕГО САЛОНА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Салон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Вас называют, когда покупатель спрашивает, где заказать букет,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2EBDD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869950" y="2209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dirty="0">
                <a:solidFill>
                  <a:srgbClr val="A3B5A8"/>
                </a:solidFill>
                <a:latin typeface="MiSans"/>
                <a:ea typeface="MiSans"/>
              </a:rPr>
              <a:t>СТОИМОСТЬ СЕРВИСА</a:t>
            </a:r>
            <a:endParaRPr lang="en-US" sz="1100" dirty="0"/>
          </a:p>
        </p:txBody>
      </p:sp>
      <p:sp>
        <p:nvSpPr>
          <p:cNvPr id="5" name="price-big"/>
          <p:cNvSpPr txBox="1"/>
          <p:nvPr/>
        </p:nvSpPr>
        <p:spPr>
          <a:xfrm>
            <a:off x="869950" y="2489200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E5AAB6"/>
                </a:solidFill>
                <a:latin typeface="MiSans"/>
                <a:ea typeface="MiSans"/>
              </a:rPr>
              <a:t>От 29500 ₽</a:t>
            </a:r>
            <a:r>
              <a:rPr lang="en-US" sz="1600" dirty="0">
                <a:solidFill>
                  <a:srgbClr val="A3B5A8"/>
                </a:solidFill>
                <a:latin typeface="MiSans"/>
                <a:ea typeface="MiSans"/>
              </a:rPr>
              <a:t>  /</a:t>
            </a:r>
            <a:r>
              <a:rPr lang="en-US" sz="1600" dirty="0" err="1">
                <a:solidFill>
                  <a:srgbClr val="A3B5A8"/>
                </a:solidFill>
                <a:latin typeface="MiSans"/>
                <a:ea typeface="MiSans"/>
              </a:rPr>
              <a:t>месяц</a:t>
            </a:r>
            <a:endParaRPr lang="en-US" sz="1600" dirty="0"/>
          </a:p>
        </p:txBody>
      </p:sp>
      <p:sp>
        <p:nvSpPr>
          <p:cNvPr id="6" name="price-instead"/>
          <p:cNvSpPr txBox="1"/>
          <p:nvPr/>
        </p:nvSpPr>
        <p:spPr>
          <a:xfrm>
            <a:off x="869950" y="3378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2EBDD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5AAB6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2EBDD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869950" y="3759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2EBDD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5AAB6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52959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>
                <a:solidFill>
                  <a:srgbClr val="A3B5A8"/>
                </a:solidFill>
                <a:latin typeface="MiSans"/>
                <a:ea typeface="MiSans"/>
              </a:rPr>
              <a:t/>
            </a:r>
            <a:r>
              <a:rPr lang="en-US" sz="1100" i="1" dirty="0" err="1">
                <a:solidFill>
                  <a:srgbClr val="A3B5A8"/>
                </a:solidFill>
                <a:latin typeface="MiSans"/>
                <a:ea typeface="MiSans"/>
              </a:rPr>
              <a:t/>
            </a:r>
            <a:endParaRPr lang="en-US" sz="1100" dirty="0"/>
          </a:p>
        </p:txBody>
      </p:sp>
      <p:sp>
        <p:nvSpPr>
          <p:cNvPr id="11" name="divider"/>
          <p:cNvSpPr/>
          <p:nvPr/>
        </p:nvSpPr>
        <p:spPr>
          <a:xfrm>
            <a:off x="6299200" y="1346200"/>
            <a:ext cx="12700" cy="3810000"/>
          </a:xfrm>
          <a:prstGeom prst="rect">
            <a:avLst/>
          </a:prstGeom>
          <a:solidFill>
            <a:srgbClr val="3A5244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2EBDD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2EBDD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2EBDD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2EBDD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Экспертный контент о букетах, трендах флористики и доставке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2EBDD"/>
                </a:solidFill>
                <a:latin typeface="MiSans"/>
                <a:ea typeface="MiSans"/>
              </a:rPr>
              <a:t>6 площадок для автопубликации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A3B5A8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3A5244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A3B5A8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375150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5AAB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375150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rgbClr val="1E2B22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rgbClr val="1E2B22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B22"/>
            </a:gs>
            <a:gs pos="100000">
              <a:srgbClr val="27362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432800" y="3048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A3B5A8"/>
                </a:solidFill>
                <a:latin typeface="MiSans"/>
                <a:ea typeface="MiSans"/>
              </a:rPr>
              <a:t>ПРОМПТЕР · ЦВЕТОЧНЫЕ САЛОНЫ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2EBDD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eyJpY29uTmFtZSI6ImZhczpzZWVkbGluZyJ9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E5AAB6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2EBDD"/>
                </a:solidFill>
                <a:latin typeface="MiSans"/>
                <a:ea typeface="MiSans"/>
              </a:rPr>
              <a:t>Экспертиза во флористике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A3B5A8"/>
                </a:solidFill>
                <a:latin typeface="MiSans"/>
                <a:ea typeface="MiSans"/>
              </a:rPr>
              <a:t>Знаем специфику цветочных салонов и студий — говорим с покупателями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 l="12000" t="5000" r="5000" b="25000"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A3B5A8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27362B"/>
          </a:solidFill>
          <a:ln w="12700">
            <a:solidFill>
              <a:srgbClr val="3A5244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2EBDD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2EBDD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2EBDD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A3B5A8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2EBDD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A3B5A8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928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цветочных салонов — GEO/SEO-продвижение</dc:title>
  <dc:subject>Промптер для цветочных салонов — GEO/SEO-продвижение</dc:subject>
  <dc:creator>Kimi</dc:creator>
  <cp:lastModifiedBy>Пупкин Толя</cp:lastModifiedBy>
  <cp:revision>2</cp:revision>
  <dcterms:modified xsi:type="dcterms:W3CDTF">2026-07-23T17:48:53Z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цветочных салонов — GEO/SEO-продвижение","ContentProducer":"001191110108MACG2KBH8F10000","ProduceID":"19f8feee-1342-8216-8000-0000393dd88d","ReservedCode1":"","ContentPropagator":"001191110108MACG2KBH8F20000","PropagateID":"19f73adb-8c92-8708-8000-09088e4502a4","ReservedCode2":""}</vt:lpwstr>
  </property>
</Properties>
</file>