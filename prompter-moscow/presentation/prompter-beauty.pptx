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prompter-ai.moscow/zayavka.html?from=presentation-beauty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6EFE2">
                  <a:alpha val="98039"/>
                </a:srgbClr>
              </a:gs>
              <a:gs pos="50000">
                <a:srgbClr val="F6EFE2">
                  <a:alpha val="87843"/>
                </a:srgbClr>
              </a:gs>
              <a:gs pos="78000">
                <a:srgbClr val="F6EFE2">
                  <a:alpha val="47843"/>
                </a:srgbClr>
              </a:gs>
              <a:gs pos="100000">
                <a:srgbClr val="F6EFE2">
                  <a:alpha val="10196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"/>
          <p:cNvSpPr txBox="1"/>
          <p:nvPr/>
        </p:nvSpPr>
        <p:spPr>
          <a:xfrm>
            <a:off x="965200" y="5588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900" b="1" kern="0" spc="500" dirty="0">
                <a:solidFill>
                  <a:srgbClr val="2B1D1A"/>
                </a:solidFill>
                <a:latin typeface="MiSans"/>
                <a:ea typeface="MiSans"/>
              </a:rPr>
              <a:t>ПРОМПТЕР</a:t>
            </a:r>
            <a:endParaRPr lang="en-US" sz="1900" dirty="0"/>
          </a:p>
        </p:txBody>
      </p:sp>
      <p:sp>
        <p:nvSpPr>
          <p:cNvPr id="5" name="brand-sub"/>
          <p:cNvSpPr txBox="1"/>
          <p:nvPr/>
        </p:nvSpPr>
        <p:spPr>
          <a:xfrm>
            <a:off x="965200" y="914400"/>
            <a:ext cx="381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8A7568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2133600"/>
            <a:ext cx="711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 kern="0" spc="300">
                <a:solidFill>
                  <a:srgbClr val="C15F3C"/>
                </a:solidFill>
                <a:latin typeface="MiSans"/>
                <a:ea typeface="MiSans"/>
              </a:rPr>
              <a:t>GEO- И SEO-ПРОДВИЖЕНИЕ ДЛЯ БЬЮТИ-СФЕРЫ</a:t>
            </a:r>
            <a:endParaRPr lang="en-US" sz="1200"/>
          </a:p>
        </p:txBody>
      </p:sp>
      <p:sp>
        <p:nvSpPr>
          <p:cNvPr id="7" name="title"/>
          <p:cNvSpPr txBox="1"/>
          <p:nvPr/>
        </p:nvSpPr>
        <p:spPr>
          <a:xfrm>
            <a:off x="711200" y="2463800"/>
            <a:ext cx="8128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2000"/>
              </a:lnSpc>
            </a:pPr>
            <a:r>
              <a:rPr lang="en-US" sz="3200" b="1">
                <a:solidFill>
                  <a:srgbClr val="2B1D1A"/>
                </a:solidFill>
                <a:latin typeface="MiSans"/>
                <a:ea typeface="MiSans"/>
              </a:rPr>
              <a:t>КОМПЛЕКСНОЕ GEO- И SEO-</a:t>
            </a:r>
            <a:endParaRPr lang="en-US" sz="3200"/>
          </a:p>
          <a:p>
            <a:pPr algn="l">
              <a:lnSpc>
                <a:spcPct val="122000"/>
              </a:lnSpc>
            </a:pPr>
            <a:r>
              <a:rPr lang="en-US" sz="3200" b="1">
                <a:solidFill>
                  <a:srgbClr val="2B1D1A"/>
                </a:solidFill>
                <a:latin typeface="MiSans"/>
                <a:ea typeface="MiSans"/>
              </a:rPr>
              <a:t>ПРОДВИЖЕНИЕ </a:t>
            </a:r>
            <a:r>
              <a:rPr lang="en-US" sz="3200" b="1">
                <a:solidFill>
                  <a:srgbClr val="6D1F2C"/>
                </a:solidFill>
                <a:latin typeface="MiSans"/>
                <a:ea typeface="MiSans"/>
              </a:rPr>
              <a:t>САЛОНОВ КРАСОТЫ</a:t>
            </a:r>
            <a:endParaRPr lang="en-US" sz="3200"/>
          </a:p>
        </p:txBody>
      </p:sp>
      <p:sp>
        <p:nvSpPr>
          <p:cNvPr id="8" name="subtitle"/>
          <p:cNvSpPr txBox="1"/>
          <p:nvPr/>
        </p:nvSpPr>
        <p:spPr>
          <a:xfrm>
            <a:off x="711200" y="3886200"/>
            <a:ext cx="6604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8A7568"/>
                </a:solidFill>
                <a:latin typeface="MiSans"/>
                <a:ea typeface="MiSans"/>
              </a:rPr>
              <a:t>Делаем салоны красоты, студии и косметологии заметными в нейровыдаче и поисковых системах — без рекламных бюджетов и SEO-агентств</a:t>
            </a:r>
            <a:endParaRPr lang="en-US" sz="1500"/>
          </a:p>
        </p:txBody>
      </p:sp>
      <p:sp>
        <p:nvSpPr>
          <p:cNvPr id="9" name="price"/>
          <p:cNvSpPr txBox="1"/>
          <p:nvPr/>
        </p:nvSpPr>
        <p:spPr>
          <a:xfrm>
            <a:off x="711200" y="4902200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dirty="0" err="1">
                <a:solidFill>
                  <a:srgbClr val="2B1D1A"/>
                </a:solidFill>
                <a:latin typeface="MiSans"/>
                <a:ea typeface="MiSans"/>
              </a:rPr>
              <a:t>Стоимость</a:t>
            </a:r>
            <a:r>
              <a:rPr lang="en-US" sz="1500" dirty="0">
                <a:solidFill>
                  <a:srgbClr val="2B1D1A"/>
                </a:solidFill>
                <a:latin typeface="MiSans"/>
                <a:ea typeface="MiSans"/>
              </a:rPr>
              <a:t>: </a:t>
            </a:r>
            <a:r>
              <a:rPr lang="en-US" sz="1900" b="1" dirty="0" err="1">
                <a:solidFill>
                  <a:srgbClr val="6D1F2C"/>
                </a:solidFill>
                <a:latin typeface="MiSans"/>
                <a:ea typeface="MiSans"/>
              </a:rPr>
              <a:t>от</a:t>
            </a:r>
            <a:r>
              <a:rPr lang="en-US" sz="1900" b="1" dirty="0">
                <a:solidFill>
                  <a:srgbClr val="6D1F2C"/>
                </a:solidFill>
                <a:latin typeface="MiSans"/>
                <a:ea typeface="MiSans"/>
              </a:rPr>
              <a:t> 29500 ₽/</a:t>
            </a:r>
            <a:r>
              <a:rPr lang="en-US" sz="1900" b="1" dirty="0" err="1">
                <a:solidFill>
                  <a:srgbClr val="6D1F2C"/>
                </a:solidFill>
                <a:latin typeface="MiSans"/>
                <a:ea typeface="MiSans"/>
              </a:rPr>
              <a:t>мес</a:t>
            </a:r>
            <a:endParaRPr lang="en-US" sz="1500" dirty="0"/>
          </a:p>
        </p:txBody>
      </p:sp>
      <p:pic>
        <p:nvPicPr>
          <p:cNvPr id="13" name="Рисунок 12" descr="preview">
            <a:extLst>
              <a:ext uri="{FF2B5EF4-FFF2-40B4-BE49-F238E27FC236}">
                <a16:creationId xmlns:a16="http://schemas.microsoft.com/office/drawing/2014/main" id="{89BFB6D2-898F-E9FE-6E41-A6A22FEFF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200" y="455387"/>
            <a:ext cx="663766" cy="71482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2B1D1A"/>
                </a:solidFill>
                <a:latin typeface="MiSans"/>
                <a:ea typeface="MiSans"/>
              </a:rPr>
              <a:t>ПОЧЕМУ САЛОНЫ КРАСОТЫ НЕ ДОБИВАЮТСЯ МАКСИМУМА</a:t>
            </a:r>
            <a:endParaRPr lang="en-US" sz="2300"/>
          </a:p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2B1D1A"/>
                </a:solidFill>
                <a:latin typeface="MiSans"/>
                <a:ea typeface="MiSans"/>
              </a:rPr>
              <a:t>ИЗ ЦИФРОВОГО ПРОДВИЖЕНИЯ?</a:t>
            </a:r>
            <a:endParaRPr lang="en-US" sz="2300"/>
          </a:p>
        </p:txBody>
      </p:sp>
      <p:sp>
        <p:nvSpPr>
          <p:cNvPr id="4" name="intro"/>
          <p:cNvSpPr txBox="1"/>
          <p:nvPr/>
        </p:nvSpPr>
        <p:spPr>
          <a:xfrm>
            <a:off x="711200" y="13716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Большинство салонов, студий и косметологий уже пробовали продвижение, но не получали ожидаемого результата</a:t>
            </a:r>
            <a:endParaRPr lang="en-US" sz="1300"/>
          </a:p>
        </p:txBody>
      </p:sp>
      <p:sp>
        <p:nvSpPr>
          <p:cNvPr id="5" name="n1"/>
          <p:cNvSpPr txBox="1"/>
          <p:nvPr/>
        </p:nvSpPr>
        <p:spPr>
          <a:xfrm>
            <a:off x="711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C15F3C"/>
                </a:solidFill>
                <a:latin typeface="MiSans"/>
                <a:ea typeface="MiSans"/>
              </a:rPr>
              <a:t>01</a:t>
            </a:r>
            <a:endParaRPr lang="en-US" sz="2000"/>
          </a:p>
        </p:txBody>
      </p:sp>
      <p:sp>
        <p:nvSpPr>
          <p:cNvPr id="6" name="t1"/>
          <p:cNvSpPr txBox="1"/>
          <p:nvPr/>
        </p:nvSpPr>
        <p:spPr>
          <a:xfrm>
            <a:off x="1295400" y="19558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Невидимость в нейровыдаче</a:t>
            </a:r>
            <a:endParaRPr lang="en-US" sz="1400"/>
          </a:p>
        </p:txBody>
      </p:sp>
      <p:sp>
        <p:nvSpPr>
          <p:cNvPr id="7" name="d1"/>
          <p:cNvSpPr txBox="1"/>
          <p:nvPr/>
        </p:nvSpPr>
        <p:spPr>
          <a:xfrm>
            <a:off x="1295400" y="22606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Клиентки спрашивают у нейросети «лучший салон рядом» — и она называет конкурентов, а не вас</a:t>
            </a:r>
            <a:endParaRPr lang="en-US" sz="1150"/>
          </a:p>
        </p:txBody>
      </p:sp>
      <p:sp>
        <p:nvSpPr>
          <p:cNvPr id="8" name="l1"/>
          <p:cNvSpPr/>
          <p:nvPr/>
        </p:nvSpPr>
        <p:spPr>
          <a:xfrm>
            <a:off x="711200" y="2921000"/>
            <a:ext cx="5334000" cy="12700"/>
          </a:xfrm>
          <a:prstGeom prst="rect">
            <a:avLst/>
          </a:prstGeom>
          <a:solidFill>
            <a:srgbClr val="E3D6C0"/>
          </a:solidFill>
          <a:ln>
            <a:noFill/>
          </a:ln>
        </p:spPr>
      </p:sp>
      <p:sp>
        <p:nvSpPr>
          <p:cNvPr id="9" name="n2"/>
          <p:cNvSpPr txBox="1"/>
          <p:nvPr/>
        </p:nvSpPr>
        <p:spPr>
          <a:xfrm>
            <a:off x="711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C15F3C"/>
                </a:solidFill>
                <a:latin typeface="MiSans"/>
                <a:ea typeface="MiSans"/>
              </a:rPr>
              <a:t>02</a:t>
            </a:r>
            <a:endParaRPr lang="en-US" sz="2000"/>
          </a:p>
        </p:txBody>
      </p:sp>
      <p:sp>
        <p:nvSpPr>
          <p:cNvPr id="10" name="t2"/>
          <p:cNvSpPr txBox="1"/>
          <p:nvPr/>
        </p:nvSpPr>
        <p:spPr>
          <a:xfrm>
            <a:off x="1295400" y="32004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Нехватка времени на контент</a:t>
            </a:r>
            <a:endParaRPr lang="en-US" sz="1400"/>
          </a:p>
        </p:txBody>
      </p:sp>
      <p:sp>
        <p:nvSpPr>
          <p:cNvPr id="11" name="d2"/>
          <p:cNvSpPr txBox="1"/>
          <p:nvPr/>
        </p:nvSpPr>
        <p:spPr>
          <a:xfrm>
            <a:off x="1295400" y="35052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Мастера и администраторы заняты клиентами — на статьи, посты и карточки времени нет</a:t>
            </a:r>
            <a:endParaRPr lang="en-US" sz="1150"/>
          </a:p>
        </p:txBody>
      </p:sp>
      <p:sp>
        <p:nvSpPr>
          <p:cNvPr id="12" name="l2"/>
          <p:cNvSpPr/>
          <p:nvPr/>
        </p:nvSpPr>
        <p:spPr>
          <a:xfrm>
            <a:off x="711200" y="4165600"/>
            <a:ext cx="5334000" cy="12700"/>
          </a:xfrm>
          <a:prstGeom prst="rect">
            <a:avLst/>
          </a:prstGeom>
          <a:solidFill>
            <a:srgbClr val="E3D6C0"/>
          </a:solidFill>
          <a:ln>
            <a:noFill/>
          </a:ln>
        </p:spPr>
      </p:sp>
      <p:sp>
        <p:nvSpPr>
          <p:cNvPr id="13" name="n3"/>
          <p:cNvSpPr txBox="1"/>
          <p:nvPr/>
        </p:nvSpPr>
        <p:spPr>
          <a:xfrm>
            <a:off x="711200" y="44196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C15F3C"/>
                </a:solidFill>
                <a:latin typeface="MiSans"/>
                <a:ea typeface="MiSans"/>
              </a:rPr>
              <a:t>03</a:t>
            </a:r>
            <a:endParaRPr lang="en-US" sz="2000"/>
          </a:p>
        </p:txBody>
      </p:sp>
      <p:sp>
        <p:nvSpPr>
          <p:cNvPr id="14" name="t3"/>
          <p:cNvSpPr txBox="1"/>
          <p:nvPr/>
        </p:nvSpPr>
        <p:spPr>
          <a:xfrm>
            <a:off x="1295400" y="44450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Сложность GEO-продвижения</a:t>
            </a:r>
            <a:endParaRPr lang="en-US" sz="1400"/>
          </a:p>
        </p:txBody>
      </p:sp>
      <p:sp>
        <p:nvSpPr>
          <p:cNvPr id="15" name="d3"/>
          <p:cNvSpPr txBox="1"/>
          <p:nvPr/>
        </p:nvSpPr>
        <p:spPr>
          <a:xfrm>
            <a:off x="1295400" y="47498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Алгоритмы нейропоиска отличаются от классического SEO — старые методы уже не работают</a:t>
            </a:r>
            <a:endParaRPr lang="en-US" sz="1150"/>
          </a:p>
        </p:txBody>
      </p:sp>
      <p:sp>
        <p:nvSpPr>
          <p:cNvPr id="16" name="n4"/>
          <p:cNvSpPr txBox="1"/>
          <p:nvPr/>
        </p:nvSpPr>
        <p:spPr>
          <a:xfrm>
            <a:off x="6553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C15F3C"/>
                </a:solidFill>
                <a:latin typeface="MiSans"/>
                <a:ea typeface="MiSans"/>
              </a:rPr>
              <a:t>04</a:t>
            </a:r>
            <a:endParaRPr lang="en-US" sz="2000"/>
          </a:p>
        </p:txBody>
      </p:sp>
      <p:sp>
        <p:nvSpPr>
          <p:cNvPr id="17" name="t4"/>
          <p:cNvSpPr txBox="1"/>
          <p:nvPr/>
        </p:nvSpPr>
        <p:spPr>
          <a:xfrm>
            <a:off x="7137400" y="1955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Высокие расходы на агентства</a:t>
            </a:r>
            <a:endParaRPr lang="en-US" sz="1400"/>
          </a:p>
        </p:txBody>
      </p:sp>
      <p:sp>
        <p:nvSpPr>
          <p:cNvPr id="18" name="d4"/>
          <p:cNvSpPr txBox="1"/>
          <p:nvPr/>
        </p:nvSpPr>
        <p:spPr>
          <a:xfrm>
            <a:off x="7137400" y="22606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SEO-агентства и SMM-специалисты стоят дорого, а результат непрозрачен</a:t>
            </a:r>
            <a:endParaRPr lang="en-US" sz="1150"/>
          </a:p>
        </p:txBody>
      </p:sp>
      <p:sp>
        <p:nvSpPr>
          <p:cNvPr id="19" name="l4"/>
          <p:cNvSpPr/>
          <p:nvPr/>
        </p:nvSpPr>
        <p:spPr>
          <a:xfrm>
            <a:off x="6553200" y="2921000"/>
            <a:ext cx="4927600" cy="12700"/>
          </a:xfrm>
          <a:prstGeom prst="rect">
            <a:avLst/>
          </a:prstGeom>
          <a:solidFill>
            <a:srgbClr val="E3D6C0"/>
          </a:solidFill>
          <a:ln>
            <a:noFill/>
          </a:ln>
        </p:spPr>
      </p:sp>
      <p:sp>
        <p:nvSpPr>
          <p:cNvPr id="20" name="n5"/>
          <p:cNvSpPr txBox="1"/>
          <p:nvPr/>
        </p:nvSpPr>
        <p:spPr>
          <a:xfrm>
            <a:off x="6553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C15F3C"/>
                </a:solidFill>
                <a:latin typeface="MiSans"/>
                <a:ea typeface="MiSans"/>
              </a:rPr>
              <a:t>05</a:t>
            </a:r>
            <a:endParaRPr lang="en-US" sz="2000"/>
          </a:p>
        </p:txBody>
      </p:sp>
      <p:sp>
        <p:nvSpPr>
          <p:cNvPr id="21" name="t5"/>
          <p:cNvSpPr txBox="1"/>
          <p:nvPr/>
        </p:nvSpPr>
        <p:spPr>
          <a:xfrm>
            <a:off x="7137400" y="3200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Разные площадки и алгоритмы</a:t>
            </a:r>
            <a:endParaRPr lang="en-US" sz="1400"/>
          </a:p>
        </p:txBody>
      </p:sp>
      <p:sp>
        <p:nvSpPr>
          <p:cNvPr id="22" name="d5"/>
          <p:cNvSpPr txBox="1"/>
          <p:nvPr/>
        </p:nvSpPr>
        <p:spPr>
          <a:xfrm>
            <a:off x="7137400" y="35052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Поисковики, карты и нейросети — у каждой площадки свои правила и форматы</a:t>
            </a:r>
            <a:endParaRPr lang="en-US" sz="1150"/>
          </a:p>
        </p:txBody>
      </p:sp>
      <p:sp>
        <p:nvSpPr>
          <p:cNvPr id="23" name="edit-box"/>
          <p:cNvSpPr/>
          <p:nvPr/>
        </p:nvSpPr>
        <p:spPr>
          <a:xfrm>
            <a:off x="6553200" y="4419600"/>
            <a:ext cx="4927600" cy="838200"/>
          </a:xfrm>
          <a:prstGeom prst="rect">
            <a:avLst/>
          </a:prstGeom>
          <a:noFill/>
          <a:ln w="12700">
            <a:solidFill>
              <a:srgbClr val="C15F3C"/>
            </a:solidFill>
            <a:prstDash val="dash"/>
          </a:ln>
        </p:spPr>
      </p:sp>
      <p:sp>
        <p:nvSpPr>
          <p:cNvPr id="24" name="edit-text"/>
          <p:cNvSpPr txBox="1"/>
          <p:nvPr/>
        </p:nvSpPr>
        <p:spPr>
          <a:xfrm>
            <a:off x="6553200" y="4419600"/>
            <a:ext cx="49276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50" i="1">
                <a:solidFill>
                  <a:srgbClr val="8A7568"/>
                </a:solidFill>
                <a:latin typeface="MiSans"/>
                <a:ea typeface="MiSans"/>
              </a:rPr>
              <a:t>Место для правок</a:t>
            </a:r>
            <a:endParaRPr lang="en-US" sz="1150"/>
          </a:p>
          <a:p>
            <a:pPr algn="ctr">
              <a:lnSpc>
                <a:spcPct val="120000"/>
              </a:lnSpc>
              <a:spcBef>
                <a:spcPts val="400"/>
              </a:spcBef>
            </a:pPr>
            <a:r>
              <a:rPr lang="en-US" sz="1000" i="1">
                <a:solidFill>
                  <a:srgbClr val="8A7568"/>
                </a:solidFill>
                <a:latin typeface="MiSans"/>
                <a:ea typeface="MiSans"/>
              </a:rPr>
              <a:t>добавьте свой тезис о проблеме</a:t>
            </a:r>
            <a:endParaRPr lang="en-US" sz="1150"/>
          </a:p>
        </p:txBody>
      </p:sp>
      <p:sp>
        <p:nvSpPr>
          <p:cNvPr id="26" name="conclusion"/>
          <p:cNvSpPr txBox="1"/>
          <p:nvPr/>
        </p:nvSpPr>
        <p:spPr>
          <a:xfrm>
            <a:off x="1371600" y="5613400"/>
            <a:ext cx="1010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6D1F2C"/>
                </a:solidFill>
                <a:latin typeface="MiSans"/>
                <a:ea typeface="MiSans"/>
              </a:rPr>
              <a:t>Вывод:</a:t>
            </a:r>
            <a:r>
              <a:rPr lang="en-US" sz="1400">
                <a:solidFill>
                  <a:srgbClr val="2B1D1A"/>
                </a:solidFill>
                <a:latin typeface="MiSans"/>
                <a:ea typeface="MiSans"/>
              </a:rPr>
              <a:t> салон теряет клиенток ещё до того, как они решили, куда записаться</a:t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2B1D1A"/>
                </a:solidFill>
                <a:latin typeface="MiSans"/>
                <a:ea typeface="MiSans"/>
              </a:rPr>
              <a:t>ПОЧЕМУ ПРИСУТСТВИЕ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2B1D1A"/>
                </a:solidFill>
                <a:latin typeface="MiSans"/>
                <a:ea typeface="MiSans"/>
              </a:rPr>
              <a:t>В НЕЙРОВЫДАЧЕ ТАК ВАЖНО?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447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Отсутствие в ответах нейросетей напрямую влияет на записи, поток клиенток и репутацию салона</a:t>
            </a:r>
            <a:endParaRPr lang="en-US" sz="1300"/>
          </a:p>
        </p:txBody>
      </p:sp>
      <p:sp>
        <p:nvSpPr>
          <p:cNvPr id="5" name="i1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eyJpY29uTmFtZSI6ImZhczp3YW5kLW1hZ2ljLXNwYXJrbGVzIn0</pptd:icon>
              </p:ext>
            </p:extLst>
          </p:nvPr>
        </p:nvSpPr>
        <p:spPr>
          <a:xfrm>
            <a:off x="711200" y="2133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6" name="t1"/>
          <p:cNvSpPr txBox="1"/>
          <p:nvPr/>
        </p:nvSpPr>
        <p:spPr>
          <a:xfrm>
            <a:off x="1244600" y="21336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Нейровыдача заменяет классический поиск</a:t>
            </a:r>
            <a:endParaRPr lang="en-US" sz="1500"/>
          </a:p>
        </p:txBody>
      </p:sp>
      <p:sp>
        <p:nvSpPr>
          <p:cNvPr id="7" name="d1"/>
          <p:cNvSpPr txBox="1"/>
          <p:nvPr/>
        </p:nvSpPr>
        <p:spPr>
          <a:xfrm>
            <a:off x="1244600" y="24384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Клиентки всё чаще спрашивают «лучший салон красоты рядом» у нейросети, а не у поисковика</a:t>
            </a:r>
            <a:endParaRPr lang="en-US" sz="1200"/>
          </a:p>
        </p:txBody>
      </p:sp>
      <p:sp>
        <p:nvSpPr>
          <p:cNvPr id="8" name="i2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eyJpY29uTmFtZSI6ImZhczp1c2VycyJ9</pptd:icon>
              </p:ext>
            </p:extLst>
          </p:nvPr>
        </p:nvSpPr>
        <p:spPr>
          <a:xfrm>
            <a:off x="711200" y="3225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</a:path>
              <a:path w="640" h="512"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</a:path>
              <a:path w="640" h="512"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</a:path>
              <a:path w="640" h="512"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</a:path>
              <a:path w="640" h="512"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</a:path>
              <a:path w="640" h="512"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9" name="t2"/>
          <p:cNvSpPr txBox="1"/>
          <p:nvPr/>
        </p:nvSpPr>
        <p:spPr>
          <a:xfrm>
            <a:off x="1244600" y="32258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Клиентки без рекламных затрат</a:t>
            </a:r>
            <a:endParaRPr lang="en-US" sz="1500"/>
          </a:p>
        </p:txBody>
      </p:sp>
      <p:sp>
        <p:nvSpPr>
          <p:cNvPr id="10" name="d2"/>
          <p:cNvSpPr txBox="1"/>
          <p:nvPr/>
        </p:nvSpPr>
        <p:spPr>
          <a:xfrm>
            <a:off x="1244600" y="35306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Рекомендации нейросети — бесплатный органический трафик, не требующий рекламного бюджета</a:t>
            </a:r>
            <a:endParaRPr lang="en-US" sz="1200"/>
          </a:p>
        </p:txBody>
      </p:sp>
      <p:sp>
        <p:nvSpPr>
          <p:cNvPr id="11" name="i3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eyJpY29uTmFtZSI6ImZhczpjcm93biJ9</pptd:icon>
              </p:ext>
            </p:extLst>
          </p:nvPr>
        </p:nvSpPr>
        <p:spPr>
          <a:xfrm>
            <a:off x="711200" y="4318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12" name="t3"/>
          <p:cNvSpPr txBox="1"/>
          <p:nvPr/>
        </p:nvSpPr>
        <p:spPr>
          <a:xfrm>
            <a:off x="1244600" y="43180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Клиентка выбирает тех, кого назвала нейросеть</a:t>
            </a:r>
            <a:endParaRPr lang="en-US" sz="1500"/>
          </a:p>
        </p:txBody>
      </p:sp>
      <p:sp>
        <p:nvSpPr>
          <p:cNvPr id="13" name="d3"/>
          <p:cNvSpPr txBox="1"/>
          <p:nvPr/>
        </p:nvSpPr>
        <p:spPr>
          <a:xfrm>
            <a:off x="1244600" y="46228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Рекомендация ИИ воспринимается как совет подруги-эксперта — ей доверяют и записываются</a:t>
            </a:r>
            <a:endParaRPr lang="en-US" sz="1200"/>
          </a:p>
        </p:txBody>
      </p:sp>
      <p:sp>
        <p:nvSpPr>
          <p:cNvPr id="14" name="i4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eyJpY29uTmFtZSI6ImZhczpjaGFydC1saW5lIn0</pptd:icon>
              </p:ext>
            </p:extLst>
          </p:nvPr>
        </p:nvSpPr>
        <p:spPr>
          <a:xfrm>
            <a:off x="711200" y="5410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15" name="t4"/>
          <p:cNvSpPr txBox="1"/>
          <p:nvPr/>
        </p:nvSpPr>
        <p:spPr>
          <a:xfrm>
            <a:off x="1244600" y="54102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Отставание от конкурентов</a:t>
            </a:r>
            <a:endParaRPr lang="en-US" sz="1500"/>
          </a:p>
        </p:txBody>
      </p:sp>
      <p:sp>
        <p:nvSpPr>
          <p:cNvPr id="16" name="d4"/>
          <p:cNvSpPr txBox="1"/>
          <p:nvPr/>
        </p:nvSpPr>
        <p:spPr>
          <a:xfrm>
            <a:off x="1244600" y="57150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Пока вас нет в ответах нейросети, конкуренты забирают ваших клиенток каждый день</a:t>
            </a:r>
            <a:endParaRPr lang="en-US" sz="1200"/>
          </a:p>
        </p:txBody>
      </p:sp>
      <p:sp>
        <p:nvSpPr>
          <p:cNvPr id="17" name="phone"/>
          <p:cNvSpPr/>
          <p:nvPr/>
        </p:nvSpPr>
        <p:spPr>
          <a:xfrm>
            <a:off x="7823200" y="914400"/>
            <a:ext cx="3657600" cy="5105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3D6C0"/>
            </a:solidFill>
          </a:ln>
          <a:effectLst>
            <a:outerShdw blurRad="228600" dist="101600" dir="5400000" algn="bl" rotWithShape="0">
              <a:srgbClr val="6D1F2C">
                <a:alpha val="12157"/>
              </a:srgbClr>
            </a:outerShdw>
          </a:effectLst>
        </p:spPr>
      </p:sp>
      <p:sp>
        <p:nvSpPr>
          <p:cNvPr id="18" name="phone-time"/>
          <p:cNvSpPr txBox="1"/>
          <p:nvPr/>
        </p:nvSpPr>
        <p:spPr>
          <a:xfrm>
            <a:off x="8128000" y="111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>
                <a:solidFill>
                  <a:srgbClr val="8A7568"/>
                </a:solidFill>
                <a:latin typeface="MiSans"/>
                <a:ea typeface="MiSans"/>
              </a:rPr>
              <a:t>9:41</a:t>
            </a:r>
            <a:endParaRPr lang="en-US" sz="1000"/>
          </a:p>
        </p:txBody>
      </p:sp>
      <p:sp>
        <p:nvSpPr>
          <p:cNvPr id="19" name="phone-header"/>
          <p:cNvSpPr txBox="1"/>
          <p:nvPr/>
        </p:nvSpPr>
        <p:spPr>
          <a:xfrm>
            <a:off x="8128000" y="1371600"/>
            <a:ext cx="304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2B1D1A"/>
                </a:solidFill>
                <a:latin typeface="MiSans"/>
                <a:ea typeface="MiSans"/>
              </a:rPr>
              <a:t>НЕЙРОПОИСК</a:t>
            </a:r>
            <a:endParaRPr lang="en-US" sz="1100"/>
          </a:p>
        </p:txBody>
      </p:sp>
      <p:sp>
        <p:nvSpPr>
          <p:cNvPr id="20" name="phone-div"/>
          <p:cNvSpPr/>
          <p:nvPr/>
        </p:nvSpPr>
        <p:spPr>
          <a:xfrm>
            <a:off x="8128000" y="1701800"/>
            <a:ext cx="3048000" cy="12700"/>
          </a:xfrm>
          <a:prstGeom prst="rect">
            <a:avLst/>
          </a:prstGeom>
          <a:solidFill>
            <a:srgbClr val="E3D6C0"/>
          </a:solidFill>
          <a:ln>
            <a:noFill/>
          </a:ln>
        </p:spPr>
      </p:sp>
      <p:sp>
        <p:nvSpPr>
          <p:cNvPr id="21" name="bubble-q"/>
          <p:cNvSpPr/>
          <p:nvPr/>
        </p:nvSpPr>
        <p:spPr>
          <a:xfrm>
            <a:off x="8966200" y="1930400"/>
            <a:ext cx="2209800" cy="533400"/>
          </a:xfrm>
          <a:prstGeom prst="roundRect">
            <a:avLst>
              <a:gd name="adj" fmla="val 22000"/>
            </a:avLst>
          </a:prstGeom>
          <a:solidFill>
            <a:srgbClr val="6D1F2C"/>
          </a:solidFill>
          <a:ln>
            <a:noFill/>
          </a:ln>
        </p:spPr>
      </p:sp>
      <p:sp>
        <p:nvSpPr>
          <p:cNvPr id="22" name="bubble-q-text"/>
          <p:cNvSpPr txBox="1"/>
          <p:nvPr/>
        </p:nvSpPr>
        <p:spPr>
          <a:xfrm>
            <a:off x="9093200" y="1930400"/>
            <a:ext cx="1955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1150">
                <a:solidFill>
                  <a:srgbClr val="F6EFE2"/>
                </a:solidFill>
                <a:latin typeface="MiSans"/>
                <a:ea typeface="MiSans"/>
              </a:rPr>
              <a:t>Куда сходить на стрижку и уход в центре?</a:t>
            </a:r>
            <a:endParaRPr lang="en-US" sz="1150"/>
          </a:p>
        </p:txBody>
      </p:sp>
      <p:sp>
        <p:nvSpPr>
          <p:cNvPr id="23" name="bubble-a"/>
          <p:cNvSpPr/>
          <p:nvPr/>
        </p:nvSpPr>
        <p:spPr>
          <a:xfrm>
            <a:off x="8128000" y="2667000"/>
            <a:ext cx="3048000" cy="2489200"/>
          </a:xfrm>
          <a:prstGeom prst="roundRect">
            <a:avLst>
              <a:gd name="adj" fmla="val 10000"/>
            </a:avLst>
          </a:prstGeom>
          <a:solidFill>
            <a:srgbClr val="F1E6D3"/>
          </a:solidFill>
          <a:ln w="12700">
            <a:solidFill>
              <a:srgbClr val="E3D6C0"/>
            </a:solidFill>
          </a:ln>
        </p:spPr>
      </p:sp>
      <p:sp>
        <p:nvSpPr>
          <p:cNvPr id="24" name="bubble-a-text"/>
          <p:cNvSpPr txBox="1"/>
          <p:nvPr/>
        </p:nvSpPr>
        <p:spPr>
          <a:xfrm>
            <a:off x="8331200" y="2819400"/>
            <a:ext cx="2641600" cy="218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2B1D1A"/>
                </a:solidFill>
                <a:latin typeface="MiSans"/>
                <a:ea typeface="MiSans"/>
              </a:rPr>
              <a:t>Вот 3 салона рядом: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150">
                <a:solidFill>
                  <a:srgbClr val="2B1D1A"/>
                </a:solidFill>
                <a:latin typeface="MiSans"/>
                <a:ea typeface="MiSans"/>
              </a:rPr>
              <a:t>1. Салон «Атмосфера»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2B1D1A"/>
                </a:solidFill>
                <a:latin typeface="MiSans"/>
                <a:ea typeface="MiSans"/>
              </a:rPr>
              <a:t>2. Студия «Образ»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2B1D1A"/>
                </a:solidFill>
                <a:latin typeface="MiSans"/>
                <a:ea typeface="MiSans"/>
              </a:rPr>
              <a:t>3. </a:t>
            </a:r>
            <a:r>
              <a:rPr lang="en-US" sz="1150" b="1">
                <a:solidFill>
                  <a:srgbClr val="6D1F2C"/>
                </a:solidFill>
                <a:latin typeface="MiSans"/>
                <a:ea typeface="MiSans"/>
              </a:rPr>
              <a:t>______________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1000"/>
              </a:spcBef>
            </a:pPr>
            <a:r>
              <a:rPr lang="en-US" sz="1000">
                <a:solidFill>
                  <a:srgbClr val="8A7568"/>
                </a:solidFill>
                <a:latin typeface="MiSans"/>
                <a:ea typeface="MiSans"/>
              </a:rPr>
              <a:t>место №3 может занять ваш салон</a:t>
            </a:r>
            <a:endParaRPr lang="en-US" sz="1150"/>
          </a:p>
        </p:txBody>
      </p:sp>
      <p:sp>
        <p:nvSpPr>
          <p:cNvPr id="25" name="phone-note"/>
          <p:cNvSpPr txBox="1"/>
          <p:nvPr/>
        </p:nvSpPr>
        <p:spPr>
          <a:xfrm>
            <a:off x="7823200" y="6070600"/>
            <a:ext cx="3657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000" i="1">
                <a:solidFill>
                  <a:srgbClr val="8A7568"/>
                </a:solidFill>
                <a:latin typeface="MiSans"/>
                <a:ea typeface="MiSans"/>
              </a:rPr>
              <a:t>Нейросеть уже отвечает клиенткам — вопрос лишь в том, назовёт ли она вас</a:t>
            </a:r>
            <a:endParaRPr lang="en-US" sz="1000"/>
          </a:p>
        </p:txBody>
      </p:sp>
      <p:sp>
        <p:nvSpPr>
          <p:cNvPr id="2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2B1D1A"/>
                </a:solidFill>
                <a:latin typeface="MiSans"/>
                <a:ea typeface="MiSans"/>
              </a:rPr>
              <a:t>НАШЕ ИННОВАЦИОННОЕ РЕШЕНИЕ — </a:t>
            </a:r>
            <a:r>
              <a:rPr lang="en-US" sz="2600" b="1">
                <a:solidFill>
                  <a:srgbClr val="6D1F2C"/>
                </a:solidFill>
                <a:latin typeface="MiSans"/>
                <a:ea typeface="MiSans"/>
              </a:rPr>
              <a:t>СЕРВИС ПРОМПТЕР</a:t>
            </a:r>
            <a:endParaRPr lang="en-US" sz="260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Полностью автоматизированная платформа на базе искусственного интеллекта, которая продвигает салоны красоты, студии и косметологии в нейровыдаче и поисковых системах без ручной рутины</a:t>
            </a:r>
            <a:endParaRPr lang="en-US" sz="1300"/>
          </a:p>
        </p:txBody>
      </p:sp>
      <p:sp>
        <p:nvSpPr>
          <p:cNvPr id="5" name="uniq-box"/>
          <p:cNvSpPr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solidFill>
            <a:srgbClr val="6D1F2C">
              <a:alpha val="7059"/>
            </a:srgbClr>
          </a:solidFill>
          <a:ln w="12700">
            <a:solidFill>
              <a:srgbClr val="6D1F2C"/>
            </a:solidFill>
          </a:ln>
        </p:spPr>
      </p:sp>
      <p:sp>
        <p:nvSpPr>
          <p:cNvPr id="6" name="uniq-text"/>
          <p:cNvSpPr txBox="1"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6D1F2C"/>
                </a:solidFill>
                <a:latin typeface="MiSans"/>
                <a:ea typeface="MiSans"/>
              </a:rPr>
              <a:t>УНИКАЛЬНОСТЬ: СЕРВИС НЕ ТОЛЬКО ГЕНЕРИРУЕТ КОНТЕНТ — ОН САМ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  <a:effectLst>
            <a:outerShdw blurRad="127000" dist="50800" dir="5400000" algn="bl" rotWithShape="0">
              <a:srgbClr val="6D1F2C">
                <a:alpha val="7059"/>
              </a:srgbClr>
            </a:outerShdw>
          </a:effectLst>
        </p:spPr>
      </p:sp>
      <p:sp>
        <p:nvSpPr>
          <p:cNvPr id="8" name="c1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eyJpY29uTmFtZSI6ImZhczpwZW4tbmliIn0</pptd:icon>
              </p:ext>
            </p:extLst>
          </p:nvPr>
        </p:nvSpPr>
        <p:spPr>
          <a:xfrm>
            <a:off x="9398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9" name="c1-title"/>
          <p:cNvSpPr txBox="1"/>
          <p:nvPr/>
        </p:nvSpPr>
        <p:spPr>
          <a:xfrm>
            <a:off x="13970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AI-КОПИРАЙТЕР</a:t>
            </a:r>
            <a:endParaRPr lang="en-US" sz="1400"/>
          </a:p>
        </p:txBody>
      </p:sp>
      <p:sp>
        <p:nvSpPr>
          <p:cNvPr id="10" name="c1-desc"/>
          <p:cNvSpPr txBox="1"/>
          <p:nvPr/>
        </p:nvSpPr>
        <p:spPr>
          <a:xfrm>
            <a:off x="9398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Создаёт тексты об услугах, мастерах и атмосфере салона в вашем tone of voice</a:t>
            </a:r>
            <a:endParaRPr lang="en-US" sz="1100"/>
          </a:p>
        </p:txBody>
      </p:sp>
      <p:sp>
        <p:nvSpPr>
          <p:cNvPr id="11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  <a:effectLst>
            <a:outerShdw blurRad="127000" dist="50800" dir="5400000" algn="bl" rotWithShape="0">
              <a:srgbClr val="6D1F2C">
                <a:alpha val="7059"/>
              </a:srgbClr>
            </a:outerShdw>
          </a:effectLst>
        </p:spPr>
      </p:sp>
      <p:sp>
        <p:nvSpPr>
          <p:cNvPr id="12" name="c2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eyJpY29uTmFtZSI6ImZhczpzaGllbGQtaGFsdmVkIn0</pptd:icon>
              </p:ext>
            </p:extLst>
          </p:nvPr>
        </p:nvSpPr>
        <p:spPr>
          <a:xfrm>
            <a:off x="45974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13" name="c2-title"/>
          <p:cNvSpPr txBox="1"/>
          <p:nvPr/>
        </p:nvSpPr>
        <p:spPr>
          <a:xfrm>
            <a:off x="50546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AI-МОДЕРАТОР</a:t>
            </a:r>
            <a:endParaRPr lang="en-US" sz="1400"/>
          </a:p>
        </p:txBody>
      </p:sp>
      <p:sp>
        <p:nvSpPr>
          <p:cNvPr id="14" name="c2-desc"/>
          <p:cNvSpPr txBox="1"/>
          <p:nvPr/>
        </p:nvSpPr>
        <p:spPr>
          <a:xfrm>
            <a:off x="45974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Проверяет каждый материал перед публикацией и формирует контент-план</a:t>
            </a:r>
            <a:endParaRPr lang="en-US" sz="1100"/>
          </a:p>
        </p:txBody>
      </p:sp>
      <p:sp>
        <p:nvSpPr>
          <p:cNvPr id="15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  <a:effectLst>
            <a:outerShdw blurRad="127000" dist="50800" dir="5400000" algn="bl" rotWithShape="0">
              <a:srgbClr val="6D1F2C">
                <a:alpha val="7059"/>
              </a:srgbClr>
            </a:outerShdw>
          </a:effectLst>
        </p:spPr>
      </p:sp>
      <p:sp>
        <p:nvSpPr>
          <p:cNvPr id="16" name="c3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eyJpY29uTmFtZSI6ImZhczpjaGVzcyJ9</pptd:icon>
              </p:ext>
            </p:extLst>
          </p:nvPr>
        </p:nvSpPr>
        <p:spPr>
          <a:xfrm>
            <a:off x="82550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17" name="c3-title"/>
          <p:cNvSpPr txBox="1"/>
          <p:nvPr/>
        </p:nvSpPr>
        <p:spPr>
          <a:xfrm>
            <a:off x="87122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AI-СТРАТЕГ</a:t>
            </a:r>
            <a:endParaRPr lang="en-US" sz="1400"/>
          </a:p>
        </p:txBody>
      </p:sp>
      <p:sp>
        <p:nvSpPr>
          <p:cNvPr id="18" name="c3-desc"/>
          <p:cNvSpPr txBox="1"/>
          <p:nvPr/>
        </p:nvSpPr>
        <p:spPr>
          <a:xfrm>
            <a:off x="82550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Строит стратегию продвижения в нейровыдаче под формат вашего салона</a:t>
            </a:r>
            <a:endParaRPr lang="en-US" sz="1100"/>
          </a:p>
        </p:txBody>
      </p:sp>
      <p:sp>
        <p:nvSpPr>
          <p:cNvPr id="19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  <a:effectLst>
            <a:outerShdw blurRad="127000" dist="50800" dir="5400000" algn="bl" rotWithShape="0">
              <a:srgbClr val="6D1F2C">
                <a:alpha val="7059"/>
              </a:srgbClr>
            </a:outerShdw>
          </a:effectLst>
        </p:spPr>
      </p:sp>
      <p:sp>
        <p:nvSpPr>
          <p:cNvPr id="20" name="c4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eyJpY29uTmFtZSI6ImZhczpjaGFydC1waWUifQ</pptd:icon>
              </p:ext>
            </p:extLst>
          </p:nvPr>
        </p:nvSpPr>
        <p:spPr>
          <a:xfrm>
            <a:off x="9398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21" name="c4-title"/>
          <p:cNvSpPr txBox="1"/>
          <p:nvPr/>
        </p:nvSpPr>
        <p:spPr>
          <a:xfrm>
            <a:off x="13970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МОДУЛЬ АНАЛИТИКИ</a:t>
            </a:r>
            <a:endParaRPr lang="en-US" sz="1400"/>
          </a:p>
        </p:txBody>
      </p:sp>
      <p:sp>
        <p:nvSpPr>
          <p:cNvPr id="22" name="c4-desc"/>
          <p:cNvSpPr txBox="1"/>
          <p:nvPr/>
        </p:nvSpPr>
        <p:spPr>
          <a:xfrm>
            <a:off x="9398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Отслеживает присутствие бренда в нейросетях и поисковых системах</a:t>
            </a:r>
            <a:endParaRPr lang="en-US" sz="1100"/>
          </a:p>
        </p:txBody>
      </p:sp>
      <p:sp>
        <p:nvSpPr>
          <p:cNvPr id="23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  <a:effectLst>
            <a:outerShdw blurRad="127000" dist="50800" dir="5400000" algn="bl" rotWithShape="0">
              <a:srgbClr val="6D1F2C">
                <a:alpha val="7059"/>
              </a:srgbClr>
            </a:outerShdw>
          </a:effectLst>
        </p:spPr>
      </p:sp>
      <p:sp>
        <p:nvSpPr>
          <p:cNvPr id="24" name="c5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eyJpY29uTmFtZSI6ImZhczptaWNyb3Njb3BlIn0</pptd:icon>
              </p:ext>
            </p:extLst>
          </p:nvPr>
        </p:nvSpPr>
        <p:spPr>
          <a:xfrm>
            <a:off x="45974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25" name="c5-title"/>
          <p:cNvSpPr txBox="1"/>
          <p:nvPr/>
        </p:nvSpPr>
        <p:spPr>
          <a:xfrm>
            <a:off x="50546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AI-ИССЛЕДОВАТЕЛЬ</a:t>
            </a:r>
            <a:endParaRPr lang="en-US" sz="1400"/>
          </a:p>
        </p:txBody>
      </p:sp>
      <p:sp>
        <p:nvSpPr>
          <p:cNvPr id="26" name="c5-desc"/>
          <p:cNvSpPr txBox="1"/>
          <p:nvPr/>
        </p:nvSpPr>
        <p:spPr>
          <a:xfrm>
            <a:off x="45974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Анализирует конкурентов и аудиторию в вашем районе и городе</a:t>
            </a:r>
            <a:endParaRPr lang="en-US" sz="1100"/>
          </a:p>
        </p:txBody>
      </p:sp>
      <p:sp>
        <p:nvSpPr>
          <p:cNvPr id="27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  <a:effectLst>
            <a:outerShdw blurRad="127000" dist="50800" dir="5400000" algn="bl" rotWithShape="0">
              <a:srgbClr val="6D1F2C">
                <a:alpha val="7059"/>
              </a:srgbClr>
            </a:outerShdw>
          </a:effectLst>
        </p:spPr>
      </p:sp>
      <p:sp>
        <p:nvSpPr>
          <p:cNvPr id="28" name="c6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eyJpY29uTmFtZSI6ImZhczpwYWxldHRlIn0</pptd:icon>
              </p:ext>
            </p:extLst>
          </p:nvPr>
        </p:nvSpPr>
        <p:spPr>
          <a:xfrm>
            <a:off x="82550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29" name="c6-title"/>
          <p:cNvSpPr txBox="1"/>
          <p:nvPr/>
        </p:nvSpPr>
        <p:spPr>
          <a:xfrm>
            <a:off x="87122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AI-ДИЗАЙНЕР</a:t>
            </a:r>
            <a:endParaRPr lang="en-US" sz="1400"/>
          </a:p>
        </p:txBody>
      </p:sp>
      <p:sp>
        <p:nvSpPr>
          <p:cNvPr id="30" name="c6-desc"/>
          <p:cNvSpPr txBox="1"/>
          <p:nvPr/>
        </p:nvSpPr>
        <p:spPr>
          <a:xfrm>
            <a:off x="82550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Готовит визуал, фирменные обложки и оформление для каждой публикации</a:t>
            </a:r>
            <a:endParaRPr lang="en-US" sz="1100"/>
          </a:p>
        </p:txBody>
      </p:sp>
      <p:sp>
        <p:nvSpPr>
          <p:cNvPr id="31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>
                <a:solidFill>
                  <a:srgbClr val="8A7568"/>
                </a:solidFill>
                <a:latin typeface="MiSans"/>
                <a:ea typeface="MiSans"/>
              </a:rPr>
              <a:t>Все модули работают как единая система — от идеи до публикации без вашего участия</a:t>
            </a:r>
            <a:endParaRPr lang="en-US" sz="1200"/>
          </a:p>
        </p:txBody>
      </p:sp>
      <p:sp>
        <p:nvSpPr>
          <p:cNvPr id="32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6EFE2"/>
            </a:gs>
            <a:gs pos="55000">
              <a:srgbClr val="F1E2D0"/>
            </a:gs>
            <a:gs pos="100000">
              <a:srgbClr val="EBD3C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300">
                <a:solidFill>
                  <a:srgbClr val="C15F3C"/>
                </a:solidFill>
                <a:latin typeface="MiSans"/>
                <a:ea typeface="MiSans"/>
              </a:rPr>
              <a:t>КЛЮЧЕВОЕ ОТЛИЧИЕ ПРОМПТЕРА</a:t>
            </a:r>
            <a:endParaRPr lang="en-US" sz="12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2B1D1A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/>
          </a:p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6D1F2C"/>
                </a:solidFill>
                <a:latin typeface="MiSans"/>
                <a:ea typeface="MiSans"/>
              </a:rPr>
              <a:t>САМ ПУБЛИКУЕТ</a:t>
            </a:r>
            <a:endParaRPr lang="en-US" sz="3800"/>
          </a:p>
        </p:txBody>
      </p:sp>
      <p:sp>
        <p:nvSpPr>
          <p:cNvPr id="5" name="body"/>
          <p:cNvSpPr txBox="1"/>
          <p:nvPr/>
        </p:nvSpPr>
        <p:spPr>
          <a:xfrm>
            <a:off x="711200" y="2641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5C4A42"/>
                </a:solidFill>
                <a:latin typeface="MiSans"/>
                <a:ea typeface="MiSans"/>
              </a:rPr>
              <a:t>Технология берёт на себя полный цикл GEO- и SEO-продвижения: создаёт контент о вашем салоне и автоматически публикует его на отечественных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9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E3D6C0"/>
            </a:solidFill>
          </a:ln>
        </p:spPr>
      </p:sp>
      <p:sp>
        <p:nvSpPr>
          <p:cNvPr id="10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8A7568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1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2B1D1A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2" name="arrow1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8A7568"/>
          </a:solidFill>
          <a:ln>
            <a:noFill/>
          </a:ln>
        </p:spPr>
      </p:sp>
      <p:sp>
        <p:nvSpPr>
          <p:cNvPr id="13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E3D6C0"/>
            </a:solidFill>
          </a:ln>
        </p:spPr>
      </p:sp>
      <p:sp>
        <p:nvSpPr>
          <p:cNvPr id="14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8A7568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5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2B1D1A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6" name="arrow2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8A7568"/>
          </a:solidFill>
          <a:ln>
            <a:noFill/>
          </a:ln>
        </p:spPr>
      </p:sp>
      <p:sp>
        <p:nvSpPr>
          <p:cNvPr id="17" name="chip3"/>
          <p:cNvSpPr/>
          <p:nvPr/>
        </p:nvSpPr>
        <p:spPr>
          <a:xfrm>
            <a:off x="6654800" y="4724400"/>
            <a:ext cx="2489200" cy="736600"/>
          </a:xfrm>
          <a:prstGeom prst="rect">
            <a:avLst/>
          </a:prstGeom>
          <a:solidFill>
            <a:srgbClr val="6D1F2C"/>
          </a:solidFill>
          <a:ln>
            <a:noFill/>
          </a:ln>
        </p:spPr>
      </p:sp>
      <p:sp>
        <p:nvSpPr>
          <p:cNvPr id="18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F1E2D0"/>
                </a:solidFill>
                <a:latin typeface="MiSans"/>
                <a:ea typeface="MiSans"/>
              </a:rPr>
              <a:t>03</a:t>
            </a:r>
            <a:endParaRPr lang="en-US" sz="1000"/>
          </a:p>
        </p:txBody>
      </p:sp>
      <p:sp>
        <p:nvSpPr>
          <p:cNvPr id="19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6EFE2"/>
                </a:solidFill>
                <a:latin typeface="MiSans"/>
                <a:ea typeface="MiSans"/>
              </a:rPr>
              <a:t>АВТОПУБЛИКАЦИЯ</a:t>
            </a:r>
            <a:endParaRPr lang="en-US" sz="1250"/>
          </a:p>
        </p:txBody>
      </p:sp>
      <p:sp>
        <p:nvSpPr>
          <p:cNvPr id="20" name="arrow3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8A7568"/>
          </a:solidFill>
          <a:ln>
            <a:noFill/>
          </a:ln>
        </p:spPr>
      </p:sp>
      <p:sp>
        <p:nvSpPr>
          <p:cNvPr id="21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E3D6C0"/>
            </a:solidFill>
          </a:ln>
        </p:spPr>
      </p:sp>
      <p:sp>
        <p:nvSpPr>
          <p:cNvPr id="22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8A7568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3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2B1D1A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4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8A7568"/>
                </a:solidFill>
                <a:latin typeface="MiSans"/>
                <a:ea typeface="MiSans"/>
              </a:rPr>
              <a:t>Ежедневное присутствие — без ежедневных усилий вашей команды</a:t>
            </a:r>
            <a:endParaRPr lang="en-US" sz="1200"/>
          </a:p>
        </p:txBody>
      </p:sp>
      <p:sp>
        <p:nvSpPr>
          <p:cNvPr id="25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6" name="Рисунок 25" descr="preview">
            <a:extLst>
              <a:ext uri="{FF2B5EF4-FFF2-40B4-BE49-F238E27FC236}">
                <a16:creationId xmlns:a16="http://schemas.microsoft.com/office/drawing/2014/main" id="{89BFB6D2-898F-E9FE-6E41-A6A22FEFF1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228999"/>
            <a:ext cx="2349472" cy="2530201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2B1D1A"/>
                </a:solidFill>
                <a:latin typeface="MiSans"/>
                <a:ea typeface="MiSans"/>
              </a:rPr>
              <a:t>КАК РАБОТАЕТ ПРОМПТЕР?</a:t>
            </a:r>
            <a:endParaRPr lang="en-US" sz="2800"/>
          </a:p>
        </p:txBody>
      </p:sp>
      <p:sp>
        <p:nvSpPr>
          <p:cNvPr id="4" name="subtitle"/>
          <p:cNvSpPr txBox="1"/>
          <p:nvPr/>
        </p:nvSpPr>
        <p:spPr>
          <a:xfrm>
            <a:off x="711200" y="10668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От первого текста до записей клиенток — полный цикл без вашего участия</a:t>
            </a:r>
            <a:endParaRPr lang="en-US" sz="1300"/>
          </a:p>
        </p:txBody>
      </p:sp>
      <p:sp>
        <p:nvSpPr>
          <p:cNvPr id="5" name="s1-num"/>
          <p:cNvSpPr txBox="1"/>
          <p:nvPr/>
        </p:nvSpPr>
        <p:spPr>
          <a:xfrm>
            <a:off x="7112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C15F3C"/>
                </a:solidFill>
                <a:latin typeface="MiSans"/>
                <a:ea typeface="MiSans"/>
              </a:rPr>
              <a:t>01</a:t>
            </a:r>
            <a:endParaRPr lang="en-US" sz="3400"/>
          </a:p>
        </p:txBody>
      </p:sp>
      <p:sp>
        <p:nvSpPr>
          <p:cNvPr id="6" name="s1-line"/>
          <p:cNvSpPr/>
          <p:nvPr/>
        </p:nvSpPr>
        <p:spPr>
          <a:xfrm>
            <a:off x="711200" y="2514600"/>
            <a:ext cx="508000" cy="25400"/>
          </a:xfrm>
          <a:prstGeom prst="rect">
            <a:avLst/>
          </a:prstGeom>
          <a:solidFill>
            <a:srgbClr val="C15F3C"/>
          </a:solidFill>
          <a:ln>
            <a:noFill/>
          </a:ln>
        </p:spPr>
      </p:sp>
      <p:sp>
        <p:nvSpPr>
          <p:cNvPr id="7" name="s1-title"/>
          <p:cNvSpPr txBox="1"/>
          <p:nvPr/>
        </p:nvSpPr>
        <p:spPr>
          <a:xfrm>
            <a:off x="7112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2B1D1A"/>
                </a:solidFill>
                <a:latin typeface="MiSans"/>
                <a:ea typeface="MiSans"/>
              </a:rPr>
              <a:t>КОНТЕНТ</a:t>
            </a:r>
            <a:endParaRPr lang="en-US" sz="1450"/>
          </a:p>
        </p:txBody>
      </p:sp>
      <p:sp>
        <p:nvSpPr>
          <p:cNvPr id="8" name="s1-desc"/>
          <p:cNvSpPr txBox="1"/>
          <p:nvPr/>
        </p:nvSpPr>
        <p:spPr>
          <a:xfrm>
            <a:off x="7112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Платформа изучает услуги, мастеров и атмосферу салона, создаёт тексты и визуал</a:t>
            </a:r>
            <a:endParaRPr lang="en-US" sz="1100"/>
          </a:p>
        </p:txBody>
      </p:sp>
      <p:sp>
        <p:nvSpPr>
          <p:cNvPr id="9" name="s2-num"/>
          <p:cNvSpPr txBox="1"/>
          <p:nvPr/>
        </p:nvSpPr>
        <p:spPr>
          <a:xfrm>
            <a:off x="29464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6D1F2C"/>
                </a:solidFill>
                <a:latin typeface="MiSans"/>
                <a:ea typeface="MiSans"/>
              </a:rPr>
              <a:t>02</a:t>
            </a:r>
            <a:endParaRPr lang="en-US" sz="3400"/>
          </a:p>
        </p:txBody>
      </p:sp>
      <p:sp>
        <p:nvSpPr>
          <p:cNvPr id="10" name="s2-line"/>
          <p:cNvSpPr/>
          <p:nvPr/>
        </p:nvSpPr>
        <p:spPr>
          <a:xfrm>
            <a:off x="2946400" y="2514600"/>
            <a:ext cx="508000" cy="25400"/>
          </a:xfrm>
          <a:prstGeom prst="rect">
            <a:avLst/>
          </a:prstGeom>
          <a:solidFill>
            <a:srgbClr val="6D1F2C"/>
          </a:solidFill>
          <a:ln>
            <a:noFill/>
          </a:ln>
        </p:spPr>
      </p:sp>
      <p:sp>
        <p:nvSpPr>
          <p:cNvPr id="11" name="s2-title"/>
          <p:cNvSpPr txBox="1"/>
          <p:nvPr/>
        </p:nvSpPr>
        <p:spPr>
          <a:xfrm>
            <a:off x="29464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6D1F2C"/>
                </a:solidFill>
                <a:latin typeface="MiSans"/>
                <a:ea typeface="MiSans"/>
              </a:rPr>
              <a:t>АВТО-ПУБЛИКАЦИЯ</a:t>
            </a:r>
            <a:endParaRPr lang="en-US" sz="1450"/>
          </a:p>
        </p:txBody>
      </p:sp>
      <p:sp>
        <p:nvSpPr>
          <p:cNvPr id="12" name="s2-desc"/>
          <p:cNvSpPr txBox="1"/>
          <p:nvPr/>
        </p:nvSpPr>
        <p:spPr>
          <a:xfrm>
            <a:off x="29464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Материалы автоматически выходят на отечественных площадках 5 дней в неделю</a:t>
            </a:r>
            <a:endParaRPr lang="en-US" sz="1100"/>
          </a:p>
        </p:txBody>
      </p:sp>
      <p:sp>
        <p:nvSpPr>
          <p:cNvPr id="13" name="s3-num"/>
          <p:cNvSpPr txBox="1"/>
          <p:nvPr/>
        </p:nvSpPr>
        <p:spPr>
          <a:xfrm>
            <a:off x="51816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C15F3C"/>
                </a:solidFill>
                <a:latin typeface="MiSans"/>
                <a:ea typeface="MiSans"/>
              </a:rPr>
              <a:t>03</a:t>
            </a:r>
            <a:endParaRPr lang="en-US" sz="3400"/>
          </a:p>
        </p:txBody>
      </p:sp>
      <p:sp>
        <p:nvSpPr>
          <p:cNvPr id="14" name="s3-line"/>
          <p:cNvSpPr/>
          <p:nvPr/>
        </p:nvSpPr>
        <p:spPr>
          <a:xfrm>
            <a:off x="5181600" y="2514600"/>
            <a:ext cx="508000" cy="25400"/>
          </a:xfrm>
          <a:prstGeom prst="rect">
            <a:avLst/>
          </a:prstGeom>
          <a:solidFill>
            <a:srgbClr val="C15F3C"/>
          </a:solidFill>
          <a:ln>
            <a:noFill/>
          </a:ln>
        </p:spPr>
      </p:sp>
      <p:sp>
        <p:nvSpPr>
          <p:cNvPr id="15" name="s3-title"/>
          <p:cNvSpPr txBox="1"/>
          <p:nvPr/>
        </p:nvSpPr>
        <p:spPr>
          <a:xfrm>
            <a:off x="51816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2B1D1A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6" name="s3-desc"/>
          <p:cNvSpPr txBox="1"/>
          <p:nvPr/>
        </p:nvSpPr>
        <p:spPr>
          <a:xfrm>
            <a:off x="51816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Поисковики и нейросети фиксируют новый контент о вашем салоне</a:t>
            </a:r>
            <a:endParaRPr lang="en-US" sz="1100"/>
          </a:p>
        </p:txBody>
      </p:sp>
      <p:sp>
        <p:nvSpPr>
          <p:cNvPr id="17" name="s4-num"/>
          <p:cNvSpPr txBox="1"/>
          <p:nvPr/>
        </p:nvSpPr>
        <p:spPr>
          <a:xfrm>
            <a:off x="74168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C15F3C"/>
                </a:solidFill>
                <a:latin typeface="MiSans"/>
                <a:ea typeface="MiSans"/>
              </a:rPr>
              <a:t>04</a:t>
            </a:r>
            <a:endParaRPr lang="en-US" sz="3400"/>
          </a:p>
        </p:txBody>
      </p:sp>
      <p:sp>
        <p:nvSpPr>
          <p:cNvPr id="18" name="s4-line"/>
          <p:cNvSpPr/>
          <p:nvPr/>
        </p:nvSpPr>
        <p:spPr>
          <a:xfrm>
            <a:off x="7416800" y="2514600"/>
            <a:ext cx="508000" cy="25400"/>
          </a:xfrm>
          <a:prstGeom prst="rect">
            <a:avLst/>
          </a:prstGeom>
          <a:solidFill>
            <a:srgbClr val="C15F3C"/>
          </a:solidFill>
          <a:ln>
            <a:noFill/>
          </a:ln>
        </p:spPr>
      </p:sp>
      <p:sp>
        <p:nvSpPr>
          <p:cNvPr id="19" name="s4-title"/>
          <p:cNvSpPr txBox="1"/>
          <p:nvPr/>
        </p:nvSpPr>
        <p:spPr>
          <a:xfrm>
            <a:off x="74168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2B1D1A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20" name="s4-desc"/>
          <p:cNvSpPr txBox="1"/>
          <p:nvPr/>
        </p:nvSpPr>
        <p:spPr>
          <a:xfrm>
            <a:off x="74168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21" name="s5-num"/>
          <p:cNvSpPr txBox="1"/>
          <p:nvPr/>
        </p:nvSpPr>
        <p:spPr>
          <a:xfrm>
            <a:off x="96520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C15F3C"/>
                </a:solidFill>
                <a:latin typeface="MiSans"/>
                <a:ea typeface="MiSans"/>
              </a:rPr>
              <a:t>05</a:t>
            </a:r>
            <a:endParaRPr lang="en-US" sz="3400"/>
          </a:p>
        </p:txBody>
      </p:sp>
      <p:sp>
        <p:nvSpPr>
          <p:cNvPr id="22" name="s5-line"/>
          <p:cNvSpPr/>
          <p:nvPr/>
        </p:nvSpPr>
        <p:spPr>
          <a:xfrm>
            <a:off x="9652000" y="2514600"/>
            <a:ext cx="508000" cy="25400"/>
          </a:xfrm>
          <a:prstGeom prst="rect">
            <a:avLst/>
          </a:prstGeom>
          <a:solidFill>
            <a:srgbClr val="C15F3C"/>
          </a:solidFill>
          <a:ln>
            <a:noFill/>
          </a:ln>
        </p:spPr>
      </p:sp>
      <p:sp>
        <p:nvSpPr>
          <p:cNvPr id="23" name="s5-title"/>
          <p:cNvSpPr txBox="1"/>
          <p:nvPr/>
        </p:nvSpPr>
        <p:spPr>
          <a:xfrm>
            <a:off x="96520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2B1D1A"/>
                </a:solidFill>
                <a:latin typeface="MiSans"/>
                <a:ea typeface="MiSans"/>
              </a:rPr>
              <a:t>ДОВЕРИЕ И ЗАПИСИ</a:t>
            </a:r>
            <a:endParaRPr lang="en-US" sz="1450"/>
          </a:p>
        </p:txBody>
      </p:sp>
      <p:sp>
        <p:nvSpPr>
          <p:cNvPr id="24" name="s5-desc"/>
          <p:cNvSpPr txBox="1"/>
          <p:nvPr/>
        </p:nvSpPr>
        <p:spPr>
          <a:xfrm>
            <a:off x="96520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Клиентки находят вас, доверяют рекомендации нейросети и записываются</a:t>
            </a:r>
            <a:endParaRPr lang="en-US" sz="1100"/>
          </a:p>
        </p:txBody>
      </p:sp>
      <p:sp>
        <p:nvSpPr>
          <p:cNvPr id="25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6D1F2C"/>
          </a:solidFill>
          <a:ln>
            <a:noFill/>
          </a:ln>
        </p:spPr>
      </p:sp>
      <p:sp>
        <p:nvSpPr>
          <p:cNvPr id="26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F6EFE2"/>
                </a:solidFill>
                <a:latin typeface="MiSans"/>
                <a:ea typeface="MiSans"/>
              </a:rPr>
              <a:t>Система работает 24/7: вы занимаетесь клиентками — Промптер занимается продвижением</a:t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pa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spa-overlay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F6EFE2">
                  <a:alpha val="0"/>
                </a:srgbClr>
              </a:gs>
              <a:gs pos="100000">
                <a:srgbClr val="F6EFE2">
                  <a:alpha val="90196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5588000" y="609600"/>
            <a:ext cx="589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2B1D1A"/>
                </a:solidFill>
                <a:latin typeface="MiSans"/>
                <a:ea typeface="MiSans"/>
              </a:rPr>
              <a:t>КЛЮЧЕВЫЕ ВЫГОДЫ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2B1D1A"/>
                </a:solidFill>
                <a:latin typeface="MiSans"/>
                <a:ea typeface="MiSans"/>
              </a:rPr>
              <a:t>ДЛЯ ВАШЕГО САЛОНА</a:t>
            </a:r>
            <a:endParaRPr lang="en-US" sz="2500"/>
          </a:p>
        </p:txBody>
      </p:sp>
      <p:sp>
        <p:nvSpPr>
          <p:cNvPr id="6" name="b1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eyJpY29uTmFtZSI6ImZhczp3YWxsZXQifQ</pptd:icon>
              </p:ext>
            </p:extLst>
          </p:nvPr>
        </p:nvSpPr>
        <p:spPr>
          <a:xfrm>
            <a:off x="5588000" y="1778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84"/>
                </a:lnTo>
                <a:cubicBezTo>
                  <a:pt x="0" y="419"/>
                  <a:pt x="29" y="448"/>
                  <a:pt x="64" y="448"/>
                </a:cubicBezTo>
                <a:lnTo>
                  <a:pt x="448" y="448"/>
                </a:lnTo>
                <a:cubicBezTo>
                  <a:pt x="483" y="448"/>
                  <a:pt x="512" y="419"/>
                  <a:pt x="512" y="384"/>
                </a:cubicBezTo>
                <a:lnTo>
                  <a:pt x="512" y="192"/>
                </a:lnTo>
                <a:cubicBezTo>
                  <a:pt x="512" y="157"/>
                  <a:pt x="483" y="128"/>
                  <a:pt x="448" y="128"/>
                </a:cubicBezTo>
                <a:lnTo>
                  <a:pt x="72" y="128"/>
                </a:lnTo>
                <a:cubicBezTo>
                  <a:pt x="59" y="128"/>
                  <a:pt x="48" y="117"/>
                  <a:pt x="48" y="104"/>
                </a:cubicBezTo>
                <a:cubicBezTo>
                  <a:pt x="48" y="91"/>
                  <a:pt x="59" y="80"/>
                  <a:pt x="72" y="80"/>
                </a:cubicBezTo>
                <a:lnTo>
                  <a:pt x="456" y="80"/>
                </a:lnTo>
                <a:cubicBezTo>
                  <a:pt x="469" y="80"/>
                  <a:pt x="480" y="69"/>
                  <a:pt x="480" y="56"/>
                </a:cubicBezTo>
                <a:cubicBezTo>
                  <a:pt x="480" y="43"/>
                  <a:pt x="469" y="32"/>
                  <a:pt x="456" y="32"/>
                </a:cubicBezTo>
                <a:lnTo>
                  <a:pt x="64" y="32"/>
                </a:lnTo>
                <a:close/>
                <a:moveTo>
                  <a:pt x="416" y="256"/>
                </a:moveTo>
                <a:cubicBezTo>
                  <a:pt x="434" y="256"/>
                  <a:pt x="448" y="270"/>
                  <a:pt x="448" y="288"/>
                </a:cubicBezTo>
                <a:cubicBezTo>
                  <a:pt x="448" y="306"/>
                  <a:pt x="434" y="320"/>
                  <a:pt x="416" y="320"/>
                </a:cubicBezTo>
                <a:cubicBezTo>
                  <a:pt x="398" y="320"/>
                  <a:pt x="384" y="306"/>
                  <a:pt x="384" y="288"/>
                </a:cubicBezTo>
                <a:cubicBezTo>
                  <a:pt x="384" y="270"/>
                  <a:pt x="398" y="256"/>
                  <a:pt x="416" y="256"/>
                </a:cubicBez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7" name="b1-title"/>
          <p:cNvSpPr txBox="1"/>
          <p:nvPr/>
        </p:nvSpPr>
        <p:spPr>
          <a:xfrm>
            <a:off x="6070600" y="17780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Экономия времени и денег</a:t>
            </a:r>
            <a:endParaRPr lang="en-US" sz="1500"/>
          </a:p>
        </p:txBody>
      </p:sp>
      <p:sp>
        <p:nvSpPr>
          <p:cNvPr id="8" name="b1-desc"/>
          <p:cNvSpPr txBox="1"/>
          <p:nvPr/>
        </p:nvSpPr>
        <p:spPr>
          <a:xfrm>
            <a:off x="6070600" y="20828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Не нужны SEO-агентство, копирайтер и дизайнер — полный цикл выполняет система</a:t>
            </a:r>
            <a:endParaRPr lang="en-US" sz="1200"/>
          </a:p>
        </p:txBody>
      </p:sp>
      <p:sp>
        <p:nvSpPr>
          <p:cNvPr id="9" name="b2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eyJpY29uTmFtZSI6ImZhczpjcm93biJ9</pptd:icon>
              </p:ext>
            </p:extLst>
          </p:nvPr>
        </p:nvSpPr>
        <p:spPr>
          <a:xfrm>
            <a:off x="5588000" y="2819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10" name="b2-title"/>
          <p:cNvSpPr txBox="1"/>
          <p:nvPr/>
        </p:nvSpPr>
        <p:spPr>
          <a:xfrm>
            <a:off x="6070600" y="28194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Доминирование в нише</a:t>
            </a:r>
            <a:endParaRPr lang="en-US" sz="1500"/>
          </a:p>
        </p:txBody>
      </p:sp>
      <p:sp>
        <p:nvSpPr>
          <p:cNvPr id="11" name="b2-desc"/>
          <p:cNvSpPr txBox="1"/>
          <p:nvPr/>
        </p:nvSpPr>
        <p:spPr>
          <a:xfrm>
            <a:off x="6070600" y="31242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Салон становится главным ответом нейросети по запросам вашего района и города</a:t>
            </a:r>
            <a:endParaRPr lang="en-US" sz="1200"/>
          </a:p>
        </p:txBody>
      </p:sp>
      <p:sp>
        <p:nvSpPr>
          <p:cNvPr id="12" name="b3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eyJpY29uTmFtZSI6ImZhczp3YW5kLW1hZ2ljLXNwYXJrbGVzIn0</pptd:icon>
              </p:ext>
            </p:extLst>
          </p:nvPr>
        </p:nvSpPr>
        <p:spPr>
          <a:xfrm>
            <a:off x="5588000" y="3860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13" name="b3-title"/>
          <p:cNvSpPr txBox="1"/>
          <p:nvPr/>
        </p:nvSpPr>
        <p:spPr>
          <a:xfrm>
            <a:off x="6070600" y="38608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Присутствие в нейровыдаче</a:t>
            </a:r>
            <a:endParaRPr lang="en-US" sz="1500"/>
          </a:p>
        </p:txBody>
      </p:sp>
      <p:sp>
        <p:nvSpPr>
          <p:cNvPr id="14" name="b3-desc"/>
          <p:cNvSpPr txBox="1"/>
          <p:nvPr/>
        </p:nvSpPr>
        <p:spPr>
          <a:xfrm>
            <a:off x="6070600" y="41656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Вас называют, когда клиентка спрашивает, куда пойти на процедуры, — ежедневно и без рекламы</a:t>
            </a:r>
            <a:endParaRPr lang="en-US" sz="1200"/>
          </a:p>
        </p:txBody>
      </p:sp>
      <p:sp>
        <p:nvSpPr>
          <p:cNvPr id="15" name="b4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eyJpY29uTmFtZSI6ImZhczpzaGllbGQtaGFsdmVkIn0</pptd:icon>
              </p:ext>
            </p:extLst>
          </p:nvPr>
        </p:nvSpPr>
        <p:spPr>
          <a:xfrm>
            <a:off x="5588000" y="4902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16" name="b4-title"/>
          <p:cNvSpPr txBox="1"/>
          <p:nvPr/>
        </p:nvSpPr>
        <p:spPr>
          <a:xfrm>
            <a:off x="6070600" y="49022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Устойчивость к конкурентам</a:t>
            </a:r>
            <a:endParaRPr lang="en-US" sz="1500"/>
          </a:p>
        </p:txBody>
      </p:sp>
      <p:sp>
        <p:nvSpPr>
          <p:cNvPr id="17" name="b4-desc"/>
          <p:cNvSpPr txBox="1"/>
          <p:nvPr/>
        </p:nvSpPr>
        <p:spPr>
          <a:xfrm>
            <a:off x="6070600" y="52070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Цифровой след наращивается каждый день — его сложно скопировать конкурентам</a:t>
            </a:r>
            <a:endParaRPr lang="en-US" sz="1200"/>
          </a:p>
        </p:txBody>
      </p:sp>
      <p:sp>
        <p:nvSpPr>
          <p:cNvPr id="18" name="edit-box"/>
          <p:cNvSpPr/>
          <p:nvPr/>
        </p:nvSpPr>
        <p:spPr>
          <a:xfrm>
            <a:off x="5588000" y="5867400"/>
            <a:ext cx="5334000" cy="635000"/>
          </a:xfrm>
          <a:prstGeom prst="rect">
            <a:avLst/>
          </a:prstGeom>
          <a:noFill/>
          <a:ln w="12700">
            <a:solidFill>
              <a:srgbClr val="C15F3C"/>
            </a:solidFill>
            <a:prstDash val="dash"/>
          </a:ln>
        </p:spPr>
      </p:sp>
      <p:sp>
        <p:nvSpPr>
          <p:cNvPr id="19" name="edit-text"/>
          <p:cNvSpPr txBox="1"/>
          <p:nvPr/>
        </p:nvSpPr>
        <p:spPr>
          <a:xfrm>
            <a:off x="5588000" y="5867400"/>
            <a:ext cx="5334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50" i="1">
                <a:solidFill>
                  <a:srgbClr val="8A7568"/>
                </a:solidFill>
                <a:latin typeface="MiSans"/>
                <a:ea typeface="MiSans"/>
              </a:rPr>
              <a:t>Место для правок</a:t>
            </a:r>
            <a:endParaRPr lang="en-US" sz="1150"/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r>
              <a:rPr lang="en-US" sz="1000" i="1">
                <a:solidFill>
                  <a:srgbClr val="8A7568"/>
                </a:solidFill>
                <a:latin typeface="MiSans"/>
                <a:ea typeface="MiSans"/>
              </a:rPr>
              <a:t>добавьте свою выгоду</a:t>
            </a:r>
            <a:endParaRPr lang="en-US" sz="1150"/>
          </a:p>
        </p:txBody>
      </p:sp>
      <p:sp>
        <p:nvSpPr>
          <p:cNvPr id="20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2B1D1A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600"/>
          </a:p>
        </p:txBody>
      </p:sp>
      <p:sp>
        <p:nvSpPr>
          <p:cNvPr id="4" name="price-label"/>
          <p:cNvSpPr txBox="1"/>
          <p:nvPr/>
        </p:nvSpPr>
        <p:spPr>
          <a:xfrm>
            <a:off x="711200" y="2078764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8A7568"/>
                </a:solidFill>
                <a:latin typeface="MiSans"/>
                <a:ea typeface="MiSans"/>
              </a:rPr>
              <a:t>СТОИМОСТЬ СЕРВИСА</a:t>
            </a:r>
            <a:endParaRPr lang="en-US" sz="1100"/>
          </a:p>
        </p:txBody>
      </p:sp>
      <p:sp>
        <p:nvSpPr>
          <p:cNvPr id="5" name="price-big"/>
          <p:cNvSpPr txBox="1"/>
          <p:nvPr/>
        </p:nvSpPr>
        <p:spPr>
          <a:xfrm>
            <a:off x="711200" y="2358164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>
                <a:solidFill>
                  <a:srgbClr val="6D1F2C"/>
                </a:solidFill>
                <a:latin typeface="MiSans"/>
                <a:ea typeface="MiSans"/>
              </a:rPr>
              <a:t>От 29500 ₽</a:t>
            </a:r>
            <a:r>
              <a:rPr lang="en-US" sz="1600">
                <a:solidFill>
                  <a:srgbClr val="8A7568"/>
                </a:solidFill>
                <a:latin typeface="MiSans"/>
                <a:ea typeface="MiSans"/>
              </a:rPr>
              <a:t>  /месяц</a:t>
            </a:r>
            <a:endParaRPr lang="en-US" sz="1600"/>
          </a:p>
        </p:txBody>
      </p:sp>
      <p:sp>
        <p:nvSpPr>
          <p:cNvPr id="6" name="price-instead"/>
          <p:cNvSpPr txBox="1"/>
          <p:nvPr/>
        </p:nvSpPr>
        <p:spPr>
          <a:xfrm>
            <a:off x="711200" y="3247164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2B1D1A"/>
                </a:solidFill>
                <a:latin typeface="MiSans"/>
                <a:ea typeface="MiSans"/>
              </a:rPr>
              <a:t>вместо </a:t>
            </a:r>
            <a:r>
              <a:rPr lang="en-US" sz="1400" b="1">
                <a:solidFill>
                  <a:srgbClr val="C15F3C"/>
                </a:solidFill>
                <a:latin typeface="MiSans"/>
                <a:ea typeface="MiSans"/>
              </a:rPr>
              <a:t>100 000 ₽/мес</a:t>
            </a:r>
            <a:r>
              <a:rPr lang="en-US" sz="1400">
                <a:solidFill>
                  <a:srgbClr val="2B1D1A"/>
                </a:solidFill>
                <a:latin typeface="MiSans"/>
                <a:ea typeface="MiSans"/>
              </a:rPr>
              <a:t> на SEO-агентство</a:t>
            </a:r>
            <a:endParaRPr lang="en-US" sz="1400"/>
          </a:p>
        </p:txBody>
      </p:sp>
      <p:sp>
        <p:nvSpPr>
          <p:cNvPr id="7" name="price-save"/>
          <p:cNvSpPr txBox="1"/>
          <p:nvPr/>
        </p:nvSpPr>
        <p:spPr>
          <a:xfrm>
            <a:off x="711200" y="3628164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2B1D1A"/>
                </a:solidFill>
                <a:latin typeface="MiSans"/>
                <a:ea typeface="MiSans"/>
              </a:rPr>
              <a:t>Экономия — не менее </a:t>
            </a:r>
            <a:r>
              <a:rPr lang="en-US" sz="1400" b="1">
                <a:solidFill>
                  <a:srgbClr val="C15F3C"/>
                </a:solidFill>
                <a:latin typeface="MiSans"/>
                <a:ea typeface="MiSans"/>
              </a:rPr>
              <a:t>70 000 ₽/мес</a:t>
            </a:r>
            <a:endParaRPr lang="en-US" sz="1400"/>
          </a:p>
        </p:txBody>
      </p:sp>
      <p:sp>
        <p:nvSpPr>
          <p:cNvPr id="10" name="price-note"/>
          <p:cNvSpPr txBox="1"/>
          <p:nvPr/>
        </p:nvSpPr>
        <p:spPr>
          <a:xfrm>
            <a:off x="711200" y="4948964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100" i="1">
                <a:solidFill>
                  <a:srgbClr val="8A7568"/>
                </a:solidFill>
                <a:latin typeface="MiSans"/>
                <a:ea typeface="MiSans"/>
              </a:rPr>
              <a:t>За подробностями и подключением резидентов Москвы и МО — +7 906 758-77-77</a:t>
            </a:r>
            <a:endParaRPr lang="en-US" sz="1100"/>
          </a:p>
        </p:txBody>
      </p:sp>
      <p:sp>
        <p:nvSpPr>
          <p:cNvPr id="11" name="divider"/>
          <p:cNvSpPr/>
          <p:nvPr/>
        </p:nvSpPr>
        <p:spPr>
          <a:xfrm>
            <a:off x="6299200" y="2078764"/>
            <a:ext cx="12700" cy="3810000"/>
          </a:xfrm>
          <a:prstGeom prst="rect">
            <a:avLst/>
          </a:prstGeom>
          <a:solidFill>
            <a:srgbClr val="E3D6C0"/>
          </a:solidFill>
          <a:ln>
            <a:noFill/>
          </a:ln>
        </p:spPr>
      </p:sp>
      <p:sp>
        <p:nvSpPr>
          <p:cNvPr id="12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2B1D1A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3" name="f1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14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2B1D1A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5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6" name="f2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17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2B1D1A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8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Регулярный поток материалов без вашего участия</a:t>
            </a:r>
            <a:endParaRPr lang="en-US" sz="1150"/>
          </a:p>
        </p:txBody>
      </p:sp>
      <p:sp>
        <p:nvSpPr>
          <p:cNvPr id="19" name="f3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20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2B1D1A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1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Экспертный контент об услугах, мастерах и трендах красоты</a:t>
            </a:r>
            <a:endParaRPr lang="en-US" sz="1150"/>
          </a:p>
        </p:txBody>
      </p:sp>
      <p:sp>
        <p:nvSpPr>
          <p:cNvPr id="22" name="f4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23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2B1D1A"/>
                </a:solidFill>
                <a:latin typeface="MiSans"/>
                <a:ea typeface="MiSans"/>
              </a:rPr>
              <a:t>4 отечественные площадки</a:t>
            </a:r>
            <a:endParaRPr lang="en-US" sz="1350"/>
          </a:p>
        </p:txBody>
      </p:sp>
      <p:sp>
        <p:nvSpPr>
          <p:cNvPr id="24" name="f4-desc"/>
          <p:cNvSpPr txBox="1"/>
          <p:nvPr/>
        </p:nvSpPr>
        <p:spPr>
          <a:xfrm>
            <a:off x="7137400" y="46990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Размещение там, где контент считывают нейросети и поисковики</a:t>
            </a:r>
            <a:endParaRPr lang="en-US" sz="1150"/>
          </a:p>
        </p:txBody>
      </p:sp>
      <p:sp>
        <p:nvSpPr>
          <p:cNvPr id="25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E3D6C0"/>
          </a:solidFill>
          <a:ln>
            <a:noFill/>
          </a:ln>
        </p:spPr>
      </p:sp>
      <p:sp>
        <p:nvSpPr>
          <p:cNvPr id="26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>
                <a:solidFill>
                  <a:srgbClr val="8A7568"/>
                </a:solidFill>
                <a:latin typeface="MiSans"/>
                <a:ea typeface="MiSans"/>
              </a:rPr>
              <a:t>* Все работы выполняются в строгом соответствии с законодательством Российской Федерации. Договор и закрывающие документы предоставляются.</a:t>
            </a:r>
            <a:endParaRPr lang="en-US" sz="105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28" name="cta-btn">
            <a:hlinkClick r:id="rId2"/>
          </p:cNvPr>
          <p:cNvSpPr/>
          <p:nvPr/>
        </p:nvSpPr>
        <p:spPr>
          <a:xfrm>
            <a:off x="711200" y="4136164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C15F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9" name="cta-text">
            <a:hlinkClick r:id="rId2"/>
          </p:cNvPr>
          <p:cNvSpPr txBox="1"/>
          <p:nvPr/>
        </p:nvSpPr>
        <p:spPr>
          <a:xfrm>
            <a:off x="711200" y="4136164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chemeClr val="bg1"/>
                </a:solidFill>
                <a:latin typeface="MiSans"/>
                <a:ea typeface="MiSans"/>
                <a:hlinkClick r:id="rId2"/>
              </a:rPr>
              <a:t>ОСТАВИТЬ ЗАЯВКУ</a:t>
            </a:r>
            <a:endParaRPr lang="ru-RU" sz="125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2B1D1A"/>
                </a:solidFill>
                <a:latin typeface="MiSans"/>
                <a:ea typeface="MiSans"/>
              </a:rPr>
              <a:t>ПОДДЕРЖКА И СОПРОВОЖДЕНИЕ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2B1D1A"/>
                </a:solidFill>
                <a:latin typeface="MiSans"/>
                <a:ea typeface="MiSans"/>
              </a:rPr>
              <a:t>КЛИЕНТОВ ПРОМПТЕР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5240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Мы не просто запускаем систему — наша команда остаётся рядом и работает на ваш результат</a:t>
            </a:r>
            <a:endParaRPr lang="en-US" sz="1300"/>
          </a:p>
        </p:txBody>
      </p:sp>
      <p:sp>
        <p:nvSpPr>
          <p:cNvPr id="5" name="p1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eyJpY29uTmFtZSI6ImZhczpoZWFkc2V0In0</pptd:icon>
              </p:ext>
            </p:extLst>
          </p:nvPr>
        </p:nvSpPr>
        <p:spPr>
          <a:xfrm>
            <a:off x="711200" y="2286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6" name="p1-title"/>
          <p:cNvSpPr txBox="1"/>
          <p:nvPr/>
        </p:nvSpPr>
        <p:spPr>
          <a:xfrm>
            <a:off x="1244600" y="22860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Постоянный мониторинг</a:t>
            </a:r>
            <a:endParaRPr lang="en-US" sz="1500"/>
          </a:p>
        </p:txBody>
      </p:sp>
      <p:sp>
        <p:nvSpPr>
          <p:cNvPr id="7" name="p1-desc"/>
          <p:cNvSpPr txBox="1"/>
          <p:nvPr/>
        </p:nvSpPr>
        <p:spPr>
          <a:xfrm>
            <a:off x="1244600" y="25908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ваши цели</a:t>
            </a:r>
            <a:endParaRPr lang="en-US" sz="1200"/>
          </a:p>
        </p:txBody>
      </p:sp>
      <p:sp>
        <p:nvSpPr>
          <p:cNvPr id="8" name="p2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eyJpY29uTmFtZSI6ImZhczpjb21tZW50cyJ9</pptd:icon>
              </p:ext>
            </p:extLst>
          </p:nvPr>
        </p:nvSpPr>
        <p:spPr>
          <a:xfrm>
            <a:off x="711200" y="33274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9" name="p2-title"/>
          <p:cNvSpPr txBox="1"/>
          <p:nvPr/>
        </p:nvSpPr>
        <p:spPr>
          <a:xfrm>
            <a:off x="1244600" y="33274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0" name="p2-desc"/>
          <p:cNvSpPr txBox="1"/>
          <p:nvPr/>
        </p:nvSpPr>
        <p:spPr>
          <a:xfrm>
            <a:off x="1244600" y="36322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1" name="p3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eyJpY29uTmFtZSI6ImZhczpzcGEifQ</pptd:icon>
              </p:ext>
            </p:extLst>
          </p:nvPr>
        </p:nvSpPr>
        <p:spPr>
          <a:xfrm>
            <a:off x="711200" y="4368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170" y="228"/>
                </a:moveTo>
                <a:cubicBezTo>
                  <a:pt x="204" y="246"/>
                  <a:pt x="234" y="272"/>
                  <a:pt x="259" y="302"/>
                </a:cubicBezTo>
                <a:cubicBezTo>
                  <a:pt x="270" y="316"/>
                  <a:pt x="280" y="331"/>
                  <a:pt x="288" y="347"/>
                </a:cubicBezTo>
                <a:cubicBezTo>
                  <a:pt x="296" y="331"/>
                  <a:pt x="306" y="316"/>
                  <a:pt x="317" y="302"/>
                </a:cubicBezTo>
                <a:cubicBezTo>
                  <a:pt x="342" y="272"/>
                  <a:pt x="372" y="246"/>
                  <a:pt x="406" y="228"/>
                </a:cubicBezTo>
                <a:cubicBezTo>
                  <a:pt x="448" y="205"/>
                  <a:pt x="496" y="192"/>
                  <a:pt x="546" y="192"/>
                </a:cubicBezTo>
                <a:lnTo>
                  <a:pt x="556" y="192"/>
                </a:lnTo>
                <a:cubicBezTo>
                  <a:pt x="567" y="192"/>
                  <a:pt x="576" y="201"/>
                  <a:pt x="576" y="212"/>
                </a:cubicBezTo>
                <a:cubicBezTo>
                  <a:pt x="576" y="360"/>
                  <a:pt x="456" y="480"/>
                  <a:pt x="308" y="480"/>
                </a:cubicBezTo>
                <a:lnTo>
                  <a:pt x="268" y="480"/>
                </a:lnTo>
                <a:cubicBezTo>
                  <a:pt x="120" y="480"/>
                  <a:pt x="0" y="360"/>
                  <a:pt x="0" y="212"/>
                </a:cubicBezTo>
                <a:cubicBezTo>
                  <a:pt x="0" y="201"/>
                  <a:pt x="9" y="192"/>
                  <a:pt x="20" y="192"/>
                </a:cubicBezTo>
                <a:lnTo>
                  <a:pt x="30" y="192"/>
                </a:lnTo>
                <a:cubicBezTo>
                  <a:pt x="80" y="192"/>
                  <a:pt x="128" y="205"/>
                  <a:pt x="170" y="228"/>
                </a:cubicBezTo>
                <a:close/>
                <a:moveTo>
                  <a:pt x="304" y="38"/>
                </a:moveTo>
                <a:cubicBezTo>
                  <a:pt x="321" y="54"/>
                  <a:pt x="365" y="101"/>
                  <a:pt x="393" y="180"/>
                </a:cubicBezTo>
                <a:cubicBezTo>
                  <a:pt x="353" y="201"/>
                  <a:pt x="317" y="229"/>
                  <a:pt x="288" y="262"/>
                </a:cubicBezTo>
                <a:cubicBezTo>
                  <a:pt x="259" y="228"/>
                  <a:pt x="223" y="201"/>
                  <a:pt x="183" y="180"/>
                </a:cubicBezTo>
                <a:cubicBezTo>
                  <a:pt x="211" y="101"/>
                  <a:pt x="255" y="54"/>
                  <a:pt x="272" y="38"/>
                </a:cubicBezTo>
                <a:cubicBezTo>
                  <a:pt x="276" y="34"/>
                  <a:pt x="282" y="32"/>
                  <a:pt x="288" y="32"/>
                </a:cubicBezTo>
                <a:cubicBezTo>
                  <a:pt x="294" y="32"/>
                  <a:pt x="300" y="34"/>
                  <a:pt x="304" y="38"/>
                </a:cubicBez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12" name="p3-title"/>
          <p:cNvSpPr txBox="1"/>
          <p:nvPr/>
        </p:nvSpPr>
        <p:spPr>
          <a:xfrm>
            <a:off x="1244600" y="43688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Экспертиза в бьюти-сфере</a:t>
            </a:r>
            <a:endParaRPr lang="en-US" sz="1500"/>
          </a:p>
        </p:txBody>
      </p:sp>
      <p:sp>
        <p:nvSpPr>
          <p:cNvPr id="13" name="p3-desc"/>
          <p:cNvSpPr txBox="1"/>
          <p:nvPr/>
        </p:nvSpPr>
        <p:spPr>
          <a:xfrm>
            <a:off x="1244600" y="46736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Знаем специфику салонов красоты, студий и косметологий — говорим с клиентками на их языке</a:t>
            </a:r>
            <a:endParaRPr lang="en-US" sz="1200"/>
          </a:p>
        </p:txBody>
      </p:sp>
      <p:pic>
        <p:nvPicPr>
          <p:cNvPr id="14" name="photo"/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7670800" y="914400"/>
            <a:ext cx="38100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15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>
                <a:solidFill>
                  <a:srgbClr val="8A7568"/>
                </a:solidFill>
                <a:latin typeface="MiSans"/>
                <a:ea typeface="MiSans"/>
              </a:rPr>
              <a:t>Ваш персональный менеджер следит за присутствием бренда в нейросетях</a:t>
            </a:r>
            <a:endParaRPr lang="en-US" sz="1050"/>
          </a:p>
        </p:txBody>
      </p:sp>
      <p:sp>
        <p:nvSpPr>
          <p:cNvPr id="16" name="contacts-panel"/>
          <p:cNvSpPr/>
          <p:nvPr/>
        </p:nvSpPr>
        <p:spPr>
          <a:xfrm>
            <a:off x="711200" y="5384800"/>
            <a:ext cx="107696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</p:spPr>
      </p:sp>
      <p:sp>
        <p:nvSpPr>
          <p:cNvPr id="17" name="contacts-label"/>
          <p:cNvSpPr txBox="1"/>
          <p:nvPr/>
        </p:nvSpPr>
        <p:spPr>
          <a:xfrm>
            <a:off x="965200" y="5384800"/>
            <a:ext cx="1778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>
                <a:solidFill>
                  <a:srgbClr val="2B1D1A"/>
                </a:solidFill>
                <a:latin typeface="MiSans"/>
                <a:ea typeface="MiSans"/>
              </a:rPr>
              <a:t>КОНТАКТЫ</a:t>
            </a:r>
            <a:endParaRPr lang="en-US" sz="1300"/>
          </a:p>
        </p:txBody>
      </p:sp>
      <p:sp>
        <p:nvSpPr>
          <p:cNvPr id="18" name="contact-phone"/>
          <p:cNvSpPr txBox="1"/>
          <p:nvPr/>
        </p:nvSpPr>
        <p:spPr>
          <a:xfrm>
            <a:off x="27432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Телефон: </a:t>
            </a:r>
            <a:r>
              <a:rPr lang="en-US" sz="1300">
                <a:solidFill>
                  <a:srgbClr val="2B1D1A"/>
                </a:solidFill>
                <a:latin typeface="MiSans"/>
                <a:ea typeface="MiSans"/>
              </a:rPr>
              <a:t>+7 906 758-77-77</a:t>
            </a:r>
            <a:endParaRPr lang="en-US" sz="1300"/>
          </a:p>
        </p:txBody>
      </p:sp>
      <p:sp>
        <p:nvSpPr>
          <p:cNvPr id="19" name="contact-mail"/>
          <p:cNvSpPr txBox="1"/>
          <p:nvPr/>
        </p:nvSpPr>
        <p:spPr>
          <a:xfrm>
            <a:off x="57404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E-mail: </a:t>
            </a:r>
            <a:r>
              <a:rPr lang="en-US" sz="1300">
                <a:solidFill>
                  <a:srgbClr val="2B1D1A"/>
                </a:solidFill>
                <a:latin typeface="MiSans"/>
                <a:ea typeface="MiSans"/>
              </a:rPr>
              <a:t>prompter.moscow@mail.ru</a:t>
            </a:r>
            <a:endParaRPr lang="en-US" sz="1300"/>
          </a:p>
        </p:txBody>
      </p:sp>
      <p:sp>
        <p:nvSpPr>
          <p:cNvPr id="20" name="contact-site"/>
          <p:cNvSpPr txBox="1"/>
          <p:nvPr/>
        </p:nvSpPr>
        <p:spPr>
          <a:xfrm>
            <a:off x="8737600" y="5384800"/>
            <a:ext cx="2540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Сайт: </a:t>
            </a:r>
            <a:r>
              <a:rPr lang="en-US" sz="1300">
                <a:solidFill>
                  <a:srgbClr val="2B1D1A"/>
                </a:solidFill>
                <a:latin typeface="MiSans"/>
                <a:ea typeface="MiSans"/>
              </a:rPr>
              <a:t>prompter-ai.moscow</a:t>
            </a:r>
            <a:endParaRPr lang="en-US" sz="1300"/>
          </a:p>
        </p:txBody>
      </p:sp>
      <p:sp>
        <p:nvSpPr>
          <p:cNvPr id="21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923</Words>
  <Application>Microsoft Office PowerPoint</Application>
  <PresentationFormat>Широкоэкранный</PresentationFormat>
  <Paragraphs>153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для салонов красоты — GEO/SEO-продвижение</dc:title>
  <dc:subject>Промптер для салонов красоты — GEO/SEO-продвижение</dc:subject>
  <dc:creator>Kimi</dc:creator>
  <cp:lastModifiedBy>Пупкин Толя</cp:lastModifiedBy>
  <cp:revision>3</cp:revision>
  <dcterms:modified xsi:type="dcterms:W3CDTF">2026-07-23T17:49:57Z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для салонов красоты — GEO/SEO-продвижение","ContentProducer":"001191110108MACG2KBH8F10000","ProduceID":"19f8fdb9-3492-8b31-8000-0000820bf017","ReservedCode1":"","ContentPropagator":"001191110108MACG2KBH8F20000","PropagateID":"19f73adb-8c92-8708-8000-09088e4502a4","ReservedCode2":""}</vt:lpwstr>
  </property>
</Properties>
</file>