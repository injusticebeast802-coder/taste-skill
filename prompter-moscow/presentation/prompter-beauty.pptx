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rompter-ai.moscow/zayavka.html?from=presentation-beauty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6EFE2">
                  <a:alpha val="98039"/>
                </a:srgbClr>
              </a:gs>
              <a:gs pos="50000">
                <a:srgbClr val="F6EFE2">
                  <a:alpha val="87843"/>
                </a:srgbClr>
              </a:gs>
              <a:gs pos="78000">
                <a:srgbClr val="F6EFE2">
                  <a:alpha val="47843"/>
                </a:srgbClr>
              </a:gs>
              <a:gs pos="100000">
                <a:srgbClr val="F6EFE2">
                  <a:alpha val="10196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965200" y="5588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kern="0" spc="500" dirty="0">
                <a:solidFill>
                  <a:srgbClr val="2B1D1A"/>
                </a:solidFill>
                <a:latin typeface="MiSans"/>
                <a:ea typeface="MiSans"/>
              </a:rPr>
              <a:t>ПРОМПТЕР</a:t>
            </a:r>
            <a:endParaRPr lang="en-US" sz="1900" dirty="0"/>
          </a:p>
        </p:txBody>
      </p:sp>
      <p:sp>
        <p:nvSpPr>
          <p:cNvPr id="5" name="brand-sub"/>
          <p:cNvSpPr txBox="1"/>
          <p:nvPr/>
        </p:nvSpPr>
        <p:spPr>
          <a:xfrm>
            <a:off x="965200" y="9144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900" kern="0" spc="200">
                <a:solidFill>
                  <a:srgbClr val="8A7568"/>
                </a:solidFill>
                <a:latin typeface="MiSans"/>
                <a:ea typeface="MiSans"/>
              </a:rPr>
              <a:t>AI-ПЛАТФОРМА ЦИФРОВОГО ПРОДВИЖЕНИЯ</a:t>
            </a:r>
            <a:endParaRPr lang="en-US" sz="900"/>
          </a:p>
        </p:txBody>
      </p:sp>
      <p:sp>
        <p:nvSpPr>
          <p:cNvPr id="6" name="kicker"/>
          <p:cNvSpPr txBox="1"/>
          <p:nvPr/>
        </p:nvSpPr>
        <p:spPr>
          <a:xfrm>
            <a:off x="711200" y="2133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300">
                <a:solidFill>
                  <a:srgbClr val="C15F3C"/>
                </a:solidFill>
                <a:latin typeface="MiSans"/>
                <a:ea typeface="MiSans"/>
              </a:rPr>
              <a:t>GEO- И SEO-ПРОДВИЖЕНИЕ ДЛЯ БЬЮТИ-СФЕРЫ</a:t>
            </a:r>
            <a:endParaRPr lang="en-US" sz="1200"/>
          </a:p>
        </p:txBody>
      </p:sp>
      <p:sp>
        <p:nvSpPr>
          <p:cNvPr id="7" name="title"/>
          <p:cNvSpPr txBox="1"/>
          <p:nvPr/>
        </p:nvSpPr>
        <p:spPr>
          <a:xfrm>
            <a:off x="711200" y="2463800"/>
            <a:ext cx="812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2000"/>
              </a:lnSpc>
            </a:pPr>
            <a:r>
              <a:rPr lang="en-US" sz="3200" b="1">
                <a:solidFill>
                  <a:srgbClr val="2B1D1A"/>
                </a:solidFill>
                <a:latin typeface="MiSans"/>
                <a:ea typeface="MiSans"/>
              </a:rPr>
              <a:t>КОМПЛЕКСНОЕ GEO- И SEO-</a:t>
            </a:r>
            <a:endParaRPr lang="en-US" sz="3200"/>
          </a:p>
          <a:p>
            <a:pPr algn="l">
              <a:lnSpc>
                <a:spcPct val="122000"/>
              </a:lnSpc>
            </a:pPr>
            <a:r>
              <a:rPr lang="en-US" sz="3200" b="1">
                <a:solidFill>
                  <a:srgbClr val="2B1D1A"/>
                </a:solidFill>
                <a:latin typeface="MiSans"/>
                <a:ea typeface="MiSans"/>
              </a:rPr>
              <a:t>ПРОДВИЖЕНИЕ </a:t>
            </a:r>
            <a:r>
              <a:rPr lang="en-US" sz="3200" b="1">
                <a:solidFill>
                  <a:srgbClr val="6D1F2C"/>
                </a:solidFill>
                <a:latin typeface="MiSans"/>
                <a:ea typeface="MiSans"/>
              </a:rPr>
              <a:t>САЛОНОВ КРАСОТЫ</a:t>
            </a:r>
            <a:endParaRPr lang="en-US" sz="3200"/>
          </a:p>
        </p:txBody>
      </p:sp>
      <p:sp>
        <p:nvSpPr>
          <p:cNvPr id="8" name="subtitle"/>
          <p:cNvSpPr txBox="1"/>
          <p:nvPr/>
        </p:nvSpPr>
        <p:spPr>
          <a:xfrm>
            <a:off x="711200" y="3886200"/>
            <a:ext cx="6604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8A7568"/>
                </a:solidFill>
                <a:latin typeface="MiSans"/>
                <a:ea typeface="MiSans"/>
              </a:rPr>
              <a:t>Делаем салоны красоты, студии и косметологии заметными в нейровыдаче и поисковых системах — без рекламных бюджетов и SEO-агентств</a:t>
            </a:r>
            <a:endParaRPr lang="en-US" sz="1500"/>
          </a:p>
        </p:txBody>
      </p:sp>
      <p:sp>
        <p:nvSpPr>
          <p:cNvPr id="9" name="price"/>
          <p:cNvSpPr txBox="1"/>
          <p:nvPr/>
        </p:nvSpPr>
        <p:spPr>
          <a:xfrm>
            <a:off x="711200" y="4902200"/>
            <a:ext cx="609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 err="1">
                <a:solidFill>
                  <a:srgbClr val="2B1D1A"/>
                </a:solidFill>
                <a:latin typeface="MiSans"/>
                <a:ea typeface="MiSans"/>
              </a:rPr>
              <a:t>Стоимость</a:t>
            </a:r>
            <a:r>
              <a:rPr lang="en-US" sz="1500" dirty="0">
                <a:solidFill>
                  <a:srgbClr val="2B1D1A"/>
                </a:solidFill>
                <a:latin typeface="MiSans"/>
                <a:ea typeface="MiSans"/>
              </a:rPr>
              <a:t>: </a:t>
            </a:r>
            <a:r>
              <a:rPr lang="en-US" sz="1900" b="1" dirty="0" err="1">
                <a:solidFill>
                  <a:srgbClr val="6D1F2C"/>
                </a:solidFill>
                <a:latin typeface="MiSans"/>
                <a:ea typeface="MiSans"/>
              </a:rPr>
              <a:t>от</a:t>
            </a:r>
            <a:r>
              <a:rPr lang="en-US" sz="1900" b="1" dirty="0">
                <a:solidFill>
                  <a:srgbClr val="6D1F2C"/>
                </a:solidFill>
                <a:latin typeface="MiSans"/>
                <a:ea typeface="MiSans"/>
              </a:rPr>
              <a:t> 29500 ₽/</a:t>
            </a:r>
            <a:r>
              <a:rPr lang="en-US" sz="1900" b="1" dirty="0" err="1">
                <a:solidFill>
                  <a:srgbClr val="6D1F2C"/>
                </a:solidFill>
                <a:latin typeface="MiSans"/>
                <a:ea typeface="MiSans"/>
              </a:rPr>
              <a:t>мес</a:t>
            </a:r>
            <a:endParaRPr lang="en-US" sz="1500" dirty="0"/>
          </a:p>
        </p:txBody>
      </p:sp>
      <p:pic>
        <p:nvPicPr>
          <p:cNvPr id="13" name="Рисунок 12" descr="preview">
            <a:extLst>
              <a:ext uri="{FF2B5EF4-FFF2-40B4-BE49-F238E27FC236}">
                <a16:creationId xmlns:a16="http://schemas.microsoft.com/office/drawing/2014/main" id="{89BFB6D2-898F-E9FE-6E41-A6A22FEF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455387"/>
            <a:ext cx="663766" cy="714825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8A7568"/>
                </a:solidFill>
                <a:latin typeface="MiSans"/>
                <a:ea typeface="MiSans"/>
              </a:rPr>
              <a:t>ПРОМПТЕР · САЛОНЫ КРАСОТЫ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2B1D1A"/>
                </a:solidFill>
                <a:latin typeface="MiSans"/>
                <a:ea typeface="MiSans"/>
              </a:rPr>
              <a:t>ПОЧЕМУ САЛОНЫ КРАСОТЫ НЕ ДОБИВАЮТСЯ МАКСИМУМА</a:t>
            </a:r>
            <a:endParaRPr lang="en-US" sz="2300"/>
          </a:p>
          <a:p>
            <a:pPr algn="l">
              <a:lnSpc>
                <a:spcPct val="125000"/>
              </a:lnSpc>
            </a:pPr>
            <a:r>
              <a:rPr lang="en-US" sz="2300" b="1">
                <a:solidFill>
                  <a:srgbClr val="2B1D1A"/>
                </a:solidFill>
                <a:latin typeface="MiSans"/>
                <a:ea typeface="MiSans"/>
              </a:rPr>
              <a:t>ИЗ ЦИФРОВОГО ПРОДВИЖЕНИЯ?</a:t>
            </a:r>
            <a:endParaRPr lang="en-US" sz="2300"/>
          </a:p>
        </p:txBody>
      </p:sp>
      <p:sp>
        <p:nvSpPr>
          <p:cNvPr id="4" name="intro"/>
          <p:cNvSpPr txBox="1"/>
          <p:nvPr/>
        </p:nvSpPr>
        <p:spPr>
          <a:xfrm>
            <a:off x="711200" y="13716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A7568"/>
                </a:solidFill>
                <a:latin typeface="MiSans"/>
                <a:ea typeface="MiSans"/>
              </a:rPr>
              <a:t>Большинство салонов, студий и косметологий уже пробовали продвижение, но не получали ожидаемого результата</a:t>
            </a:r>
            <a:endParaRPr lang="en-US" sz="1300"/>
          </a:p>
        </p:txBody>
      </p:sp>
      <p:sp>
        <p:nvSpPr>
          <p:cNvPr id="5" name="n1"/>
          <p:cNvSpPr txBox="1"/>
          <p:nvPr/>
        </p:nvSpPr>
        <p:spPr>
          <a:xfrm>
            <a:off x="711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15F3C"/>
                </a:solidFill>
                <a:latin typeface="MiSans"/>
                <a:ea typeface="MiSans"/>
              </a:rPr>
              <a:t>01</a:t>
            </a:r>
            <a:endParaRPr lang="en-US" sz="2000"/>
          </a:p>
        </p:txBody>
      </p:sp>
      <p:sp>
        <p:nvSpPr>
          <p:cNvPr id="6" name="t1"/>
          <p:cNvSpPr txBox="1"/>
          <p:nvPr/>
        </p:nvSpPr>
        <p:spPr>
          <a:xfrm>
            <a:off x="1295400" y="19558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Невидимость в нейровыдаче</a:t>
            </a:r>
            <a:endParaRPr lang="en-US" sz="1400"/>
          </a:p>
        </p:txBody>
      </p:sp>
      <p:sp>
        <p:nvSpPr>
          <p:cNvPr id="7" name="d1"/>
          <p:cNvSpPr txBox="1"/>
          <p:nvPr/>
        </p:nvSpPr>
        <p:spPr>
          <a:xfrm>
            <a:off x="1295400" y="22606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Клиентки спрашивают у нейросети «лучший салон рядом» — и она называет конкурентов, а не вас</a:t>
            </a:r>
            <a:endParaRPr lang="en-US" sz="1150"/>
          </a:p>
        </p:txBody>
      </p:sp>
      <p:sp>
        <p:nvSpPr>
          <p:cNvPr id="8" name="l1"/>
          <p:cNvSpPr/>
          <p:nvPr/>
        </p:nvSpPr>
        <p:spPr>
          <a:xfrm>
            <a:off x="711200" y="2921000"/>
            <a:ext cx="5334000" cy="12700"/>
          </a:xfrm>
          <a:prstGeom prst="rect">
            <a:avLst/>
          </a:prstGeom>
          <a:solidFill>
            <a:srgbClr val="E3D6C0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711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15F3C"/>
                </a:solidFill>
                <a:latin typeface="MiSans"/>
                <a:ea typeface="MiSans"/>
              </a:rPr>
              <a:t>02</a:t>
            </a:r>
            <a:endParaRPr lang="en-US" sz="2000"/>
          </a:p>
        </p:txBody>
      </p:sp>
      <p:sp>
        <p:nvSpPr>
          <p:cNvPr id="10" name="t2"/>
          <p:cNvSpPr txBox="1"/>
          <p:nvPr/>
        </p:nvSpPr>
        <p:spPr>
          <a:xfrm>
            <a:off x="1295400" y="32004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Нехватка времени на контент</a:t>
            </a:r>
            <a:endParaRPr lang="en-US" sz="1400"/>
          </a:p>
        </p:txBody>
      </p:sp>
      <p:sp>
        <p:nvSpPr>
          <p:cNvPr id="11" name="d2"/>
          <p:cNvSpPr txBox="1"/>
          <p:nvPr/>
        </p:nvSpPr>
        <p:spPr>
          <a:xfrm>
            <a:off x="1295400" y="35052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Мастера и администраторы заняты клиентами — на статьи, посты и карточки времени нет</a:t>
            </a:r>
            <a:endParaRPr lang="en-US" sz="1150"/>
          </a:p>
        </p:txBody>
      </p:sp>
      <p:sp>
        <p:nvSpPr>
          <p:cNvPr id="12" name="l2"/>
          <p:cNvSpPr/>
          <p:nvPr/>
        </p:nvSpPr>
        <p:spPr>
          <a:xfrm>
            <a:off x="711200" y="4165600"/>
            <a:ext cx="5334000" cy="12700"/>
          </a:xfrm>
          <a:prstGeom prst="rect">
            <a:avLst/>
          </a:prstGeom>
          <a:solidFill>
            <a:srgbClr val="E3D6C0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711200" y="44196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15F3C"/>
                </a:solidFill>
                <a:latin typeface="MiSans"/>
                <a:ea typeface="MiSans"/>
              </a:rPr>
              <a:t>03</a:t>
            </a:r>
            <a:endParaRPr lang="en-US" sz="2000"/>
          </a:p>
        </p:txBody>
      </p:sp>
      <p:sp>
        <p:nvSpPr>
          <p:cNvPr id="14" name="t3"/>
          <p:cNvSpPr txBox="1"/>
          <p:nvPr/>
        </p:nvSpPr>
        <p:spPr>
          <a:xfrm>
            <a:off x="1295400" y="4445000"/>
            <a:ext cx="4749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Сложность GEO-продвижения</a:t>
            </a:r>
            <a:endParaRPr lang="en-US" sz="1400"/>
          </a:p>
        </p:txBody>
      </p:sp>
      <p:sp>
        <p:nvSpPr>
          <p:cNvPr id="15" name="d3"/>
          <p:cNvSpPr txBox="1"/>
          <p:nvPr/>
        </p:nvSpPr>
        <p:spPr>
          <a:xfrm>
            <a:off x="1295400" y="47498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Алгоритмы нейропоиска отличаются от классического SEO — старые методы уже не работают</a:t>
            </a:r>
            <a:endParaRPr lang="en-US" sz="1150"/>
          </a:p>
        </p:txBody>
      </p:sp>
      <p:sp>
        <p:nvSpPr>
          <p:cNvPr id="16" name="n4"/>
          <p:cNvSpPr txBox="1"/>
          <p:nvPr/>
        </p:nvSpPr>
        <p:spPr>
          <a:xfrm>
            <a:off x="6553200" y="19304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15F3C"/>
                </a:solidFill>
                <a:latin typeface="MiSans"/>
                <a:ea typeface="MiSans"/>
              </a:rPr>
              <a:t>04</a:t>
            </a:r>
            <a:endParaRPr lang="en-US" sz="2000"/>
          </a:p>
        </p:txBody>
      </p:sp>
      <p:sp>
        <p:nvSpPr>
          <p:cNvPr id="17" name="t4"/>
          <p:cNvSpPr txBox="1"/>
          <p:nvPr/>
        </p:nvSpPr>
        <p:spPr>
          <a:xfrm>
            <a:off x="7137400" y="1955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Высокие расходы на агентства</a:t>
            </a:r>
            <a:endParaRPr lang="en-US" sz="1400"/>
          </a:p>
        </p:txBody>
      </p:sp>
      <p:sp>
        <p:nvSpPr>
          <p:cNvPr id="18" name="d4"/>
          <p:cNvSpPr txBox="1"/>
          <p:nvPr/>
        </p:nvSpPr>
        <p:spPr>
          <a:xfrm>
            <a:off x="7137400" y="22606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SEO-агентства и SMM-специалисты стоят дорого, а результат непрозрачен</a:t>
            </a:r>
            <a:endParaRPr lang="en-US" sz="1150"/>
          </a:p>
        </p:txBody>
      </p:sp>
      <p:sp>
        <p:nvSpPr>
          <p:cNvPr id="19" name="l4"/>
          <p:cNvSpPr/>
          <p:nvPr/>
        </p:nvSpPr>
        <p:spPr>
          <a:xfrm>
            <a:off x="6553200" y="2921000"/>
            <a:ext cx="4927600" cy="12700"/>
          </a:xfrm>
          <a:prstGeom prst="rect">
            <a:avLst/>
          </a:prstGeom>
          <a:solidFill>
            <a:srgbClr val="E3D6C0"/>
          </a:solidFill>
          <a:ln>
            <a:noFill/>
          </a:ln>
        </p:spPr>
      </p:sp>
      <p:sp>
        <p:nvSpPr>
          <p:cNvPr id="20" name="n5"/>
          <p:cNvSpPr txBox="1"/>
          <p:nvPr/>
        </p:nvSpPr>
        <p:spPr>
          <a:xfrm>
            <a:off x="6553200" y="3175000"/>
            <a:ext cx="50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>
                <a:solidFill>
                  <a:srgbClr val="C15F3C"/>
                </a:solidFill>
                <a:latin typeface="MiSans"/>
                <a:ea typeface="MiSans"/>
              </a:rPr>
              <a:t>05</a:t>
            </a:r>
            <a:endParaRPr lang="en-US" sz="2000"/>
          </a:p>
        </p:txBody>
      </p:sp>
      <p:sp>
        <p:nvSpPr>
          <p:cNvPr id="21" name="t5"/>
          <p:cNvSpPr txBox="1"/>
          <p:nvPr/>
        </p:nvSpPr>
        <p:spPr>
          <a:xfrm>
            <a:off x="7137400" y="3200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Разные площадки и алгоритмы</a:t>
            </a:r>
            <a:endParaRPr lang="en-US" sz="1400"/>
          </a:p>
        </p:txBody>
      </p:sp>
      <p:sp>
        <p:nvSpPr>
          <p:cNvPr id="22" name="d5"/>
          <p:cNvSpPr txBox="1"/>
          <p:nvPr/>
        </p:nvSpPr>
        <p:spPr>
          <a:xfrm>
            <a:off x="7137400" y="3505200"/>
            <a:ext cx="4343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Поисковики, карты и нейросети — у каждой площадки свои правила и форматы</a:t>
            </a:r>
            <a:endParaRPr lang="en-US" sz="1150"/>
          </a:p>
        </p:txBody>
      </p:sp>
      <p:sp>
        <p:nvSpPr>
          <p:cNvPr id="26" name="conclusion"/>
          <p:cNvSpPr txBox="1"/>
          <p:nvPr/>
        </p:nvSpPr>
        <p:spPr>
          <a:xfrm>
            <a:off x="1371600" y="5613400"/>
            <a:ext cx="1010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>
                <a:solidFill>
                  <a:srgbClr val="6D1F2C"/>
                </a:solidFill>
                <a:latin typeface="MiSans"/>
                <a:ea typeface="MiSans"/>
              </a:rPr>
              <a:t>Вывод:</a:t>
            </a:r>
            <a:r>
              <a:rPr lang="en-US" sz="1400">
                <a:solidFill>
                  <a:srgbClr val="2B1D1A"/>
                </a:solidFill>
                <a:latin typeface="MiSans"/>
                <a:ea typeface="MiSans"/>
              </a:rPr>
              <a:t> салон теряет клиенток ещё до того, как они решили, куда записаться</a:t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8A7568"/>
                </a:solidFill>
                <a:latin typeface="MiSans"/>
                <a:ea typeface="MiSans"/>
              </a:rPr>
              <a:t>02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8A7568"/>
                </a:solidFill>
                <a:latin typeface="MiSans"/>
                <a:ea typeface="MiSans"/>
              </a:rPr>
              <a:t>ПРОМПТЕР · САЛОНЫ КРАСОТЫ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33400"/>
            <a:ext cx="685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2B1D1A"/>
                </a:solidFill>
                <a:latin typeface="MiSans"/>
                <a:ea typeface="MiSans"/>
              </a:rPr>
              <a:t>ПОЧЕМУ ПРИСУТСТВИЕ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2B1D1A"/>
                </a:solidFill>
                <a:latin typeface="MiSans"/>
                <a:ea typeface="MiSans"/>
              </a:rPr>
              <a:t>В НЕЙРОВЫДАЧЕ ТАК ВАЖНО?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4478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8A7568"/>
                </a:solidFill>
                <a:latin typeface="MiSans"/>
                <a:ea typeface="MiSans"/>
              </a:rPr>
              <a:t>Отсутствие в ответах нейросетей напрямую влияет на записи, поток клиенток и репутацию салона</a:t>
            </a:r>
            <a:endParaRPr lang="en-US" sz="1300"/>
          </a:p>
        </p:txBody>
      </p:sp>
      <p:sp>
        <p:nvSpPr>
          <p:cNvPr id="5" name="i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eyJpY29uTmFtZSI6ImZhczp3YW5kLW1hZ2ljLXNwYXJrbGVzIn0</pptd:icon>
              </p:ext>
            </p:extLst>
          </p:nvPr>
        </p:nvSpPr>
        <p:spPr>
          <a:xfrm>
            <a:off x="711200" y="213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244600" y="21336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Нейровыдача заменяет классический поиск</a:t>
            </a:r>
            <a:endParaRPr lang="en-US" sz="1500"/>
          </a:p>
        </p:txBody>
      </p:sp>
      <p:sp>
        <p:nvSpPr>
          <p:cNvPr id="7" name="d1"/>
          <p:cNvSpPr txBox="1"/>
          <p:nvPr/>
        </p:nvSpPr>
        <p:spPr>
          <a:xfrm>
            <a:off x="1244600" y="24384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Клиентки всё чаще спрашивают «лучший салон красоты рядом» у нейросети, а не у поисковика</a:t>
            </a:r>
            <a:endParaRPr lang="en-US" sz="1200"/>
          </a:p>
        </p:txBody>
      </p:sp>
      <p:sp>
        <p:nvSpPr>
          <p:cNvPr id="8" name="i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eyJpY29uTmFtZSI6ImZhczp1c2VycyJ9</pptd:icon>
              </p:ext>
            </p:extLst>
          </p:nvPr>
        </p:nvSpPr>
        <p:spPr>
          <a:xfrm>
            <a:off x="711200" y="3225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20" y="16"/>
                </a:moveTo>
                <a:cubicBezTo>
                  <a:pt x="377" y="16"/>
                  <a:pt x="424" y="63"/>
                  <a:pt x="424" y="120"/>
                </a:cubicBezTo>
                <a:cubicBezTo>
                  <a:pt x="424" y="177"/>
                  <a:pt x="377" y="224"/>
                  <a:pt x="320" y="224"/>
                </a:cubicBezTo>
                <a:cubicBezTo>
                  <a:pt x="263" y="224"/>
                  <a:pt x="216" y="177"/>
                  <a:pt x="216" y="120"/>
                </a:cubicBezTo>
                <a:cubicBezTo>
                  <a:pt x="216" y="63"/>
                  <a:pt x="263" y="16"/>
                  <a:pt x="320" y="16"/>
                </a:cubicBezTo>
                <a:close/>
              </a:path>
              <a:path w="640" h="512">
                <a:moveTo>
                  <a:pt x="96" y="88"/>
                </a:moveTo>
                <a:cubicBezTo>
                  <a:pt x="136" y="88"/>
                  <a:pt x="168" y="120"/>
                  <a:pt x="168" y="160"/>
                </a:cubicBezTo>
                <a:cubicBezTo>
                  <a:pt x="168" y="200"/>
                  <a:pt x="136" y="232"/>
                  <a:pt x="96" y="232"/>
                </a:cubicBezTo>
                <a:cubicBezTo>
                  <a:pt x="56" y="232"/>
                  <a:pt x="24" y="200"/>
                  <a:pt x="24" y="160"/>
                </a:cubicBezTo>
                <a:cubicBezTo>
                  <a:pt x="24" y="120"/>
                  <a:pt x="56" y="88"/>
                  <a:pt x="96" y="88"/>
                </a:cubicBezTo>
                <a:close/>
              </a:path>
              <a:path w="640" h="512">
                <a:moveTo>
                  <a:pt x="0" y="416"/>
                </a:moveTo>
                <a:cubicBezTo>
                  <a:pt x="0" y="345"/>
                  <a:pt x="57" y="288"/>
                  <a:pt x="128" y="288"/>
                </a:cubicBezTo>
                <a:cubicBezTo>
                  <a:pt x="141" y="288"/>
                  <a:pt x="153" y="290"/>
                  <a:pt x="165" y="293"/>
                </a:cubicBezTo>
                <a:cubicBezTo>
                  <a:pt x="132" y="330"/>
                  <a:pt x="112" y="379"/>
                  <a:pt x="112" y="432"/>
                </a:cubicBezTo>
                <a:lnTo>
                  <a:pt x="112" y="448"/>
                </a:lnTo>
                <a:cubicBezTo>
                  <a:pt x="112" y="459"/>
                  <a:pt x="114" y="470"/>
                  <a:pt x="119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lnTo>
                  <a:pt x="0" y="416"/>
                </a:lnTo>
                <a:close/>
              </a:path>
              <a:path w="640" h="512">
                <a:moveTo>
                  <a:pt x="521" y="480"/>
                </a:moveTo>
                <a:cubicBezTo>
                  <a:pt x="526" y="470"/>
                  <a:pt x="528" y="459"/>
                  <a:pt x="528" y="448"/>
                </a:cubicBezTo>
                <a:lnTo>
                  <a:pt x="528" y="432"/>
                </a:lnTo>
                <a:cubicBezTo>
                  <a:pt x="528" y="379"/>
                  <a:pt x="508" y="330"/>
                  <a:pt x="475" y="293"/>
                </a:cubicBezTo>
                <a:cubicBezTo>
                  <a:pt x="487" y="290"/>
                  <a:pt x="499" y="288"/>
                  <a:pt x="512" y="288"/>
                </a:cubicBezTo>
                <a:cubicBezTo>
                  <a:pt x="583" y="288"/>
                  <a:pt x="640" y="345"/>
                  <a:pt x="640" y="416"/>
                </a:cubicBezTo>
                <a:lnTo>
                  <a:pt x="640" y="448"/>
                </a:lnTo>
                <a:cubicBezTo>
                  <a:pt x="640" y="466"/>
                  <a:pt x="626" y="480"/>
                  <a:pt x="608" y="480"/>
                </a:cubicBezTo>
                <a:lnTo>
                  <a:pt x="521" y="480"/>
                </a:lnTo>
                <a:close/>
              </a:path>
              <a:path w="640" h="512">
                <a:moveTo>
                  <a:pt x="472" y="160"/>
                </a:moveTo>
                <a:cubicBezTo>
                  <a:pt x="472" y="120"/>
                  <a:pt x="504" y="88"/>
                  <a:pt x="544" y="88"/>
                </a:cubicBezTo>
                <a:cubicBezTo>
                  <a:pt x="584" y="88"/>
                  <a:pt x="616" y="120"/>
                  <a:pt x="616" y="160"/>
                </a:cubicBezTo>
                <a:cubicBezTo>
                  <a:pt x="616" y="200"/>
                  <a:pt x="584" y="232"/>
                  <a:pt x="544" y="232"/>
                </a:cubicBezTo>
                <a:cubicBezTo>
                  <a:pt x="504" y="232"/>
                  <a:pt x="472" y="200"/>
                  <a:pt x="472" y="160"/>
                </a:cubicBezTo>
                <a:close/>
              </a:path>
              <a:path w="640" h="512">
                <a:moveTo>
                  <a:pt x="160" y="432"/>
                </a:moveTo>
                <a:cubicBezTo>
                  <a:pt x="160" y="344"/>
                  <a:pt x="232" y="272"/>
                  <a:pt x="320" y="272"/>
                </a:cubicBezTo>
                <a:cubicBezTo>
                  <a:pt x="408" y="272"/>
                  <a:pt x="480" y="344"/>
                  <a:pt x="480" y="432"/>
                </a:cubicBezTo>
                <a:lnTo>
                  <a:pt x="480" y="448"/>
                </a:lnTo>
                <a:cubicBezTo>
                  <a:pt x="480" y="466"/>
                  <a:pt x="466" y="480"/>
                  <a:pt x="448" y="480"/>
                </a:cubicBezTo>
                <a:lnTo>
                  <a:pt x="192" y="480"/>
                </a:lnTo>
                <a:cubicBezTo>
                  <a:pt x="174" y="480"/>
                  <a:pt x="160" y="466"/>
                  <a:pt x="160" y="448"/>
                </a:cubicBezTo>
                <a:lnTo>
                  <a:pt x="160" y="432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9" name="t2"/>
          <p:cNvSpPr txBox="1"/>
          <p:nvPr/>
        </p:nvSpPr>
        <p:spPr>
          <a:xfrm>
            <a:off x="1244600" y="322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Клиентки без рекламных затрат</a:t>
            </a:r>
            <a:endParaRPr lang="en-US" sz="1500"/>
          </a:p>
        </p:txBody>
      </p:sp>
      <p:sp>
        <p:nvSpPr>
          <p:cNvPr id="10" name="d2"/>
          <p:cNvSpPr txBox="1"/>
          <p:nvPr/>
        </p:nvSpPr>
        <p:spPr>
          <a:xfrm>
            <a:off x="1244600" y="35306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Рекомендации нейросети — бесплатный органический трафик, не требующий рекламного бюджета</a:t>
            </a:r>
            <a:endParaRPr lang="en-US" sz="1200"/>
          </a:p>
        </p:txBody>
      </p:sp>
      <p:sp>
        <p:nvSpPr>
          <p:cNvPr id="11" name="i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eyJpY29uTmFtZSI6ImZhczpjcm93biJ9</pptd:icon>
              </p:ext>
            </p:extLst>
          </p:nvPr>
        </p:nvSpPr>
        <p:spPr>
          <a:xfrm>
            <a:off x="711200" y="431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2" name="t3"/>
          <p:cNvSpPr txBox="1"/>
          <p:nvPr/>
        </p:nvSpPr>
        <p:spPr>
          <a:xfrm>
            <a:off x="1244600" y="43180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Клиентка выбирает тех, кого назвала нейросеть</a:t>
            </a:r>
            <a:endParaRPr lang="en-US" sz="1500"/>
          </a:p>
        </p:txBody>
      </p:sp>
      <p:sp>
        <p:nvSpPr>
          <p:cNvPr id="13" name="d3"/>
          <p:cNvSpPr txBox="1"/>
          <p:nvPr/>
        </p:nvSpPr>
        <p:spPr>
          <a:xfrm>
            <a:off x="1244600" y="46228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Рекомендация ИИ воспринимается как совет подруги-эксперта — ей доверяют и записываются</a:t>
            </a:r>
            <a:endParaRPr lang="en-US" sz="1200"/>
          </a:p>
        </p:txBody>
      </p:sp>
      <p:sp>
        <p:nvSpPr>
          <p:cNvPr id="14" name="i4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eyJpY29uTmFtZSI6ImZhczpjaGFydC1saW5lIn0</pptd:icon>
              </p:ext>
            </p:extLst>
          </p:nvPr>
        </p:nvSpPr>
        <p:spPr>
          <a:xfrm>
            <a:off x="711200" y="5410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6D1F2C"/>
          </a:solidFill>
          <a:ln>
            <a:noFill/>
          </a:ln>
        </p:spPr>
      </p:sp>
      <p:sp>
        <p:nvSpPr>
          <p:cNvPr id="15" name="t4"/>
          <p:cNvSpPr txBox="1"/>
          <p:nvPr/>
        </p:nvSpPr>
        <p:spPr>
          <a:xfrm>
            <a:off x="1244600" y="54102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Отставание от конкурентов</a:t>
            </a:r>
            <a:endParaRPr lang="en-US" sz="1500"/>
          </a:p>
        </p:txBody>
      </p:sp>
      <p:sp>
        <p:nvSpPr>
          <p:cNvPr id="16" name="d4"/>
          <p:cNvSpPr txBox="1"/>
          <p:nvPr/>
        </p:nvSpPr>
        <p:spPr>
          <a:xfrm>
            <a:off x="1244600" y="571500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Пока вас нет в ответах нейросети, конкуренты забирают ваших клиенток каждый день</a:t>
            </a:r>
            <a:endParaRPr lang="en-US" sz="1200"/>
          </a:p>
        </p:txBody>
      </p:sp>
      <p:sp>
        <p:nvSpPr>
          <p:cNvPr id="17" name="phone"/>
          <p:cNvSpPr/>
          <p:nvPr/>
        </p:nvSpPr>
        <p:spPr>
          <a:xfrm>
            <a:off x="7823200" y="914400"/>
            <a:ext cx="3657600" cy="5105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3D6C0"/>
            </a:solidFill>
          </a:ln>
          <a:effectLst>
            <a:outerShdw blurRad="228600" dist="101600" dir="5400000" algn="bl" rotWithShape="0">
              <a:srgbClr val="6D1F2C">
                <a:alpha val="12157"/>
              </a:srgbClr>
            </a:outerShdw>
          </a:effectLst>
        </p:spPr>
      </p:sp>
      <p:sp>
        <p:nvSpPr>
          <p:cNvPr id="18" name="phone-time"/>
          <p:cNvSpPr txBox="1"/>
          <p:nvPr/>
        </p:nvSpPr>
        <p:spPr>
          <a:xfrm>
            <a:off x="8128000" y="11176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>
                <a:solidFill>
                  <a:srgbClr val="8A7568"/>
                </a:solidFill>
                <a:latin typeface="MiSans"/>
                <a:ea typeface="MiSans"/>
              </a:rPr>
              <a:t>9:41</a:t>
            </a:r>
            <a:endParaRPr lang="en-US" sz="1000"/>
          </a:p>
        </p:txBody>
      </p:sp>
      <p:sp>
        <p:nvSpPr>
          <p:cNvPr id="19" name="phone-header"/>
          <p:cNvSpPr txBox="1"/>
          <p:nvPr/>
        </p:nvSpPr>
        <p:spPr>
          <a:xfrm>
            <a:off x="8128000" y="1371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2B1D1A"/>
                </a:solidFill>
                <a:latin typeface="MiSans"/>
                <a:ea typeface="MiSans"/>
              </a:rPr>
              <a:t>НЕЙРОПОИСК</a:t>
            </a:r>
            <a:endParaRPr lang="en-US" sz="1100"/>
          </a:p>
        </p:txBody>
      </p:sp>
      <p:sp>
        <p:nvSpPr>
          <p:cNvPr id="20" name="phone-div"/>
          <p:cNvSpPr/>
          <p:nvPr/>
        </p:nvSpPr>
        <p:spPr>
          <a:xfrm>
            <a:off x="8128000" y="1701800"/>
            <a:ext cx="3048000" cy="12700"/>
          </a:xfrm>
          <a:prstGeom prst="rect">
            <a:avLst/>
          </a:prstGeom>
          <a:solidFill>
            <a:srgbClr val="E3D6C0"/>
          </a:solidFill>
          <a:ln>
            <a:noFill/>
          </a:ln>
        </p:spPr>
      </p:sp>
      <p:sp>
        <p:nvSpPr>
          <p:cNvPr id="21" name="bubble-q"/>
          <p:cNvSpPr/>
          <p:nvPr/>
        </p:nvSpPr>
        <p:spPr>
          <a:xfrm>
            <a:off x="8966200" y="1930400"/>
            <a:ext cx="2209800" cy="533400"/>
          </a:xfrm>
          <a:prstGeom prst="roundRect">
            <a:avLst>
              <a:gd name="adj" fmla="val 22000"/>
            </a:avLst>
          </a:prstGeom>
          <a:solidFill>
            <a:srgbClr val="6D1F2C"/>
          </a:solidFill>
          <a:ln>
            <a:noFill/>
          </a:ln>
        </p:spPr>
      </p:sp>
      <p:sp>
        <p:nvSpPr>
          <p:cNvPr id="22" name="bubble-q-text"/>
          <p:cNvSpPr txBox="1"/>
          <p:nvPr/>
        </p:nvSpPr>
        <p:spPr>
          <a:xfrm>
            <a:off x="9093200" y="19304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6EFE2"/>
                </a:solidFill>
                <a:latin typeface="MiSans"/>
                <a:ea typeface="MiSans"/>
              </a:rPr>
              <a:t>Куда сходить на стрижку и уход в центре?</a:t>
            </a:r>
            <a:endParaRPr lang="en-US" sz="1150"/>
          </a:p>
        </p:txBody>
      </p:sp>
      <p:sp>
        <p:nvSpPr>
          <p:cNvPr id="23" name="bubble-a"/>
          <p:cNvSpPr/>
          <p:nvPr/>
        </p:nvSpPr>
        <p:spPr>
          <a:xfrm>
            <a:off x="8128000" y="2667000"/>
            <a:ext cx="3048000" cy="2489200"/>
          </a:xfrm>
          <a:prstGeom prst="roundRect">
            <a:avLst>
              <a:gd name="adj" fmla="val 10000"/>
            </a:avLst>
          </a:prstGeom>
          <a:solidFill>
            <a:srgbClr val="F1E6D3"/>
          </a:solidFill>
          <a:ln w="12700">
            <a:solidFill>
              <a:srgbClr val="E3D6C0"/>
            </a:solidFill>
          </a:ln>
        </p:spPr>
      </p:sp>
      <p:sp>
        <p:nvSpPr>
          <p:cNvPr id="24" name="bubble-a-text"/>
          <p:cNvSpPr txBox="1"/>
          <p:nvPr/>
        </p:nvSpPr>
        <p:spPr>
          <a:xfrm>
            <a:off x="8331200" y="2819400"/>
            <a:ext cx="26416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2B1D1A"/>
                </a:solidFill>
                <a:latin typeface="MiSans"/>
                <a:ea typeface="MiSans"/>
              </a:rPr>
              <a:t>Вот 3 салона рядом: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150">
                <a:solidFill>
                  <a:srgbClr val="2B1D1A"/>
                </a:solidFill>
                <a:latin typeface="MiSans"/>
                <a:ea typeface="MiSans"/>
              </a:rPr>
              <a:t>1. Салон «Атмосфера»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2B1D1A"/>
                </a:solidFill>
                <a:latin typeface="MiSans"/>
                <a:ea typeface="MiSans"/>
              </a:rPr>
              <a:t>2. Студия «Образ»</a:t>
            </a:r>
            <a:endParaRPr lang="en-US" sz="1150"/>
          </a:p>
          <a:p>
            <a:pPr algn="l">
              <a:lnSpc>
                <a:spcPct val="155000"/>
              </a:lnSpc>
            </a:pPr>
            <a:r>
              <a:rPr lang="en-US" sz="1150">
                <a:solidFill>
                  <a:srgbClr val="2B1D1A"/>
                </a:solidFill>
                <a:latin typeface="MiSans"/>
                <a:ea typeface="MiSans"/>
              </a:rPr>
              <a:t>3. </a:t>
            </a:r>
            <a:r>
              <a:rPr lang="en-US" sz="1150" b="1">
                <a:solidFill>
                  <a:srgbClr val="6D1F2C"/>
                </a:solidFill>
                <a:latin typeface="MiSans"/>
                <a:ea typeface="MiSans"/>
              </a:rPr>
              <a:t>______________</a:t>
            </a:r>
            <a:endParaRPr lang="en-US" sz="1150"/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lang="en-US" sz="1000">
                <a:solidFill>
                  <a:srgbClr val="8A7568"/>
                </a:solidFill>
                <a:latin typeface="MiSans"/>
                <a:ea typeface="MiSans"/>
              </a:rPr>
              <a:t>место №3 может занять ваш салон</a:t>
            </a:r>
            <a:endParaRPr lang="en-US" sz="1150"/>
          </a:p>
        </p:txBody>
      </p:sp>
      <p:sp>
        <p:nvSpPr>
          <p:cNvPr id="25" name="phone-note"/>
          <p:cNvSpPr txBox="1"/>
          <p:nvPr/>
        </p:nvSpPr>
        <p:spPr>
          <a:xfrm>
            <a:off x="7823200" y="60706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5000"/>
              </a:lnSpc>
            </a:pPr>
            <a:r>
              <a:rPr lang="en-US" sz="1000" i="1">
                <a:solidFill>
                  <a:srgbClr val="8A7568"/>
                </a:solidFill>
                <a:latin typeface="MiSans"/>
                <a:ea typeface="MiSans"/>
              </a:rPr>
              <a:t>Нейросеть уже отвечает клиенткам — вопрос лишь в том, назовёт ли она вас</a:t>
            </a:r>
            <a:endParaRPr lang="en-US" sz="1000"/>
          </a:p>
        </p:txBody>
      </p:sp>
      <p:sp>
        <p:nvSpPr>
          <p:cNvPr id="26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8A7568"/>
                </a:solidFill>
                <a:latin typeface="MiSans"/>
                <a:ea typeface="MiSans"/>
              </a:rPr>
              <a:t>03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8A7568"/>
                </a:solidFill>
                <a:latin typeface="MiSans"/>
                <a:ea typeface="MiSans"/>
              </a:rPr>
              <a:t>ПРОМПТЕР · САЛОНЫ КРАСОТЫ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4826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2B1D1A"/>
                </a:solidFill>
                <a:latin typeface="MiSans"/>
                <a:ea typeface="MiSans"/>
              </a:rPr>
              <a:t>НАШЕ ИННОВАЦИОННОЕ РЕШЕНИЕ — </a:t>
            </a:r>
            <a:r>
              <a:rPr lang="en-US" sz="2600" b="1">
                <a:solidFill>
                  <a:srgbClr val="6D1F2C"/>
                </a:solidFill>
                <a:latin typeface="MiSans"/>
                <a:ea typeface="MiSans"/>
              </a:rPr>
              <a:t>СЕРВИС ПРОМПТЕР</a:t>
            </a:r>
            <a:endParaRPr lang="en-US" sz="2600"/>
          </a:p>
        </p:txBody>
      </p:sp>
      <p:sp>
        <p:nvSpPr>
          <p:cNvPr id="4" name="subtitle"/>
          <p:cNvSpPr txBox="1"/>
          <p:nvPr/>
        </p:nvSpPr>
        <p:spPr>
          <a:xfrm>
            <a:off x="711200" y="990600"/>
            <a:ext cx="107696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8A7568"/>
                </a:solidFill>
                <a:latin typeface="MiSans"/>
                <a:ea typeface="MiSans"/>
              </a:rPr>
              <a:t>Полностью автоматизированная платформа на базе искусственного интеллекта, которая продвигает салоны красоты, студии и косметологии в нейровыдаче и поисковых системах без ручной рутины</a:t>
            </a:r>
            <a:endParaRPr lang="en-US" sz="1300"/>
          </a:p>
        </p:txBody>
      </p:sp>
      <p:sp>
        <p:nvSpPr>
          <p:cNvPr id="5" name="uniq-box"/>
          <p:cNvSpPr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solidFill>
            <a:srgbClr val="6D1F2C">
              <a:alpha val="7059"/>
            </a:srgbClr>
          </a:solidFill>
          <a:ln w="12700">
            <a:solidFill>
              <a:srgbClr val="6D1F2C"/>
            </a:solidFill>
          </a:ln>
        </p:spPr>
      </p:sp>
      <p:sp>
        <p:nvSpPr>
          <p:cNvPr id="6" name="uniq-text"/>
          <p:cNvSpPr txBox="1"/>
          <p:nvPr/>
        </p:nvSpPr>
        <p:spPr>
          <a:xfrm>
            <a:off x="711200" y="1574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kern="0" spc="100">
                <a:solidFill>
                  <a:srgbClr val="6D1F2C"/>
                </a:solidFill>
                <a:latin typeface="MiSans"/>
                <a:ea typeface="MiSans"/>
              </a:rPr>
              <a:t>УНИКАЛЬНОСТЬ: СЕРВИС НЕ ТОЛЬКО ГЕНЕРИРУЕТ КОНТЕНТ — ОН САМ ЕГО ПУБЛИКУЕТ</a:t>
            </a:r>
            <a:endParaRPr lang="en-US" sz="1250"/>
          </a:p>
        </p:txBody>
      </p:sp>
      <p:sp>
        <p:nvSpPr>
          <p:cNvPr id="7" name="c1"/>
          <p:cNvSpPr/>
          <p:nvPr/>
        </p:nvSpPr>
        <p:spPr>
          <a:xfrm>
            <a:off x="711200" y="22098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0"/>
            </a:solidFill>
          </a:ln>
          <a:effectLst>
            <a:outerShdw blurRad="127000" dist="50800" dir="5400000" algn="bl" rotWithShape="0">
              <a:srgbClr val="6D1F2C">
                <a:alpha val="7059"/>
              </a:srgbClr>
            </a:outerShdw>
          </a:effectLst>
        </p:spPr>
      </p:sp>
      <p:sp>
        <p:nvSpPr>
          <p:cNvPr id="8" name="c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eyJpY29uTmFtZSI6ImZhczpwZW4tbmliIn0</pptd:icon>
              </p:ext>
            </p:extLst>
          </p:nvPr>
        </p:nvSpPr>
        <p:spPr>
          <a:xfrm>
            <a:off x="9398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69" y="18"/>
                </a:moveTo>
                <a:lnTo>
                  <a:pt x="318" y="68"/>
                </a:lnTo>
                <a:lnTo>
                  <a:pt x="444" y="194"/>
                </a:lnTo>
                <a:lnTo>
                  <a:pt x="494" y="144"/>
                </a:lnTo>
                <a:cubicBezTo>
                  <a:pt x="516" y="122"/>
                  <a:pt x="516" y="86"/>
                  <a:pt x="494" y="64"/>
                </a:cubicBezTo>
                <a:lnTo>
                  <a:pt x="448" y="18"/>
                </a:lnTo>
                <a:cubicBezTo>
                  <a:pt x="426" y="-4"/>
                  <a:pt x="390" y="-4"/>
                  <a:pt x="369" y="18"/>
                </a:cubicBezTo>
                <a:close/>
                <a:moveTo>
                  <a:pt x="279" y="97"/>
                </a:moveTo>
                <a:lnTo>
                  <a:pt x="279" y="97"/>
                </a:lnTo>
                <a:lnTo>
                  <a:pt x="135" y="141"/>
                </a:lnTo>
                <a:cubicBezTo>
                  <a:pt x="115" y="147"/>
                  <a:pt x="99" y="162"/>
                  <a:pt x="92" y="182"/>
                </a:cubicBezTo>
                <a:lnTo>
                  <a:pt x="4" y="446"/>
                </a:lnTo>
                <a:cubicBezTo>
                  <a:pt x="1" y="455"/>
                  <a:pt x="2" y="464"/>
                  <a:pt x="6" y="472"/>
                </a:cubicBezTo>
                <a:lnTo>
                  <a:pt x="162" y="316"/>
                </a:lnTo>
                <a:cubicBezTo>
                  <a:pt x="161" y="312"/>
                  <a:pt x="160" y="308"/>
                  <a:pt x="160" y="304"/>
                </a:cubicBezTo>
                <a:cubicBezTo>
                  <a:pt x="160" y="278"/>
                  <a:pt x="182" y="256"/>
                  <a:pt x="208" y="256"/>
                </a:cubicBezTo>
                <a:cubicBezTo>
                  <a:pt x="235" y="256"/>
                  <a:pt x="256" y="278"/>
                  <a:pt x="256" y="304"/>
                </a:cubicBezTo>
                <a:cubicBezTo>
                  <a:pt x="256" y="331"/>
                  <a:pt x="235" y="352"/>
                  <a:pt x="208" y="352"/>
                </a:cubicBezTo>
                <a:cubicBezTo>
                  <a:pt x="204" y="352"/>
                  <a:pt x="200" y="351"/>
                  <a:pt x="196" y="350"/>
                </a:cubicBezTo>
                <a:lnTo>
                  <a:pt x="40" y="506"/>
                </a:lnTo>
                <a:cubicBezTo>
                  <a:pt x="48" y="510"/>
                  <a:pt x="58" y="511"/>
                  <a:pt x="66" y="508"/>
                </a:cubicBezTo>
                <a:lnTo>
                  <a:pt x="331" y="420"/>
                </a:lnTo>
                <a:cubicBezTo>
                  <a:pt x="350" y="413"/>
                  <a:pt x="366" y="397"/>
                  <a:pt x="372" y="377"/>
                </a:cubicBezTo>
                <a:lnTo>
                  <a:pt x="415" y="233"/>
                </a:lnTo>
                <a:lnTo>
                  <a:pt x="415" y="233"/>
                </a:lnTo>
                <a:lnTo>
                  <a:pt x="279" y="97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9" name="c1-title"/>
          <p:cNvSpPr txBox="1"/>
          <p:nvPr/>
        </p:nvSpPr>
        <p:spPr>
          <a:xfrm>
            <a:off x="13970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AI-КОПИРАЙТЕР</a:t>
            </a:r>
            <a:endParaRPr lang="en-US" sz="1400"/>
          </a:p>
        </p:txBody>
      </p:sp>
      <p:sp>
        <p:nvSpPr>
          <p:cNvPr id="10" name="c1-desc"/>
          <p:cNvSpPr txBox="1"/>
          <p:nvPr/>
        </p:nvSpPr>
        <p:spPr>
          <a:xfrm>
            <a:off x="9398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Создаёт тексты об услугах, мастерах и атмосфере салона в вашем tone of voice</a:t>
            </a:r>
            <a:endParaRPr lang="en-US" sz="1100"/>
          </a:p>
        </p:txBody>
      </p:sp>
      <p:sp>
        <p:nvSpPr>
          <p:cNvPr id="11" name="c2"/>
          <p:cNvSpPr/>
          <p:nvPr/>
        </p:nvSpPr>
        <p:spPr>
          <a:xfrm>
            <a:off x="4368800" y="22098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0"/>
            </a:solidFill>
          </a:ln>
          <a:effectLst>
            <a:outerShdw blurRad="127000" dist="50800" dir="5400000" algn="bl" rotWithShape="0">
              <a:srgbClr val="6D1F2C">
                <a:alpha val="7059"/>
              </a:srgbClr>
            </a:outerShdw>
          </a:effectLst>
        </p:spPr>
      </p:sp>
      <p:sp>
        <p:nvSpPr>
          <p:cNvPr id="12" name="c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45974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3" name="c2-title"/>
          <p:cNvSpPr txBox="1"/>
          <p:nvPr/>
        </p:nvSpPr>
        <p:spPr>
          <a:xfrm>
            <a:off x="50546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AI-МОДЕРАТОР</a:t>
            </a:r>
            <a:endParaRPr lang="en-US" sz="1400"/>
          </a:p>
        </p:txBody>
      </p:sp>
      <p:sp>
        <p:nvSpPr>
          <p:cNvPr id="14" name="c2-desc"/>
          <p:cNvSpPr txBox="1"/>
          <p:nvPr/>
        </p:nvSpPr>
        <p:spPr>
          <a:xfrm>
            <a:off x="45974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Проверяет каждый материал перед публикацией и формирует контент-план</a:t>
            </a:r>
            <a:endParaRPr lang="en-US" sz="1100"/>
          </a:p>
        </p:txBody>
      </p:sp>
      <p:sp>
        <p:nvSpPr>
          <p:cNvPr id="15" name="c3"/>
          <p:cNvSpPr/>
          <p:nvPr/>
        </p:nvSpPr>
        <p:spPr>
          <a:xfrm>
            <a:off x="8026400" y="22098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0"/>
            </a:solidFill>
          </a:ln>
          <a:effectLst>
            <a:outerShdw blurRad="127000" dist="50800" dir="5400000" algn="bl" rotWithShape="0">
              <a:srgbClr val="6D1F2C">
                <a:alpha val="7059"/>
              </a:srgbClr>
            </a:outerShdw>
          </a:effectLst>
        </p:spPr>
      </p:sp>
      <p:sp>
        <p:nvSpPr>
          <p:cNvPr id="16" name="c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eyJpY29uTmFtZSI6ImZhczpjaGVzcyJ9</pptd:icon>
              </p:ext>
            </p:extLst>
          </p:nvPr>
        </p:nvSpPr>
        <p:spPr>
          <a:xfrm>
            <a:off x="82550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68" y="56"/>
                </a:moveTo>
                <a:lnTo>
                  <a:pt x="168" y="96"/>
                </a:lnTo>
                <a:lnTo>
                  <a:pt x="90" y="96"/>
                </a:lnTo>
                <a:cubicBezTo>
                  <a:pt x="76" y="96"/>
                  <a:pt x="64" y="108"/>
                  <a:pt x="64" y="122"/>
                </a:cubicBezTo>
                <a:cubicBezTo>
                  <a:pt x="64" y="126"/>
                  <a:pt x="65" y="130"/>
                  <a:pt x="67" y="134"/>
                </a:cubicBezTo>
                <a:lnTo>
                  <a:pt x="100" y="200"/>
                </a:lnTo>
                <a:cubicBezTo>
                  <a:pt x="89" y="202"/>
                  <a:pt x="80" y="212"/>
                  <a:pt x="80" y="224"/>
                </a:cubicBezTo>
                <a:cubicBezTo>
                  <a:pt x="80" y="237"/>
                  <a:pt x="91" y="248"/>
                  <a:pt x="104" y="248"/>
                </a:cubicBezTo>
                <a:lnTo>
                  <a:pt x="109" y="248"/>
                </a:lnTo>
                <a:lnTo>
                  <a:pt x="96" y="384"/>
                </a:lnTo>
                <a:lnTo>
                  <a:pt x="40" y="454"/>
                </a:lnTo>
                <a:cubicBezTo>
                  <a:pt x="35" y="461"/>
                  <a:pt x="32" y="468"/>
                  <a:pt x="32" y="477"/>
                </a:cubicBezTo>
                <a:cubicBezTo>
                  <a:pt x="32" y="496"/>
                  <a:pt x="48" y="512"/>
                  <a:pt x="67" y="512"/>
                </a:cubicBezTo>
                <a:lnTo>
                  <a:pt x="316" y="512"/>
                </a:lnTo>
                <a:cubicBezTo>
                  <a:pt x="336" y="512"/>
                  <a:pt x="352" y="496"/>
                  <a:pt x="352" y="477"/>
                </a:cubicBezTo>
                <a:cubicBezTo>
                  <a:pt x="352" y="468"/>
                  <a:pt x="349" y="461"/>
                  <a:pt x="344" y="454"/>
                </a:cubicBezTo>
                <a:lnTo>
                  <a:pt x="288" y="384"/>
                </a:lnTo>
                <a:lnTo>
                  <a:pt x="274" y="248"/>
                </a:lnTo>
                <a:lnTo>
                  <a:pt x="280" y="248"/>
                </a:lnTo>
                <a:cubicBezTo>
                  <a:pt x="293" y="248"/>
                  <a:pt x="304" y="237"/>
                  <a:pt x="304" y="224"/>
                </a:cubicBezTo>
                <a:cubicBezTo>
                  <a:pt x="304" y="212"/>
                  <a:pt x="295" y="202"/>
                  <a:pt x="284" y="200"/>
                </a:cubicBezTo>
                <a:lnTo>
                  <a:pt x="317" y="134"/>
                </a:lnTo>
                <a:cubicBezTo>
                  <a:pt x="319" y="130"/>
                  <a:pt x="320" y="126"/>
                  <a:pt x="320" y="122"/>
                </a:cubicBezTo>
                <a:cubicBezTo>
                  <a:pt x="320" y="108"/>
                  <a:pt x="308" y="96"/>
                  <a:pt x="294" y="96"/>
                </a:cubicBezTo>
                <a:lnTo>
                  <a:pt x="216" y="96"/>
                </a:lnTo>
                <a:lnTo>
                  <a:pt x="216" y="56"/>
                </a:lnTo>
                <a:lnTo>
                  <a:pt x="232" y="56"/>
                </a:lnTo>
                <a:cubicBezTo>
                  <a:pt x="245" y="56"/>
                  <a:pt x="256" y="45"/>
                  <a:pt x="256" y="32"/>
                </a:cubicBezTo>
                <a:cubicBezTo>
                  <a:pt x="256" y="19"/>
                  <a:pt x="245" y="8"/>
                  <a:pt x="232" y="8"/>
                </a:cubicBezTo>
                <a:lnTo>
                  <a:pt x="216" y="8"/>
                </a:lnTo>
                <a:lnTo>
                  <a:pt x="216" y="-8"/>
                </a:lnTo>
                <a:cubicBezTo>
                  <a:pt x="216" y="-21"/>
                  <a:pt x="205" y="-32"/>
                  <a:pt x="192" y="-32"/>
                </a:cubicBezTo>
                <a:cubicBezTo>
                  <a:pt x="179" y="-32"/>
                  <a:pt x="168" y="-21"/>
                  <a:pt x="168" y="-8"/>
                </a:cubicBezTo>
                <a:lnTo>
                  <a:pt x="168" y="8"/>
                </a:lnTo>
                <a:lnTo>
                  <a:pt x="152" y="8"/>
                </a:lnTo>
                <a:cubicBezTo>
                  <a:pt x="139" y="8"/>
                  <a:pt x="128" y="19"/>
                  <a:pt x="128" y="32"/>
                </a:cubicBezTo>
                <a:cubicBezTo>
                  <a:pt x="128" y="45"/>
                  <a:pt x="139" y="56"/>
                  <a:pt x="152" y="56"/>
                </a:cubicBezTo>
                <a:lnTo>
                  <a:pt x="168" y="56"/>
                </a:lnTo>
                <a:close/>
                <a:moveTo>
                  <a:pt x="326" y="280"/>
                </a:moveTo>
                <a:lnTo>
                  <a:pt x="334" y="365"/>
                </a:lnTo>
                <a:lnTo>
                  <a:pt x="382" y="424"/>
                </a:lnTo>
                <a:lnTo>
                  <a:pt x="386" y="430"/>
                </a:lnTo>
                <a:cubicBezTo>
                  <a:pt x="395" y="444"/>
                  <a:pt x="400" y="460"/>
                  <a:pt x="400" y="477"/>
                </a:cubicBezTo>
                <a:cubicBezTo>
                  <a:pt x="400" y="489"/>
                  <a:pt x="397" y="501"/>
                  <a:pt x="392" y="512"/>
                </a:cubicBezTo>
                <a:lnTo>
                  <a:pt x="475" y="512"/>
                </a:lnTo>
                <a:cubicBezTo>
                  <a:pt x="496" y="512"/>
                  <a:pt x="512" y="496"/>
                  <a:pt x="512" y="475"/>
                </a:cubicBezTo>
                <a:cubicBezTo>
                  <a:pt x="512" y="468"/>
                  <a:pt x="510" y="461"/>
                  <a:pt x="506" y="455"/>
                </a:cubicBezTo>
                <a:lnTo>
                  <a:pt x="480" y="416"/>
                </a:lnTo>
                <a:lnTo>
                  <a:pt x="480" y="352"/>
                </a:lnTo>
                <a:lnTo>
                  <a:pt x="493" y="339"/>
                </a:lnTo>
                <a:cubicBezTo>
                  <a:pt x="505" y="327"/>
                  <a:pt x="512" y="311"/>
                  <a:pt x="512" y="294"/>
                </a:cubicBezTo>
                <a:lnTo>
                  <a:pt x="512" y="192"/>
                </a:lnTo>
                <a:cubicBezTo>
                  <a:pt x="512" y="174"/>
                  <a:pt x="498" y="160"/>
                  <a:pt x="480" y="160"/>
                </a:cubicBezTo>
                <a:cubicBezTo>
                  <a:pt x="462" y="160"/>
                  <a:pt x="448" y="174"/>
                  <a:pt x="448" y="192"/>
                </a:cubicBezTo>
                <a:lnTo>
                  <a:pt x="448" y="208"/>
                </a:lnTo>
                <a:lnTo>
                  <a:pt x="416" y="208"/>
                </a:lnTo>
                <a:lnTo>
                  <a:pt x="416" y="192"/>
                </a:lnTo>
                <a:cubicBezTo>
                  <a:pt x="416" y="174"/>
                  <a:pt x="402" y="160"/>
                  <a:pt x="384" y="160"/>
                </a:cubicBezTo>
                <a:cubicBezTo>
                  <a:pt x="366" y="160"/>
                  <a:pt x="352" y="174"/>
                  <a:pt x="352" y="192"/>
                </a:cubicBezTo>
                <a:lnTo>
                  <a:pt x="352" y="224"/>
                </a:lnTo>
                <a:cubicBezTo>
                  <a:pt x="352" y="246"/>
                  <a:pt x="342" y="266"/>
                  <a:pt x="326" y="280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7" name="c3-title"/>
          <p:cNvSpPr txBox="1"/>
          <p:nvPr/>
        </p:nvSpPr>
        <p:spPr>
          <a:xfrm>
            <a:off x="8712200" y="24384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AI-СТРАТЕГ</a:t>
            </a:r>
            <a:endParaRPr lang="en-US" sz="1400"/>
          </a:p>
        </p:txBody>
      </p:sp>
      <p:sp>
        <p:nvSpPr>
          <p:cNvPr id="18" name="c3-desc"/>
          <p:cNvSpPr txBox="1"/>
          <p:nvPr/>
        </p:nvSpPr>
        <p:spPr>
          <a:xfrm>
            <a:off x="8255000" y="28702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Строит стратегию продвижения в нейровыдаче под формат вашего салона</a:t>
            </a:r>
            <a:endParaRPr lang="en-US" sz="1100"/>
          </a:p>
        </p:txBody>
      </p:sp>
      <p:sp>
        <p:nvSpPr>
          <p:cNvPr id="19" name="c4"/>
          <p:cNvSpPr/>
          <p:nvPr/>
        </p:nvSpPr>
        <p:spPr>
          <a:xfrm>
            <a:off x="711200" y="40386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0"/>
            </a:solidFill>
          </a:ln>
          <a:effectLst>
            <a:outerShdw blurRad="127000" dist="50800" dir="5400000" algn="bl" rotWithShape="0">
              <a:srgbClr val="6D1F2C">
                <a:alpha val="7059"/>
              </a:srgbClr>
            </a:outerShdw>
          </a:effectLst>
        </p:spPr>
      </p:sp>
      <p:sp>
        <p:nvSpPr>
          <p:cNvPr id="20" name="c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eyJpY29uTmFtZSI6ImZhczpjaGFydC1waWUifQ</pptd:icon>
              </p:ext>
            </p:extLst>
          </p:nvPr>
        </p:nvSpPr>
        <p:spPr>
          <a:xfrm>
            <a:off x="9398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21" name="c4-title"/>
          <p:cNvSpPr txBox="1"/>
          <p:nvPr/>
        </p:nvSpPr>
        <p:spPr>
          <a:xfrm>
            <a:off x="13970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МОДУЛЬ АНАЛИТИКИ</a:t>
            </a:r>
            <a:endParaRPr lang="en-US" sz="1400"/>
          </a:p>
        </p:txBody>
      </p:sp>
      <p:sp>
        <p:nvSpPr>
          <p:cNvPr id="22" name="c4-desc"/>
          <p:cNvSpPr txBox="1"/>
          <p:nvPr/>
        </p:nvSpPr>
        <p:spPr>
          <a:xfrm>
            <a:off x="9398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Отслеживает присутствие бренда в нейросетях и поисковых системах</a:t>
            </a:r>
            <a:endParaRPr lang="en-US" sz="1100"/>
          </a:p>
        </p:txBody>
      </p:sp>
      <p:sp>
        <p:nvSpPr>
          <p:cNvPr id="23" name="c5"/>
          <p:cNvSpPr/>
          <p:nvPr/>
        </p:nvSpPr>
        <p:spPr>
          <a:xfrm>
            <a:off x="4368800" y="40386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0"/>
            </a:solidFill>
          </a:ln>
          <a:effectLst>
            <a:outerShdw blurRad="127000" dist="50800" dir="5400000" algn="bl" rotWithShape="0">
              <a:srgbClr val="6D1F2C">
                <a:alpha val="7059"/>
              </a:srgbClr>
            </a:outerShdw>
          </a:effectLst>
        </p:spPr>
      </p:sp>
      <p:sp>
        <p:nvSpPr>
          <p:cNvPr id="24" name="c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eyJpY29uTmFtZSI6ImZhczptaWNyb3Njb3BlIn0</pptd:icon>
              </p:ext>
            </p:extLst>
          </p:nvPr>
        </p:nvSpPr>
        <p:spPr>
          <a:xfrm>
            <a:off x="45974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0"/>
                </a:moveTo>
                <a:cubicBezTo>
                  <a:pt x="150" y="0"/>
                  <a:pt x="128" y="22"/>
                  <a:pt x="128" y="48"/>
                </a:cubicBezTo>
                <a:lnTo>
                  <a:pt x="128" y="256"/>
                </a:lnTo>
                <a:cubicBezTo>
                  <a:pt x="128" y="283"/>
                  <a:pt x="150" y="304"/>
                  <a:pt x="176" y="304"/>
                </a:cubicBezTo>
                <a:lnTo>
                  <a:pt x="240" y="304"/>
                </a:lnTo>
                <a:cubicBezTo>
                  <a:pt x="267" y="304"/>
                  <a:pt x="288" y="283"/>
                  <a:pt x="288" y="256"/>
                </a:cubicBezTo>
                <a:lnTo>
                  <a:pt x="288" y="192"/>
                </a:lnTo>
                <a:lnTo>
                  <a:pt x="320" y="192"/>
                </a:lnTo>
                <a:cubicBezTo>
                  <a:pt x="391" y="192"/>
                  <a:pt x="448" y="249"/>
                  <a:pt x="448" y="320"/>
                </a:cubicBezTo>
                <a:cubicBezTo>
                  <a:pt x="448" y="391"/>
                  <a:pt x="391" y="448"/>
                  <a:pt x="320" y="448"/>
                </a:cubicBezTo>
                <a:lnTo>
                  <a:pt x="32" y="448"/>
                </a:lnTo>
                <a:cubicBezTo>
                  <a:pt x="14" y="448"/>
                  <a:pt x="0" y="462"/>
                  <a:pt x="0" y="480"/>
                </a:cubicBezTo>
                <a:cubicBezTo>
                  <a:pt x="0" y="498"/>
                  <a:pt x="14" y="512"/>
                  <a:pt x="32" y="512"/>
                </a:cubicBezTo>
                <a:lnTo>
                  <a:pt x="480" y="512"/>
                </a:lnTo>
                <a:cubicBezTo>
                  <a:pt x="498" y="512"/>
                  <a:pt x="512" y="498"/>
                  <a:pt x="512" y="480"/>
                </a:cubicBezTo>
                <a:cubicBezTo>
                  <a:pt x="512" y="462"/>
                  <a:pt x="498" y="448"/>
                  <a:pt x="480" y="448"/>
                </a:cubicBezTo>
                <a:lnTo>
                  <a:pt x="463" y="448"/>
                </a:lnTo>
                <a:cubicBezTo>
                  <a:pt x="494" y="414"/>
                  <a:pt x="512" y="369"/>
                  <a:pt x="512" y="320"/>
                </a:cubicBezTo>
                <a:cubicBezTo>
                  <a:pt x="512" y="214"/>
                  <a:pt x="426" y="128"/>
                  <a:pt x="320" y="128"/>
                </a:cubicBezTo>
                <a:lnTo>
                  <a:pt x="288" y="128"/>
                </a:lnTo>
                <a:lnTo>
                  <a:pt x="288" y="48"/>
                </a:lnTo>
                <a:cubicBezTo>
                  <a:pt x="288" y="22"/>
                  <a:pt x="267" y="0"/>
                  <a:pt x="240" y="0"/>
                </a:cubicBezTo>
                <a:lnTo>
                  <a:pt x="176" y="0"/>
                </a:lnTo>
                <a:close/>
                <a:moveTo>
                  <a:pt x="120" y="352"/>
                </a:moveTo>
                <a:cubicBezTo>
                  <a:pt x="107" y="352"/>
                  <a:pt x="96" y="363"/>
                  <a:pt x="96" y="376"/>
                </a:cubicBezTo>
                <a:cubicBezTo>
                  <a:pt x="96" y="389"/>
                  <a:pt x="107" y="400"/>
                  <a:pt x="120" y="400"/>
                </a:cubicBezTo>
                <a:lnTo>
                  <a:pt x="296" y="400"/>
                </a:lnTo>
                <a:cubicBezTo>
                  <a:pt x="309" y="400"/>
                  <a:pt x="320" y="389"/>
                  <a:pt x="320" y="376"/>
                </a:cubicBezTo>
                <a:cubicBezTo>
                  <a:pt x="320" y="363"/>
                  <a:pt x="309" y="352"/>
                  <a:pt x="296" y="352"/>
                </a:cubicBezTo>
                <a:lnTo>
                  <a:pt x="120" y="352"/>
                </a:ln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25" name="c5-title"/>
          <p:cNvSpPr txBox="1"/>
          <p:nvPr/>
        </p:nvSpPr>
        <p:spPr>
          <a:xfrm>
            <a:off x="50546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AI-ИССЛЕДОВАТЕЛЬ</a:t>
            </a:r>
            <a:endParaRPr lang="en-US" sz="1400"/>
          </a:p>
        </p:txBody>
      </p:sp>
      <p:sp>
        <p:nvSpPr>
          <p:cNvPr id="26" name="c5-desc"/>
          <p:cNvSpPr txBox="1"/>
          <p:nvPr/>
        </p:nvSpPr>
        <p:spPr>
          <a:xfrm>
            <a:off x="45974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Анализирует конкурентов и аудиторию в вашем районе и городе</a:t>
            </a:r>
            <a:endParaRPr lang="en-US" sz="1100"/>
          </a:p>
        </p:txBody>
      </p:sp>
      <p:sp>
        <p:nvSpPr>
          <p:cNvPr id="27" name="c6"/>
          <p:cNvSpPr/>
          <p:nvPr/>
        </p:nvSpPr>
        <p:spPr>
          <a:xfrm>
            <a:off x="8026400" y="4038600"/>
            <a:ext cx="34544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0"/>
            </a:solidFill>
          </a:ln>
          <a:effectLst>
            <a:outerShdw blurRad="127000" dist="50800" dir="5400000" algn="bl" rotWithShape="0">
              <a:srgbClr val="6D1F2C">
                <a:alpha val="7059"/>
              </a:srgbClr>
            </a:outerShdw>
          </a:effectLst>
        </p:spPr>
      </p:sp>
      <p:sp>
        <p:nvSpPr>
          <p:cNvPr id="28" name="c6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eyJpY29uTmFtZSI6ImZhczpwYWxldHRlIn0</pptd:icon>
              </p:ext>
            </p:extLst>
          </p:nvPr>
        </p:nvSpPr>
        <p:spPr>
          <a:xfrm>
            <a:off x="8255000" y="424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256"/>
                </a:moveTo>
                <a:cubicBezTo>
                  <a:pt x="512" y="257"/>
                  <a:pt x="512" y="258"/>
                  <a:pt x="512" y="259"/>
                </a:cubicBezTo>
                <a:cubicBezTo>
                  <a:pt x="512" y="295"/>
                  <a:pt x="478" y="320"/>
                  <a:pt x="442" y="320"/>
                </a:cubicBezTo>
                <a:lnTo>
                  <a:pt x="344" y="320"/>
                </a:lnTo>
                <a:cubicBezTo>
                  <a:pt x="318" y="320"/>
                  <a:pt x="296" y="342"/>
                  <a:pt x="296" y="368"/>
                </a:cubicBezTo>
                <a:cubicBezTo>
                  <a:pt x="296" y="371"/>
                  <a:pt x="296" y="375"/>
                  <a:pt x="297" y="378"/>
                </a:cubicBezTo>
                <a:cubicBezTo>
                  <a:pt x="299" y="388"/>
                  <a:pt x="304" y="398"/>
                  <a:pt x="308" y="408"/>
                </a:cubicBezTo>
                <a:cubicBezTo>
                  <a:pt x="314" y="422"/>
                  <a:pt x="320" y="435"/>
                  <a:pt x="320" y="450"/>
                </a:cubicBezTo>
                <a:cubicBezTo>
                  <a:pt x="320" y="482"/>
                  <a:pt x="298" y="510"/>
                  <a:pt x="267" y="512"/>
                </a:cubicBezTo>
                <a:cubicBezTo>
                  <a:pt x="263" y="512"/>
                  <a:pt x="260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lose/>
                <a:moveTo>
                  <a:pt x="128" y="288"/>
                </a:moveTo>
                <a:cubicBezTo>
                  <a:pt x="128" y="270"/>
                  <a:pt x="114" y="256"/>
                  <a:pt x="96" y="256"/>
                </a:cubicBezTo>
                <a:cubicBezTo>
                  <a:pt x="78" y="256"/>
                  <a:pt x="64" y="270"/>
                  <a:pt x="64" y="288"/>
                </a:cubicBezTo>
                <a:cubicBezTo>
                  <a:pt x="64" y="306"/>
                  <a:pt x="78" y="320"/>
                  <a:pt x="96" y="320"/>
                </a:cubicBezTo>
                <a:cubicBezTo>
                  <a:pt x="114" y="320"/>
                  <a:pt x="128" y="306"/>
                  <a:pt x="128" y="288"/>
                </a:cubicBezTo>
                <a:close/>
                <a:moveTo>
                  <a:pt x="128" y="192"/>
                </a:moveTo>
                <a:cubicBezTo>
                  <a:pt x="146" y="192"/>
                  <a:pt x="160" y="178"/>
                  <a:pt x="160" y="160"/>
                </a:cubicBezTo>
                <a:cubicBezTo>
                  <a:pt x="160" y="142"/>
                  <a:pt x="146" y="128"/>
                  <a:pt x="128" y="128"/>
                </a:cubicBezTo>
                <a:cubicBezTo>
                  <a:pt x="110" y="128"/>
                  <a:pt x="96" y="142"/>
                  <a:pt x="96" y="160"/>
                </a:cubicBezTo>
                <a:cubicBezTo>
                  <a:pt x="96" y="178"/>
                  <a:pt x="110" y="192"/>
                  <a:pt x="128" y="192"/>
                </a:cubicBezTo>
                <a:close/>
                <a:moveTo>
                  <a:pt x="288" y="96"/>
                </a:moveTo>
                <a:cubicBezTo>
                  <a:pt x="288" y="78"/>
                  <a:pt x="274" y="64"/>
                  <a:pt x="256" y="64"/>
                </a:cubicBezTo>
                <a:cubicBezTo>
                  <a:pt x="238" y="64"/>
                  <a:pt x="224" y="78"/>
                  <a:pt x="224" y="96"/>
                </a:cubicBezTo>
                <a:cubicBezTo>
                  <a:pt x="224" y="114"/>
                  <a:pt x="238" y="128"/>
                  <a:pt x="256" y="128"/>
                </a:cubicBezTo>
                <a:cubicBezTo>
                  <a:pt x="274" y="128"/>
                  <a:pt x="288" y="114"/>
                  <a:pt x="288" y="96"/>
                </a:cubicBezTo>
                <a:close/>
                <a:moveTo>
                  <a:pt x="384" y="192"/>
                </a:moveTo>
                <a:cubicBezTo>
                  <a:pt x="402" y="192"/>
                  <a:pt x="416" y="178"/>
                  <a:pt x="416" y="160"/>
                </a:cubicBezTo>
                <a:cubicBezTo>
                  <a:pt x="416" y="142"/>
                  <a:pt x="402" y="128"/>
                  <a:pt x="384" y="128"/>
                </a:cubicBezTo>
                <a:cubicBezTo>
                  <a:pt x="366" y="128"/>
                  <a:pt x="352" y="142"/>
                  <a:pt x="352" y="160"/>
                </a:cubicBezTo>
                <a:cubicBezTo>
                  <a:pt x="352" y="178"/>
                  <a:pt x="366" y="192"/>
                  <a:pt x="384" y="192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29" name="c6-title"/>
          <p:cNvSpPr txBox="1"/>
          <p:nvPr/>
        </p:nvSpPr>
        <p:spPr>
          <a:xfrm>
            <a:off x="8712200" y="42672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2B1D1A"/>
                </a:solidFill>
                <a:latin typeface="MiSans"/>
                <a:ea typeface="MiSans"/>
              </a:rPr>
              <a:t>AI-ДИЗАЙНЕР</a:t>
            </a:r>
            <a:endParaRPr lang="en-US" sz="1400"/>
          </a:p>
        </p:txBody>
      </p:sp>
      <p:sp>
        <p:nvSpPr>
          <p:cNvPr id="30" name="c6-desc"/>
          <p:cNvSpPr txBox="1"/>
          <p:nvPr/>
        </p:nvSpPr>
        <p:spPr>
          <a:xfrm>
            <a:off x="8255000" y="4699000"/>
            <a:ext cx="29972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Готовит визуал, фирменные обложки и оформление для каждой публикации</a:t>
            </a:r>
            <a:endParaRPr lang="en-US" sz="1100"/>
          </a:p>
        </p:txBody>
      </p:sp>
      <p:sp>
        <p:nvSpPr>
          <p:cNvPr id="31" name="bottom-note"/>
          <p:cNvSpPr txBox="1"/>
          <p:nvPr/>
        </p:nvSpPr>
        <p:spPr>
          <a:xfrm>
            <a:off x="711200" y="58928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i="1">
                <a:solidFill>
                  <a:srgbClr val="8A7568"/>
                </a:solidFill>
                <a:latin typeface="MiSans"/>
                <a:ea typeface="MiSans"/>
              </a:rPr>
              <a:t>Все модули работают как единая система — от идеи до публикации без вашего участия</a:t>
            </a:r>
            <a:endParaRPr lang="en-US" sz="1200"/>
          </a:p>
        </p:txBody>
      </p:sp>
      <p:sp>
        <p:nvSpPr>
          <p:cNvPr id="32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8A7568"/>
                </a:solidFill>
                <a:latin typeface="MiSans"/>
                <a:ea typeface="MiSans"/>
              </a:rPr>
              <a:t>04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6EFE2"/>
            </a:gs>
            <a:gs pos="55000">
              <a:srgbClr val="F1E2D0"/>
            </a:gs>
            <a:gs pos="100000">
              <a:srgbClr val="EBD3C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8A7568"/>
                </a:solidFill>
                <a:latin typeface="MiSans"/>
                <a:ea typeface="MiSans"/>
              </a:rPr>
              <a:t>ПРОМПТЕР · САЛОНЫ КРАСОТЫ</a:t>
            </a:r>
            <a:endParaRPr lang="en-US" sz="900"/>
          </a:p>
        </p:txBody>
      </p:sp>
      <p:sp>
        <p:nvSpPr>
          <p:cNvPr id="3" name="kicker"/>
          <p:cNvSpPr txBox="1"/>
          <p:nvPr/>
        </p:nvSpPr>
        <p:spPr>
          <a:xfrm>
            <a:off x="711200" y="71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>
                <a:solidFill>
                  <a:srgbClr val="C15F3C"/>
                </a:solidFill>
                <a:latin typeface="MiSans"/>
                <a:ea typeface="MiSans"/>
              </a:rPr>
              <a:t>КЛЮЧЕВОЕ ОТЛИЧИЕ ПРОМПТЕРА</a:t>
            </a:r>
            <a:endParaRPr lang="en-US" sz="1200"/>
          </a:p>
        </p:txBody>
      </p:sp>
      <p:sp>
        <p:nvSpPr>
          <p:cNvPr id="4" name="bigtitle"/>
          <p:cNvSpPr txBox="1"/>
          <p:nvPr/>
        </p:nvSpPr>
        <p:spPr>
          <a:xfrm>
            <a:off x="711200" y="1066800"/>
            <a:ext cx="8128000" cy="132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2B1D1A"/>
                </a:solidFill>
                <a:latin typeface="MiSans"/>
                <a:ea typeface="MiSans"/>
              </a:rPr>
              <a:t>НЕ ПРОСТО ГЕНЕРИРУЕТ —</a:t>
            </a:r>
            <a:endParaRPr lang="en-US" sz="3800"/>
          </a:p>
          <a:p>
            <a:pPr algn="l">
              <a:lnSpc>
                <a:spcPct val="118000"/>
              </a:lnSpc>
            </a:pPr>
            <a:r>
              <a:rPr lang="en-US" sz="3800" b="1">
                <a:solidFill>
                  <a:srgbClr val="6D1F2C"/>
                </a:solidFill>
                <a:latin typeface="MiSans"/>
                <a:ea typeface="MiSans"/>
              </a:rPr>
              <a:t>САМ ПУБЛИКУЕТ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711200" y="2641600"/>
            <a:ext cx="7112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400">
                <a:solidFill>
                  <a:srgbClr val="5C4A42"/>
                </a:solidFill>
                <a:latin typeface="MiSans"/>
                <a:ea typeface="MiSans"/>
              </a:rPr>
              <a:t>Технология берёт на себя полный цикл GEO- и SEO-продвижения: создаёт контент о вашем салоне и автоматически публикует его на шести площадках. Цифровой след наращивается каждый день — его считывают нейросети и поисковики.</a:t>
            </a:r>
            <a:endParaRPr lang="en-US" sz="1400"/>
          </a:p>
        </p:txBody>
      </p:sp>
      <p:sp>
        <p:nvSpPr>
          <p:cNvPr id="9" name="chip1"/>
          <p:cNvSpPr/>
          <p:nvPr/>
        </p:nvSpPr>
        <p:spPr>
          <a:xfrm>
            <a:off x="711200" y="4724400"/>
            <a:ext cx="2489200" cy="7366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E3D6C0"/>
            </a:solidFill>
          </a:ln>
        </p:spPr>
      </p:sp>
      <p:sp>
        <p:nvSpPr>
          <p:cNvPr id="10" name="chip1-num"/>
          <p:cNvSpPr txBox="1"/>
          <p:nvPr/>
        </p:nvSpPr>
        <p:spPr>
          <a:xfrm>
            <a:off x="9144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8A7568"/>
                </a:solidFill>
                <a:latin typeface="MiSans"/>
                <a:ea typeface="MiSans"/>
              </a:rPr>
              <a:t>01</a:t>
            </a:r>
            <a:endParaRPr lang="en-US" sz="1000"/>
          </a:p>
        </p:txBody>
      </p:sp>
      <p:sp>
        <p:nvSpPr>
          <p:cNvPr id="11" name="chip1-text"/>
          <p:cNvSpPr txBox="1"/>
          <p:nvPr/>
        </p:nvSpPr>
        <p:spPr>
          <a:xfrm>
            <a:off x="9144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B1D1A"/>
                </a:solidFill>
                <a:latin typeface="MiSans"/>
                <a:ea typeface="MiSans"/>
              </a:rPr>
              <a:t>Генерация контента</a:t>
            </a:r>
            <a:endParaRPr lang="en-US" sz="1250"/>
          </a:p>
        </p:txBody>
      </p:sp>
      <p:sp>
        <p:nvSpPr>
          <p:cNvPr id="12" name="arrow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33274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A7568"/>
          </a:solidFill>
          <a:ln>
            <a:noFill/>
          </a:ln>
        </p:spPr>
      </p:sp>
      <p:sp>
        <p:nvSpPr>
          <p:cNvPr id="13" name="chip2"/>
          <p:cNvSpPr/>
          <p:nvPr/>
        </p:nvSpPr>
        <p:spPr>
          <a:xfrm>
            <a:off x="3683000" y="4724400"/>
            <a:ext cx="2489200" cy="7366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E3D6C0"/>
            </a:solidFill>
          </a:ln>
        </p:spPr>
      </p:sp>
      <p:sp>
        <p:nvSpPr>
          <p:cNvPr id="14" name="chip2-num"/>
          <p:cNvSpPr txBox="1"/>
          <p:nvPr/>
        </p:nvSpPr>
        <p:spPr>
          <a:xfrm>
            <a:off x="38862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8A7568"/>
                </a:solidFill>
                <a:latin typeface="MiSans"/>
                <a:ea typeface="MiSans"/>
              </a:rPr>
              <a:t>02</a:t>
            </a:r>
            <a:endParaRPr lang="en-US" sz="1000"/>
          </a:p>
        </p:txBody>
      </p:sp>
      <p:sp>
        <p:nvSpPr>
          <p:cNvPr id="15" name="chip2-text"/>
          <p:cNvSpPr txBox="1"/>
          <p:nvPr/>
        </p:nvSpPr>
        <p:spPr>
          <a:xfrm>
            <a:off x="38862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B1D1A"/>
                </a:solidFill>
                <a:latin typeface="MiSans"/>
                <a:ea typeface="MiSans"/>
              </a:rPr>
              <a:t>Модерация ИИ</a:t>
            </a:r>
            <a:endParaRPr lang="en-US" sz="1250"/>
          </a:p>
        </p:txBody>
      </p:sp>
      <p:sp>
        <p:nvSpPr>
          <p:cNvPr id="16" name="arrow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62992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A7568"/>
          </a:solidFill>
          <a:ln>
            <a:noFill/>
          </a:ln>
        </p:spPr>
      </p:sp>
      <p:sp>
        <p:nvSpPr>
          <p:cNvPr id="17" name="chip3"/>
          <p:cNvSpPr/>
          <p:nvPr/>
        </p:nvSpPr>
        <p:spPr>
          <a:xfrm>
            <a:off x="6654800" y="4724400"/>
            <a:ext cx="2489200" cy="736600"/>
          </a:xfrm>
          <a:prstGeom prst="rect">
            <a:avLst/>
          </a:prstGeom>
          <a:solidFill>
            <a:srgbClr val="6D1F2C"/>
          </a:solidFill>
          <a:ln>
            <a:noFill/>
          </a:ln>
        </p:spPr>
      </p:sp>
      <p:sp>
        <p:nvSpPr>
          <p:cNvPr id="18" name="chip3-num"/>
          <p:cNvSpPr txBox="1"/>
          <p:nvPr/>
        </p:nvSpPr>
        <p:spPr>
          <a:xfrm>
            <a:off x="68580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F1E2D0"/>
                </a:solidFill>
                <a:latin typeface="MiSans"/>
                <a:ea typeface="MiSans"/>
              </a:rPr>
              <a:t>03</a:t>
            </a:r>
            <a:endParaRPr lang="en-US" sz="1000"/>
          </a:p>
        </p:txBody>
      </p:sp>
      <p:sp>
        <p:nvSpPr>
          <p:cNvPr id="19" name="chip3-text"/>
          <p:cNvSpPr txBox="1"/>
          <p:nvPr/>
        </p:nvSpPr>
        <p:spPr>
          <a:xfrm>
            <a:off x="6858000" y="5080000"/>
            <a:ext cx="210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F6EFE2"/>
                </a:solidFill>
                <a:latin typeface="MiSans"/>
                <a:ea typeface="MiSans"/>
              </a:rPr>
              <a:t>АВТОПУБЛИКАЦИЯ</a:t>
            </a:r>
            <a:endParaRPr lang="en-US" sz="1250"/>
          </a:p>
        </p:txBody>
      </p:sp>
      <p:sp>
        <p:nvSpPr>
          <p:cNvPr id="20" name="arrow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eyJpY29uTmFtZSI6ImZhczphcnJvdy1yaWdodCJ9</pptd:icon>
              </p:ext>
            </p:extLst>
          </p:nvPr>
        </p:nvSpPr>
        <p:spPr>
          <a:xfrm>
            <a:off x="9271000" y="497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8A7568"/>
          </a:solidFill>
          <a:ln>
            <a:noFill/>
          </a:ln>
        </p:spPr>
      </p:sp>
      <p:sp>
        <p:nvSpPr>
          <p:cNvPr id="21" name="chip4"/>
          <p:cNvSpPr/>
          <p:nvPr/>
        </p:nvSpPr>
        <p:spPr>
          <a:xfrm>
            <a:off x="9626600" y="4724400"/>
            <a:ext cx="2489200" cy="7366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E3D6C0"/>
            </a:solidFill>
          </a:ln>
        </p:spPr>
      </p:sp>
      <p:sp>
        <p:nvSpPr>
          <p:cNvPr id="22" name="chip4-num"/>
          <p:cNvSpPr txBox="1"/>
          <p:nvPr/>
        </p:nvSpPr>
        <p:spPr>
          <a:xfrm>
            <a:off x="9829800" y="4851400"/>
            <a:ext cx="38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>
                <a:solidFill>
                  <a:srgbClr val="8A7568"/>
                </a:solidFill>
                <a:latin typeface="MiSans"/>
                <a:ea typeface="MiSans"/>
              </a:rPr>
              <a:t>04</a:t>
            </a:r>
            <a:endParaRPr lang="en-US" sz="1000"/>
          </a:p>
        </p:txBody>
      </p:sp>
      <p:sp>
        <p:nvSpPr>
          <p:cNvPr id="23" name="chip4-text"/>
          <p:cNvSpPr txBox="1"/>
          <p:nvPr/>
        </p:nvSpPr>
        <p:spPr>
          <a:xfrm>
            <a:off x="9829800" y="5080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>
                <a:solidFill>
                  <a:srgbClr val="2B1D1A"/>
                </a:solidFill>
                <a:latin typeface="MiSans"/>
                <a:ea typeface="MiSans"/>
              </a:rPr>
              <a:t>Рост в нейровыдаче</a:t>
            </a:r>
            <a:endParaRPr lang="en-US" sz="1250"/>
          </a:p>
        </p:txBody>
      </p:sp>
      <p:sp>
        <p:nvSpPr>
          <p:cNvPr id="24" name="bottom-note"/>
          <p:cNvSpPr txBox="1"/>
          <p:nvPr/>
        </p:nvSpPr>
        <p:spPr>
          <a:xfrm>
            <a:off x="711200" y="5867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i="1">
                <a:solidFill>
                  <a:srgbClr val="8A7568"/>
                </a:solidFill>
                <a:latin typeface="MiSans"/>
                <a:ea typeface="MiSans"/>
              </a:rPr>
              <a:t>Ежедневное присутствие — без ежедневных усилий вашей команды</a:t>
            </a:r>
            <a:endParaRPr lang="en-US" sz="1200"/>
          </a:p>
        </p:txBody>
      </p:sp>
      <p:sp>
        <p:nvSpPr>
          <p:cNvPr id="25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8A7568"/>
                </a:solidFill>
                <a:latin typeface="MiSans"/>
                <a:ea typeface="MiSans"/>
              </a:rPr>
              <a:t>05 / 09</a:t>
            </a:r>
            <a:endParaRPr lang="en-US" sz="900"/>
          </a:p>
        </p:txBody>
      </p:sp>
      <p:pic>
        <p:nvPicPr>
          <p:cNvPr id="26" name="Рисунок 25" descr="preview">
            <a:extLst>
              <a:ext uri="{FF2B5EF4-FFF2-40B4-BE49-F238E27FC236}">
                <a16:creationId xmlns:a16="http://schemas.microsoft.com/office/drawing/2014/main" id="{89BFB6D2-898F-E9FE-6E41-A6A22FEFF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228999"/>
            <a:ext cx="2349472" cy="2530201"/>
          </a:xfrm>
          <a:prstGeom prst="rect">
            <a:avLst/>
          </a:prstGeom>
        </p:spPr>
      </p:pic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8A7568"/>
                </a:solidFill>
                <a:latin typeface="MiSans"/>
                <a:ea typeface="MiSans"/>
              </a:rPr>
              <a:t>ПРОМПТЕР · САЛОНЫ КРАСОТЫ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8128000" cy="48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2B1D1A"/>
                </a:solidFill>
                <a:latin typeface="MiSans"/>
                <a:ea typeface="MiSans"/>
              </a:rPr>
              <a:t>КАК РАБОТАЕТ ПРОМПТЕР?</a:t>
            </a:r>
            <a:endParaRPr lang="en-US" sz="2800"/>
          </a:p>
        </p:txBody>
      </p:sp>
      <p:sp>
        <p:nvSpPr>
          <p:cNvPr id="4" name="subtitle"/>
          <p:cNvSpPr txBox="1"/>
          <p:nvPr/>
        </p:nvSpPr>
        <p:spPr>
          <a:xfrm>
            <a:off x="711200" y="10668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A7568"/>
                </a:solidFill>
                <a:latin typeface="MiSans"/>
                <a:ea typeface="MiSans"/>
              </a:rPr>
              <a:t>От первого текста до записей клиенток — полный цикл без вашего участия</a:t>
            </a:r>
            <a:endParaRPr lang="en-US" sz="1300"/>
          </a:p>
        </p:txBody>
      </p:sp>
      <p:sp>
        <p:nvSpPr>
          <p:cNvPr id="5" name="s1-num"/>
          <p:cNvSpPr txBox="1"/>
          <p:nvPr/>
        </p:nvSpPr>
        <p:spPr>
          <a:xfrm>
            <a:off x="7112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C15F3C"/>
                </a:solidFill>
                <a:latin typeface="MiSans"/>
                <a:ea typeface="MiSans"/>
              </a:rPr>
              <a:t>01</a:t>
            </a:r>
            <a:endParaRPr lang="en-US" sz="3400"/>
          </a:p>
        </p:txBody>
      </p:sp>
      <p:sp>
        <p:nvSpPr>
          <p:cNvPr id="6" name="s1-line"/>
          <p:cNvSpPr/>
          <p:nvPr/>
        </p:nvSpPr>
        <p:spPr>
          <a:xfrm>
            <a:off x="711200" y="2514600"/>
            <a:ext cx="508000" cy="25400"/>
          </a:xfrm>
          <a:prstGeom prst="rect">
            <a:avLst/>
          </a:prstGeom>
          <a:solidFill>
            <a:srgbClr val="C15F3C"/>
          </a:solidFill>
          <a:ln>
            <a:noFill/>
          </a:ln>
        </p:spPr>
      </p:sp>
      <p:sp>
        <p:nvSpPr>
          <p:cNvPr id="7" name="s1-title"/>
          <p:cNvSpPr txBox="1"/>
          <p:nvPr/>
        </p:nvSpPr>
        <p:spPr>
          <a:xfrm>
            <a:off x="7112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2B1D1A"/>
                </a:solidFill>
                <a:latin typeface="MiSans"/>
                <a:ea typeface="MiSans"/>
              </a:rPr>
              <a:t>КОНТЕНТ</a:t>
            </a:r>
            <a:endParaRPr lang="en-US" sz="1450"/>
          </a:p>
        </p:txBody>
      </p:sp>
      <p:sp>
        <p:nvSpPr>
          <p:cNvPr id="8" name="s1-desc"/>
          <p:cNvSpPr txBox="1"/>
          <p:nvPr/>
        </p:nvSpPr>
        <p:spPr>
          <a:xfrm>
            <a:off x="7112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Платформа изучает услуги, мастеров и атмосферу салона, создаёт тексты и визуал</a:t>
            </a:r>
            <a:endParaRPr lang="en-US" sz="1100"/>
          </a:p>
        </p:txBody>
      </p:sp>
      <p:sp>
        <p:nvSpPr>
          <p:cNvPr id="9" name="s2-num"/>
          <p:cNvSpPr txBox="1"/>
          <p:nvPr/>
        </p:nvSpPr>
        <p:spPr>
          <a:xfrm>
            <a:off x="29464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6D1F2C"/>
                </a:solidFill>
                <a:latin typeface="MiSans"/>
                <a:ea typeface="MiSans"/>
              </a:rPr>
              <a:t>02</a:t>
            </a:r>
            <a:endParaRPr lang="en-US" sz="3400"/>
          </a:p>
        </p:txBody>
      </p:sp>
      <p:sp>
        <p:nvSpPr>
          <p:cNvPr id="10" name="s2-line"/>
          <p:cNvSpPr/>
          <p:nvPr/>
        </p:nvSpPr>
        <p:spPr>
          <a:xfrm>
            <a:off x="2946400" y="2514600"/>
            <a:ext cx="508000" cy="25400"/>
          </a:xfrm>
          <a:prstGeom prst="rect">
            <a:avLst/>
          </a:prstGeom>
          <a:solidFill>
            <a:srgbClr val="6D1F2C"/>
          </a:solidFill>
          <a:ln>
            <a:noFill/>
          </a:ln>
        </p:spPr>
      </p:sp>
      <p:sp>
        <p:nvSpPr>
          <p:cNvPr id="11" name="s2-title"/>
          <p:cNvSpPr txBox="1"/>
          <p:nvPr/>
        </p:nvSpPr>
        <p:spPr>
          <a:xfrm>
            <a:off x="29464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6D1F2C"/>
                </a:solidFill>
                <a:latin typeface="MiSans"/>
                <a:ea typeface="MiSans"/>
              </a:rPr>
              <a:t>АВТО-ПУБЛИКАЦИЯ</a:t>
            </a:r>
            <a:endParaRPr lang="en-US" sz="1450"/>
          </a:p>
        </p:txBody>
      </p:sp>
      <p:sp>
        <p:nvSpPr>
          <p:cNvPr id="12" name="s2-desc"/>
          <p:cNvSpPr txBox="1"/>
          <p:nvPr/>
        </p:nvSpPr>
        <p:spPr>
          <a:xfrm>
            <a:off x="29464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Материалы автоматически выходят на шести площадках 5 дней в неделю</a:t>
            </a:r>
            <a:endParaRPr lang="en-US" sz="1100"/>
          </a:p>
        </p:txBody>
      </p:sp>
      <p:sp>
        <p:nvSpPr>
          <p:cNvPr id="13" name="s3-num"/>
          <p:cNvSpPr txBox="1"/>
          <p:nvPr/>
        </p:nvSpPr>
        <p:spPr>
          <a:xfrm>
            <a:off x="51816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C15F3C"/>
                </a:solidFill>
                <a:latin typeface="MiSans"/>
                <a:ea typeface="MiSans"/>
              </a:rPr>
              <a:t>03</a:t>
            </a:r>
            <a:endParaRPr lang="en-US" sz="3400"/>
          </a:p>
        </p:txBody>
      </p:sp>
      <p:sp>
        <p:nvSpPr>
          <p:cNvPr id="14" name="s3-line"/>
          <p:cNvSpPr/>
          <p:nvPr/>
        </p:nvSpPr>
        <p:spPr>
          <a:xfrm>
            <a:off x="5181600" y="2514600"/>
            <a:ext cx="508000" cy="25400"/>
          </a:xfrm>
          <a:prstGeom prst="rect">
            <a:avLst/>
          </a:prstGeom>
          <a:solidFill>
            <a:srgbClr val="C15F3C"/>
          </a:solidFill>
          <a:ln>
            <a:noFill/>
          </a:ln>
        </p:spPr>
      </p:sp>
      <p:sp>
        <p:nvSpPr>
          <p:cNvPr id="15" name="s3-title"/>
          <p:cNvSpPr txBox="1"/>
          <p:nvPr/>
        </p:nvSpPr>
        <p:spPr>
          <a:xfrm>
            <a:off x="51816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2B1D1A"/>
                </a:solidFill>
                <a:latin typeface="MiSans"/>
                <a:ea typeface="MiSans"/>
              </a:rPr>
              <a:t>ИНДЕКСАЦИЯ</a:t>
            </a:r>
            <a:endParaRPr lang="en-US" sz="1450"/>
          </a:p>
        </p:txBody>
      </p:sp>
      <p:sp>
        <p:nvSpPr>
          <p:cNvPr id="16" name="s3-desc"/>
          <p:cNvSpPr txBox="1"/>
          <p:nvPr/>
        </p:nvSpPr>
        <p:spPr>
          <a:xfrm>
            <a:off x="51816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Поисковики и нейросети фиксируют новый контент о вашем салоне</a:t>
            </a:r>
            <a:endParaRPr lang="en-US" sz="1100"/>
          </a:p>
        </p:txBody>
      </p:sp>
      <p:sp>
        <p:nvSpPr>
          <p:cNvPr id="17" name="s4-num"/>
          <p:cNvSpPr txBox="1"/>
          <p:nvPr/>
        </p:nvSpPr>
        <p:spPr>
          <a:xfrm>
            <a:off x="74168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C15F3C"/>
                </a:solidFill>
                <a:latin typeface="MiSans"/>
                <a:ea typeface="MiSans"/>
              </a:rPr>
              <a:t>04</a:t>
            </a:r>
            <a:endParaRPr lang="en-US" sz="3400"/>
          </a:p>
        </p:txBody>
      </p:sp>
      <p:sp>
        <p:nvSpPr>
          <p:cNvPr id="18" name="s4-line"/>
          <p:cNvSpPr/>
          <p:nvPr/>
        </p:nvSpPr>
        <p:spPr>
          <a:xfrm>
            <a:off x="7416800" y="2514600"/>
            <a:ext cx="508000" cy="25400"/>
          </a:xfrm>
          <a:prstGeom prst="rect">
            <a:avLst/>
          </a:prstGeom>
          <a:solidFill>
            <a:srgbClr val="C15F3C"/>
          </a:solidFill>
          <a:ln>
            <a:noFill/>
          </a:ln>
        </p:spPr>
      </p:sp>
      <p:sp>
        <p:nvSpPr>
          <p:cNvPr id="19" name="s4-title"/>
          <p:cNvSpPr txBox="1"/>
          <p:nvPr/>
        </p:nvSpPr>
        <p:spPr>
          <a:xfrm>
            <a:off x="74168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2B1D1A"/>
                </a:solidFill>
                <a:latin typeface="MiSans"/>
                <a:ea typeface="MiSans"/>
              </a:rPr>
              <a:t>ПРИСУТСТВИЕ</a:t>
            </a:r>
            <a:endParaRPr lang="en-US" sz="1450"/>
          </a:p>
        </p:txBody>
      </p:sp>
      <p:sp>
        <p:nvSpPr>
          <p:cNvPr id="20" name="s4-desc"/>
          <p:cNvSpPr txBox="1"/>
          <p:nvPr/>
        </p:nvSpPr>
        <p:spPr>
          <a:xfrm>
            <a:off x="74168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Бренд появляется в ответах нейровыдачи и в выдаче поисковых систем</a:t>
            </a:r>
            <a:endParaRPr lang="en-US" sz="1100"/>
          </a:p>
        </p:txBody>
      </p:sp>
      <p:sp>
        <p:nvSpPr>
          <p:cNvPr id="21" name="s5-num"/>
          <p:cNvSpPr txBox="1"/>
          <p:nvPr/>
        </p:nvSpPr>
        <p:spPr>
          <a:xfrm>
            <a:off x="9652000" y="1879600"/>
            <a:ext cx="10160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400" b="1">
                <a:solidFill>
                  <a:srgbClr val="C15F3C"/>
                </a:solidFill>
                <a:latin typeface="MiSans"/>
                <a:ea typeface="MiSans"/>
              </a:rPr>
              <a:t>05</a:t>
            </a:r>
            <a:endParaRPr lang="en-US" sz="3400"/>
          </a:p>
        </p:txBody>
      </p:sp>
      <p:sp>
        <p:nvSpPr>
          <p:cNvPr id="22" name="s5-line"/>
          <p:cNvSpPr/>
          <p:nvPr/>
        </p:nvSpPr>
        <p:spPr>
          <a:xfrm>
            <a:off x="9652000" y="2514600"/>
            <a:ext cx="508000" cy="25400"/>
          </a:xfrm>
          <a:prstGeom prst="rect">
            <a:avLst/>
          </a:prstGeom>
          <a:solidFill>
            <a:srgbClr val="C15F3C"/>
          </a:solidFill>
          <a:ln>
            <a:noFill/>
          </a:ln>
        </p:spPr>
      </p:sp>
      <p:sp>
        <p:nvSpPr>
          <p:cNvPr id="23" name="s5-title"/>
          <p:cNvSpPr txBox="1"/>
          <p:nvPr/>
        </p:nvSpPr>
        <p:spPr>
          <a:xfrm>
            <a:off x="9652000" y="2692400"/>
            <a:ext cx="1981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5000"/>
              </a:lnSpc>
            </a:pPr>
            <a:r>
              <a:rPr lang="en-US" sz="1450" b="1">
                <a:solidFill>
                  <a:srgbClr val="2B1D1A"/>
                </a:solidFill>
                <a:latin typeface="MiSans"/>
                <a:ea typeface="MiSans"/>
              </a:rPr>
              <a:t>ДОВЕРИЕ И ЗАПИСИ</a:t>
            </a:r>
            <a:endParaRPr lang="en-US" sz="1450"/>
          </a:p>
        </p:txBody>
      </p:sp>
      <p:sp>
        <p:nvSpPr>
          <p:cNvPr id="24" name="s5-desc"/>
          <p:cNvSpPr txBox="1"/>
          <p:nvPr/>
        </p:nvSpPr>
        <p:spPr>
          <a:xfrm>
            <a:off x="9652000" y="3276600"/>
            <a:ext cx="1981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>
                <a:solidFill>
                  <a:srgbClr val="8A7568"/>
                </a:solidFill>
                <a:latin typeface="MiSans"/>
                <a:ea typeface="MiSans"/>
              </a:rPr>
              <a:t>Клиентки находят вас, доверяют рекомендации нейросети и записываются</a:t>
            </a:r>
            <a:endParaRPr lang="en-US" sz="1100"/>
          </a:p>
        </p:txBody>
      </p:sp>
      <p:sp>
        <p:nvSpPr>
          <p:cNvPr id="25" name="strip"/>
          <p:cNvSpPr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solidFill>
            <a:srgbClr val="6D1F2C"/>
          </a:solidFill>
          <a:ln>
            <a:noFill/>
          </a:ln>
        </p:spPr>
      </p:sp>
      <p:sp>
        <p:nvSpPr>
          <p:cNvPr id="26" name="strip-text"/>
          <p:cNvSpPr txBox="1"/>
          <p:nvPr/>
        </p:nvSpPr>
        <p:spPr>
          <a:xfrm>
            <a:off x="711200" y="5689600"/>
            <a:ext cx="107696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>
                <a:solidFill>
                  <a:srgbClr val="F6EFE2"/>
                </a:solidFill>
                <a:latin typeface="MiSans"/>
                <a:ea typeface="MiSans"/>
              </a:rPr>
              <a:t>Система работает 24/7: вы занимаетесь клиентками — Промптер занимается продвижением</a:t>
            </a:r>
            <a:endParaRPr lang="en-US" sz="140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8A7568"/>
                </a:solidFill>
                <a:latin typeface="MiSans"/>
                <a:ea typeface="MiSans"/>
              </a:rPr>
              <a:t>06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pa"/>
          <p:cNvPicPr/>
          <p:nvPr/>
        </p:nvPicPr>
        <p:blipFill>
          <a:blip r:embed="rId2"/>
          <a:srcRect l="25309" r="25309"/>
          <a:stretch>
            <a:fillRect/>
          </a:stretch>
        </p:blipFill>
        <p:spPr>
          <a:xfrm>
            <a:off x="0" y="0"/>
            <a:ext cx="5080000" cy="6858000"/>
          </a:xfrm>
          <a:prstGeom prst="rect">
            <a:avLst/>
          </a:prstGeom>
          <a:ln>
            <a:noFill/>
          </a:ln>
        </p:spPr>
      </p:pic>
      <p:sp>
        <p:nvSpPr>
          <p:cNvPr id="3" name="spa-overlay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gradFill rotWithShape="1">
            <a:gsLst>
              <a:gs pos="0">
                <a:srgbClr val="F6EFE2">
                  <a:alpha val="0"/>
                </a:srgbClr>
              </a:gs>
              <a:gs pos="100000">
                <a:srgbClr val="F6EFE2">
                  <a:alpha val="90196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8A7568"/>
                </a:solidFill>
                <a:latin typeface="MiSans"/>
                <a:ea typeface="MiSans"/>
              </a:rPr>
              <a:t>ПРОМПТЕР · САЛОНЫ КРАСОТЫ</a:t>
            </a:r>
            <a:endParaRPr lang="en-US" sz="900"/>
          </a:p>
        </p:txBody>
      </p:sp>
      <p:sp>
        <p:nvSpPr>
          <p:cNvPr id="5" name="title"/>
          <p:cNvSpPr txBox="1"/>
          <p:nvPr/>
        </p:nvSpPr>
        <p:spPr>
          <a:xfrm>
            <a:off x="5588000" y="609600"/>
            <a:ext cx="589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2B1D1A"/>
                </a:solidFill>
                <a:latin typeface="MiSans"/>
                <a:ea typeface="MiSans"/>
              </a:rPr>
              <a:t>КЛЮЧЕВЫЕ ВЫГОДЫ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2B1D1A"/>
                </a:solidFill>
                <a:latin typeface="MiSans"/>
                <a:ea typeface="MiSans"/>
              </a:rPr>
              <a:t>ДЛЯ ВАШЕГО САЛОНА</a:t>
            </a:r>
            <a:endParaRPr lang="en-US" sz="2500"/>
          </a:p>
        </p:txBody>
      </p:sp>
      <p:sp>
        <p:nvSpPr>
          <p:cNvPr id="6" name="b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eyJpY29uTmFtZSI6ImZhczp3YWxsZXQifQ</pptd:icon>
              </p:ext>
            </p:extLst>
          </p:nvPr>
        </p:nvSpPr>
        <p:spPr>
          <a:xfrm>
            <a:off x="5588000" y="177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32"/>
                </a:moveTo>
                <a:cubicBezTo>
                  <a:pt x="29" y="32"/>
                  <a:pt x="0" y="61"/>
                  <a:pt x="0" y="96"/>
                </a:cubicBezTo>
                <a:lnTo>
                  <a:pt x="0" y="384"/>
                </a:lnTo>
                <a:cubicBezTo>
                  <a:pt x="0" y="419"/>
                  <a:pt x="29" y="448"/>
                  <a:pt x="64" y="448"/>
                </a:cubicBezTo>
                <a:lnTo>
                  <a:pt x="448" y="448"/>
                </a:lnTo>
                <a:cubicBezTo>
                  <a:pt x="483" y="448"/>
                  <a:pt x="512" y="419"/>
                  <a:pt x="512" y="384"/>
                </a:cubicBezTo>
                <a:lnTo>
                  <a:pt x="512" y="192"/>
                </a:lnTo>
                <a:cubicBezTo>
                  <a:pt x="512" y="157"/>
                  <a:pt x="483" y="128"/>
                  <a:pt x="448" y="128"/>
                </a:cubicBezTo>
                <a:lnTo>
                  <a:pt x="72" y="128"/>
                </a:lnTo>
                <a:cubicBezTo>
                  <a:pt x="59" y="128"/>
                  <a:pt x="48" y="117"/>
                  <a:pt x="48" y="104"/>
                </a:cubicBezTo>
                <a:cubicBezTo>
                  <a:pt x="48" y="91"/>
                  <a:pt x="59" y="80"/>
                  <a:pt x="72" y="80"/>
                </a:cubicBezTo>
                <a:lnTo>
                  <a:pt x="456" y="80"/>
                </a:lnTo>
                <a:cubicBezTo>
                  <a:pt x="469" y="80"/>
                  <a:pt x="480" y="69"/>
                  <a:pt x="480" y="56"/>
                </a:cubicBezTo>
                <a:cubicBezTo>
                  <a:pt x="480" y="43"/>
                  <a:pt x="469" y="32"/>
                  <a:pt x="456" y="32"/>
                </a:cubicBezTo>
                <a:lnTo>
                  <a:pt x="64" y="32"/>
                </a:lnTo>
                <a:close/>
                <a:moveTo>
                  <a:pt x="416" y="256"/>
                </a:moveTo>
                <a:cubicBezTo>
                  <a:pt x="434" y="256"/>
                  <a:pt x="448" y="270"/>
                  <a:pt x="448" y="288"/>
                </a:cubicBezTo>
                <a:cubicBezTo>
                  <a:pt x="448" y="306"/>
                  <a:pt x="434" y="320"/>
                  <a:pt x="416" y="320"/>
                </a:cubicBezTo>
                <a:cubicBezTo>
                  <a:pt x="398" y="320"/>
                  <a:pt x="384" y="306"/>
                  <a:pt x="384" y="288"/>
                </a:cubicBezTo>
                <a:cubicBezTo>
                  <a:pt x="384" y="270"/>
                  <a:pt x="398" y="256"/>
                  <a:pt x="416" y="256"/>
                </a:cubicBezTo>
                <a:close/>
              </a:path>
            </a:pathLst>
          </a:custGeom>
          <a:solidFill>
            <a:srgbClr val="6D1F2C"/>
          </a:solidFill>
          <a:ln>
            <a:noFill/>
          </a:ln>
        </p:spPr>
      </p:sp>
      <p:sp>
        <p:nvSpPr>
          <p:cNvPr id="7" name="b1-title"/>
          <p:cNvSpPr txBox="1"/>
          <p:nvPr/>
        </p:nvSpPr>
        <p:spPr>
          <a:xfrm>
            <a:off x="6070600" y="17780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Экономия времени и денег</a:t>
            </a:r>
            <a:endParaRPr lang="en-US" sz="1500"/>
          </a:p>
        </p:txBody>
      </p:sp>
      <p:sp>
        <p:nvSpPr>
          <p:cNvPr id="8" name="b1-desc"/>
          <p:cNvSpPr txBox="1"/>
          <p:nvPr/>
        </p:nvSpPr>
        <p:spPr>
          <a:xfrm>
            <a:off x="6070600" y="20828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Не нужны SEO-агентство, копирайтер и дизайнер — полный цикл выполняет система</a:t>
            </a:r>
            <a:endParaRPr lang="en-US" sz="1200"/>
          </a:p>
        </p:txBody>
      </p:sp>
      <p:sp>
        <p:nvSpPr>
          <p:cNvPr id="9" name="b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eyJpY29uTmFtZSI6ImZhczpjcm93biJ9</pptd:icon>
              </p:ext>
            </p:extLst>
          </p:nvPr>
        </p:nvSpPr>
        <p:spPr>
          <a:xfrm>
            <a:off x="55880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13" y="87"/>
                </a:moveTo>
                <a:cubicBezTo>
                  <a:pt x="322" y="80"/>
                  <a:pt x="328" y="69"/>
                  <a:pt x="328" y="56"/>
                </a:cubicBezTo>
                <a:cubicBezTo>
                  <a:pt x="328" y="34"/>
                  <a:pt x="310" y="16"/>
                  <a:pt x="288" y="16"/>
                </a:cubicBezTo>
                <a:cubicBezTo>
                  <a:pt x="266" y="16"/>
                  <a:pt x="248" y="34"/>
                  <a:pt x="248" y="56"/>
                </a:cubicBezTo>
                <a:cubicBezTo>
                  <a:pt x="248" y="69"/>
                  <a:pt x="254" y="80"/>
                  <a:pt x="263" y="87"/>
                </a:cubicBezTo>
                <a:lnTo>
                  <a:pt x="195" y="195"/>
                </a:lnTo>
                <a:cubicBezTo>
                  <a:pt x="185" y="211"/>
                  <a:pt x="163" y="214"/>
                  <a:pt x="148" y="203"/>
                </a:cubicBezTo>
                <a:lnTo>
                  <a:pt x="89" y="159"/>
                </a:lnTo>
                <a:cubicBezTo>
                  <a:pt x="93" y="152"/>
                  <a:pt x="96" y="144"/>
                  <a:pt x="96" y="136"/>
                </a:cubicBezTo>
                <a:cubicBezTo>
                  <a:pt x="96" y="114"/>
                  <a:pt x="78" y="96"/>
                  <a:pt x="56" y="96"/>
                </a:cubicBezTo>
                <a:cubicBezTo>
                  <a:pt x="34" y="96"/>
                  <a:pt x="16" y="114"/>
                  <a:pt x="16" y="136"/>
                </a:cubicBezTo>
                <a:cubicBezTo>
                  <a:pt x="16" y="158"/>
                  <a:pt x="34" y="176"/>
                  <a:pt x="55" y="176"/>
                </a:cubicBezTo>
                <a:lnTo>
                  <a:pt x="88" y="394"/>
                </a:lnTo>
                <a:cubicBezTo>
                  <a:pt x="93" y="425"/>
                  <a:pt x="119" y="448"/>
                  <a:pt x="151" y="448"/>
                </a:cubicBezTo>
                <a:lnTo>
                  <a:pt x="425" y="448"/>
                </a:lnTo>
                <a:cubicBezTo>
                  <a:pt x="457" y="448"/>
                  <a:pt x="484" y="425"/>
                  <a:pt x="488" y="394"/>
                </a:cubicBezTo>
                <a:lnTo>
                  <a:pt x="521" y="176"/>
                </a:lnTo>
                <a:cubicBezTo>
                  <a:pt x="543" y="176"/>
                  <a:pt x="560" y="158"/>
                  <a:pt x="560" y="136"/>
                </a:cubicBezTo>
                <a:cubicBezTo>
                  <a:pt x="560" y="114"/>
                  <a:pt x="542" y="96"/>
                  <a:pt x="520" y="96"/>
                </a:cubicBezTo>
                <a:cubicBezTo>
                  <a:pt x="498" y="96"/>
                  <a:pt x="480" y="114"/>
                  <a:pt x="480" y="136"/>
                </a:cubicBezTo>
                <a:cubicBezTo>
                  <a:pt x="480" y="144"/>
                  <a:pt x="483" y="152"/>
                  <a:pt x="487" y="159"/>
                </a:cubicBezTo>
                <a:lnTo>
                  <a:pt x="428" y="203"/>
                </a:lnTo>
                <a:cubicBezTo>
                  <a:pt x="413" y="214"/>
                  <a:pt x="392" y="211"/>
                  <a:pt x="382" y="195"/>
                </a:cubicBezTo>
                <a:lnTo>
                  <a:pt x="313" y="87"/>
                </a:lnTo>
                <a:close/>
              </a:path>
            </a:pathLst>
          </a:custGeom>
          <a:solidFill>
            <a:srgbClr val="6D1F2C"/>
          </a:solidFill>
          <a:ln>
            <a:noFill/>
          </a:ln>
        </p:spPr>
      </p:sp>
      <p:sp>
        <p:nvSpPr>
          <p:cNvPr id="10" name="b2-title"/>
          <p:cNvSpPr txBox="1"/>
          <p:nvPr/>
        </p:nvSpPr>
        <p:spPr>
          <a:xfrm>
            <a:off x="6070600" y="28194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Доминирование в нише</a:t>
            </a:r>
            <a:endParaRPr lang="en-US" sz="1500"/>
          </a:p>
        </p:txBody>
      </p:sp>
      <p:sp>
        <p:nvSpPr>
          <p:cNvPr id="11" name="b2-desc"/>
          <p:cNvSpPr txBox="1"/>
          <p:nvPr/>
        </p:nvSpPr>
        <p:spPr>
          <a:xfrm>
            <a:off x="6070600" y="31242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Салон становится главным ответом нейросети по запросам вашего района и города</a:t>
            </a:r>
            <a:endParaRPr lang="en-US" sz="1200"/>
          </a:p>
        </p:txBody>
      </p:sp>
      <p:sp>
        <p:nvSpPr>
          <p:cNvPr id="12" name="b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eyJpY29uTmFtZSI6ImZhczp3YW5kLW1hZ2ljLXNwYXJrbGVzIn0</pptd:icon>
              </p:ext>
            </p:extLst>
          </p:nvPr>
        </p:nvSpPr>
        <p:spPr>
          <a:xfrm>
            <a:off x="5588000" y="3860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6D1F2C"/>
          </a:solidFill>
          <a:ln>
            <a:noFill/>
          </a:ln>
        </p:spPr>
      </p:sp>
      <p:sp>
        <p:nvSpPr>
          <p:cNvPr id="13" name="b3-title"/>
          <p:cNvSpPr txBox="1"/>
          <p:nvPr/>
        </p:nvSpPr>
        <p:spPr>
          <a:xfrm>
            <a:off x="6070600" y="38608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Присутствие в нейровыдаче</a:t>
            </a:r>
            <a:endParaRPr lang="en-US" sz="1500"/>
          </a:p>
        </p:txBody>
      </p:sp>
      <p:sp>
        <p:nvSpPr>
          <p:cNvPr id="14" name="b3-desc"/>
          <p:cNvSpPr txBox="1"/>
          <p:nvPr/>
        </p:nvSpPr>
        <p:spPr>
          <a:xfrm>
            <a:off x="6070600" y="41656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Вас называют, когда клиентка спрашивает, куда пойти на процедуры, — ежедневно и без рекламы</a:t>
            </a:r>
            <a:endParaRPr lang="en-US" sz="1200"/>
          </a:p>
        </p:txBody>
      </p:sp>
      <p:sp>
        <p:nvSpPr>
          <p:cNvPr id="15" name="b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eyJpY29uTmFtZSI6ImZhczpzaGllbGQtaGFsdmVkIn0</pptd:icon>
              </p:ext>
            </p:extLst>
          </p:nvPr>
        </p:nvSpPr>
        <p:spPr>
          <a:xfrm>
            <a:off x="55880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61" y="0"/>
                  <a:pt x="265" y="1"/>
                  <a:pt x="269" y="3"/>
                </a:cubicBezTo>
                <a:lnTo>
                  <a:pt x="458" y="83"/>
                </a:lnTo>
                <a:cubicBezTo>
                  <a:pt x="480" y="92"/>
                  <a:pt x="496" y="114"/>
                  <a:pt x="496" y="140"/>
                </a:cubicBezTo>
                <a:cubicBezTo>
                  <a:pt x="496" y="239"/>
                  <a:pt x="455" y="421"/>
                  <a:pt x="283" y="503"/>
                </a:cubicBezTo>
                <a:cubicBezTo>
                  <a:pt x="266" y="511"/>
                  <a:pt x="246" y="511"/>
                  <a:pt x="230" y="503"/>
                </a:cubicBezTo>
                <a:cubicBezTo>
                  <a:pt x="57" y="421"/>
                  <a:pt x="17" y="239"/>
                  <a:pt x="16" y="140"/>
                </a:cubicBezTo>
                <a:cubicBezTo>
                  <a:pt x="16" y="114"/>
                  <a:pt x="32" y="92"/>
                  <a:pt x="54" y="83"/>
                </a:cubicBezTo>
                <a:lnTo>
                  <a:pt x="243" y="3"/>
                </a:lnTo>
                <a:cubicBezTo>
                  <a:pt x="247" y="1"/>
                  <a:pt x="251" y="0"/>
                  <a:pt x="256" y="0"/>
                </a:cubicBezTo>
                <a:close/>
                <a:moveTo>
                  <a:pt x="256" y="67"/>
                </a:moveTo>
                <a:lnTo>
                  <a:pt x="256" y="445"/>
                </a:lnTo>
                <a:cubicBezTo>
                  <a:pt x="394" y="378"/>
                  <a:pt x="431" y="230"/>
                  <a:pt x="432" y="142"/>
                </a:cubicBezTo>
                <a:lnTo>
                  <a:pt x="256" y="67"/>
                </a:lnTo>
                <a:lnTo>
                  <a:pt x="256" y="67"/>
                </a:lnTo>
                <a:close/>
              </a:path>
            </a:pathLst>
          </a:custGeom>
          <a:solidFill>
            <a:srgbClr val="6D1F2C"/>
          </a:solidFill>
          <a:ln>
            <a:noFill/>
          </a:ln>
        </p:spPr>
      </p:sp>
      <p:sp>
        <p:nvSpPr>
          <p:cNvPr id="16" name="b4-title"/>
          <p:cNvSpPr txBox="1"/>
          <p:nvPr/>
        </p:nvSpPr>
        <p:spPr>
          <a:xfrm>
            <a:off x="6070600" y="4902200"/>
            <a:ext cx="5410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Устойчивость к конкурентам</a:t>
            </a:r>
            <a:endParaRPr lang="en-US" sz="1500"/>
          </a:p>
        </p:txBody>
      </p:sp>
      <p:sp>
        <p:nvSpPr>
          <p:cNvPr id="17" name="b4-desc"/>
          <p:cNvSpPr txBox="1"/>
          <p:nvPr/>
        </p:nvSpPr>
        <p:spPr>
          <a:xfrm>
            <a:off x="6070600" y="5207000"/>
            <a:ext cx="5410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Цифровой след наращивается каждый день — его сложно скопировать конкурентам</a:t>
            </a:r>
            <a:endParaRPr lang="en-US" sz="1200"/>
          </a:p>
        </p:txBody>
      </p:sp>
      <p:sp>
        <p:nvSpPr>
          <p:cNvPr id="20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8A7568"/>
                </a:solidFill>
                <a:latin typeface="MiSans"/>
                <a:ea typeface="MiSans"/>
              </a:rPr>
              <a:t>07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8A7568"/>
                </a:solidFill>
                <a:latin typeface="MiSans"/>
                <a:ea typeface="MiSans"/>
              </a:rPr>
              <a:t>ПРОМПТЕР · САЛОНЫ КРАСОТЫ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5080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2B1D1A"/>
                </a:solidFill>
                <a:latin typeface="MiSans"/>
                <a:ea typeface="MiSans"/>
              </a:rPr>
              <a:t>КОМПЛЕКСНОЕ РЕШЕНИЕ ПО ФИКСИРОВАННОЙ ЦЕНЕ</a:t>
            </a:r>
            <a:endParaRPr lang="en-US" sz="2600"/>
          </a:p>
        </p:txBody>
      </p:sp>
      <p:sp>
        <p:nvSpPr>
          <p:cNvPr id="4" name="price-label"/>
          <p:cNvSpPr txBox="1"/>
          <p:nvPr/>
        </p:nvSpPr>
        <p:spPr>
          <a:xfrm>
            <a:off x="711200" y="2078764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kern="0" spc="200">
                <a:solidFill>
                  <a:srgbClr val="8A7568"/>
                </a:solidFill>
                <a:latin typeface="MiSans"/>
                <a:ea typeface="MiSans"/>
              </a:rPr>
              <a:t>СТОИМОСТЬ СЕРВИСА</a:t>
            </a:r>
            <a:endParaRPr lang="en-US" sz="1100"/>
          </a:p>
        </p:txBody>
      </p:sp>
      <p:sp>
        <p:nvSpPr>
          <p:cNvPr id="5" name="price-big"/>
          <p:cNvSpPr txBox="1"/>
          <p:nvPr/>
        </p:nvSpPr>
        <p:spPr>
          <a:xfrm>
            <a:off x="711200" y="2358164"/>
            <a:ext cx="5334000" cy="736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6D1F2C"/>
                </a:solidFill>
                <a:latin typeface="MiSans"/>
                <a:ea typeface="MiSans"/>
              </a:rPr>
              <a:t>От 29500 ₽</a:t>
            </a:r>
            <a:r>
              <a:rPr lang="en-US" sz="1600">
                <a:solidFill>
                  <a:srgbClr val="8A7568"/>
                </a:solidFill>
                <a:latin typeface="MiSans"/>
                <a:ea typeface="MiSans"/>
              </a:rPr>
              <a:t>  /месяц</a:t>
            </a:r>
            <a:endParaRPr lang="en-US" sz="1600"/>
          </a:p>
        </p:txBody>
      </p:sp>
      <p:sp>
        <p:nvSpPr>
          <p:cNvPr id="6" name="price-instead"/>
          <p:cNvSpPr txBox="1"/>
          <p:nvPr/>
        </p:nvSpPr>
        <p:spPr>
          <a:xfrm>
            <a:off x="711200" y="3247164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2B1D1A"/>
                </a:solidFill>
                <a:latin typeface="MiSans"/>
                <a:ea typeface="MiSans"/>
              </a:rPr>
              <a:t>вместо </a:t>
            </a:r>
            <a:r>
              <a:rPr lang="en-US" sz="1400" b="1">
                <a:solidFill>
                  <a:srgbClr val="C15F3C"/>
                </a:solidFill>
                <a:latin typeface="MiSans"/>
                <a:ea typeface="MiSans"/>
              </a:rPr>
              <a:t>100 000 ₽/мес</a:t>
            </a:r>
            <a:r>
              <a:rPr lang="en-US" sz="1400">
                <a:solidFill>
                  <a:srgbClr val="2B1D1A"/>
                </a:solidFill>
                <a:latin typeface="MiSans"/>
                <a:ea typeface="MiSans"/>
              </a:rPr>
              <a:t> на SEO-агентство</a:t>
            </a:r>
            <a:endParaRPr lang="en-US" sz="1400"/>
          </a:p>
        </p:txBody>
      </p:sp>
      <p:sp>
        <p:nvSpPr>
          <p:cNvPr id="7" name="price-save"/>
          <p:cNvSpPr txBox="1"/>
          <p:nvPr/>
        </p:nvSpPr>
        <p:spPr>
          <a:xfrm>
            <a:off x="711200" y="3628164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2B1D1A"/>
                </a:solidFill>
                <a:latin typeface="MiSans"/>
                <a:ea typeface="MiSans"/>
              </a:rPr>
              <a:t>Экономия — не менее </a:t>
            </a:r>
            <a:r>
              <a:rPr lang="en-US" sz="1400" b="1">
                <a:solidFill>
                  <a:srgbClr val="C15F3C"/>
                </a:solidFill>
                <a:latin typeface="MiSans"/>
                <a:ea typeface="MiSans"/>
              </a:rPr>
              <a:t>70 000 ₽/мес</a:t>
            </a:r>
            <a:endParaRPr lang="en-US" sz="1400"/>
          </a:p>
        </p:txBody>
      </p:sp>
      <p:sp>
        <p:nvSpPr>
          <p:cNvPr id="10" name="price-note"/>
          <p:cNvSpPr txBox="1"/>
          <p:nvPr/>
        </p:nvSpPr>
        <p:spPr>
          <a:xfrm>
            <a:off x="711200" y="4948964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i="1">
                <a:solidFill>
                  <a:srgbClr val="8A7568"/>
                </a:solidFill>
                <a:latin typeface="MiSans"/>
                <a:ea typeface="MiSans"/>
              </a:rPr>
              <a:t>За подробностями и подключением резидентов Москвы и МО — +7 906 758-77-77</a:t>
            </a:r>
            <a:endParaRPr lang="en-US" sz="1100"/>
          </a:p>
        </p:txBody>
      </p:sp>
      <p:sp>
        <p:nvSpPr>
          <p:cNvPr id="11" name="divider"/>
          <p:cNvSpPr/>
          <p:nvPr/>
        </p:nvSpPr>
        <p:spPr>
          <a:xfrm>
            <a:off x="6299200" y="2078764"/>
            <a:ext cx="12700" cy="3810000"/>
          </a:xfrm>
          <a:prstGeom prst="rect">
            <a:avLst/>
          </a:prstGeom>
          <a:solidFill>
            <a:srgbClr val="E3D6C0"/>
          </a:solidFill>
          <a:ln>
            <a:noFill/>
          </a:ln>
        </p:spPr>
      </p:sp>
      <p:sp>
        <p:nvSpPr>
          <p:cNvPr id="12" name="incl-header"/>
          <p:cNvSpPr txBox="1"/>
          <p:nvPr/>
        </p:nvSpPr>
        <p:spPr>
          <a:xfrm>
            <a:off x="6756400" y="1346200"/>
            <a:ext cx="4724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kern="0" spc="100">
                <a:solidFill>
                  <a:srgbClr val="2B1D1A"/>
                </a:solidFill>
                <a:latin typeface="MiSans"/>
                <a:ea typeface="MiSans"/>
              </a:rPr>
              <a:t>ЧТО ВХОДИТ В ПОДПИСКУ</a:t>
            </a:r>
            <a:endParaRPr lang="en-US" sz="1500"/>
          </a:p>
        </p:txBody>
      </p:sp>
      <p:sp>
        <p:nvSpPr>
          <p:cNvPr id="13" name="f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6756400" y="185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4" name="f1-title"/>
          <p:cNvSpPr txBox="1"/>
          <p:nvPr/>
        </p:nvSpPr>
        <p:spPr>
          <a:xfrm>
            <a:off x="7137400" y="18288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2B1D1A"/>
                </a:solidFill>
                <a:latin typeface="MiSans"/>
                <a:ea typeface="MiSans"/>
              </a:rPr>
              <a:t>Полный AI-цикл</a:t>
            </a:r>
            <a:endParaRPr lang="en-US" sz="1350"/>
          </a:p>
        </p:txBody>
      </p:sp>
      <p:sp>
        <p:nvSpPr>
          <p:cNvPr id="15" name="f1-desc"/>
          <p:cNvSpPr txBox="1"/>
          <p:nvPr/>
        </p:nvSpPr>
        <p:spPr>
          <a:xfrm>
            <a:off x="7137400" y="21082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Создание, модерация и автоматическая публикация контента</a:t>
            </a:r>
            <a:endParaRPr lang="en-US" sz="1150"/>
          </a:p>
        </p:txBody>
      </p:sp>
      <p:sp>
        <p:nvSpPr>
          <p:cNvPr id="16" name="f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6756400" y="271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17" name="f2-title"/>
          <p:cNvSpPr txBox="1"/>
          <p:nvPr/>
        </p:nvSpPr>
        <p:spPr>
          <a:xfrm>
            <a:off x="7137400" y="26924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2B1D1A"/>
                </a:solidFill>
                <a:latin typeface="MiSans"/>
                <a:ea typeface="MiSans"/>
              </a:rPr>
              <a:t>Публикации 5 дней в неделю</a:t>
            </a:r>
            <a:endParaRPr lang="en-US" sz="1350"/>
          </a:p>
        </p:txBody>
      </p:sp>
      <p:sp>
        <p:nvSpPr>
          <p:cNvPr id="18" name="f2-desc"/>
          <p:cNvSpPr txBox="1"/>
          <p:nvPr/>
        </p:nvSpPr>
        <p:spPr>
          <a:xfrm>
            <a:off x="7137400" y="29718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Регулярный поток материалов без вашего участия</a:t>
            </a:r>
            <a:endParaRPr lang="en-US" sz="1150"/>
          </a:p>
        </p:txBody>
      </p:sp>
      <p:sp>
        <p:nvSpPr>
          <p:cNvPr id="19" name="f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675640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20" name="f3-title"/>
          <p:cNvSpPr txBox="1"/>
          <p:nvPr/>
        </p:nvSpPr>
        <p:spPr>
          <a:xfrm>
            <a:off x="7137400" y="35560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2B1D1A"/>
                </a:solidFill>
                <a:latin typeface="MiSans"/>
                <a:ea typeface="MiSans"/>
              </a:rPr>
              <a:t>2 полноценные статьи в неделю</a:t>
            </a:r>
            <a:endParaRPr lang="en-US" sz="1350"/>
          </a:p>
        </p:txBody>
      </p:sp>
      <p:sp>
        <p:nvSpPr>
          <p:cNvPr id="21" name="f3-desc"/>
          <p:cNvSpPr txBox="1"/>
          <p:nvPr/>
        </p:nvSpPr>
        <p:spPr>
          <a:xfrm>
            <a:off x="7137400" y="38354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Экспертный контент об услугах, мастерах и трендах красоты</a:t>
            </a:r>
            <a:endParaRPr lang="en-US" sz="1150"/>
          </a:p>
        </p:txBody>
      </p:sp>
      <p:sp>
        <p:nvSpPr>
          <p:cNvPr id="22" name="f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eyJpY29uTmFtZSI6ImZhczpjaGVjayJ9</pptd:icon>
              </p:ext>
            </p:extLst>
          </p:nvPr>
        </p:nvSpPr>
        <p:spPr>
          <a:xfrm>
            <a:off x="6756400" y="444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5" y="70"/>
                </a:moveTo>
                <a:cubicBezTo>
                  <a:pt x="449" y="81"/>
                  <a:pt x="452" y="101"/>
                  <a:pt x="442" y="115"/>
                </a:cubicBezTo>
                <a:lnTo>
                  <a:pt x="186" y="467"/>
                </a:lnTo>
                <a:cubicBezTo>
                  <a:pt x="180" y="474"/>
                  <a:pt x="172" y="479"/>
                  <a:pt x="163" y="480"/>
                </a:cubicBezTo>
                <a:cubicBezTo>
                  <a:pt x="153" y="481"/>
                  <a:pt x="144" y="477"/>
                  <a:pt x="137" y="471"/>
                </a:cubicBezTo>
                <a:lnTo>
                  <a:pt x="9" y="343"/>
                </a:lnTo>
                <a:cubicBezTo>
                  <a:pt x="-3" y="330"/>
                  <a:pt x="-3" y="310"/>
                  <a:pt x="9" y="297"/>
                </a:cubicBezTo>
                <a:cubicBezTo>
                  <a:pt x="22" y="285"/>
                  <a:pt x="42" y="285"/>
                  <a:pt x="55" y="297"/>
                </a:cubicBezTo>
                <a:lnTo>
                  <a:pt x="156" y="399"/>
                </a:lnTo>
                <a:lnTo>
                  <a:pt x="390" y="77"/>
                </a:lnTo>
                <a:cubicBezTo>
                  <a:pt x="401" y="63"/>
                  <a:pt x="421" y="60"/>
                  <a:pt x="435" y="70"/>
                </a:cubicBezTo>
                <a:close/>
              </a:path>
            </a:pathLst>
          </a:custGeom>
          <a:solidFill>
            <a:srgbClr val="C15F3C"/>
          </a:solidFill>
          <a:ln>
            <a:noFill/>
          </a:ln>
        </p:spPr>
      </p:sp>
      <p:sp>
        <p:nvSpPr>
          <p:cNvPr id="23" name="f4-title"/>
          <p:cNvSpPr txBox="1"/>
          <p:nvPr/>
        </p:nvSpPr>
        <p:spPr>
          <a:xfrm>
            <a:off x="7137400" y="4419600"/>
            <a:ext cx="4343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50" b="1">
                <a:solidFill>
                  <a:srgbClr val="2B1D1A"/>
                </a:solidFill>
                <a:latin typeface="MiSans"/>
                <a:ea typeface="MiSans"/>
              </a:rPr>
              <a:t>6 площадок для автопубликации</a:t>
            </a:r>
            <a:endParaRPr lang="en-US" sz="1350"/>
          </a:p>
        </p:txBody>
      </p:sp>
      <p:sp>
        <p:nvSpPr>
          <p:cNvPr id="24" name="f4-desc"/>
          <p:cNvSpPr txBox="1"/>
          <p:nvPr/>
        </p:nvSpPr>
        <p:spPr>
          <a:xfrm>
            <a:off x="7137400" y="4699000"/>
            <a:ext cx="4343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50">
                <a:solidFill>
                  <a:srgbClr val="8A7568"/>
                </a:solidFill>
                <a:latin typeface="MiSans"/>
                <a:ea typeface="MiSans"/>
              </a:rPr>
              <a:t>Размещение там, где контент считывают нейросети и поисковики</a:t>
            </a:r>
            <a:endParaRPr lang="en-US" sz="1150"/>
          </a:p>
        </p:txBody>
      </p:sp>
      <p:sp>
        <p:nvSpPr>
          <p:cNvPr id="25" name="footnote-line"/>
          <p:cNvSpPr/>
          <p:nvPr/>
        </p:nvSpPr>
        <p:spPr>
          <a:xfrm>
            <a:off x="711200" y="5740400"/>
            <a:ext cx="10769600" cy="12700"/>
          </a:xfrm>
          <a:prstGeom prst="rect">
            <a:avLst/>
          </a:prstGeom>
          <a:solidFill>
            <a:srgbClr val="E3D6C0"/>
          </a:solidFill>
          <a:ln>
            <a:noFill/>
          </a:ln>
        </p:spPr>
      </p:sp>
      <p:sp>
        <p:nvSpPr>
          <p:cNvPr id="26" name="footnote"/>
          <p:cNvSpPr txBox="1"/>
          <p:nvPr/>
        </p:nvSpPr>
        <p:spPr>
          <a:xfrm>
            <a:off x="711200" y="5892800"/>
            <a:ext cx="10769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050" i="1">
                <a:solidFill>
                  <a:srgbClr val="8A7568"/>
                </a:solidFill>
                <a:latin typeface="MiSans"/>
                <a:ea typeface="MiSans"/>
              </a:rPr>
              <a:t>* Все работы выполняются в строгом соответствии с законодательством Российской Федерации. Договор и закрывающие документы предоставляются. Instagram принадлежит компании Meta, признанной экстремистской организацией и запрещённой на территории Российской Федерации.</a:t>
            </a:r>
            <a:endParaRPr lang="en-US" sz="1050"/>
          </a:p>
        </p:txBody>
      </p:sp>
      <p:sp>
        <p:nvSpPr>
          <p:cNvPr id="27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8A7568"/>
                </a:solidFill>
                <a:latin typeface="MiSans"/>
                <a:ea typeface="MiSans"/>
              </a:rPr>
              <a:t>08 / 09</a:t>
            </a:r>
            <a:endParaRPr lang="en-US" sz="900"/>
          </a:p>
        </p:txBody>
      </p:sp>
      <p:sp>
        <p:nvSpPr>
          <p:cNvPr id="28" name="cta-btn">
            <a:hlinkClick r:id="rId2"/>
          </p:cNvPr>
          <p:cNvSpPr/>
          <p:nvPr/>
        </p:nvSpPr>
        <p:spPr>
          <a:xfrm>
            <a:off x="711200" y="4136164"/>
            <a:ext cx="3098800" cy="584200"/>
          </a:xfrm>
          <a:prstGeom prst="roundRect">
            <a:avLst>
              <a:gd name="adj" fmla="val 50000"/>
            </a:avLst>
          </a:prstGeom>
          <a:solidFill>
            <a:srgbClr val="C15F3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29" name="cta-text">
            <a:hlinkClick r:id="rId2"/>
          </p:cNvPr>
          <p:cNvSpPr txBox="1"/>
          <p:nvPr/>
        </p:nvSpPr>
        <p:spPr>
          <a:xfrm>
            <a:off x="711200" y="4136164"/>
            <a:ext cx="30988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ru-RU" sz="1250" b="1" kern="0" spc="200" dirty="0">
                <a:solidFill>
                  <a:schemeClr val="bg1"/>
                </a:solidFill>
                <a:latin typeface="MiSans"/>
                <a:ea typeface="MiSans"/>
                <a:hlinkClick r:id="rId2"/>
              </a:rPr>
              <a:t>ОСТАВИТЬ ЗАЯВКУ</a:t>
            </a:r>
            <a:endParaRPr lang="ru-RU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mark"/>
          <p:cNvSpPr txBox="1"/>
          <p:nvPr/>
        </p:nvSpPr>
        <p:spPr>
          <a:xfrm>
            <a:off x="8813800" y="3048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b="1" kern="0" spc="300">
                <a:solidFill>
                  <a:srgbClr val="8A7568"/>
                </a:solidFill>
                <a:latin typeface="MiSans"/>
                <a:ea typeface="MiSans"/>
              </a:rPr>
              <a:t>ПРОМПТЕР · САЛОНЫ КРАСОТЫ</a:t>
            </a:r>
            <a:endParaRPr lang="en-US" sz="900"/>
          </a:p>
        </p:txBody>
      </p:sp>
      <p:sp>
        <p:nvSpPr>
          <p:cNvPr id="3" name="title"/>
          <p:cNvSpPr txBox="1"/>
          <p:nvPr/>
        </p:nvSpPr>
        <p:spPr>
          <a:xfrm>
            <a:off x="711200" y="609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2B1D1A"/>
                </a:solidFill>
                <a:latin typeface="MiSans"/>
                <a:ea typeface="MiSans"/>
              </a:rPr>
              <a:t>ПОДДЕРЖКА И СОПРОВОЖДЕНИЕ</a:t>
            </a:r>
            <a:endParaRPr lang="en-US" sz="2500"/>
          </a:p>
          <a:p>
            <a:pPr algn="l">
              <a:lnSpc>
                <a:spcPct val="125000"/>
              </a:lnSpc>
            </a:pPr>
            <a:r>
              <a:rPr lang="en-US" sz="2500" b="1">
                <a:solidFill>
                  <a:srgbClr val="2B1D1A"/>
                </a:solidFill>
                <a:latin typeface="MiSans"/>
                <a:ea typeface="MiSans"/>
              </a:rPr>
              <a:t>КЛИЕНТОВ ПРОМПТЕР</a:t>
            </a:r>
            <a:endParaRPr lang="en-US" sz="2500"/>
          </a:p>
        </p:txBody>
      </p:sp>
      <p:sp>
        <p:nvSpPr>
          <p:cNvPr id="4" name="subtitle"/>
          <p:cNvSpPr txBox="1"/>
          <p:nvPr/>
        </p:nvSpPr>
        <p:spPr>
          <a:xfrm>
            <a:off x="711200" y="1524000"/>
            <a:ext cx="635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>
                <a:solidFill>
                  <a:srgbClr val="8A7568"/>
                </a:solidFill>
                <a:latin typeface="MiSans"/>
                <a:ea typeface="MiSans"/>
              </a:rPr>
              <a:t>Мы не просто запускаем систему — наша команда остаётся рядом и работает на ваш результат</a:t>
            </a:r>
            <a:endParaRPr lang="en-US" sz="1300"/>
          </a:p>
        </p:txBody>
      </p:sp>
      <p:sp>
        <p:nvSpPr>
          <p:cNvPr id="5" name="p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eyJpY29uTmFtZSI6ImZhczpoZWFkc2V0In0</pptd:icon>
              </p:ext>
            </p:extLst>
          </p:nvPr>
        </p:nvSpPr>
        <p:spPr>
          <a:xfrm>
            <a:off x="711200" y="2286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64"/>
                </a:moveTo>
                <a:cubicBezTo>
                  <a:pt x="145" y="64"/>
                  <a:pt x="79" y="121"/>
                  <a:pt x="66" y="197"/>
                </a:cubicBezTo>
                <a:cubicBezTo>
                  <a:pt x="76" y="194"/>
                  <a:pt x="86" y="192"/>
                  <a:pt x="96" y="192"/>
                </a:cubicBezTo>
                <a:lnTo>
                  <a:pt x="112" y="192"/>
                </a:lnTo>
                <a:cubicBezTo>
                  <a:pt x="139" y="192"/>
                  <a:pt x="160" y="214"/>
                  <a:pt x="160" y="240"/>
                </a:cubicBezTo>
                <a:lnTo>
                  <a:pt x="160" y="336"/>
                </a:lnTo>
                <a:cubicBezTo>
                  <a:pt x="160" y="363"/>
                  <a:pt x="139" y="384"/>
                  <a:pt x="112" y="384"/>
                </a:cubicBezTo>
                <a:lnTo>
                  <a:pt x="96" y="384"/>
                </a:lnTo>
                <a:cubicBezTo>
                  <a:pt x="43" y="384"/>
                  <a:pt x="0" y="341"/>
                  <a:pt x="0" y="288"/>
                </a:cubicBezTo>
                <a:lnTo>
                  <a:pt x="0" y="224"/>
                </a:lnTo>
                <a:cubicBezTo>
                  <a:pt x="0" y="100"/>
                  <a:pt x="100" y="0"/>
                  <a:pt x="224" y="0"/>
                </a:cubicBezTo>
                <a:cubicBezTo>
                  <a:pt x="348" y="0"/>
                  <a:pt x="448" y="100"/>
                  <a:pt x="448" y="224"/>
                </a:cubicBezTo>
                <a:lnTo>
                  <a:pt x="448" y="392"/>
                </a:lnTo>
                <a:cubicBezTo>
                  <a:pt x="448" y="458"/>
                  <a:pt x="394" y="512"/>
                  <a:pt x="328" y="512"/>
                </a:cubicBezTo>
                <a:lnTo>
                  <a:pt x="240" y="512"/>
                </a:lnTo>
                <a:lnTo>
                  <a:pt x="208" y="512"/>
                </a:lnTo>
                <a:cubicBezTo>
                  <a:pt x="181" y="512"/>
                  <a:pt x="160" y="491"/>
                  <a:pt x="160" y="464"/>
                </a:cubicBezTo>
                <a:cubicBezTo>
                  <a:pt x="160" y="438"/>
                  <a:pt x="181" y="416"/>
                  <a:pt x="208" y="416"/>
                </a:cubicBezTo>
                <a:lnTo>
                  <a:pt x="240" y="416"/>
                </a:lnTo>
                <a:cubicBezTo>
                  <a:pt x="267" y="416"/>
                  <a:pt x="288" y="438"/>
                  <a:pt x="288" y="464"/>
                </a:cubicBezTo>
                <a:lnTo>
                  <a:pt x="288" y="464"/>
                </a:lnTo>
                <a:lnTo>
                  <a:pt x="328" y="464"/>
                </a:lnTo>
                <a:cubicBezTo>
                  <a:pt x="368" y="464"/>
                  <a:pt x="400" y="432"/>
                  <a:pt x="400" y="392"/>
                </a:cubicBezTo>
                <a:lnTo>
                  <a:pt x="400" y="371"/>
                </a:lnTo>
                <a:cubicBezTo>
                  <a:pt x="386" y="379"/>
                  <a:pt x="370" y="384"/>
                  <a:pt x="352" y="384"/>
                </a:cubicBezTo>
                <a:lnTo>
                  <a:pt x="336" y="384"/>
                </a:lnTo>
                <a:cubicBezTo>
                  <a:pt x="310" y="384"/>
                  <a:pt x="288" y="362"/>
                  <a:pt x="288" y="336"/>
                </a:cubicBezTo>
                <a:lnTo>
                  <a:pt x="288" y="240"/>
                </a:lnTo>
                <a:cubicBezTo>
                  <a:pt x="288" y="213"/>
                  <a:pt x="310" y="192"/>
                  <a:pt x="336" y="192"/>
                </a:cubicBezTo>
                <a:lnTo>
                  <a:pt x="352" y="192"/>
                </a:lnTo>
                <a:cubicBezTo>
                  <a:pt x="362" y="192"/>
                  <a:pt x="372" y="194"/>
                  <a:pt x="382" y="197"/>
                </a:cubicBezTo>
                <a:cubicBezTo>
                  <a:pt x="369" y="121"/>
                  <a:pt x="303" y="64"/>
                  <a:pt x="224" y="64"/>
                </a:cubicBezTo>
                <a:close/>
              </a:path>
            </a:pathLst>
          </a:custGeom>
          <a:solidFill>
            <a:srgbClr val="6D1F2C"/>
          </a:solidFill>
          <a:ln>
            <a:noFill/>
          </a:ln>
        </p:spPr>
      </p:sp>
      <p:sp>
        <p:nvSpPr>
          <p:cNvPr id="6" name="p1-title"/>
          <p:cNvSpPr txBox="1"/>
          <p:nvPr/>
        </p:nvSpPr>
        <p:spPr>
          <a:xfrm>
            <a:off x="1244600" y="22860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Постоянный мониторинг</a:t>
            </a:r>
            <a:endParaRPr lang="en-US" sz="1500"/>
          </a:p>
        </p:txBody>
      </p:sp>
      <p:sp>
        <p:nvSpPr>
          <p:cNvPr id="7" name="p1-desc"/>
          <p:cNvSpPr txBox="1"/>
          <p:nvPr/>
        </p:nvSpPr>
        <p:spPr>
          <a:xfrm>
            <a:off x="1244600" y="25908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Регулярно отслеживаем присутствие бренда в нейровыдаче и корректируем стратегию под ваши цели</a:t>
            </a:r>
            <a:endParaRPr lang="en-US" sz="1200"/>
          </a:p>
        </p:txBody>
      </p:sp>
      <p:sp>
        <p:nvSpPr>
          <p:cNvPr id="8" name="p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eyJpY29uTmFtZSI6ImZhczpjb21tZW50cyJ9</pptd:icon>
              </p:ext>
            </p:extLst>
          </p:nvPr>
        </p:nvSpPr>
        <p:spPr>
          <a:xfrm>
            <a:off x="711200" y="3327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6D1F2C"/>
          </a:solidFill>
          <a:ln>
            <a:noFill/>
          </a:ln>
        </p:spPr>
      </p:sp>
      <p:sp>
        <p:nvSpPr>
          <p:cNvPr id="9" name="p2-title"/>
          <p:cNvSpPr txBox="1"/>
          <p:nvPr/>
        </p:nvSpPr>
        <p:spPr>
          <a:xfrm>
            <a:off x="1244600" y="33274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Живая команда на связи</a:t>
            </a:r>
            <a:endParaRPr lang="en-US" sz="1500"/>
          </a:p>
        </p:txBody>
      </p:sp>
      <p:sp>
        <p:nvSpPr>
          <p:cNvPr id="10" name="p2-desc"/>
          <p:cNvSpPr txBox="1"/>
          <p:nvPr/>
        </p:nvSpPr>
        <p:spPr>
          <a:xfrm>
            <a:off x="1244600" y="36322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Помогаем с контентом и площадками — вы не останетесь один на один с алгоритмами</a:t>
            </a:r>
            <a:endParaRPr lang="en-US" sz="1200"/>
          </a:p>
        </p:txBody>
      </p:sp>
      <p:sp>
        <p:nvSpPr>
          <p:cNvPr id="11" name="p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eyJpY29uTmFtZSI6ImZhczpzcGEifQ</pptd:icon>
              </p:ext>
            </p:extLst>
          </p:nvPr>
        </p:nvSpPr>
        <p:spPr>
          <a:xfrm>
            <a:off x="711200" y="4368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70" y="228"/>
                </a:moveTo>
                <a:cubicBezTo>
                  <a:pt x="204" y="246"/>
                  <a:pt x="234" y="272"/>
                  <a:pt x="259" y="302"/>
                </a:cubicBezTo>
                <a:cubicBezTo>
                  <a:pt x="270" y="316"/>
                  <a:pt x="280" y="331"/>
                  <a:pt x="288" y="347"/>
                </a:cubicBezTo>
                <a:cubicBezTo>
                  <a:pt x="296" y="331"/>
                  <a:pt x="306" y="316"/>
                  <a:pt x="317" y="302"/>
                </a:cubicBezTo>
                <a:cubicBezTo>
                  <a:pt x="342" y="272"/>
                  <a:pt x="372" y="246"/>
                  <a:pt x="406" y="228"/>
                </a:cubicBezTo>
                <a:cubicBezTo>
                  <a:pt x="448" y="205"/>
                  <a:pt x="496" y="192"/>
                  <a:pt x="546" y="192"/>
                </a:cubicBezTo>
                <a:lnTo>
                  <a:pt x="556" y="192"/>
                </a:lnTo>
                <a:cubicBezTo>
                  <a:pt x="567" y="192"/>
                  <a:pt x="576" y="201"/>
                  <a:pt x="576" y="212"/>
                </a:cubicBezTo>
                <a:cubicBezTo>
                  <a:pt x="576" y="360"/>
                  <a:pt x="456" y="480"/>
                  <a:pt x="308" y="480"/>
                </a:cubicBezTo>
                <a:lnTo>
                  <a:pt x="268" y="480"/>
                </a:lnTo>
                <a:cubicBezTo>
                  <a:pt x="120" y="480"/>
                  <a:pt x="0" y="360"/>
                  <a:pt x="0" y="212"/>
                </a:cubicBezTo>
                <a:cubicBezTo>
                  <a:pt x="0" y="201"/>
                  <a:pt x="9" y="192"/>
                  <a:pt x="20" y="192"/>
                </a:cubicBezTo>
                <a:lnTo>
                  <a:pt x="30" y="192"/>
                </a:lnTo>
                <a:cubicBezTo>
                  <a:pt x="80" y="192"/>
                  <a:pt x="128" y="205"/>
                  <a:pt x="170" y="228"/>
                </a:cubicBezTo>
                <a:close/>
                <a:moveTo>
                  <a:pt x="304" y="38"/>
                </a:moveTo>
                <a:cubicBezTo>
                  <a:pt x="321" y="54"/>
                  <a:pt x="365" y="101"/>
                  <a:pt x="393" y="180"/>
                </a:cubicBezTo>
                <a:cubicBezTo>
                  <a:pt x="353" y="201"/>
                  <a:pt x="317" y="229"/>
                  <a:pt x="288" y="262"/>
                </a:cubicBezTo>
                <a:cubicBezTo>
                  <a:pt x="259" y="228"/>
                  <a:pt x="223" y="201"/>
                  <a:pt x="183" y="180"/>
                </a:cubicBezTo>
                <a:cubicBezTo>
                  <a:pt x="211" y="101"/>
                  <a:pt x="255" y="54"/>
                  <a:pt x="272" y="38"/>
                </a:cubicBezTo>
                <a:cubicBezTo>
                  <a:pt x="276" y="34"/>
                  <a:pt x="282" y="32"/>
                  <a:pt x="288" y="32"/>
                </a:cubicBezTo>
                <a:cubicBezTo>
                  <a:pt x="294" y="32"/>
                  <a:pt x="300" y="34"/>
                  <a:pt x="304" y="38"/>
                </a:cubicBezTo>
                <a:close/>
              </a:path>
            </a:pathLst>
          </a:custGeom>
          <a:solidFill>
            <a:srgbClr val="6D1F2C"/>
          </a:solidFill>
          <a:ln>
            <a:noFill/>
          </a:ln>
        </p:spPr>
      </p:sp>
      <p:sp>
        <p:nvSpPr>
          <p:cNvPr id="12" name="p3-title"/>
          <p:cNvSpPr txBox="1"/>
          <p:nvPr/>
        </p:nvSpPr>
        <p:spPr>
          <a:xfrm>
            <a:off x="1244600" y="4368800"/>
            <a:ext cx="596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rgbClr val="2B1D1A"/>
                </a:solidFill>
                <a:latin typeface="MiSans"/>
                <a:ea typeface="MiSans"/>
              </a:rPr>
              <a:t>Экспертиза в бьюти-сфере</a:t>
            </a:r>
            <a:endParaRPr lang="en-US" sz="1500"/>
          </a:p>
        </p:txBody>
      </p:sp>
      <p:sp>
        <p:nvSpPr>
          <p:cNvPr id="13" name="p3-desc"/>
          <p:cNvSpPr txBox="1"/>
          <p:nvPr/>
        </p:nvSpPr>
        <p:spPr>
          <a:xfrm>
            <a:off x="1244600" y="4673600"/>
            <a:ext cx="5969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>
                <a:solidFill>
                  <a:srgbClr val="8A7568"/>
                </a:solidFill>
                <a:latin typeface="MiSans"/>
                <a:ea typeface="MiSans"/>
              </a:rPr>
              <a:t>Знаем специфику салонов красоты, студий и косметологий — говорим с клиентками на их языке</a:t>
            </a:r>
            <a:endParaRPr lang="en-US" sz="1200"/>
          </a:p>
        </p:txBody>
      </p:sp>
      <p:pic>
        <p:nvPicPr>
          <p:cNvPr id="14" name="photo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70800" y="914400"/>
            <a:ext cx="3810000" cy="25400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15" name="photo-caption"/>
          <p:cNvSpPr txBox="1"/>
          <p:nvPr/>
        </p:nvSpPr>
        <p:spPr>
          <a:xfrm>
            <a:off x="7670800" y="3581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050" i="1">
                <a:solidFill>
                  <a:srgbClr val="8A7568"/>
                </a:solidFill>
                <a:latin typeface="MiSans"/>
                <a:ea typeface="MiSans"/>
              </a:rPr>
              <a:t>Ваш персональный менеджер следит за присутствием бренда в нейросетях</a:t>
            </a:r>
            <a:endParaRPr lang="en-US" sz="1050"/>
          </a:p>
        </p:txBody>
      </p:sp>
      <p:sp>
        <p:nvSpPr>
          <p:cNvPr id="16" name="contacts-panel"/>
          <p:cNvSpPr/>
          <p:nvPr/>
        </p:nvSpPr>
        <p:spPr>
          <a:xfrm>
            <a:off x="711200" y="5384800"/>
            <a:ext cx="107696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6C0"/>
            </a:solidFill>
          </a:ln>
        </p:spPr>
      </p:sp>
      <p:sp>
        <p:nvSpPr>
          <p:cNvPr id="17" name="contacts-label"/>
          <p:cNvSpPr txBox="1"/>
          <p:nvPr/>
        </p:nvSpPr>
        <p:spPr>
          <a:xfrm>
            <a:off x="965200" y="53848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kern="0" spc="100">
                <a:solidFill>
                  <a:srgbClr val="2B1D1A"/>
                </a:solidFill>
                <a:latin typeface="MiSans"/>
                <a:ea typeface="MiSans"/>
              </a:rPr>
              <a:t>КОНТАКТЫ</a:t>
            </a:r>
            <a:endParaRPr lang="en-US" sz="1300"/>
          </a:p>
        </p:txBody>
      </p:sp>
      <p:sp>
        <p:nvSpPr>
          <p:cNvPr id="18" name="contact-phone"/>
          <p:cNvSpPr txBox="1"/>
          <p:nvPr/>
        </p:nvSpPr>
        <p:spPr>
          <a:xfrm>
            <a:off x="27432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A7568"/>
                </a:solidFill>
                <a:latin typeface="MiSans"/>
                <a:ea typeface="MiSans"/>
              </a:rPr>
              <a:t>Телефон: </a:t>
            </a:r>
            <a:r>
              <a:rPr lang="en-US" sz="1300">
                <a:solidFill>
                  <a:srgbClr val="2B1D1A"/>
                </a:solidFill>
                <a:latin typeface="MiSans"/>
                <a:ea typeface="MiSans"/>
              </a:rPr>
              <a:t>+7 906 758-77-77</a:t>
            </a:r>
            <a:endParaRPr lang="en-US" sz="1300"/>
          </a:p>
        </p:txBody>
      </p:sp>
      <p:sp>
        <p:nvSpPr>
          <p:cNvPr id="19" name="contact-mail"/>
          <p:cNvSpPr txBox="1"/>
          <p:nvPr/>
        </p:nvSpPr>
        <p:spPr>
          <a:xfrm>
            <a:off x="5740400" y="5384800"/>
            <a:ext cx="2794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A7568"/>
                </a:solidFill>
                <a:latin typeface="MiSans"/>
                <a:ea typeface="MiSans"/>
              </a:rPr>
              <a:t>E-mail: </a:t>
            </a:r>
            <a:r>
              <a:rPr lang="en-US" sz="1300">
                <a:solidFill>
                  <a:srgbClr val="2B1D1A"/>
                </a:solidFill>
                <a:latin typeface="MiSans"/>
                <a:ea typeface="MiSans"/>
              </a:rPr>
              <a:t>prompter.moscow@mail.ru</a:t>
            </a:r>
            <a:endParaRPr lang="en-US" sz="1300"/>
          </a:p>
        </p:txBody>
      </p:sp>
      <p:sp>
        <p:nvSpPr>
          <p:cNvPr id="20" name="contact-site"/>
          <p:cNvSpPr txBox="1"/>
          <p:nvPr/>
        </p:nvSpPr>
        <p:spPr>
          <a:xfrm>
            <a:off x="8737600" y="5384800"/>
            <a:ext cx="2540000" cy="787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>
                <a:solidFill>
                  <a:srgbClr val="8A7568"/>
                </a:solidFill>
                <a:latin typeface="MiSans"/>
                <a:ea typeface="MiSans"/>
              </a:rPr>
              <a:t>Сайт: </a:t>
            </a:r>
            <a:r>
              <a:rPr lang="en-US" sz="1300">
                <a:solidFill>
                  <a:srgbClr val="2B1D1A"/>
                </a:solidFill>
                <a:latin typeface="MiSans"/>
                <a:ea typeface="MiSans"/>
              </a:rPr>
              <a:t>prompter-ai.moscow</a:t>
            </a:r>
            <a:endParaRPr lang="en-US" sz="1300"/>
          </a:p>
        </p:txBody>
      </p:sp>
      <p:sp>
        <p:nvSpPr>
          <p:cNvPr id="21" name="pagenum"/>
          <p:cNvSpPr txBox="1"/>
          <p:nvPr/>
        </p:nvSpPr>
        <p:spPr>
          <a:xfrm>
            <a:off x="10718800" y="64262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>
                <a:solidFill>
                  <a:srgbClr val="8A7568"/>
                </a:solidFill>
                <a:latin typeface="MiSans"/>
                <a:ea typeface="MiSans"/>
              </a:rPr>
              <a:t>09 / 09</a:t>
            </a:r>
            <a:endParaRPr lang="en-US" sz="90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923</Words>
  <Application>Microsoft Office PowerPoint</Application>
  <PresentationFormat>Широкоэкранный</PresentationFormat>
  <Paragraphs>153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Промптер для салонов красоты — GEO/SEO-продвижение</dc:title>
  <dc:subject>Промптер для салонов красоты — GEO/SEO-продвижение</dc:subject>
  <dc:creator>Kimi</dc:creator>
  <cp:lastModifiedBy>Пупкин Толя</cp:lastModifiedBy>
  <cp:revision>3</cp:revision>
  <dcterms:modified xsi:type="dcterms:W3CDTF">2026-07-23T17:49:57Z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{"Label":"Промптер для салонов красоты — GEO/SEO-продвижение","ContentProducer":"001191110108MACG2KBH8F10000","ProduceID":"19f8fdb9-3492-8b31-8000-0000820bf017","ReservedCode1":"","ContentPropagator":"001191110108MACG2KBH8F20000","PropagateID":"19f73adb-8c92-8708-8000-09088e4502a4","ReservedCode2":""}</vt:lpwstr>
  </property>
</Properties>
</file>