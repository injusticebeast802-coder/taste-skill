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942"/>
    <a:srgbClr val="101D51"/>
    <a:srgbClr val="0D14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home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0E28">
                  <a:alpha val="96078"/>
                </a:srgbClr>
              </a:gs>
              <a:gs pos="55000">
                <a:srgbClr val="0A0E28">
                  <a:alpha val="85098"/>
                </a:srgbClr>
              </a:gs>
              <a:gs pos="100000">
                <a:srgbClr val="0A0E28">
                  <a:alpha val="2000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1447800" y="7112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>
                <a:solidFill>
                  <a:srgbClr val="FFFFFF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1447800" y="1066800"/>
            <a:ext cx="330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9AA6D4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GEO- И SEO-ПРОДВИЖЕНИЕ ДЛЯ ТОВАРОВ ДЛЯ ДОМА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736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КОМПЛЕКСНОЕ GEO- И SEO-</a:t>
            </a:r>
            <a:endParaRPr lang="en-US" sz="3600"/>
          </a:p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ПРОДВИЖЕНИЕ ТОВАРОВ ДЛЯ ДОМА</a:t>
            </a:r>
            <a:r>
              <a:rPr lang="en-US" sz="3600" b="1">
                <a:solidFill>
                  <a:srgbClr val="E8453C"/>
                </a:solidFill>
                <a:latin typeface="MiSans"/>
                <a:ea typeface="MiSans"/>
              </a:rPr>
              <a:t/>
            </a:r>
            <a:endParaRPr lang="en-US" sz="3600"/>
          </a:p>
        </p:txBody>
      </p:sp>
      <p:sp>
        <p:nvSpPr>
          <p:cNvPr id="8" name="subtitle"/>
          <p:cNvSpPr txBox="1"/>
          <p:nvPr/>
        </p:nvSpPr>
        <p:spPr>
          <a:xfrm>
            <a:off x="711200" y="3860800"/>
            <a:ext cx="6604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9AA6D4"/>
                </a:solidFill>
                <a:latin typeface="MiSans"/>
                <a:ea typeface="MiSans"/>
              </a:rPr>
              <a:t>Делаем мебельные салоны, текстиль и интерьерные решения заметными в нейровыдаче и поисковых системах — без рекламных бюджетов и SEO-агентств</a:t>
            </a:r>
            <a:endParaRPr lang="en-US" sz="1500"/>
          </a:p>
        </p:txBody>
      </p:sp>
      <p:sp>
        <p:nvSpPr>
          <p:cNvPr id="9" name="price"/>
          <p:cNvSpPr txBox="1"/>
          <p:nvPr/>
        </p:nvSpPr>
        <p:spPr>
          <a:xfrm>
            <a:off x="711200" y="48768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FFFFFF"/>
                </a:solidFill>
                <a:latin typeface="MiSans"/>
                <a:ea typeface="MiSans"/>
              </a:rPr>
              <a:t>Стоимость: </a:t>
            </a:r>
            <a:r>
              <a:rPr lang="en-US" sz="1900" b="1">
                <a:solidFill>
                  <a:srgbClr val="E8B54A"/>
                </a:solidFill>
                <a:latin typeface="MiSans"/>
                <a:ea typeface="MiSans"/>
              </a:rPr>
              <a:t>от 29500 ₽/мес</a:t>
            </a:r>
            <a:endParaRPr lang="en-US" sz="150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017" y="631375"/>
            <a:ext cx="663766" cy="71482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ТОВАРЫ ДЛЯ ДОМА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ПОЧЕМУ БРЕНДЫ ДЛЯ ДОМА НЕ ДОБИВАЮТСЯ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Большинство мебельных салонов и брендов для дома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Покупатели спрашивают у нейросети «где купить диван» или «какой текстиль выбрать» — и она называет конкурентов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Владелец и продавцы заняты покупателями — на статьи, посты и карточки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5" name="conclusion-line"/>
          <p:cNvSpPr/>
          <p:nvPr/>
        </p:nvSpPr>
        <p:spPr>
          <a:xfrm>
            <a:off x="711200" y="57404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E8453C"/>
                </a:solidFill>
                <a:latin typeface="MiSans"/>
                <a:ea typeface="MiSans"/>
              </a:rPr>
              <a:t>Вывод: бизнес теряет покупателей ещё до того, как они решили, где обставить дом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/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ТОВАРЫ ДЛЯ ДОМА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Отсутствие в ответах нейросетей напрямую влияет на продажи, средний чек и репутацию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Покупатели всё чаще спрашивают «где купить мебель рядом»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Покупатели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Покупатель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Рекомендация ИИ воспринимается как мнение эксперта — ей доверяют и следуют ей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Пока вас нет в ответах нейросети, конкуренты забирают ваших покупателей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0F1538"/>
          </a:solidFill>
          <a:ln w="19050">
            <a:solidFill>
              <a:srgbClr val="2A3570"/>
            </a:solidFill>
          </a:ln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FFFFFF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2A357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2E5CFF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Где купить мебель и текстиль для квартиры?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182050"/>
          </a:solidFill>
          <a:ln w="12700">
            <a:solidFill>
              <a:srgbClr val="28336B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Вот 3 салона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1. Салон «Уют»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2. Студия «Интерьер»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3. ______________</a:t>
            </a:r>
            <a:r>
              <a:rPr lang="en-US" sz="1150" b="1">
                <a:solidFill>
                  <a:srgbClr val="E8B54A"/>
                </a:solidFill>
                <a:latin typeface="MiSans"/>
                <a:ea typeface="MiSans"/>
              </a:rPr>
              <a:t/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место №3 может занять ваш салон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9AA6D4"/>
                </a:solidFill>
                <a:latin typeface="MiSans"/>
                <a:ea typeface="MiSans"/>
              </a:rPr>
              <a:t>Нейросеть уже отвечает покупателям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ТОВАРЫ ДЛЯ ДОМА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E8453C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мебельные салоны и бренды для дома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6" name="uniq-text"/>
          <p:cNvSpPr txBox="1"/>
          <p:nvPr/>
        </p:nvSpPr>
        <p:spPr>
          <a:xfrm>
            <a:off x="711200" y="1612900"/>
            <a:ext cx="10769600" cy="4318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E8B54A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8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Создаёт тексты о коллекциях, материалах, доставке и сборке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2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6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Строит стратегию продвижения в нейровыдаче под нишу и формат вашего бизнеса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0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4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Анализирует конкурентов и покупателей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8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41018"/>
            </a:gs>
            <a:gs pos="50000">
              <a:srgbClr val="0C1030"/>
            </a:gs>
            <a:gs pos="100000">
              <a:srgbClr val="101F5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ip2">
            <a:extLst>
              <a:ext uri="{FF2B5EF4-FFF2-40B4-BE49-F238E27FC236}">
                <a16:creationId xmlns:a16="http://schemas.microsoft.com/office/drawing/2014/main" id="{6D8A5F92-47B1-9B74-0214-A2D7F857B98B}"/>
              </a:ext>
            </a:extLst>
          </p:cNvPr>
          <p:cNvSpPr/>
          <p:nvPr/>
        </p:nvSpPr>
        <p:spPr>
          <a:xfrm>
            <a:off x="67183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ТОВАРЫ ДЛЯ ДОМА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FFFFFF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 dirty="0"/>
          </a:p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E8453C"/>
                </a:solidFill>
                <a:latin typeface="MiSans"/>
                <a:ea typeface="MiSans"/>
              </a:rPr>
              <a:t>САМ ПУБЛИКУЕТ</a:t>
            </a:r>
            <a:endParaRPr lang="en-US" sz="3800" dirty="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D6DCF5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вашем салоне и товарах для дома и автоматически публикует его на отечественных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8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9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0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1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2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13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4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5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7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dirty="0">
                <a:solidFill>
                  <a:schemeClr val="accent4"/>
                </a:solidFill>
                <a:latin typeface="MiSans"/>
                <a:ea typeface="MiSans"/>
              </a:rPr>
              <a:t>03</a:t>
            </a:r>
            <a:endParaRPr lang="en-US" sz="1000" dirty="0">
              <a:solidFill>
                <a:schemeClr val="accent4"/>
              </a:solidFill>
            </a:endParaRPr>
          </a:p>
        </p:txBody>
      </p:sp>
      <p:sp>
        <p:nvSpPr>
          <p:cNvPr id="18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chemeClr val="accent4"/>
                </a:solidFill>
                <a:latin typeface="MiSans"/>
                <a:ea typeface="MiSans"/>
              </a:rPr>
              <a:t>АВТОПУБЛИКАЦИЯ</a:t>
            </a:r>
            <a:endParaRPr lang="en-US" sz="1250" dirty="0">
              <a:solidFill>
                <a:schemeClr val="accent4"/>
              </a:solidFill>
            </a:endParaRPr>
          </a:p>
        </p:txBody>
      </p:sp>
      <p:sp>
        <p:nvSpPr>
          <p:cNvPr id="19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20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1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2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3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4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8B0827C9-9925-874B-CE45-CCF3464F6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463" y="1480058"/>
            <a:ext cx="2220674" cy="239149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ТОВАРЫ ДЛЯ ДОМА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FFFFFF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 первого текста до покупателей в вашем салоне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Платформа изучает коллекции, материалы, доставку и сборку,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 dirty="0">
                <a:solidFill>
                  <a:schemeClr val="accent4"/>
                </a:solidFill>
                <a:latin typeface="MiSans"/>
                <a:ea typeface="MiSans"/>
              </a:rPr>
              <a:t>АВТО-ПУБЛИКАЦИЯ</a:t>
            </a:r>
            <a:endParaRPr lang="en-US" sz="1450" dirty="0">
              <a:solidFill>
                <a:schemeClr val="accent4"/>
              </a:solidFill>
            </a:endParaRPr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Материалы автоматически выходят на отечественных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Поисковики и нейросети фиксируют новый контент о вашем бизнесе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ДОВЕРИЕ И ПРОДАЖИ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Покупатели находят вас, доверяют рекомендации нейросети и приходят в салон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121942"/>
          </a:solidFill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Система работает 24/7: вы занимаетесь покупателями — Промптер занимается продвижением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endParaRPr lang="en-US" sz="1400" dirty="0">
              <a:solidFill>
                <a:schemeClr val="accent4"/>
              </a:solidFill>
            </a:endParaRPr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sh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dish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0C1030">
                  <a:alpha val="20000"/>
                </a:srgbClr>
              </a:gs>
              <a:gs pos="100000">
                <a:srgbClr val="0C1030">
                  <a:alpha val="94902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ТОВАРЫ ДЛЯ ДОМА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ДЛЯ ВАШЕГО БИЗНЕСА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Бизнес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Вас называют, когда покупатель спрашивает, где купить мебель или текстиль,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ТОВАРЫ ДЛЯ ДОМА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711200" y="2095856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9AA6D4"/>
                </a:solidFill>
                <a:latin typeface="MiSans"/>
                <a:ea typeface="MiSans"/>
              </a:rPr>
              <a:t>СТОИМОСТЬ СЕРВИСА</a:t>
            </a:r>
            <a:endParaRPr lang="en-US" sz="1100"/>
          </a:p>
        </p:txBody>
      </p:sp>
      <p:sp>
        <p:nvSpPr>
          <p:cNvPr id="5" name="price-big"/>
          <p:cNvSpPr txBox="1"/>
          <p:nvPr/>
        </p:nvSpPr>
        <p:spPr>
          <a:xfrm>
            <a:off x="711200" y="2375256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E8453C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9AA6D4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6" name="price-instead"/>
          <p:cNvSpPr txBox="1"/>
          <p:nvPr/>
        </p:nvSpPr>
        <p:spPr>
          <a:xfrm>
            <a:off x="711200" y="3264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711200" y="3645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4966056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9AA6D4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1" name="divider"/>
          <p:cNvSpPr/>
          <p:nvPr/>
        </p:nvSpPr>
        <p:spPr>
          <a:xfrm>
            <a:off x="6299200" y="2095856"/>
            <a:ext cx="12700" cy="38100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FFFFF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Экспертный контент о коллекциях, материалах и решениях для интерьера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4 отечественные площадки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153256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153256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ТОВАРЫ ДЛЯ ДОМА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eyJpY29uTmFtZSI6ImZhczp1dGVuc2lscyJ9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14"/>
                </a:moveTo>
                <a:cubicBezTo>
                  <a:pt x="63" y="6"/>
                  <a:pt x="56" y="0"/>
                  <a:pt x="48" y="0"/>
                </a:cubicBezTo>
                <a:cubicBezTo>
                  <a:pt x="40" y="0"/>
                  <a:pt x="33" y="6"/>
                  <a:pt x="32" y="14"/>
                </a:cubicBezTo>
                <a:lnTo>
                  <a:pt x="18" y="150"/>
                </a:lnTo>
                <a:cubicBezTo>
                  <a:pt x="17" y="156"/>
                  <a:pt x="16" y="162"/>
                  <a:pt x="16" y="168"/>
                </a:cubicBezTo>
                <a:cubicBezTo>
                  <a:pt x="16" y="214"/>
                  <a:pt x="51" y="251"/>
                  <a:pt x="96" y="256"/>
                </a:cubicBezTo>
                <a:lnTo>
                  <a:pt x="96" y="480"/>
                </a:lnTo>
                <a:cubicBezTo>
                  <a:pt x="96" y="498"/>
                  <a:pt x="110" y="512"/>
                  <a:pt x="128" y="512"/>
                </a:cubicBezTo>
                <a:cubicBezTo>
                  <a:pt x="146" y="512"/>
                  <a:pt x="160" y="498"/>
                  <a:pt x="160" y="480"/>
                </a:cubicBezTo>
                <a:lnTo>
                  <a:pt x="160" y="256"/>
                </a:lnTo>
                <a:cubicBezTo>
                  <a:pt x="205" y="252"/>
                  <a:pt x="240" y="214"/>
                  <a:pt x="240" y="168"/>
                </a:cubicBezTo>
                <a:cubicBezTo>
                  <a:pt x="240" y="162"/>
                  <a:pt x="239" y="156"/>
                  <a:pt x="238" y="150"/>
                </a:cubicBezTo>
                <a:lnTo>
                  <a:pt x="224" y="14"/>
                </a:lnTo>
                <a:cubicBezTo>
                  <a:pt x="223" y="6"/>
                  <a:pt x="216" y="0"/>
                  <a:pt x="208" y="0"/>
                </a:cubicBezTo>
                <a:cubicBezTo>
                  <a:pt x="200" y="0"/>
                  <a:pt x="193" y="6"/>
                  <a:pt x="192" y="14"/>
                </a:cubicBezTo>
                <a:lnTo>
                  <a:pt x="179" y="150"/>
                </a:lnTo>
                <a:cubicBezTo>
                  <a:pt x="178" y="156"/>
                  <a:pt x="173" y="160"/>
                  <a:pt x="167" y="160"/>
                </a:cubicBezTo>
                <a:cubicBezTo>
                  <a:pt x="162" y="160"/>
                  <a:pt x="157" y="156"/>
                  <a:pt x="156" y="150"/>
                </a:cubicBezTo>
                <a:lnTo>
                  <a:pt x="144" y="15"/>
                </a:lnTo>
                <a:cubicBezTo>
                  <a:pt x="143" y="6"/>
                  <a:pt x="136" y="0"/>
                  <a:pt x="128" y="0"/>
                </a:cubicBezTo>
                <a:cubicBezTo>
                  <a:pt x="120" y="0"/>
                  <a:pt x="113" y="6"/>
                  <a:pt x="112" y="15"/>
                </a:cubicBezTo>
                <a:lnTo>
                  <a:pt x="100" y="150"/>
                </a:lnTo>
                <a:cubicBezTo>
                  <a:pt x="99" y="156"/>
                  <a:pt x="94" y="160"/>
                  <a:pt x="89" y="160"/>
                </a:cubicBezTo>
                <a:cubicBezTo>
                  <a:pt x="83" y="160"/>
                  <a:pt x="78" y="156"/>
                  <a:pt x="78" y="150"/>
                </a:cubicBezTo>
                <a:lnTo>
                  <a:pt x="64" y="14"/>
                </a:lnTo>
                <a:close/>
                <a:moveTo>
                  <a:pt x="448" y="0"/>
                </a:moveTo>
                <a:cubicBezTo>
                  <a:pt x="432" y="0"/>
                  <a:pt x="320" y="32"/>
                  <a:pt x="320" y="176"/>
                </a:cubicBezTo>
                <a:lnTo>
                  <a:pt x="320" y="288"/>
                </a:lnTo>
                <a:cubicBezTo>
                  <a:pt x="320" y="323"/>
                  <a:pt x="349" y="352"/>
                  <a:pt x="384" y="352"/>
                </a:cubicBezTo>
                <a:lnTo>
                  <a:pt x="416" y="352"/>
                </a:lnTo>
                <a:lnTo>
                  <a:pt x="416" y="480"/>
                </a:lnTo>
                <a:cubicBezTo>
                  <a:pt x="416" y="498"/>
                  <a:pt x="430" y="512"/>
                  <a:pt x="448" y="512"/>
                </a:cubicBezTo>
                <a:cubicBezTo>
                  <a:pt x="466" y="512"/>
                  <a:pt x="480" y="498"/>
                  <a:pt x="480" y="480"/>
                </a:cubicBezTo>
                <a:lnTo>
                  <a:pt x="480" y="32"/>
                </a:lnTo>
                <a:cubicBezTo>
                  <a:pt x="480" y="14"/>
                  <a:pt x="466" y="0"/>
                  <a:pt x="448" y="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Экспертиза в товарах для дома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Знаем специфику мебельных салонов и брендов для дома — говорим с покупателями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FFFFFF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943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HoReCa — GEO/SEO-продвижение</dc:title>
  <dc:subject>Промптер для HoReCa — GEO/SEO-продвижение</dc:subject>
  <dc:creator>Kimi</dc:creator>
  <cp:lastModifiedBy>Пупкин Толя</cp:lastModifiedBy>
  <cp:revision>4</cp:revision>
  <dcterms:modified xsi:type="dcterms:W3CDTF">2026-07-23T17:49:20Z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HoReCa — GEO/SEO-продвижение","ContentProducer":"001191110108MACG2KBH8F10000","ProduceID":"19f8fce5-3bc2-8667-8000-00008a4bb8cd","ReservedCode1":"","ContentPropagator":"001191110108MACG2KBH8F20000","PropagateID":"19f73adb-8c92-8708-8000-09088e4502a4","ReservedCode2":""}</vt:lpwstr>
  </property>
</Properties>
</file>