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Открывающий слайд конференции. Темы и контакты докладчика — обычный текст, правятся прямо в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Цифры — обычный текст: щёлкните и исправьте, если стоимость изменится.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Контакты с визитки: сайт, мессенджер @geniimoscow и почта. QR ведёт на prompter-ai.moscow. Любую строку можно щёлкнуть и исправить. Строки «Ваш менеджер» в конференционной версии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_tariff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or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7744"/>
            <a:ext cx="1600200" cy="346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274320"/>
            <a:ext cx="4187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spc="200">
                <a:solidFill>
                  <a:srgbClr val="F85800"/>
                </a:solidFill>
                <a:latin typeface="Arial"/>
              </a:rPr>
              <a:t>ТЕМЫ ВЫСТУПЛЕНИЯ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spc="400">
                <a:solidFill>
                  <a:srgbClr val="FFFFFF"/>
                </a:solidFill>
                <a:latin typeface="Arial"/>
              </a:rPr>
              <a:t>ПРОМПТЕР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3502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Темы для конференции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755648"/>
            <a:ext cx="822960" cy="32004"/>
          </a:xfrm>
          <a:prstGeom prst="rect">
            <a:avLst/>
          </a:prstGeom>
          <a:solidFill>
            <a:srgbClr val="F85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83664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C9BAB0"/>
                </a:solidFill>
                <a:latin typeface="Arial"/>
              </a:rPr>
              <a:t>Что даёт предпринимателю полный AI-цикл: исследование, стратегия, генерация текстов, картинок и видео,</a:t>
            </a:r>
          </a:p>
          <a:p>
            <a:pPr algn="ctr">
              <a:spcBef>
                <a:spcPts val="200"/>
              </a:spcBef>
            </a:pPr>
            <a:r>
              <a:rPr sz="1050" b="0">
                <a:solidFill>
                  <a:srgbClr val="C9BAB0"/>
                </a:solidFill>
                <a:latin typeface="Arial"/>
              </a:rPr>
              <a:t>автоматическая публикация на 6+ площадках. Продвижение в SEO и GEO.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487168" cy="1554480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5000"/>
              </a:lnSpc>
            </a:pPr>
            <a:r>
              <a:rPr sz="1800" b="1" spc="150">
                <a:solidFill>
                  <a:srgbClr val="F85800"/>
                </a:solidFill>
                <a:latin typeface="Arial"/>
              </a:rPr>
              <a:t>01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100" b="1" spc="50">
                <a:solidFill>
                  <a:srgbClr val="FFFFFF"/>
                </a:solidFill>
                <a:latin typeface="Arial"/>
              </a:rPr>
              <a:t>КАК НЕ ТРАТИТЬ ВРЕМЯ
НА СММ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850" b="0">
                <a:solidFill>
                  <a:srgbClr val="9A8C84"/>
                </a:solidFill>
                <a:latin typeface="Arial"/>
              </a:rPr>
              <a:t>Контент-заводы есть у всех.
Но процессом управляет человек:
проверки, правки, публикация.
Мы отдаём весь цикл 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2286000"/>
            <a:ext cx="2487168" cy="1554480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5000"/>
              </a:lnSpc>
            </a:pPr>
            <a:r>
              <a:rPr sz="1800" b="1" spc="150">
                <a:solidFill>
                  <a:srgbClr val="F85800"/>
                </a:solidFill>
                <a:latin typeface="Arial"/>
              </a:rPr>
              <a:t>02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100" b="1" spc="50">
                <a:solidFill>
                  <a:srgbClr val="FFFFFF"/>
                </a:solidFill>
                <a:latin typeface="Arial"/>
              </a:rPr>
              <a:t>КАК ЭКОНОМИТЬ
ОТ 70 000 ₽ В МЕСЯЦ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850" b="0">
                <a:solidFill>
                  <a:srgbClr val="9A8C84"/>
                </a:solidFill>
                <a:latin typeface="Arial"/>
              </a:rPr>
              <a:t>Без агентства, без токенов
и борьбы с блокировками.
Готовый сервис за фиксированную
плату при сравнимом эффекте.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286000"/>
            <a:ext cx="2487168" cy="1554480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5000"/>
              </a:lnSpc>
            </a:pPr>
            <a:r>
              <a:rPr sz="1800" b="1" spc="150">
                <a:solidFill>
                  <a:srgbClr val="F85800"/>
                </a:solidFill>
                <a:latin typeface="Arial"/>
              </a:rPr>
              <a:t>03</a:t>
            </a:r>
          </a:p>
          <a:p>
            <a:pPr algn="l">
              <a:lnSpc>
                <a:spcPct val="95000"/>
              </a:lnSpc>
              <a:spcBef>
                <a:spcPts val="500"/>
              </a:spcBef>
            </a:pPr>
            <a:r>
              <a:rPr sz="1100" b="1" spc="50">
                <a:solidFill>
                  <a:srgbClr val="FFFFFF"/>
                </a:solidFill>
                <a:latin typeface="Arial"/>
              </a:rPr>
              <a:t>КАК ПОПАСТЬ
В НЕЙРОВЫДАЧУ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850" b="0">
                <a:solidFill>
                  <a:srgbClr val="9A8C84"/>
                </a:solidFill>
                <a:latin typeface="Arial"/>
              </a:rPr>
              <a:t>GEO стоит доверить ИИ, срок —
от 3 до 6 месяцев. При экономии
времени и денег. Маркировать
ИИ-контент сейчас не требуется.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05072"/>
            <a:ext cx="8046720" cy="713232"/>
          </a:xfrm>
          <a:prstGeom prst="roundRect">
            <a:avLst>
              <a:gd name="adj" fmla="val 28000"/>
            </a:avLst>
          </a:prstGeom>
          <a:solidFill>
            <a:srgbClr val="120A06"/>
          </a:solidFill>
          <a:ln w="2540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spc="100">
                <a:solidFill>
                  <a:srgbClr val="FFFFFF"/>
                </a:solidFill>
                <a:latin typeface="Arial"/>
              </a:rPr>
              <a:t>РУСЛАН ДЕМИН — УПРАВЛЯЮЩИЙ ПАРТНЁР</a:t>
            </a:r>
          </a:p>
          <a:p>
            <a:pPr algn="ctr">
              <a:spcBef>
                <a:spcPts val="400"/>
              </a:spcBef>
            </a:pPr>
            <a:r>
              <a:rPr sz="1100" b="1">
                <a:solidFill>
                  <a:srgbClr val="F85800"/>
                </a:solidFill>
                <a:latin typeface="Arial"/>
              </a:rPr>
              <a:t>+7 906 758-77-77</a:t>
            </a:r>
            <a:r>
              <a:rPr sz="1100" b="1">
                <a:solidFill>
                  <a:srgbClr val="9A8C84"/>
                </a:solidFill>
                <a:latin typeface="Arial"/>
              </a:rPr>
              <a:t>   ·   </a:t>
            </a:r>
            <a:r>
              <a:rPr sz="1100" b="1">
                <a:solidFill>
                  <a:srgbClr val="F85800"/>
                </a:solidFill>
                <a:latin typeface="Arial"/>
              </a:rPr>
              <a:t>prompter.moscow@mail.ru</a:t>
            </a:r>
            <a:r>
              <a:rPr sz="1100" b="1">
                <a:solidFill>
                  <a:srgbClr val="9A8C84"/>
                </a:solidFill>
                <a:latin typeface="Arial"/>
              </a:rPr>
              <a:t>   ·   </a:t>
            </a:r>
            <a:r>
              <a:rPr sz="1100" b="1">
                <a:solidFill>
                  <a:srgbClr val="F85800"/>
                </a:solidFill>
                <a:latin typeface="Arial"/>
              </a:rPr>
              <a:t>@Prompter_mos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_tariff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or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7744"/>
            <a:ext cx="1600200" cy="346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274320"/>
            <a:ext cx="4187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spc="200">
                <a:solidFill>
                  <a:srgbClr val="F85800"/>
                </a:solidFill>
                <a:latin typeface="Arial"/>
              </a:rPr>
              <a:t>СТОИМОСТЬ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spc="400">
                <a:solidFill>
                  <a:srgbClr val="FFFFFF"/>
                </a:solidFill>
                <a:latin typeface="Arial"/>
              </a:rPr>
              <a:t>ПРОМПТЕР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3502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Стоимость подписки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0" y="1755648"/>
            <a:ext cx="822960" cy="32004"/>
          </a:xfrm>
          <a:prstGeom prst="rect">
            <a:avLst/>
          </a:prstGeom>
          <a:solidFill>
            <a:srgbClr val="F85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5875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C9BAB0"/>
                </a:solidFill>
                <a:latin typeface="Arial"/>
              </a:rPr>
              <a:t>SEO-АГЕНТСТВО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FFFFFF"/>
                </a:solidFill>
                <a:latin typeface="Arial"/>
              </a:rPr>
              <a:t>100 000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в месяц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подрядчики, правки,
переписка, сроки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6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317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F85800"/>
                </a:solidFill>
                <a:latin typeface="Arial"/>
              </a:rPr>
              <a:t>ПРОМПТЕР</a:t>
            </a:r>
          </a:p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FFFFFF"/>
                </a:solidFill>
                <a:latin typeface="Arial"/>
              </a:rPr>
              <a:t>29 500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в месяц, цена фиксированная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настройка и обслуживание
уже включены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819656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F85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spc="100">
                <a:solidFill>
                  <a:srgbClr val="140802"/>
                </a:solidFill>
                <a:latin typeface="Arial"/>
              </a:rPr>
              <a:t>ВЫГОДНО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1975104"/>
            <a:ext cx="2487168" cy="1755648"/>
          </a:xfrm>
          <a:prstGeom prst="roundRect">
            <a:avLst>
              <a:gd name="adj" fmla="val 10000"/>
            </a:avLst>
          </a:prstGeom>
          <a:solidFill>
            <a:srgbClr val="120A06"/>
          </a:solidFill>
          <a:ln w="15875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spc="150">
                <a:solidFill>
                  <a:srgbClr val="C9BAB0"/>
                </a:solidFill>
                <a:latin typeface="Arial"/>
              </a:rPr>
              <a:t>ЭКОНОМИЯ</a:t>
            </a:r>
          </a:p>
          <a:p>
            <a:pPr algn="ctr">
              <a:spcBef>
                <a:spcPts val="1000"/>
              </a:spcBef>
            </a:pPr>
            <a:r>
              <a:rPr sz="2100" b="1">
                <a:solidFill>
                  <a:srgbClr val="5FD08A"/>
                </a:solidFill>
                <a:latin typeface="Arial"/>
              </a:rPr>
              <a:t>от 70 000 ₽</a:t>
            </a:r>
          </a:p>
          <a:p>
            <a:pPr algn="ctr">
              <a:spcBef>
                <a:spcPts val="400"/>
              </a:spcBef>
            </a:pPr>
            <a:r>
              <a:rPr sz="950" b="0">
                <a:solidFill>
                  <a:srgbClr val="C9BAB0"/>
                </a:solidFill>
                <a:latin typeface="Arial"/>
              </a:rPr>
              <a:t>каждый месяц</a:t>
            </a:r>
          </a:p>
          <a:p>
            <a:pPr algn="ctr">
              <a:spcBef>
                <a:spcPts val="900"/>
              </a:spcBef>
            </a:pPr>
            <a:r>
              <a:rPr sz="900" b="0">
                <a:solidFill>
                  <a:srgbClr val="9A8C84"/>
                </a:solidFill>
                <a:latin typeface="Arial"/>
              </a:rPr>
              <a:t>тот же объём работ
без штата и подрядчиков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41648"/>
            <a:ext cx="8046720" cy="658368"/>
          </a:xfrm>
          <a:prstGeom prst="roundRect">
            <a:avLst>
              <a:gd name="adj" fmla="val 30000"/>
            </a:avLst>
          </a:prstGeom>
          <a:solidFill>
            <a:srgbClr val="120A06"/>
          </a:solidFill>
          <a:ln w="2540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spc="100">
                <a:solidFill>
                  <a:srgbClr val="FFFFFF"/>
                </a:solidFill>
                <a:latin typeface="Arial"/>
              </a:rPr>
              <a:t>ПОЛНЫЙ ЦИКЛ ПРОДВИЖЕНИЯ — </a:t>
            </a:r>
            <a:r>
              <a:rPr sz="1900" b="1" spc="100">
                <a:solidFill>
                  <a:srgbClr val="F85800"/>
                </a:solidFill>
                <a:latin typeface="Arial"/>
              </a:rPr>
              <a:t>29 500 ₽ В МЕСЯЦ</a:t>
            </a:r>
            <a:r>
              <a:rPr sz="1900" b="1" spc="100">
                <a:solidFill>
                  <a:srgbClr val="FFFFFF"/>
                </a:solidFill>
                <a:latin typeface="Arial"/>
              </a:rPr>
              <a:t> 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ig_contacts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ori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4320"/>
            <a:ext cx="1783080" cy="3863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932688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spc="300">
                <a:solidFill>
                  <a:srgbClr val="FFFFFF"/>
                </a:solidFill>
                <a:latin typeface="Arial"/>
              </a:rPr>
              <a:t>КОНТАКТЫ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934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9BAB0"/>
                </a:solidFill>
                <a:latin typeface="Arial"/>
              </a:rPr>
              <a:t>Полный AI-цикл: исследование, генерация контента, автоматическая публикация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C9BAB0"/>
                </a:solidFill>
                <a:latin typeface="Arial"/>
              </a:rPr>
              <a:t>на площадках и аналитика нейровыдачи. SEO и GEO.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4892040" cy="676656"/>
          </a:xfrm>
          <a:prstGeom prst="roundRect">
            <a:avLst>
              <a:gd name="adj" fmla="val 14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95000"/>
              </a:lnSpc>
            </a:pPr>
            <a:r>
              <a:rPr sz="950" b="1" spc="150">
                <a:solidFill>
                  <a:srgbClr val="F85800"/>
                </a:solidFill>
                <a:latin typeface="Arial"/>
              </a:rPr>
              <a:t>САЙТ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prompter-ai.moscow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90672"/>
            <a:ext cx="4892040" cy="676656"/>
          </a:xfrm>
          <a:prstGeom prst="roundRect">
            <a:avLst>
              <a:gd name="adj" fmla="val 14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95000"/>
              </a:lnSpc>
            </a:pPr>
            <a:r>
              <a:rPr sz="950" b="1" spc="150">
                <a:solidFill>
                  <a:srgbClr val="F85800"/>
                </a:solidFill>
                <a:latin typeface="Arial"/>
              </a:rPr>
              <a:t>МЕССЕНДЖЕР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1600" b="1">
                <a:solidFill>
                  <a:srgbClr val="FFFFFF"/>
                </a:solidFill>
                <a:latin typeface="Arial"/>
              </a:rPr>
              <a:t>@geniimoscow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95344"/>
            <a:ext cx="4892040" cy="676656"/>
          </a:xfrm>
          <a:prstGeom prst="roundRect">
            <a:avLst>
              <a:gd name="adj" fmla="val 14000"/>
            </a:avLst>
          </a:prstGeom>
          <a:solidFill>
            <a:srgbClr val="120A06"/>
          </a:solidFill>
          <a:ln w="19050">
            <a:solidFill>
              <a:srgbClr val="F85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lnSpc>
                <a:spcPct val="95000"/>
              </a:lnSpc>
            </a:pPr>
            <a:r>
              <a:rPr sz="950" b="1" spc="150">
                <a:solidFill>
                  <a:srgbClr val="F85800"/>
                </a:solidFill>
                <a:latin typeface="Arial"/>
              </a:rPr>
              <a:t>ПОЧТА</a:t>
            </a:r>
          </a:p>
          <a:p>
            <a:pPr algn="l">
              <a:lnSpc>
                <a:spcPct val="95000"/>
              </a:lnSpc>
              <a:spcBef>
                <a:spcPts val="3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prompter.moscow@mail.ru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286000"/>
            <a:ext cx="19202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-promp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404872"/>
            <a:ext cx="1682496" cy="16824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42976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spc="100">
                <a:solidFill>
                  <a:srgbClr val="F85800"/>
                </a:solidFill>
                <a:latin typeface="Arial"/>
              </a:rPr>
              <a:t>PROMPTER-AI.MOSCOW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51713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spc="100">
                <a:solidFill>
                  <a:srgbClr val="C9BAB0"/>
                </a:solidFill>
                <a:latin typeface="Arial"/>
              </a:rPr>
              <a:t>SEO и GEO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