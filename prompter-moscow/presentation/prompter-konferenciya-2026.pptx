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56" r:id="rId7"/>
    <p:sldId id="257" r:id="rId8"/>
    <p:sldId id="258" r:id="rId9"/>
    <p:sldId id="259" r:id="rId10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4" r:id="rId26"/>
    <p:sldId id="272" r:id="rId24"/>
    <p:sldId id="273" r:id="rId25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Открывающий слайд конференции. Темы и контакты докладчика — обычный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— обычный текст: щёлкните и исправьте, если стоимость изменится.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A2978E"/>
                </a:solidFill>
                <a:latin typeface="Inter"/>
              </a:rPr>
              <a:t>1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7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A2978E"/>
                </a:solidFill>
                <a:latin typeface="Inter"/>
              </a:rPr>
              <a:t>Исследование · Стратегия · Генерация · Проверка · Публикация · Анализ</a:t>
            </a:r>
            <a:r>
              <a:rPr sz="2000" b="0">
                <a:solidFill>
                  <a:srgbClr val="FFFFFF"/>
                </a:solidFill>
                <a:latin typeface="Inter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A2978E"/>
                </a:solidFill>
                <a:latin typeface="Inter"/>
              </a:rPr>
              <a:t>2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20240"/>
            <a:ext cx="1027145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600" b="0">
                <a:solidFill>
                  <a:srgbClr val="FFFFFF"/>
                </a:solidFill>
                <a:latin typeface="Unbounded"/>
              </a:rPr>
              <a:t>«Предприниматель тратит на соцсети не только деньги, но и своё время — а это тоже ценный ресурс компании»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93392"/>
            <a:ext cx="82296" cy="2267712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59028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7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9496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10820095" cy="364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A2978E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A2978E"/>
                </a:solidFill>
                <a:latin typeface="Inter"/>
              </a:rPr>
              <a:t>3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10820095" cy="1083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800" b="1">
                <a:solidFill>
                  <a:srgbClr val="4ADE80"/>
                </a:solidFill>
                <a:latin typeface="Unbounded"/>
              </a:rPr>
              <a:t>120–150 000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01468"/>
            <a:ext cx="1082009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ED6CF"/>
                </a:solidFill>
                <a:latin typeface="Inter"/>
              </a:rPr>
              <a:t>в месяц — столько стоит digital-агентство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7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A2978E"/>
                </a:solidFill>
                <a:latin typeface="Inter"/>
              </a:rPr>
              <a:t>4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ED6C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DED6C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700" b="0">
                <a:solidFill>
                  <a:srgbClr val="A2978E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7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A2978E"/>
                </a:solidFill>
                <a:latin typeface="Inter"/>
              </a:rPr>
              <a:t>5 / 5</a:t>
            </a:r>
          </a:p>
        </p:txBody>
      </p:sp>
      <p:pic>
        <p:nvPicPr>
          <p:cNvPr id="9" name="Picture 8" descr="press-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2775" y="1600200"/>
            <a:ext cx="210312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54135" y="3904487"/>
            <a:ext cx="2651760" cy="353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prompter-ai.moscow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4135" y="4258310"/>
            <a:ext cx="265176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FF8A3D"/>
                </a:solidFill>
                <a:latin typeface="Inter"/>
              </a:rPr>
              <a:t>SEO и GEO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554480"/>
            <a:ext cx="7985455" cy="727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FFFFFF"/>
                </a:solidFill>
                <a:latin typeface="Unbounded"/>
              </a:rPr>
              <a:t>Полный AI цикл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92832"/>
            <a:ext cx="7985455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DED6CF"/>
                </a:solidFill>
                <a:latin typeface="Inter"/>
              </a:rPr>
              <a:t>Исследование, генерация контента, автоматическая публикация на площадках, аналитика нейровыдачи.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52952"/>
            <a:ext cx="7985455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DED6CF"/>
                </a:solidFill>
                <a:latin typeface="Inter"/>
              </a:rPr>
              <a:t>Интеллектуальный сервис для автоматизации SMM и усиления цифрового присутствия компании в интернете.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10820095" cy="398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FFFFFF"/>
                </a:solidFill>
                <a:latin typeface="Inter"/>
              </a:rPr>
              <a:t>+7 906 758-77-77     @geniimoscow     prompter.moscow@mail.ru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976747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A2978E"/>
                </a:solidFill>
                <a:latin typeface="Inter"/>
              </a:rPr>
              <a:t>Руслан Анатольевич Дёмин, управляющий партнёр</a:t>
            </a:r>
            <a:r>
              <a:rPr sz="1300" b="0">
                <a:solidFill>
                  <a:srgbClr val="A2978E"/>
                </a:solidFill>
                <a:latin typeface="Inter"/>
              </a:rPr>
              <a:t>     ГенИИ — официальный партнёр «Промптера» по Москве и области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_tariff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4632" cy="46133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5952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18" y="1121661"/>
            <a:ext cx="10728933" cy="731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533" b="1" spc="533">
                <a:solidFill>
                  <a:srgbClr val="FFFFFF"/>
                </a:solidFill>
                <a:latin typeface="Arial"/>
              </a:rPr>
              <a:t>ПРОМПТЕР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8" y="1780027"/>
            <a:ext cx="10728933" cy="4876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33" b="1">
                <a:solidFill>
                  <a:srgbClr val="FFFFFF"/>
                </a:solidFill>
                <a:latin typeface="Arial"/>
              </a:rPr>
              <a:t>Темы для конференции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547346" y="2340858"/>
            <a:ext cx="1097277" cy="42671"/>
          </a:xfrm>
          <a:prstGeom prst="rect">
            <a:avLst/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97" y="2511545"/>
            <a:ext cx="10363174" cy="609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99" b="0">
                <a:solidFill>
                  <a:srgbClr val="C9BAB0"/>
                </a:solidFill>
                <a:latin typeface="Arial"/>
              </a:rPr>
              <a:t>Что даёт предпринимателю полный AI-цикл: исследование, стратегия, генерация текстов, картинок и видео,</a:t>
            </a:r>
          </a:p>
          <a:p>
            <a:pPr algn="ctr">
              <a:spcBef>
                <a:spcPts val="266"/>
              </a:spcBef>
            </a:pPr>
            <a:r>
              <a:rPr sz="1399" b="0">
                <a:solidFill>
                  <a:srgbClr val="C9BAB0"/>
                </a:solidFill>
                <a:latin typeface="Arial"/>
              </a:rPr>
              <a:t>автоматическая публикация на 6+ площадках. Продвижение в SEO и GEO.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18" y="3047992"/>
            <a:ext cx="3316215" cy="2072634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5399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0687" rIns="170687" tIns="73151" bIns="73151"/>
          <a:lstStyle/>
          <a:p>
            <a:pPr algn="l">
              <a:lnSpc>
                <a:spcPct val="95000"/>
              </a:lnSpc>
            </a:pPr>
            <a:r>
              <a:rPr sz="2399" b="1" spc="199">
                <a:solidFill>
                  <a:srgbClr val="F85800"/>
                </a:solidFill>
                <a:latin typeface="Arial"/>
              </a:rPr>
              <a:t>01</a:t>
            </a:r>
          </a:p>
          <a:p>
            <a:pPr algn="l">
              <a:lnSpc>
                <a:spcPct val="95000"/>
              </a:lnSpc>
              <a:spcBef>
                <a:spcPts val="666"/>
              </a:spcBef>
            </a:pPr>
            <a:r>
              <a:rPr sz="1466" b="1" spc="66">
                <a:solidFill>
                  <a:srgbClr val="FFFFFF"/>
                </a:solidFill>
                <a:latin typeface="Arial"/>
              </a:rPr>
              <a:t>КАК НЕ ТРАТИТЬ ВРЕМЯ
НА СММ</a:t>
            </a:r>
          </a:p>
          <a:p>
            <a:pPr algn="l">
              <a:lnSpc>
                <a:spcPct val="95000"/>
              </a:lnSpc>
              <a:spcBef>
                <a:spcPts val="799"/>
              </a:spcBef>
            </a:pPr>
            <a:r>
              <a:rPr sz="1133" b="0">
                <a:solidFill>
                  <a:srgbClr val="9A8C84"/>
                </a:solidFill>
                <a:latin typeface="Arial"/>
              </a:rPr>
              <a:t>Контент-заводы есть у всех.
Но процессом управляет человек:
проверки, правки, публикация.
Мы отдаём весь цикл 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7876" y="3047992"/>
            <a:ext cx="3316215" cy="2072634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5399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0687" rIns="170687" tIns="73151" bIns="73151"/>
          <a:lstStyle/>
          <a:p>
            <a:pPr algn="l">
              <a:lnSpc>
                <a:spcPct val="95000"/>
              </a:lnSpc>
            </a:pPr>
            <a:r>
              <a:rPr sz="2399" b="1" spc="199">
                <a:solidFill>
                  <a:srgbClr val="F85800"/>
                </a:solidFill>
                <a:latin typeface="Arial"/>
              </a:rPr>
              <a:t>02</a:t>
            </a:r>
          </a:p>
          <a:p>
            <a:pPr algn="l">
              <a:lnSpc>
                <a:spcPct val="95000"/>
              </a:lnSpc>
              <a:spcBef>
                <a:spcPts val="666"/>
              </a:spcBef>
            </a:pPr>
            <a:r>
              <a:rPr sz="1466" b="1" spc="66">
                <a:solidFill>
                  <a:srgbClr val="FFFFFF"/>
                </a:solidFill>
                <a:latin typeface="Arial"/>
              </a:rPr>
              <a:t>КАК ЭКОНОМИТЬ
ОТ 70 000 ₽ В МЕСЯЦ</a:t>
            </a:r>
          </a:p>
          <a:p>
            <a:pPr algn="l">
              <a:lnSpc>
                <a:spcPct val="95000"/>
              </a:lnSpc>
              <a:spcBef>
                <a:spcPts val="799"/>
              </a:spcBef>
            </a:pPr>
            <a:r>
              <a:rPr sz="1133" b="0">
                <a:solidFill>
                  <a:srgbClr val="9A8C84"/>
                </a:solidFill>
                <a:latin typeface="Arial"/>
              </a:rPr>
              <a:t>Без агентства, без токенов
и борьбы с блокировками.
Готовый сервис за фиксированную
плату при сравнимом эффекте.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4235" y="3047992"/>
            <a:ext cx="3316215" cy="2072634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5399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0687" rIns="170687" tIns="73151" bIns="73151"/>
          <a:lstStyle/>
          <a:p>
            <a:pPr algn="l">
              <a:lnSpc>
                <a:spcPct val="95000"/>
              </a:lnSpc>
            </a:pPr>
            <a:r>
              <a:rPr sz="2399" b="1" spc="199">
                <a:solidFill>
                  <a:srgbClr val="F85800"/>
                </a:solidFill>
                <a:latin typeface="Arial"/>
              </a:rPr>
              <a:t>03</a:t>
            </a:r>
          </a:p>
          <a:p>
            <a:pPr algn="l">
              <a:lnSpc>
                <a:spcPct val="95000"/>
              </a:lnSpc>
              <a:spcBef>
                <a:spcPts val="666"/>
              </a:spcBef>
            </a:pPr>
            <a:r>
              <a:rPr sz="1466" b="1" spc="66">
                <a:solidFill>
                  <a:srgbClr val="FFFFFF"/>
                </a:solidFill>
                <a:latin typeface="Arial"/>
              </a:rPr>
              <a:t>КАК ПОПАСТЬ
В НЕЙРОВЫДАЧУ</a:t>
            </a:r>
          </a:p>
          <a:p>
            <a:pPr algn="l">
              <a:lnSpc>
                <a:spcPct val="95000"/>
              </a:lnSpc>
              <a:spcBef>
                <a:spcPts val="799"/>
              </a:spcBef>
            </a:pPr>
            <a:r>
              <a:rPr sz="1133" b="0">
                <a:solidFill>
                  <a:srgbClr val="9A8C84"/>
                </a:solidFill>
                <a:latin typeface="Arial"/>
              </a:rPr>
              <a:t>GEO стоит доверить ИИ, срок —
от 3 до 6 месяцев. При экономии
времени и денег. Маркировать
ИИ-контент сейчас не требуется.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18" y="5340082"/>
            <a:ext cx="10728933" cy="950973"/>
          </a:xfrm>
          <a:prstGeom prst="roundRect">
            <a:avLst>
              <a:gd name="adj" fmla="val 28000"/>
            </a:avLst>
          </a:prstGeom>
          <a:solidFill>
            <a:srgbClr val="120A06"/>
          </a:solidFill>
          <a:ln w="33866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33" b="1" spc="133">
                <a:solidFill>
                  <a:srgbClr val="FFFFFF"/>
                </a:solidFill>
                <a:latin typeface="Arial"/>
              </a:rPr>
              <a:t>РУСЛАН ДЕМИН — УПРАВЛЯЮЩИЙ ПАРТНЁР</a:t>
            </a:r>
          </a:p>
          <a:p>
            <a:pPr algn="ctr">
              <a:spcBef>
                <a:spcPts val="533"/>
              </a:spcBef>
            </a:pPr>
            <a:r>
              <a:rPr sz="1466" b="1">
                <a:solidFill>
                  <a:srgbClr val="F85800"/>
                </a:solidFill>
                <a:latin typeface="Arial"/>
              </a:rPr>
              <a:t>+7 906 758-77-77</a:t>
            </a:r>
            <a:r>
              <a:rPr sz="1466" b="1">
                <a:solidFill>
                  <a:srgbClr val="9A8C84"/>
                </a:solidFill>
                <a:latin typeface="Arial"/>
              </a:rPr>
              <a:t>   ·   </a:t>
            </a:r>
            <a:r>
              <a:rPr sz="1466" b="1">
                <a:solidFill>
                  <a:srgbClr val="F85800"/>
                </a:solidFill>
                <a:latin typeface="Arial"/>
              </a:rPr>
              <a:t>prompter.moscow@mail.ru</a:t>
            </a:r>
            <a:r>
              <a:rPr sz="1466" b="1">
                <a:solidFill>
                  <a:srgbClr val="9A8C84"/>
                </a:solidFill>
                <a:latin typeface="Arial"/>
              </a:rPr>
              <a:t>   ·   </a:t>
            </a:r>
            <a:r>
              <a:rPr sz="1466" b="1">
                <a:solidFill>
                  <a:srgbClr val="F85800"/>
                </a:solidFill>
                <a:latin typeface="Arial"/>
              </a:rPr>
              <a:t>@geniimoscow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_tariff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4632" cy="46133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5952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18" y="1121661"/>
            <a:ext cx="10728933" cy="731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533" b="1" spc="533">
                <a:solidFill>
                  <a:srgbClr val="FFFFFF"/>
                </a:solidFill>
                <a:latin typeface="Arial"/>
              </a:rPr>
              <a:t>ПРОМПТЕР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8" y="1780027"/>
            <a:ext cx="10728933" cy="4876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33" b="1">
                <a:solidFill>
                  <a:srgbClr val="FFFFFF"/>
                </a:solidFill>
                <a:latin typeface="Arial"/>
              </a:rPr>
              <a:t>Стоимость подписки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547346" y="2340858"/>
            <a:ext cx="1097277" cy="42671"/>
          </a:xfrm>
          <a:prstGeom prst="rect">
            <a:avLst/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18" y="2633465"/>
            <a:ext cx="3316215" cy="234085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1166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19" rIns="121919"/>
          <a:lstStyle/>
          <a:p>
            <a:pPr algn="ctr"/>
            <a:r>
              <a:rPr sz="1533" b="1" spc="199">
                <a:solidFill>
                  <a:srgbClr val="C9BAB0"/>
                </a:solidFill>
                <a:latin typeface="Arial"/>
              </a:rPr>
              <a:t>SEO-АГЕНТСТВО</a:t>
            </a:r>
          </a:p>
          <a:p>
            <a:pPr algn="ctr">
              <a:spcBef>
                <a:spcPts val="1333"/>
              </a:spcBef>
            </a:pPr>
            <a:r>
              <a:rPr sz="2799" b="1">
                <a:solidFill>
                  <a:srgbClr val="FFFFFF"/>
                </a:solidFill>
                <a:latin typeface="Arial"/>
              </a:rPr>
              <a:t>100 000 ₽</a:t>
            </a:r>
          </a:p>
          <a:p>
            <a:pPr algn="ctr">
              <a:spcBef>
                <a:spcPts val="533"/>
              </a:spcBef>
            </a:pPr>
            <a:r>
              <a:rPr sz="1266" b="0">
                <a:solidFill>
                  <a:srgbClr val="C9BAB0"/>
                </a:solidFill>
                <a:latin typeface="Arial"/>
              </a:rPr>
              <a:t>в месяц</a:t>
            </a:r>
          </a:p>
          <a:p>
            <a:pPr algn="ctr">
              <a:spcBef>
                <a:spcPts val="1199"/>
              </a:spcBef>
            </a:pPr>
            <a:r>
              <a:rPr sz="1199" b="0">
                <a:solidFill>
                  <a:srgbClr val="9A8C84"/>
                </a:solidFill>
                <a:latin typeface="Arial"/>
              </a:rPr>
              <a:t>подрядчики, правки,
переписка, сроки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7876" y="2633465"/>
            <a:ext cx="3316215" cy="234085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42333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19" rIns="121919"/>
          <a:lstStyle/>
          <a:p>
            <a:pPr algn="ctr"/>
            <a:r>
              <a:rPr sz="1533" b="1" spc="199">
                <a:solidFill>
                  <a:srgbClr val="F85800"/>
                </a:solidFill>
                <a:latin typeface="Arial"/>
              </a:rPr>
              <a:t>ПРОМПТЕР</a:t>
            </a:r>
          </a:p>
          <a:p>
            <a:pPr algn="ctr">
              <a:spcBef>
                <a:spcPts val="1333"/>
              </a:spcBef>
            </a:pPr>
            <a:r>
              <a:rPr sz="3466" b="1">
                <a:solidFill>
                  <a:srgbClr val="FFFFFF"/>
                </a:solidFill>
                <a:latin typeface="Arial"/>
              </a:rPr>
              <a:t>29 500 ₽</a:t>
            </a:r>
          </a:p>
          <a:p>
            <a:pPr algn="ctr">
              <a:spcBef>
                <a:spcPts val="533"/>
              </a:spcBef>
            </a:pPr>
            <a:r>
              <a:rPr sz="1266" b="0">
                <a:solidFill>
                  <a:srgbClr val="C9BAB0"/>
                </a:solidFill>
                <a:latin typeface="Arial"/>
              </a:rPr>
              <a:t>в месяц, цена фиксированная</a:t>
            </a:r>
          </a:p>
          <a:p>
            <a:pPr algn="ctr">
              <a:spcBef>
                <a:spcPts val="1199"/>
              </a:spcBef>
            </a:pPr>
            <a:r>
              <a:rPr sz="1199" b="0">
                <a:solidFill>
                  <a:srgbClr val="9A8C84"/>
                </a:solidFill>
                <a:latin typeface="Arial"/>
              </a:rPr>
              <a:t>настройка и обслуживание
уже включены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0082" y="2426201"/>
            <a:ext cx="1511804" cy="414526"/>
          </a:xfrm>
          <a:prstGeom prst="roundRect">
            <a:avLst>
              <a:gd name="adj" fmla="val 50000"/>
            </a:avLst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33" b="1" spc="133">
                <a:solidFill>
                  <a:srgbClr val="140802"/>
                </a:solidFill>
                <a:latin typeface="Arial"/>
              </a:rPr>
              <a:t>ВЫГОДНО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4235" y="2633465"/>
            <a:ext cx="3316215" cy="234085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1166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19" rIns="121919"/>
          <a:lstStyle/>
          <a:p>
            <a:pPr algn="ctr"/>
            <a:r>
              <a:rPr sz="1533" b="1" spc="199">
                <a:solidFill>
                  <a:srgbClr val="C9BAB0"/>
                </a:solidFill>
                <a:latin typeface="Arial"/>
              </a:rPr>
              <a:t>ЭКОНОМИЯ</a:t>
            </a:r>
          </a:p>
          <a:p>
            <a:pPr algn="ctr">
              <a:spcBef>
                <a:spcPts val="1333"/>
              </a:spcBef>
            </a:pPr>
            <a:r>
              <a:rPr sz="2799" b="1">
                <a:solidFill>
                  <a:srgbClr val="5FD08A"/>
                </a:solidFill>
                <a:latin typeface="Arial"/>
              </a:rPr>
              <a:t>от 70 000 ₽</a:t>
            </a:r>
          </a:p>
          <a:p>
            <a:pPr algn="ctr">
              <a:spcBef>
                <a:spcPts val="533"/>
              </a:spcBef>
            </a:pPr>
            <a:r>
              <a:rPr sz="1266" b="0">
                <a:solidFill>
                  <a:srgbClr val="C9BAB0"/>
                </a:solidFill>
                <a:latin typeface="Arial"/>
              </a:rPr>
              <a:t>каждый месяц</a:t>
            </a:r>
          </a:p>
          <a:p>
            <a:pPr algn="ctr">
              <a:spcBef>
                <a:spcPts val="1199"/>
              </a:spcBef>
            </a:pPr>
            <a:r>
              <a:rPr sz="1199" b="0">
                <a:solidFill>
                  <a:srgbClr val="9A8C84"/>
                </a:solidFill>
                <a:latin typeface="Arial"/>
              </a:rPr>
              <a:t>тот же объём работ
без штата и подрядчиков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18" y="5388850"/>
            <a:ext cx="10728933" cy="877821"/>
          </a:xfrm>
          <a:prstGeom prst="roundRect">
            <a:avLst>
              <a:gd name="adj" fmla="val 30000"/>
            </a:avLst>
          </a:prstGeom>
          <a:solidFill>
            <a:srgbClr val="120A06"/>
          </a:solidFill>
          <a:ln w="33866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533" b="1" spc="133">
                <a:solidFill>
                  <a:srgbClr val="FFFFFF"/>
                </a:solidFill>
                <a:latin typeface="Arial"/>
              </a:rPr>
              <a:t>ПОЛНЫЙ ЦИКЛ ПРОДВИЖЕНИЯ — </a:t>
            </a:r>
            <a:r>
              <a:rPr sz="2533" b="1" spc="133">
                <a:solidFill>
                  <a:srgbClr val="F85800"/>
                </a:solidFill>
                <a:latin typeface="Arial"/>
              </a:rPr>
              <a:t>29 500 ₽ В МЕСЯЦ</a:t>
            </a:r>
            <a:r>
              <a:rPr sz="2533" b="1" spc="133">
                <a:solidFill>
                  <a:srgbClr val="FFFFFF"/>
                </a:solidFill>
                <a:latin typeface="Arial"/>
              </a:rPr>
              <a:t>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