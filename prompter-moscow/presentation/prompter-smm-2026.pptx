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9"/>
    <p:sldId id="268" r:id="rId20"/>
    <p:sldId id="269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собран заново вместо исходных тарифов. Цифры — обычный текст: щёлкните и исправьте, если стоимость изменится. Экономия считается как разница со средним счётом SEO-агентства: 100 000 минус 29 500.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Как поменять контакты под себя: щёлкните по нужной надписи и наберите свою. Меняются телефон, мессенджер, почта и строка «Ваш менеджер». Исходные слайды — изображения и не редактируются.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ariff-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logo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37744"/>
            <a:ext cx="1600200" cy="3467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274320"/>
            <a:ext cx="41879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spc="200">
                <a:solidFill>
                  <a:srgbClr val="F85800"/>
                </a:solidFill>
                <a:latin typeface="Arial"/>
              </a:rPr>
              <a:t>СТОИМОСТЬ 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8046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400" b="1" spc="400">
                <a:solidFill>
                  <a:srgbClr val="FFFFFF"/>
                </a:solidFill>
                <a:latin typeface="Arial"/>
              </a:rPr>
              <a:t>ПРОМПТЕР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35024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Стоимость подписки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75104"/>
            <a:ext cx="2487168" cy="1755648"/>
          </a:xfrm>
          <a:prstGeom prst="roundRect">
            <a:avLst>
              <a:gd name="adj" fmla="val 10000"/>
            </a:avLst>
          </a:prstGeom>
          <a:solidFill>
            <a:srgbClr val="120A06"/>
          </a:solidFill>
          <a:ln w="15875">
            <a:solidFill>
              <a:srgbClr val="F85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 spc="150">
                <a:solidFill>
                  <a:srgbClr val="C9BAB0"/>
                </a:solidFill>
                <a:latin typeface="Arial"/>
              </a:rPr>
              <a:t>SEO-АГЕНТСТВО</a:t>
            </a:r>
          </a:p>
          <a:p>
            <a:pPr algn="ctr">
              <a:spcBef>
                <a:spcPts val="1000"/>
              </a:spcBef>
            </a:pPr>
            <a:r>
              <a:rPr sz="2100" b="1">
                <a:solidFill>
                  <a:srgbClr val="FFFFFF"/>
                </a:solidFill>
                <a:latin typeface="Arial"/>
              </a:rPr>
              <a:t>100 000 ₽</a:t>
            </a:r>
          </a:p>
          <a:p>
            <a:pPr algn="ctr">
              <a:spcBef>
                <a:spcPts val="400"/>
              </a:spcBef>
            </a:pPr>
            <a:r>
              <a:rPr sz="950" b="0">
                <a:solidFill>
                  <a:srgbClr val="C9BAB0"/>
                </a:solidFill>
                <a:latin typeface="Arial"/>
              </a:rPr>
              <a:t>в месяц</a:t>
            </a:r>
          </a:p>
          <a:p>
            <a:pPr algn="ctr">
              <a:spcBef>
                <a:spcPts val="900"/>
              </a:spcBef>
            </a:pPr>
            <a:r>
              <a:rPr sz="900" b="0">
                <a:solidFill>
                  <a:srgbClr val="9A8C84"/>
                </a:solidFill>
                <a:latin typeface="Arial"/>
              </a:rPr>
              <a:t>подрядчики, правки,
переписка, сроки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28416" y="1975104"/>
            <a:ext cx="2487168" cy="1755648"/>
          </a:xfrm>
          <a:prstGeom prst="roundRect">
            <a:avLst>
              <a:gd name="adj" fmla="val 10000"/>
            </a:avLst>
          </a:prstGeom>
          <a:solidFill>
            <a:srgbClr val="120A06"/>
          </a:solidFill>
          <a:ln w="31750">
            <a:solidFill>
              <a:srgbClr val="F85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 spc="150">
                <a:solidFill>
                  <a:srgbClr val="F85800"/>
                </a:solidFill>
                <a:latin typeface="Arial"/>
              </a:rPr>
              <a:t>ПРОМПТЕР</a:t>
            </a:r>
          </a:p>
          <a:p>
            <a:pPr algn="ctr">
              <a:spcBef>
                <a:spcPts val="1000"/>
              </a:spcBef>
            </a:pPr>
            <a:r>
              <a:rPr sz="2600" b="1">
                <a:solidFill>
                  <a:srgbClr val="FFFFFF"/>
                </a:solidFill>
                <a:latin typeface="Arial"/>
              </a:rPr>
              <a:t>29 500 ₽</a:t>
            </a:r>
          </a:p>
          <a:p>
            <a:pPr algn="ctr">
              <a:spcBef>
                <a:spcPts val="400"/>
              </a:spcBef>
            </a:pPr>
            <a:r>
              <a:rPr sz="950" b="0">
                <a:solidFill>
                  <a:srgbClr val="C9BAB0"/>
                </a:solidFill>
                <a:latin typeface="Arial"/>
              </a:rPr>
              <a:t>в месяц, цена фиксированная</a:t>
            </a:r>
          </a:p>
          <a:p>
            <a:pPr algn="ctr">
              <a:spcBef>
                <a:spcPts val="900"/>
              </a:spcBef>
            </a:pPr>
            <a:r>
              <a:rPr sz="900" b="0">
                <a:solidFill>
                  <a:srgbClr val="9A8C84"/>
                </a:solidFill>
                <a:latin typeface="Arial"/>
              </a:rPr>
              <a:t>настройка и обслуживание
уже включены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05072" y="1819656"/>
            <a:ext cx="1133856" cy="310896"/>
          </a:xfrm>
          <a:prstGeom prst="roundRect">
            <a:avLst>
              <a:gd name="adj" fmla="val 50000"/>
            </a:avLst>
          </a:prstGeom>
          <a:solidFill>
            <a:srgbClr val="F85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spc="100">
                <a:solidFill>
                  <a:srgbClr val="140802"/>
                </a:solidFill>
                <a:latin typeface="Arial"/>
              </a:rPr>
              <a:t>ВЫГОДНО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08192" y="1975104"/>
            <a:ext cx="2487168" cy="1755648"/>
          </a:xfrm>
          <a:prstGeom prst="roundRect">
            <a:avLst>
              <a:gd name="adj" fmla="val 10000"/>
            </a:avLst>
          </a:prstGeom>
          <a:solidFill>
            <a:srgbClr val="120A06"/>
          </a:solidFill>
          <a:ln w="15875">
            <a:solidFill>
              <a:srgbClr val="F85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 spc="150">
                <a:solidFill>
                  <a:srgbClr val="C9BAB0"/>
                </a:solidFill>
                <a:latin typeface="Arial"/>
              </a:rPr>
              <a:t>ЭКОНОМИЯ</a:t>
            </a:r>
          </a:p>
          <a:p>
            <a:pPr algn="ctr">
              <a:spcBef>
                <a:spcPts val="1000"/>
              </a:spcBef>
            </a:pPr>
            <a:r>
              <a:rPr sz="2100" b="1">
                <a:solidFill>
                  <a:srgbClr val="5FD08A"/>
                </a:solidFill>
                <a:latin typeface="Arial"/>
              </a:rPr>
              <a:t>от 70 000 ₽</a:t>
            </a:r>
          </a:p>
          <a:p>
            <a:pPr algn="ctr">
              <a:spcBef>
                <a:spcPts val="400"/>
              </a:spcBef>
            </a:pPr>
            <a:r>
              <a:rPr sz="950" b="0">
                <a:solidFill>
                  <a:srgbClr val="C9BAB0"/>
                </a:solidFill>
                <a:latin typeface="Arial"/>
              </a:rPr>
              <a:t>каждый месяц</a:t>
            </a:r>
          </a:p>
          <a:p>
            <a:pPr algn="ctr">
              <a:spcBef>
                <a:spcPts val="900"/>
              </a:spcBef>
            </a:pPr>
            <a:r>
              <a:rPr sz="900" b="0">
                <a:solidFill>
                  <a:srgbClr val="9A8C84"/>
                </a:solidFill>
                <a:latin typeface="Arial"/>
              </a:rPr>
              <a:t>тот же объём работ
без штата и подрядчиков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041648"/>
            <a:ext cx="8046720" cy="658368"/>
          </a:xfrm>
          <a:prstGeom prst="roundRect">
            <a:avLst>
              <a:gd name="adj" fmla="val 30000"/>
            </a:avLst>
          </a:prstGeom>
          <a:solidFill>
            <a:srgbClr val="120A06"/>
          </a:solidFill>
          <a:ln w="25400">
            <a:solidFill>
              <a:srgbClr val="F85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 spc="100">
                <a:solidFill>
                  <a:srgbClr val="FFFFFF"/>
                </a:solidFill>
                <a:latin typeface="Arial"/>
              </a:rPr>
              <a:t>ПОЛНЫЙ ЦИКЛ ПРОДВИЖЕНИЯ — </a:t>
            </a:r>
            <a:r>
              <a:rPr sz="1900" b="1" spc="100">
                <a:solidFill>
                  <a:srgbClr val="F85800"/>
                </a:solidFill>
                <a:latin typeface="Arial"/>
              </a:rPr>
              <a:t>29 500 ₽ В МЕСЯЦ</a:t>
            </a:r>
            <a:r>
              <a:rPr sz="1900" b="1" spc="100">
                <a:solidFill>
                  <a:srgbClr val="FFFFFF"/>
                </a:solidFill>
                <a:latin typeface="Arial"/>
              </a:rPr>
              <a:t>  →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acts-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logo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74320"/>
            <a:ext cx="1783080" cy="3863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987552"/>
            <a:ext cx="8046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1" spc="300">
                <a:solidFill>
                  <a:srgbClr val="FFFFFF"/>
                </a:solidFill>
                <a:latin typeface="Arial"/>
              </a:rPr>
              <a:t>КОНТАКТЫ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27632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C9BAB0"/>
                </a:solidFill>
                <a:latin typeface="Arial"/>
              </a:rPr>
              <a:t>Подключим ваш бизнес к «Промптеру» — напишите или позвоните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39696"/>
            <a:ext cx="2487168" cy="1335024"/>
          </a:xfrm>
          <a:prstGeom prst="roundRect">
            <a:avLst>
              <a:gd name="adj" fmla="val 12000"/>
            </a:avLst>
          </a:prstGeom>
          <a:solidFill>
            <a:srgbClr val="120A06"/>
          </a:solidFill>
          <a:ln w="19050">
            <a:solidFill>
              <a:srgbClr val="F85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 spc="150">
                <a:solidFill>
                  <a:srgbClr val="F85800"/>
                </a:solidFill>
                <a:latin typeface="Arial"/>
              </a:rPr>
              <a:t>ТЕЛЕФОН</a:t>
            </a:r>
          </a:p>
          <a:p>
            <a:pPr algn="ctr">
              <a:spcBef>
                <a:spcPts val="800"/>
              </a:spcBef>
            </a:pPr>
            <a:r>
              <a:rPr sz="1600" b="1">
                <a:solidFill>
                  <a:srgbClr val="FFFFFF"/>
                </a:solidFill>
                <a:latin typeface="Arial"/>
              </a:rPr>
              <a:t>+7 906 758-77-77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28416" y="2139696"/>
            <a:ext cx="2487168" cy="1335024"/>
          </a:xfrm>
          <a:prstGeom prst="roundRect">
            <a:avLst>
              <a:gd name="adj" fmla="val 12000"/>
            </a:avLst>
          </a:prstGeom>
          <a:solidFill>
            <a:srgbClr val="120A06"/>
          </a:solidFill>
          <a:ln w="19050">
            <a:solidFill>
              <a:srgbClr val="F85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 spc="150">
                <a:solidFill>
                  <a:srgbClr val="F85800"/>
                </a:solidFill>
                <a:latin typeface="Arial"/>
              </a:rPr>
              <a:t>МЕССЕНДЖЕР</a:t>
            </a:r>
          </a:p>
          <a:p>
            <a:pPr algn="ctr">
              <a:spcBef>
                <a:spcPts val="800"/>
              </a:spcBef>
            </a:pPr>
            <a:r>
              <a:rPr sz="1600" b="1">
                <a:solidFill>
                  <a:srgbClr val="FFFFFF"/>
                </a:solidFill>
                <a:latin typeface="Arial"/>
              </a:rPr>
              <a:t>@Prompter_mos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08192" y="2139696"/>
            <a:ext cx="2487168" cy="1335024"/>
          </a:xfrm>
          <a:prstGeom prst="roundRect">
            <a:avLst>
              <a:gd name="adj" fmla="val 12000"/>
            </a:avLst>
          </a:prstGeom>
          <a:solidFill>
            <a:srgbClr val="120A06"/>
          </a:solidFill>
          <a:ln w="19050">
            <a:solidFill>
              <a:srgbClr val="F85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 spc="150">
                <a:solidFill>
                  <a:srgbClr val="F85800"/>
                </a:solidFill>
                <a:latin typeface="Arial"/>
              </a:rPr>
              <a:t>ПОЧТА</a:t>
            </a:r>
          </a:p>
          <a:p>
            <a:pPr algn="ctr">
              <a:spcBef>
                <a:spcPts val="800"/>
              </a:spcBef>
            </a:pPr>
            <a:r>
              <a:rPr sz="1250" b="1">
                <a:solidFill>
                  <a:srgbClr val="FFFFFF"/>
                </a:solidFill>
                <a:latin typeface="Arial"/>
              </a:rPr>
              <a:t>prompter.moscow@mail.ru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67328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Ваш менеджер: Имя Фамилия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24528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spc="100">
                <a:solidFill>
                  <a:srgbClr val="F85800"/>
                </a:solidFill>
                <a:latin typeface="Arial"/>
              </a:rPr>
              <a:t>prompter-ai.moscow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