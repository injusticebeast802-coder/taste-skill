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0" r:id="rId2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1" r:id="rId23"/>
    <p:sldId id="272" r:id="rId24"/>
    <p:sldId id="273" r:id="rId25"/>
    <p:sldId id="274" r:id="rId26"/>
    <p:sldId id="267" r:id="rId19"/>
    <p:sldId id="268" r:id="rId20"/>
    <p:sldId id="276" r:id="rId28"/>
    <p:sldId id="275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собран заново вместо исходных тарифов. Цифры — обычный текст: щёлкните и исправьте, если стоимость изменится. Экономия считается как разница со средним счётом SEO-агентства: 100 000 минус 29 500.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поменять контакты под себя: щёлкните по нужной надписи и наберите свою. Меняются телефон, мессенджер, почта и строка «Ваш менеджер». Исходные слайды — изображения и не редактируются.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riff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7744"/>
            <a:ext cx="1600200" cy="346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274320"/>
            <a:ext cx="4187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spc="200">
                <a:solidFill>
                  <a:srgbClr val="F85800"/>
                </a:solidFill>
                <a:latin typeface="Arial"/>
              </a:rPr>
              <a:t>СТОИМОСТЬ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spc="400">
                <a:solidFill>
                  <a:srgbClr val="FFFFFF"/>
                </a:solidFill>
                <a:latin typeface="Arial"/>
              </a:rPr>
              <a:t>ПРОМПТЕР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3502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Стоимость подписки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5875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C9BAB0"/>
                </a:solidFill>
                <a:latin typeface="Arial"/>
              </a:rPr>
              <a:t>SEO-АГЕНТСТВО</a:t>
            </a:r>
          </a:p>
          <a:p>
            <a:pPr algn="ctr">
              <a:spcBef>
                <a:spcPts val="1000"/>
              </a:spcBef>
            </a:pPr>
            <a:r>
              <a:rPr sz="2100" b="1">
                <a:solidFill>
                  <a:srgbClr val="FFFFFF"/>
                </a:solidFill>
                <a:latin typeface="Arial"/>
              </a:rPr>
              <a:t>100 000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в месяц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подрядчики, правки,
переписка, сроки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317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F85800"/>
                </a:solidFill>
                <a:latin typeface="Arial"/>
              </a:rPr>
              <a:t>ПРОМПТЕР</a:t>
            </a:r>
          </a:p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FFFFFF"/>
                </a:solidFill>
                <a:latin typeface="Arial"/>
              </a:rPr>
              <a:t>29 500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в месяц, цена фиксированная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настройка и обслуживание
уже включены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5072" y="1819656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F85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spc="100">
                <a:solidFill>
                  <a:srgbClr val="140802"/>
                </a:solidFill>
                <a:latin typeface="Arial"/>
              </a:rPr>
              <a:t>ВЫГОДНО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5875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C9BAB0"/>
                </a:solidFill>
                <a:latin typeface="Arial"/>
              </a:rPr>
              <a:t>ЭКОНОМИЯ</a:t>
            </a:r>
          </a:p>
          <a:p>
            <a:pPr algn="ctr">
              <a:spcBef>
                <a:spcPts val="1000"/>
              </a:spcBef>
            </a:pPr>
            <a:r>
              <a:rPr sz="2100" b="1">
                <a:solidFill>
                  <a:srgbClr val="5FD08A"/>
                </a:solidFill>
                <a:latin typeface="Arial"/>
              </a:rPr>
              <a:t>от 70 000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каждый месяц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тот же объём работ
без штата и подрядчиков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41648"/>
            <a:ext cx="8046720" cy="658368"/>
          </a:xfrm>
          <a:prstGeom prst="roundRect">
            <a:avLst>
              <a:gd name="adj" fmla="val 30000"/>
            </a:avLst>
          </a:prstGeom>
          <a:solidFill>
            <a:srgbClr val="120A06"/>
          </a:solidFill>
          <a:ln w="2540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spc="100">
                <a:solidFill>
                  <a:srgbClr val="FFFFFF"/>
                </a:solidFill>
                <a:latin typeface="Arial"/>
              </a:rPr>
              <a:t>ПОЛНЫЙ ЦИКЛ ПРОДВИЖЕНИЯ — </a:t>
            </a:r>
            <a:r>
              <a:rPr sz="1900" b="1" spc="100">
                <a:solidFill>
                  <a:srgbClr val="F85800"/>
                </a:solidFill>
                <a:latin typeface="Arial"/>
              </a:rPr>
              <a:t>29 500 ₽ В МЕСЯЦ</a:t>
            </a:r>
            <a:r>
              <a:rPr sz="1900" b="1" spc="100">
                <a:solidFill>
                  <a:srgbClr val="FFFFFF"/>
                </a:solidFill>
                <a:latin typeface="Arial"/>
              </a:rPr>
              <a:t> 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acts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1783080" cy="386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87552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spc="300">
                <a:solidFill>
                  <a:srgbClr val="FFFFFF"/>
                </a:solidFill>
                <a:latin typeface="Arial"/>
              </a:rPr>
              <a:t>КОНТАКТЫ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C9BAB0"/>
                </a:solidFill>
                <a:latin typeface="Arial"/>
              </a:rPr>
              <a:t>Подключим ваш бизнес к «Промптеру» — напишите или позвоните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39696"/>
            <a:ext cx="2487168" cy="1335024"/>
          </a:xfrm>
          <a:prstGeom prst="roundRect">
            <a:avLst>
              <a:gd name="adj" fmla="val 12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spc="150">
                <a:solidFill>
                  <a:srgbClr val="F85800"/>
                </a:solidFill>
                <a:latin typeface="Arial"/>
              </a:rPr>
              <a:t>ТЕЛЕФОН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+7 906 758-77-77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139696"/>
            <a:ext cx="2487168" cy="1335024"/>
          </a:xfrm>
          <a:prstGeom prst="roundRect">
            <a:avLst>
              <a:gd name="adj" fmla="val 12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spc="150">
                <a:solidFill>
                  <a:srgbClr val="F85800"/>
                </a:solidFill>
                <a:latin typeface="Arial"/>
              </a:rPr>
              <a:t>МЕССЕНДЖЕР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@Prompter_mos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2139696"/>
            <a:ext cx="2487168" cy="1335024"/>
          </a:xfrm>
          <a:prstGeom prst="roundRect">
            <a:avLst>
              <a:gd name="adj" fmla="val 12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spc="150">
                <a:solidFill>
                  <a:srgbClr val="F85800"/>
                </a:solidFill>
                <a:latin typeface="Arial"/>
              </a:rPr>
              <a:t>ПОЧТА</a:t>
            </a:r>
          </a:p>
          <a:p>
            <a:pPr algn="ctr"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Arial"/>
              </a:rPr>
              <a:t>prompter.moscow@mail.ru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673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Ваш менеджер: Имя Фамилия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spc="100">
                <a:solidFill>
                  <a:srgbClr val="F85800"/>
                </a:solidFill>
                <a:latin typeface="Arial"/>
              </a:rPr>
              <a:t>prompter-ai.moscow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" y="68580"/>
            <a:ext cx="9006611" cy="500634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42900"/>
            <a:ext cx="432261" cy="411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809244"/>
            <a:ext cx="205740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A2978E"/>
                </a:solidFill>
                <a:latin typeface="Arial"/>
              </a:rPr>
              <a:t>ГенИИ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719" y="397763"/>
            <a:ext cx="1392701" cy="30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350" y="994409"/>
            <a:ext cx="7840751" cy="5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Темы для конференции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1604772"/>
            <a:ext cx="7292111" cy="531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DED6CF"/>
                </a:solidFill>
                <a:latin typeface="Inter"/>
              </a:rPr>
              <a:t>Что даёт предпринимателю полный AI-цикл: исследование, стратегия, генерация текстов, картинок и видео, автопубликация на 6+ площадках. Продвижение в SEO и GEO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276856"/>
            <a:ext cx="2567863" cy="1755648"/>
          </a:xfrm>
          <a:prstGeom prst="roundRect">
            <a:avLst>
              <a:gd name="adj" fmla="val 7031"/>
            </a:avLst>
          </a:prstGeom>
          <a:solidFill>
            <a:srgbClr val="160E0A"/>
          </a:solidFill>
          <a:ln w="9525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90" y="2468879"/>
            <a:ext cx="2156383" cy="218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2" b="1">
                <a:solidFill>
                  <a:srgbClr val="FF8A3D"/>
                </a:solidFill>
                <a:latin typeface="Inter"/>
              </a:rPr>
              <a:t>ТЕМА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" y="2702052"/>
            <a:ext cx="2156383" cy="390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FFFFFF"/>
                </a:solidFill>
                <a:latin typeface="Arial"/>
              </a:rPr>
              <a:t>Время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" y="3140964"/>
            <a:ext cx="2156383" cy="729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DED6CF"/>
                </a:solidFill>
                <a:latin typeface="Inter"/>
              </a:rPr>
              <a:t>Контент-фабрики есть у всех, но процессом управляет человек. Управление циклом можно отдать самому 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953" y="2276856"/>
            <a:ext cx="2567863" cy="1755648"/>
          </a:xfrm>
          <a:prstGeom prst="roundRect">
            <a:avLst>
              <a:gd name="adj" fmla="val 7031"/>
            </a:avLst>
          </a:prstGeom>
          <a:solidFill>
            <a:srgbClr val="160E0A"/>
          </a:solidFill>
          <a:ln w="9525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693" y="2468879"/>
            <a:ext cx="2156383" cy="218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2" b="1">
                <a:solidFill>
                  <a:srgbClr val="FF8A3D"/>
                </a:solidFill>
                <a:latin typeface="Inter"/>
              </a:rPr>
              <a:t>ТЕМА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693" y="2702052"/>
            <a:ext cx="2156383" cy="390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FFFFFF"/>
                </a:solidFill>
                <a:latin typeface="Arial"/>
              </a:rPr>
              <a:t>Деньги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693" y="3140964"/>
            <a:ext cx="2156383" cy="392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DED6CF"/>
                </a:solidFill>
                <a:latin typeface="Inter"/>
              </a:rPr>
              <a:t>Не платить агентству, не покупать токены, не воевать с блокировками аккаунтов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693" y="3675887"/>
            <a:ext cx="2156383" cy="25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4ADE80"/>
                </a:solidFill>
                <a:latin typeface="Inter"/>
              </a:rPr>
              <a:t>от 120–150 000 ₽ в месяц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61557" y="2276856"/>
            <a:ext cx="2567863" cy="1755648"/>
          </a:xfrm>
          <a:prstGeom prst="roundRect">
            <a:avLst>
              <a:gd name="adj" fmla="val 7031"/>
            </a:avLst>
          </a:prstGeom>
          <a:solidFill>
            <a:srgbClr val="160E0A"/>
          </a:solidFill>
          <a:ln w="9525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7297" y="2468879"/>
            <a:ext cx="2156383" cy="218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2" b="1">
                <a:solidFill>
                  <a:srgbClr val="FF8A3D"/>
                </a:solidFill>
                <a:latin typeface="Inter"/>
              </a:rPr>
              <a:t>ТЕМА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7297" y="2702052"/>
            <a:ext cx="2156383" cy="390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FFFFFF"/>
                </a:solidFill>
                <a:latin typeface="Arial"/>
              </a:rPr>
              <a:t>Нейровыдача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7297" y="3140964"/>
            <a:ext cx="2156383" cy="560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DED6CF"/>
                </a:solidFill>
                <a:latin typeface="Inter"/>
              </a:rPr>
              <a:t>Попасть в ответы нейросетей можно целенаправленно. Это не кнопка: от 3 до 6 месяцев работы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" y="4224528"/>
            <a:ext cx="8115071" cy="466344"/>
          </a:xfrm>
          <a:prstGeom prst="roundRect">
            <a:avLst>
              <a:gd name="adj" fmla="val 23529"/>
            </a:avLst>
          </a:prstGeom>
          <a:solidFill>
            <a:srgbClr val="20140D"/>
          </a:solidFill>
          <a:ln w="9525">
            <a:solidFill>
              <a:srgbClr val="7A3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669" y="4224528"/>
            <a:ext cx="75664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1">
                <a:solidFill>
                  <a:srgbClr val="FFFFFF"/>
                </a:solidFill>
                <a:latin typeface="Arial"/>
              </a:rPr>
              <a:t>Руслан Анатольевич Дёмин, </a:t>
            </a:r>
            <a:r>
              <a:rPr sz="975" b="0">
                <a:solidFill>
                  <a:srgbClr val="A2978E"/>
                </a:solidFill>
                <a:latin typeface="Arial"/>
              </a:rPr>
              <a:t>управляющий партнёр</a:t>
            </a:r>
            <a:r>
              <a:rPr sz="975" b="1">
                <a:solidFill>
                  <a:srgbClr val="FFFFFF"/>
                </a:solidFill>
                <a:latin typeface="Arial"/>
              </a:rPr>
              <a:t>     +7 906 758-77-77     @geniimoscow     prompter.moscow@mail.ru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" y="68580"/>
            <a:ext cx="9006611" cy="500634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42900"/>
            <a:ext cx="432261" cy="411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809244"/>
            <a:ext cx="205740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A2978E"/>
                </a:solidFill>
                <a:latin typeface="Arial"/>
              </a:rPr>
              <a:t>ГенИИ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719" y="397763"/>
            <a:ext cx="1392701" cy="30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1200150"/>
            <a:ext cx="7703591" cy="1931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Arial"/>
              </a:rPr>
              <a:t>«Контент-фабрики есть у всех, это не новость. Новость в том, что управление циклом можно отдать самому ИИ: он знает правила своих собратьев лучше человека»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14350" y="1255014"/>
            <a:ext cx="61722" cy="184960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3351504"/>
            <a:ext cx="7703591" cy="268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1">
                <a:solidFill>
                  <a:srgbClr val="FF8A3D"/>
                </a:solidFill>
                <a:latin typeface="Arial"/>
              </a:rPr>
              <a:t>Руслан Анатольевич Дёмин, </a:t>
            </a:r>
            <a:r>
              <a:rPr sz="1125" b="0">
                <a:solidFill>
                  <a:srgbClr val="A2978E"/>
                </a:solidFill>
                <a:latin typeface="Arial"/>
              </a:rPr>
              <a:t>управляющий партнёр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" y="3874770"/>
            <a:ext cx="8115071" cy="8229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" y="4059935"/>
            <a:ext cx="8115071" cy="32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A2978E"/>
                </a:solidFill>
                <a:latin typeface="Arial"/>
              </a:rPr>
              <a:t>Исследование · Стратегия · Генерация</a:t>
            </a:r>
            <a:r>
              <a:rPr sz="1350" b="1">
                <a:solidFill>
                  <a:srgbClr val="FFFFFF"/>
                </a:solidFill>
                <a:latin typeface="Arial"/>
              </a:rPr>
              <a:t>      Проверка · Публикация · Анализ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4457700"/>
            <a:ext cx="8115071" cy="2618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A2978E"/>
                </a:solidFill>
                <a:latin typeface="Inter"/>
              </a:rPr>
              <a:t>Светлым — то, что почти везде до сих пор делает человек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" y="68580"/>
            <a:ext cx="9006611" cy="500634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42900"/>
            <a:ext cx="432261" cy="411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809244"/>
            <a:ext cx="205740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A2978E"/>
                </a:solidFill>
                <a:latin typeface="Arial"/>
              </a:rPr>
              <a:t>ГенИИ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719" y="397763"/>
            <a:ext cx="1392701" cy="30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1440180"/>
            <a:ext cx="7703591" cy="154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700" b="0">
                <a:solidFill>
                  <a:srgbClr val="FFFFFF"/>
                </a:solidFill>
                <a:latin typeface="Arial"/>
              </a:rPr>
              <a:t>«Предприниматель тратит на соцсети не деньги, а своё время — самый дорогой ресурс в компании»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14350" y="1495044"/>
            <a:ext cx="61722" cy="146315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3205086"/>
            <a:ext cx="7703591" cy="268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1">
                <a:solidFill>
                  <a:srgbClr val="FF8A3D"/>
                </a:solidFill>
                <a:latin typeface="Arial"/>
              </a:rPr>
              <a:t>Руслан Анатольевич Дёмин, </a:t>
            </a:r>
            <a:r>
              <a:rPr sz="1125" b="0">
                <a:solidFill>
                  <a:srgbClr val="A2978E"/>
                </a:solidFill>
                <a:latin typeface="Arial"/>
              </a:rPr>
              <a:t>управляющий партнёр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" y="4046220"/>
            <a:ext cx="8115071" cy="8229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" y="4224528"/>
            <a:ext cx="8115071" cy="306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A2978E"/>
                </a:solidFill>
                <a:latin typeface="Inter"/>
              </a:rPr>
              <a:t>Согласование тем · Правки текстов · Раскладка по площадкам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" y="68580"/>
            <a:ext cx="9006611" cy="500634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42900"/>
            <a:ext cx="432261" cy="411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809244"/>
            <a:ext cx="205740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A2978E"/>
                </a:solidFill>
                <a:latin typeface="Arial"/>
              </a:rPr>
              <a:t>ГенИИ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719" y="397763"/>
            <a:ext cx="1392701" cy="30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350" y="1097280"/>
            <a:ext cx="8115071" cy="92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850" b="1">
                <a:solidFill>
                  <a:srgbClr val="4ADE80"/>
                </a:solidFill>
                <a:latin typeface="Arial"/>
              </a:rPr>
              <a:t>120–150 000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2064772"/>
            <a:ext cx="8115071" cy="291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в месяц — столько стоит digital-агентство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846070"/>
            <a:ext cx="7703591" cy="113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950" b="0">
                <a:solidFill>
                  <a:srgbClr val="FFFFFF"/>
                </a:solidFill>
                <a:latin typeface="Arial"/>
              </a:rPr>
              <a:t>«Чтобы работать с нейросетями самому, нужно покупать токены, держать зарубежные аккаунты и воевать с блокировками. Готовый сервис снимает это целиком»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" y="2900934"/>
            <a:ext cx="61722" cy="104910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4196924"/>
            <a:ext cx="7703591" cy="268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1">
                <a:solidFill>
                  <a:srgbClr val="FF8A3D"/>
                </a:solidFill>
                <a:latin typeface="Arial"/>
              </a:rPr>
              <a:t>Руслан Анатольевич Дёмин, </a:t>
            </a:r>
            <a:r>
              <a:rPr sz="1125" b="0">
                <a:solidFill>
                  <a:srgbClr val="A2978E"/>
                </a:solidFill>
                <a:latin typeface="Arial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" y="68580"/>
            <a:ext cx="9006611" cy="500634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42900"/>
            <a:ext cx="432261" cy="411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809244"/>
            <a:ext cx="205740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A2978E"/>
                </a:solidFill>
                <a:latin typeface="Arial"/>
              </a:rPr>
              <a:t>ГенИИ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719" y="397763"/>
            <a:ext cx="1392701" cy="30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350" y="1097280"/>
            <a:ext cx="3703320" cy="1082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900" b="1">
                <a:solidFill>
                  <a:srgbClr val="4ADE80"/>
                </a:solidFill>
                <a:latin typeface="Arial"/>
              </a:rPr>
              <a:t>3–6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2221191"/>
            <a:ext cx="3703320" cy="291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DED6CF"/>
                </a:solidFill>
                <a:latin typeface="Inter"/>
              </a:rPr>
              <a:t>месяцев занимает выход в нейровыдачу</a:t>
            </a:r>
          </a:p>
        </p:txBody>
      </p:sp>
      <p:sp>
        <p:nvSpPr>
          <p:cNvPr id="9" name="Rectangle 8"/>
          <p:cNvSpPr/>
          <p:nvPr/>
        </p:nvSpPr>
        <p:spPr>
          <a:xfrm>
            <a:off x="4697729" y="1200150"/>
            <a:ext cx="34290" cy="1028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165860"/>
            <a:ext cx="3691661" cy="531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1">
                <a:solidFill>
                  <a:srgbClr val="DED6CF"/>
                </a:solidFill>
                <a:latin typeface="Arial"/>
              </a:rPr>
              <a:t>Маркировать фото и видео как созданные ИИ закон сегодня не требует. </a:t>
            </a:r>
            <a:r>
              <a:rPr sz="1125" b="0">
                <a:solidFill>
                  <a:srgbClr val="A2978E"/>
                </a:solidFill>
                <a:latin typeface="Arial"/>
              </a:rPr>
              <a:t>Этим грех не пользоваться.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914650"/>
            <a:ext cx="7703591" cy="121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b="0">
                <a:solidFill>
                  <a:srgbClr val="FFFFFF"/>
                </a:solidFill>
                <a:latin typeface="Arial"/>
              </a:rPr>
              <a:t>«Клиент больше не листает десять ссылок — он спрашивает нейросеть и получает два-три названия. Попасть в этот ответ можно целенаправленно»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350" y="2969514"/>
            <a:ext cx="61722" cy="113191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50" y="4348314"/>
            <a:ext cx="7703591" cy="268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1">
                <a:solidFill>
                  <a:srgbClr val="FF8A3D"/>
                </a:solidFill>
                <a:latin typeface="Arial"/>
              </a:rPr>
              <a:t>Руслан Анатольевич Дёмин, </a:t>
            </a:r>
            <a:r>
              <a:rPr sz="1125" b="0">
                <a:solidFill>
                  <a:srgbClr val="A2978E"/>
                </a:solidFill>
                <a:latin typeface="Arial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" y="68580"/>
            <a:ext cx="9006611" cy="500634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42900"/>
            <a:ext cx="432261" cy="411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809244"/>
            <a:ext cx="205740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A2978E"/>
                </a:solidFill>
                <a:latin typeface="Arial"/>
              </a:rPr>
              <a:t>ГенИИ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719" y="397763"/>
            <a:ext cx="1392701" cy="301752"/>
          </a:xfrm>
          <a:prstGeom prst="rect">
            <a:avLst/>
          </a:prstGeom>
        </p:spPr>
      </p:pic>
      <p:pic>
        <p:nvPicPr>
          <p:cNvPr id="7" name="Picture 6" descr="press-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081" y="1200150"/>
            <a:ext cx="1577339" cy="15773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40601" y="2928365"/>
            <a:ext cx="1988819" cy="296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75" b="1">
                <a:solidFill>
                  <a:srgbClr val="FFFFFF"/>
                </a:solidFill>
                <a:latin typeface="Arial"/>
              </a:rPr>
              <a:t>prompter-ai.moscow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0601" y="3225307"/>
            <a:ext cx="1988819" cy="25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FF8A3D"/>
                </a:solidFill>
                <a:latin typeface="Inter"/>
              </a:rPr>
              <a:t>SEO и GEO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1165860"/>
            <a:ext cx="5989091" cy="619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50" b="1">
                <a:solidFill>
                  <a:srgbClr val="FFFFFF"/>
                </a:solidFill>
                <a:latin typeface="Arial"/>
              </a:rPr>
              <a:t>Полный AI цикл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" y="2018233"/>
            <a:ext cx="5989091" cy="646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DED6CF"/>
                </a:solidFill>
                <a:latin typeface="Inter"/>
              </a:rPr>
              <a:t>Исследование, генерация контента, автоматическая публикация на площадках, аналитика нейровыдачи.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2815475"/>
            <a:ext cx="5989091" cy="646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DED6CF"/>
                </a:solidFill>
                <a:latin typeface="Inter"/>
              </a:rPr>
              <a:t>Интеллектуальный сервис для автоматизации SMM и усиления цифрового присутствия компании в интернете.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4350" y="3943350"/>
            <a:ext cx="8115071" cy="8229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350" y="4114800"/>
            <a:ext cx="8115071" cy="335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 b="1">
                <a:solidFill>
                  <a:srgbClr val="FFFFFF"/>
                </a:solidFill>
                <a:latin typeface="Arial"/>
              </a:rPr>
              <a:t>+7 906 758-77-77     @geniimoscow     prompter.moscow@mail.ru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4519207"/>
            <a:ext cx="8115071" cy="2465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37" b="0">
                <a:solidFill>
                  <a:srgbClr val="A2978E"/>
                </a:solidFill>
                <a:latin typeface="Arial"/>
              </a:rPr>
              <a:t>Руслан Анатольевич Дёмин, управляющий партнёр</a:t>
            </a:r>
            <a:r>
              <a:rPr sz="937" b="0">
                <a:solidFill>
                  <a:srgbClr val="A2978E"/>
                </a:solidFill>
                <a:latin typeface="Arial"/>
              </a:rPr>
              <a:t>     ГенИИ — официальный партнёр «Промптера» по Москве и области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" y="68580"/>
            <a:ext cx="9006611" cy="500634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42900"/>
            <a:ext cx="432261" cy="411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809244"/>
            <a:ext cx="205740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A2978E"/>
                </a:solidFill>
                <a:latin typeface="Arial"/>
              </a:rPr>
              <a:t>ГенИИ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719" y="397763"/>
            <a:ext cx="1392701" cy="30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350" y="994409"/>
            <a:ext cx="7840751" cy="5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Темы для конференции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1604772"/>
            <a:ext cx="7292111" cy="531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DED6CF"/>
                </a:solidFill>
                <a:latin typeface="Inter"/>
              </a:rPr>
              <a:t>Что даёт предпринимателю полный AI-цикл: исследование, стратегия, генерация текстов, картинок и видео, автопубликация на 6+ площадках. Продвижение в SEO и GEO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276856"/>
            <a:ext cx="2567863" cy="1755648"/>
          </a:xfrm>
          <a:prstGeom prst="roundRect">
            <a:avLst>
              <a:gd name="adj" fmla="val 7031"/>
            </a:avLst>
          </a:prstGeom>
          <a:solidFill>
            <a:srgbClr val="160E0A"/>
          </a:solidFill>
          <a:ln w="9525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90" y="2468879"/>
            <a:ext cx="2156383" cy="218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2" b="1">
                <a:solidFill>
                  <a:srgbClr val="FF8A3D"/>
                </a:solidFill>
                <a:latin typeface="Inter"/>
              </a:rPr>
              <a:t>ТЕМА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" y="2702052"/>
            <a:ext cx="2156383" cy="390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FFFFFF"/>
                </a:solidFill>
                <a:latin typeface="Arial"/>
              </a:rPr>
              <a:t>Время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" y="3140964"/>
            <a:ext cx="2156383" cy="729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DED6CF"/>
                </a:solidFill>
                <a:latin typeface="Inter"/>
              </a:rPr>
              <a:t>Контент-фабрики есть у всех, но процессом управляет человек. Управление циклом можно отдать самому 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953" y="2276856"/>
            <a:ext cx="2567863" cy="1755648"/>
          </a:xfrm>
          <a:prstGeom prst="roundRect">
            <a:avLst>
              <a:gd name="adj" fmla="val 7031"/>
            </a:avLst>
          </a:prstGeom>
          <a:solidFill>
            <a:srgbClr val="160E0A"/>
          </a:solidFill>
          <a:ln w="9525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693" y="2468879"/>
            <a:ext cx="2156383" cy="218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2" b="1">
                <a:solidFill>
                  <a:srgbClr val="FF8A3D"/>
                </a:solidFill>
                <a:latin typeface="Inter"/>
              </a:rPr>
              <a:t>ТЕМА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693" y="2702052"/>
            <a:ext cx="2156383" cy="390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FFFFFF"/>
                </a:solidFill>
                <a:latin typeface="Arial"/>
              </a:rPr>
              <a:t>Деньги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693" y="3140964"/>
            <a:ext cx="2156383" cy="392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DED6CF"/>
                </a:solidFill>
                <a:latin typeface="Inter"/>
              </a:rPr>
              <a:t>Не платить агентству, не покупать токены, не воевать с блокировками аккаунтов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693" y="3675887"/>
            <a:ext cx="2156383" cy="254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4ADE80"/>
                </a:solidFill>
                <a:latin typeface="Inter"/>
              </a:rPr>
              <a:t>от 120–150 000 ₽ в месяц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61557" y="2276856"/>
            <a:ext cx="2567863" cy="1755648"/>
          </a:xfrm>
          <a:prstGeom prst="roundRect">
            <a:avLst>
              <a:gd name="adj" fmla="val 7031"/>
            </a:avLst>
          </a:prstGeom>
          <a:solidFill>
            <a:srgbClr val="160E0A"/>
          </a:solidFill>
          <a:ln w="9525">
            <a:solidFill>
              <a:srgbClr val="4A2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7297" y="2468879"/>
            <a:ext cx="2156383" cy="218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2" b="1">
                <a:solidFill>
                  <a:srgbClr val="FF8A3D"/>
                </a:solidFill>
                <a:latin typeface="Inter"/>
              </a:rPr>
              <a:t>ТЕМА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7297" y="2702052"/>
            <a:ext cx="2156383" cy="390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FFFFFF"/>
                </a:solidFill>
                <a:latin typeface="Arial"/>
              </a:rPr>
              <a:t>Нейровыдача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7297" y="3140964"/>
            <a:ext cx="2156383" cy="560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DED6CF"/>
                </a:solidFill>
                <a:latin typeface="Inter"/>
              </a:rPr>
              <a:t>Попасть в ответы нейросетей можно целенаправленно. Это не кнопка: от 3 до 6 месяцев работы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" y="4224528"/>
            <a:ext cx="8115071" cy="466344"/>
          </a:xfrm>
          <a:prstGeom prst="roundRect">
            <a:avLst>
              <a:gd name="adj" fmla="val 23529"/>
            </a:avLst>
          </a:prstGeom>
          <a:solidFill>
            <a:srgbClr val="20140D"/>
          </a:solidFill>
          <a:ln w="9525">
            <a:solidFill>
              <a:srgbClr val="7A3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669" y="4224528"/>
            <a:ext cx="75664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1">
                <a:solidFill>
                  <a:srgbClr val="FFFFFF"/>
                </a:solidFill>
                <a:latin typeface="Arial"/>
              </a:rPr>
              <a:t>Руслан Анатольевич Дёмин, </a:t>
            </a:r>
            <a:r>
              <a:rPr sz="975" b="0">
                <a:solidFill>
                  <a:srgbClr val="A2978E"/>
                </a:solidFill>
                <a:latin typeface="Arial"/>
              </a:rPr>
              <a:t>управляющий партнёр</a:t>
            </a:r>
            <a:r>
              <a:rPr sz="975" b="1">
                <a:solidFill>
                  <a:srgbClr val="FFFFFF"/>
                </a:solidFill>
                <a:latin typeface="Arial"/>
              </a:rPr>
              <a:t>     +7 906 758-77-77     @geniimoscow     prompter.moscow@mail.ru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